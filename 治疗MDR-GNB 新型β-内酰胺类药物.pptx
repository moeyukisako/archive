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8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4" r:id="rId20"/>
    <p:sldId id="275" r:id="rId21"/>
    <p:sldId id="276" r:id="rId22"/>
    <p:sldId id="277" r:id="rId23"/>
    <p:sldId id="279" r:id="rId24"/>
    <p:sldId id="280" r:id="rId25"/>
    <p:sldId id="281" r:id="rId26"/>
    <p:sldId id="282" r:id="rId27"/>
    <p:sldId id="283" r:id="rId2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64">
          <p15:clr>
            <a:srgbClr val="A4A3A4"/>
          </p15:clr>
        </p15:guide>
        <p15:guide id="2" pos="214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340" y="48"/>
      </p:cViewPr>
      <p:guideLst>
        <p:guide orient="horz" pos="2864"/>
        <p:guide pos="214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2025/10/30</a:t>
            </a:fld>
            <a:endParaRPr lang="zh-CN" altLang="en-US"/>
          </a:p>
        </p:txBody>
      </p:sp>
      <p:sp>
        <p:nvSpPr>
          <p:cNvPr id="4" name="幻灯片图像占位符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294813" y="642938"/>
            <a:ext cx="3086100" cy="1736725"/>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27000" y="320852"/>
            <a:ext cx="281940" cy="320675"/>
          </a:xfrm>
          <a:custGeom>
            <a:avLst/>
            <a:gdLst/>
            <a:ahLst/>
            <a:cxnLst/>
            <a:rect l="l" t="t" r="r" b="b"/>
            <a:pathLst>
              <a:path w="281940" h="320675">
                <a:moveTo>
                  <a:pt x="281635" y="320649"/>
                </a:moveTo>
                <a:lnTo>
                  <a:pt x="0" y="320649"/>
                </a:lnTo>
                <a:lnTo>
                  <a:pt x="0" y="0"/>
                </a:lnTo>
                <a:lnTo>
                  <a:pt x="281635" y="0"/>
                </a:lnTo>
                <a:lnTo>
                  <a:pt x="281635" y="320649"/>
                </a:lnTo>
                <a:close/>
              </a:path>
            </a:pathLst>
          </a:custGeom>
          <a:solidFill>
            <a:srgbClr val="014D94"/>
          </a:solidFill>
        </p:spPr>
        <p:txBody>
          <a:bodyPr wrap="square" lIns="0" tIns="0" rIns="0" bIns="0" rtlCol="0"/>
          <a:lstStyle/>
          <a:p>
            <a:endParaRPr/>
          </a:p>
        </p:txBody>
      </p:sp>
      <p:sp>
        <p:nvSpPr>
          <p:cNvPr id="17" name="bg object 17"/>
          <p:cNvSpPr/>
          <p:nvPr/>
        </p:nvSpPr>
        <p:spPr>
          <a:xfrm>
            <a:off x="462280" y="320852"/>
            <a:ext cx="99060" cy="320675"/>
          </a:xfrm>
          <a:custGeom>
            <a:avLst/>
            <a:gdLst/>
            <a:ahLst/>
            <a:cxnLst/>
            <a:rect l="l" t="t" r="r" b="b"/>
            <a:pathLst>
              <a:path w="99059" h="320675">
                <a:moveTo>
                  <a:pt x="98755" y="320649"/>
                </a:moveTo>
                <a:lnTo>
                  <a:pt x="0" y="320649"/>
                </a:lnTo>
                <a:lnTo>
                  <a:pt x="0" y="0"/>
                </a:lnTo>
                <a:lnTo>
                  <a:pt x="98755" y="0"/>
                </a:lnTo>
                <a:lnTo>
                  <a:pt x="98755" y="320649"/>
                </a:lnTo>
                <a:close/>
              </a:path>
            </a:pathLst>
          </a:custGeom>
          <a:solidFill>
            <a:srgbClr val="808080"/>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7294676" y="174548"/>
            <a:ext cx="2473756" cy="440131"/>
          </a:xfrm>
          <a:prstGeom prst="rect">
            <a:avLst/>
          </a:prstGeom>
        </p:spPr>
      </p:pic>
      <p:sp>
        <p:nvSpPr>
          <p:cNvPr id="19" name="bg object 19"/>
          <p:cNvSpPr/>
          <p:nvPr/>
        </p:nvSpPr>
        <p:spPr>
          <a:xfrm>
            <a:off x="3635857" y="719531"/>
            <a:ext cx="2495550" cy="384175"/>
          </a:xfrm>
          <a:custGeom>
            <a:avLst/>
            <a:gdLst/>
            <a:ahLst/>
            <a:cxnLst/>
            <a:rect l="l" t="t" r="r" b="b"/>
            <a:pathLst>
              <a:path w="2495550" h="384175">
                <a:moveTo>
                  <a:pt x="2303068" y="384048"/>
                </a:moveTo>
                <a:lnTo>
                  <a:pt x="191414" y="384048"/>
                </a:lnTo>
                <a:lnTo>
                  <a:pt x="147387" y="379090"/>
                </a:lnTo>
                <a:lnTo>
                  <a:pt x="106982" y="364730"/>
                </a:lnTo>
                <a:lnTo>
                  <a:pt x="71361" y="342133"/>
                </a:lnTo>
                <a:lnTo>
                  <a:pt x="41690" y="312462"/>
                </a:lnTo>
                <a:lnTo>
                  <a:pt x="19130" y="276879"/>
                </a:lnTo>
                <a:lnTo>
                  <a:pt x="4845" y="236548"/>
                </a:lnTo>
                <a:lnTo>
                  <a:pt x="0" y="192633"/>
                </a:lnTo>
                <a:lnTo>
                  <a:pt x="4845" y="148483"/>
                </a:lnTo>
                <a:lnTo>
                  <a:pt x="19130" y="107973"/>
                </a:lnTo>
                <a:lnTo>
                  <a:pt x="41690" y="72246"/>
                </a:lnTo>
                <a:lnTo>
                  <a:pt x="71361" y="42443"/>
                </a:lnTo>
                <a:lnTo>
                  <a:pt x="106982" y="19706"/>
                </a:lnTo>
                <a:lnTo>
                  <a:pt x="147387" y="5177"/>
                </a:lnTo>
                <a:lnTo>
                  <a:pt x="191414" y="0"/>
                </a:lnTo>
                <a:lnTo>
                  <a:pt x="2303068" y="0"/>
                </a:lnTo>
                <a:lnTo>
                  <a:pt x="2347218" y="5176"/>
                </a:lnTo>
                <a:lnTo>
                  <a:pt x="2387723" y="19698"/>
                </a:lnTo>
                <a:lnTo>
                  <a:pt x="2423437" y="42418"/>
                </a:lnTo>
                <a:lnTo>
                  <a:pt x="2453212" y="72187"/>
                </a:lnTo>
                <a:lnTo>
                  <a:pt x="2475900" y="107859"/>
                </a:lnTo>
                <a:lnTo>
                  <a:pt x="2490355" y="148285"/>
                </a:lnTo>
                <a:lnTo>
                  <a:pt x="2495428" y="192318"/>
                </a:lnTo>
                <a:lnTo>
                  <a:pt x="2490355" y="236350"/>
                </a:lnTo>
                <a:lnTo>
                  <a:pt x="2475900" y="276764"/>
                </a:lnTo>
                <a:lnTo>
                  <a:pt x="2453212" y="312403"/>
                </a:lnTo>
                <a:lnTo>
                  <a:pt x="2423437" y="342109"/>
                </a:lnTo>
                <a:lnTo>
                  <a:pt x="2387723" y="364723"/>
                </a:lnTo>
                <a:lnTo>
                  <a:pt x="2347218" y="379089"/>
                </a:lnTo>
                <a:lnTo>
                  <a:pt x="2303068" y="384048"/>
                </a:lnTo>
                <a:close/>
              </a:path>
            </a:pathLst>
          </a:custGeom>
          <a:solidFill>
            <a:srgbClr val="44536A">
              <a:alpha val="30198"/>
            </a:srgbClr>
          </a:solidFill>
        </p:spPr>
        <p:txBody>
          <a:bodyPr wrap="square" lIns="0" tIns="0" rIns="0" bIns="0" rtlCol="0"/>
          <a:lstStyle/>
          <a:p>
            <a:endParaRPr/>
          </a:p>
        </p:txBody>
      </p:sp>
      <p:sp>
        <p:nvSpPr>
          <p:cNvPr id="2" name="Holder 2"/>
          <p:cNvSpPr>
            <a:spLocks noGrp="1"/>
          </p:cNvSpPr>
          <p:nvPr>
            <p:ph type="ctrTitle"/>
          </p:nvPr>
        </p:nvSpPr>
        <p:spPr>
          <a:xfrm>
            <a:off x="686562" y="304292"/>
            <a:ext cx="3147060" cy="366395"/>
          </a:xfrm>
          <a:prstGeom prst="rect">
            <a:avLst/>
          </a:prstGeom>
        </p:spPr>
        <p:txBody>
          <a:bodyPr wrap="square" lIns="0" tIns="0" rIns="0" bIns="0">
            <a:spAutoFit/>
          </a:bodyPr>
          <a:lstStyle>
            <a:lvl1pPr>
              <a:defRPr sz="2200" b="1" i="0">
                <a:solidFill>
                  <a:schemeClr val="tx1"/>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p:txBody>
          <a:bodyPr lIns="0" tIns="0" rIns="0" bIns="0"/>
          <a:lstStyle>
            <a:lvl1pPr>
              <a:defRPr sz="600" b="0" i="0">
                <a:solidFill>
                  <a:srgbClr val="4C4C4C"/>
                </a:solidFill>
                <a:latin typeface="Arial MT"/>
                <a:cs typeface="Arial MT"/>
              </a:defRPr>
            </a:lvl1pPr>
          </a:lstStyle>
          <a:p>
            <a:pPr marL="12700">
              <a:lnSpc>
                <a:spcPct val="100000"/>
              </a:lnSpc>
              <a:spcBef>
                <a:spcPts val="40"/>
              </a:spcBef>
            </a:pPr>
            <a:r>
              <a:rPr dirty="0"/>
              <a:t>-</a:t>
            </a:r>
            <a:r>
              <a:rPr spc="-10" dirty="0"/>
              <a:t> </a:t>
            </a:r>
            <a:fld id="{81D60167-4931-47E6-BA6A-407CBD079E47}" type="slidenum">
              <a:rPr spc="-10" dirty="0"/>
              <a:t>‹#›</a:t>
            </a:fld>
            <a:r>
              <a:rPr spc="-10" dirty="0"/>
              <a:t> </a:t>
            </a:r>
            <a:r>
              <a:rPr spc="-50" dirty="0"/>
              <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p:txBody>
          <a:bodyPr lIns="0" tIns="0" rIns="0" bIns="0"/>
          <a:lstStyle>
            <a:lvl1pPr>
              <a:defRPr sz="600" b="0" i="0">
                <a:solidFill>
                  <a:srgbClr val="4C4C4C"/>
                </a:solidFill>
                <a:latin typeface="Arial MT"/>
                <a:cs typeface="Arial MT"/>
              </a:defRPr>
            </a:lvl1pPr>
          </a:lstStyle>
          <a:p>
            <a:pPr marL="12700">
              <a:lnSpc>
                <a:spcPct val="100000"/>
              </a:lnSpc>
              <a:spcBef>
                <a:spcPts val="40"/>
              </a:spcBef>
            </a:pPr>
            <a:r>
              <a:rPr dirty="0"/>
              <a:t>-</a:t>
            </a:r>
            <a:r>
              <a:rPr spc="-10" dirty="0"/>
              <a:t> </a:t>
            </a:r>
            <a:fld id="{81D60167-4931-47E6-BA6A-407CBD079E47}" type="slidenum">
              <a:rPr spc="-10" dirty="0"/>
              <a:t>‹#›</a:t>
            </a:fld>
            <a:r>
              <a:rPr spc="-10" dirty="0"/>
              <a:t> </a:t>
            </a:r>
            <a:r>
              <a:rPr spc="-50" dirty="0"/>
              <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微软雅黑" panose="020B0503020204020204" charset="-122"/>
                <a:cs typeface="微软雅黑" panose="020B0503020204020204" charset="-122"/>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7" name="Holder 7"/>
          <p:cNvSpPr>
            <a:spLocks noGrp="1"/>
          </p:cNvSpPr>
          <p:nvPr>
            <p:ph type="sldNum" sz="quarter" idx="7"/>
          </p:nvPr>
        </p:nvSpPr>
        <p:spPr/>
        <p:txBody>
          <a:bodyPr lIns="0" tIns="0" rIns="0" bIns="0"/>
          <a:lstStyle>
            <a:lvl1pPr>
              <a:defRPr sz="600" b="0" i="0">
                <a:solidFill>
                  <a:srgbClr val="4C4C4C"/>
                </a:solidFill>
                <a:latin typeface="Arial MT"/>
                <a:cs typeface="Arial MT"/>
              </a:defRPr>
            </a:lvl1pPr>
          </a:lstStyle>
          <a:p>
            <a:pPr marL="12700">
              <a:lnSpc>
                <a:spcPct val="100000"/>
              </a:lnSpc>
              <a:spcBef>
                <a:spcPts val="40"/>
              </a:spcBef>
            </a:pPr>
            <a:r>
              <a:rPr dirty="0"/>
              <a:t>-</a:t>
            </a:r>
            <a:r>
              <a:rPr spc="-10" dirty="0"/>
              <a:t> </a:t>
            </a:r>
            <a:fld id="{81D60167-4931-47E6-BA6A-407CBD079E47}" type="slidenum">
              <a:rPr spc="-10" dirty="0"/>
              <a:t>‹#›</a:t>
            </a:fld>
            <a:r>
              <a:rPr spc="-10" dirty="0"/>
              <a:t> </a:t>
            </a:r>
            <a:r>
              <a:rPr spc="-50" dirty="0"/>
              <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5" name="Holder 5"/>
          <p:cNvSpPr>
            <a:spLocks noGrp="1"/>
          </p:cNvSpPr>
          <p:nvPr>
            <p:ph type="sldNum" sz="quarter" idx="7"/>
          </p:nvPr>
        </p:nvSpPr>
        <p:spPr/>
        <p:txBody>
          <a:bodyPr lIns="0" tIns="0" rIns="0" bIns="0"/>
          <a:lstStyle>
            <a:lvl1pPr>
              <a:defRPr sz="600" b="0" i="0">
                <a:solidFill>
                  <a:srgbClr val="4C4C4C"/>
                </a:solidFill>
                <a:latin typeface="Arial MT"/>
                <a:cs typeface="Arial MT"/>
              </a:defRPr>
            </a:lvl1pPr>
          </a:lstStyle>
          <a:p>
            <a:pPr marL="12700">
              <a:lnSpc>
                <a:spcPct val="100000"/>
              </a:lnSpc>
              <a:spcBef>
                <a:spcPts val="40"/>
              </a:spcBef>
            </a:pPr>
            <a:r>
              <a:rPr dirty="0"/>
              <a:t>-</a:t>
            </a:r>
            <a:r>
              <a:rPr spc="-10" dirty="0"/>
              <a:t> </a:t>
            </a:r>
            <a:fld id="{81D60167-4931-47E6-BA6A-407CBD079E47}" type="slidenum">
              <a:rPr spc="-10" dirty="0"/>
              <a:t>‹#›</a:t>
            </a:fld>
            <a:r>
              <a:rPr spc="-10" dirty="0"/>
              <a:t> </a:t>
            </a:r>
            <a:r>
              <a:rPr spc="-50" dirty="0"/>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4" name="Holder 4"/>
          <p:cNvSpPr>
            <a:spLocks noGrp="1"/>
          </p:cNvSpPr>
          <p:nvPr>
            <p:ph type="sldNum" sz="quarter" idx="7"/>
          </p:nvPr>
        </p:nvSpPr>
        <p:spPr/>
        <p:txBody>
          <a:bodyPr lIns="0" tIns="0" rIns="0" bIns="0"/>
          <a:lstStyle>
            <a:lvl1pPr>
              <a:defRPr sz="600" b="0" i="0">
                <a:solidFill>
                  <a:srgbClr val="4C4C4C"/>
                </a:solidFill>
                <a:latin typeface="Arial MT"/>
                <a:cs typeface="Arial MT"/>
              </a:defRPr>
            </a:lvl1pPr>
          </a:lstStyle>
          <a:p>
            <a:pPr marL="12700">
              <a:lnSpc>
                <a:spcPct val="100000"/>
              </a:lnSpc>
              <a:spcBef>
                <a:spcPts val="40"/>
              </a:spcBef>
            </a:pPr>
            <a:r>
              <a:rPr dirty="0"/>
              <a:t>-</a:t>
            </a:r>
            <a:r>
              <a:rPr spc="-10" dirty="0"/>
              <a:t> </a:t>
            </a:r>
            <a:fld id="{81D60167-4931-47E6-BA6A-407CBD079E47}" type="slidenum">
              <a:rPr spc="-10" dirty="0"/>
              <a:t>‹#›</a:t>
            </a:fld>
            <a:r>
              <a:rPr spc="-10" dirty="0"/>
              <a:t> </a:t>
            </a:r>
            <a:r>
              <a:rPr spc="-50" dirty="0"/>
              <a:t>-</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27000" y="320852"/>
            <a:ext cx="281940" cy="320675"/>
          </a:xfrm>
          <a:custGeom>
            <a:avLst/>
            <a:gdLst/>
            <a:ahLst/>
            <a:cxnLst/>
            <a:rect l="l" t="t" r="r" b="b"/>
            <a:pathLst>
              <a:path w="281940" h="320675">
                <a:moveTo>
                  <a:pt x="281635" y="320649"/>
                </a:moveTo>
                <a:lnTo>
                  <a:pt x="0" y="320649"/>
                </a:lnTo>
                <a:lnTo>
                  <a:pt x="0" y="0"/>
                </a:lnTo>
                <a:lnTo>
                  <a:pt x="281635" y="0"/>
                </a:lnTo>
                <a:lnTo>
                  <a:pt x="281635" y="320649"/>
                </a:lnTo>
                <a:close/>
              </a:path>
            </a:pathLst>
          </a:custGeom>
          <a:solidFill>
            <a:srgbClr val="014D94"/>
          </a:solidFill>
        </p:spPr>
        <p:txBody>
          <a:bodyPr wrap="square" lIns="0" tIns="0" rIns="0" bIns="0" rtlCol="0"/>
          <a:lstStyle/>
          <a:p>
            <a:endParaRPr/>
          </a:p>
        </p:txBody>
      </p:sp>
      <p:sp>
        <p:nvSpPr>
          <p:cNvPr id="17" name="bg object 17"/>
          <p:cNvSpPr/>
          <p:nvPr/>
        </p:nvSpPr>
        <p:spPr>
          <a:xfrm>
            <a:off x="462280" y="320852"/>
            <a:ext cx="99060" cy="320675"/>
          </a:xfrm>
          <a:custGeom>
            <a:avLst/>
            <a:gdLst/>
            <a:ahLst/>
            <a:cxnLst/>
            <a:rect l="l" t="t" r="r" b="b"/>
            <a:pathLst>
              <a:path w="99059" h="320675">
                <a:moveTo>
                  <a:pt x="98755" y="320649"/>
                </a:moveTo>
                <a:lnTo>
                  <a:pt x="0" y="320649"/>
                </a:lnTo>
                <a:lnTo>
                  <a:pt x="0" y="0"/>
                </a:lnTo>
                <a:lnTo>
                  <a:pt x="98755" y="0"/>
                </a:lnTo>
                <a:lnTo>
                  <a:pt x="98755" y="320649"/>
                </a:lnTo>
                <a:close/>
              </a:path>
            </a:pathLst>
          </a:custGeom>
          <a:solidFill>
            <a:srgbClr val="808080"/>
          </a:solidFill>
        </p:spPr>
        <p:txBody>
          <a:bodyPr wrap="square" lIns="0" tIns="0" rIns="0" bIns="0" rtlCol="0"/>
          <a:lstStyle/>
          <a:p>
            <a:endParaRPr/>
          </a:p>
        </p:txBody>
      </p:sp>
      <p:pic>
        <p:nvPicPr>
          <p:cNvPr id="18" name="bg object 18"/>
          <p:cNvPicPr/>
          <p:nvPr/>
        </p:nvPicPr>
        <p:blipFill>
          <a:blip r:embed="rId7" cstate="print"/>
          <a:stretch>
            <a:fillRect/>
          </a:stretch>
        </p:blipFill>
        <p:spPr>
          <a:xfrm>
            <a:off x="7294676" y="174548"/>
            <a:ext cx="2473756" cy="440131"/>
          </a:xfrm>
          <a:prstGeom prst="rect">
            <a:avLst/>
          </a:prstGeom>
        </p:spPr>
      </p:pic>
      <p:sp>
        <p:nvSpPr>
          <p:cNvPr id="2" name="Holder 2"/>
          <p:cNvSpPr>
            <a:spLocks noGrp="1"/>
          </p:cNvSpPr>
          <p:nvPr>
            <p:ph type="title"/>
          </p:nvPr>
        </p:nvSpPr>
        <p:spPr>
          <a:xfrm>
            <a:off x="653338" y="301691"/>
            <a:ext cx="6969759" cy="366395"/>
          </a:xfrm>
          <a:prstGeom prst="rect">
            <a:avLst/>
          </a:prstGeom>
        </p:spPr>
        <p:txBody>
          <a:bodyPr wrap="square" lIns="0" tIns="0" rIns="0" bIns="0">
            <a:spAutoFit/>
          </a:bodyPr>
          <a:lstStyle>
            <a:lvl1pPr>
              <a:defRPr sz="2200" b="1" i="0">
                <a:solidFill>
                  <a:schemeClr val="tx1"/>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body" idx="1"/>
          </p:nvPr>
        </p:nvSpPr>
        <p:spPr>
          <a:xfrm>
            <a:off x="417068" y="1305052"/>
            <a:ext cx="8868410" cy="271399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a:xfrm>
            <a:off x="5994361" y="6344518"/>
            <a:ext cx="203835" cy="111125"/>
          </a:xfrm>
          <a:prstGeom prst="rect">
            <a:avLst/>
          </a:prstGeom>
        </p:spPr>
        <p:txBody>
          <a:bodyPr wrap="square" lIns="0" tIns="0" rIns="0" bIns="0">
            <a:spAutoFit/>
          </a:bodyPr>
          <a:lstStyle>
            <a:lvl1pPr>
              <a:defRPr sz="600" b="0" i="0">
                <a:solidFill>
                  <a:srgbClr val="4C4C4C"/>
                </a:solidFill>
                <a:latin typeface="Arial MT"/>
                <a:cs typeface="Arial MT"/>
              </a:defRPr>
            </a:lvl1pPr>
          </a:lstStyle>
          <a:p>
            <a:pPr marL="12700">
              <a:lnSpc>
                <a:spcPct val="100000"/>
              </a:lnSpc>
              <a:spcBef>
                <a:spcPts val="40"/>
              </a:spcBef>
            </a:pPr>
            <a:r>
              <a:rPr dirty="0"/>
              <a:t>-</a:t>
            </a:r>
            <a:r>
              <a:rPr spc="-10" dirty="0"/>
              <a:t> </a:t>
            </a:r>
            <a:fld id="{81D60167-4931-47E6-BA6A-407CBD079E47}" type="slidenum">
              <a:rPr spc="-10" dirty="0"/>
              <a:t>‹#›</a:t>
            </a:fld>
            <a:r>
              <a:rPr spc="-10" dirty="0"/>
              <a:t> </a:t>
            </a:r>
            <a:r>
              <a:rPr spc="-50" dirty="0"/>
              <a: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jpeg"/><Relationship Id="rId10" Type="http://schemas.openxmlformats.org/officeDocument/2006/relationships/image" Target="../media/image12.png"/><Relationship Id="rId4" Type="http://schemas.openxmlformats.org/officeDocument/2006/relationships/image" Target="../media/image6.jpe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3.xml"/><Relationship Id="rId5" Type="http://schemas.openxmlformats.org/officeDocument/2006/relationships/image" Target="../media/image21.jpeg"/><Relationship Id="rId4" Type="http://schemas.openxmlformats.org/officeDocument/2006/relationships/image" Target="../media/image20.jpe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5.jpe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23.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3.xml"/><Relationship Id="rId6" Type="http://schemas.openxmlformats.org/officeDocument/2006/relationships/hyperlink" Target="http://www.accessdata.fda.gov/" TargetMode="External"/><Relationship Id="rId5" Type="http://schemas.openxmlformats.org/officeDocument/2006/relationships/image" Target="../media/image59.png"/><Relationship Id="rId4" Type="http://schemas.openxmlformats.org/officeDocument/2006/relationships/image" Target="../media/image58.jpeg"/></Relationships>
</file>

<file path=ppt/slides/_rels/slide2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7000" y="1878990"/>
            <a:ext cx="9753600" cy="2356713"/>
          </a:xfrm>
          <a:prstGeom prst="rect">
            <a:avLst/>
          </a:prstGeom>
        </p:spPr>
      </p:pic>
      <p:sp>
        <p:nvSpPr>
          <p:cNvPr id="3" name="object 3"/>
          <p:cNvSpPr txBox="1"/>
          <p:nvPr/>
        </p:nvSpPr>
        <p:spPr>
          <a:xfrm>
            <a:off x="3406140" y="4510521"/>
            <a:ext cx="3196590" cy="632353"/>
          </a:xfrm>
          <a:prstGeom prst="rect">
            <a:avLst/>
          </a:prstGeom>
        </p:spPr>
        <p:txBody>
          <a:bodyPr vert="horz" wrap="square" lIns="0" tIns="12065" rIns="0" bIns="0" rtlCol="0">
            <a:spAutoFit/>
          </a:bodyPr>
          <a:lstStyle/>
          <a:p>
            <a:pPr marL="1200785" marR="5080" indent="-1188720">
              <a:lnSpc>
                <a:spcPct val="101000"/>
              </a:lnSpc>
              <a:spcBef>
                <a:spcPts val="95"/>
              </a:spcBef>
            </a:pPr>
            <a:r>
              <a:rPr sz="2050" b="1" spc="-5" dirty="0">
                <a:solidFill>
                  <a:srgbClr val="001F5F"/>
                </a:solidFill>
                <a:latin typeface="微软雅黑" panose="020B0503020204020204" charset="-122"/>
                <a:cs typeface="微软雅黑" panose="020B0503020204020204" charset="-122"/>
              </a:rPr>
              <a:t>中南大学湘雅二医院药学部</a:t>
            </a:r>
            <a:r>
              <a:rPr sz="2050" b="1" spc="-20" dirty="0">
                <a:solidFill>
                  <a:srgbClr val="001F5F"/>
                </a:solidFill>
                <a:latin typeface="微软雅黑" panose="020B0503020204020204" charset="-122"/>
                <a:cs typeface="微软雅黑" panose="020B0503020204020204" charset="-122"/>
              </a:rPr>
              <a:t>周艳钢</a:t>
            </a:r>
            <a:endParaRPr sz="2050">
              <a:latin typeface="微软雅黑" panose="020B0503020204020204" charset="-122"/>
              <a:cs typeface="微软雅黑" panose="020B0503020204020204" charset="-122"/>
            </a:endParaRPr>
          </a:p>
        </p:txBody>
      </p:sp>
      <p:grpSp>
        <p:nvGrpSpPr>
          <p:cNvPr id="4" name="object 4"/>
          <p:cNvGrpSpPr/>
          <p:nvPr/>
        </p:nvGrpSpPr>
        <p:grpSpPr>
          <a:xfrm>
            <a:off x="2976270" y="134315"/>
            <a:ext cx="4055110" cy="448945"/>
            <a:chOff x="2976270" y="134315"/>
            <a:chExt cx="4055110" cy="448945"/>
          </a:xfrm>
        </p:grpSpPr>
        <p:pic>
          <p:nvPicPr>
            <p:cNvPr id="5" name="object 5"/>
            <p:cNvPicPr/>
            <p:nvPr/>
          </p:nvPicPr>
          <p:blipFill>
            <a:blip r:embed="rId3" cstate="print"/>
            <a:stretch>
              <a:fillRect/>
            </a:stretch>
          </p:blipFill>
          <p:spPr>
            <a:xfrm>
              <a:off x="4694123" y="161137"/>
              <a:ext cx="2337206" cy="416966"/>
            </a:xfrm>
            <a:prstGeom prst="rect">
              <a:avLst/>
            </a:prstGeom>
          </p:spPr>
        </p:pic>
        <p:pic>
          <p:nvPicPr>
            <p:cNvPr id="6" name="object 6"/>
            <p:cNvPicPr/>
            <p:nvPr/>
          </p:nvPicPr>
          <p:blipFill>
            <a:blip r:embed="rId4" cstate="print"/>
            <a:stretch>
              <a:fillRect/>
            </a:stretch>
          </p:blipFill>
          <p:spPr>
            <a:xfrm>
              <a:off x="2976270" y="134315"/>
              <a:ext cx="1599590" cy="448665"/>
            </a:xfrm>
            <a:prstGeom prst="rect">
              <a:avLst/>
            </a:prstGeom>
          </p:spPr>
        </p:pic>
      </p:grpSp>
      <p:sp>
        <p:nvSpPr>
          <p:cNvPr id="7" name="object 7"/>
          <p:cNvSpPr txBox="1">
            <a:spLocks noGrp="1"/>
          </p:cNvSpPr>
          <p:nvPr>
            <p:ph type="title"/>
          </p:nvPr>
        </p:nvSpPr>
        <p:spPr>
          <a:xfrm>
            <a:off x="931672" y="817748"/>
            <a:ext cx="8143875" cy="610870"/>
          </a:xfrm>
          <a:prstGeom prst="rect">
            <a:avLst/>
          </a:prstGeom>
        </p:spPr>
        <p:txBody>
          <a:bodyPr vert="horz" wrap="square" lIns="0" tIns="11430" rIns="0" bIns="0" rtlCol="0">
            <a:spAutoFit/>
          </a:bodyPr>
          <a:lstStyle/>
          <a:p>
            <a:pPr marL="12700">
              <a:lnSpc>
                <a:spcPct val="100000"/>
              </a:lnSpc>
              <a:spcBef>
                <a:spcPts val="90"/>
              </a:spcBef>
            </a:pPr>
            <a:r>
              <a:rPr sz="3850" spc="-50" dirty="0">
                <a:solidFill>
                  <a:srgbClr val="001F5F"/>
                </a:solidFill>
              </a:rPr>
              <a:t>治疗</a:t>
            </a:r>
            <a:r>
              <a:rPr sz="3850" spc="-40" dirty="0">
                <a:solidFill>
                  <a:srgbClr val="001F5F"/>
                </a:solidFill>
              </a:rPr>
              <a:t>MDR-</a:t>
            </a:r>
            <a:r>
              <a:rPr sz="3850" dirty="0">
                <a:solidFill>
                  <a:srgbClr val="001F5F"/>
                </a:solidFill>
              </a:rPr>
              <a:t>GNB</a:t>
            </a:r>
            <a:r>
              <a:rPr sz="3850" spc="-35" dirty="0">
                <a:solidFill>
                  <a:srgbClr val="001F5F"/>
                </a:solidFill>
              </a:rPr>
              <a:t> 新型</a:t>
            </a:r>
            <a:r>
              <a:rPr sz="3850" spc="-30" dirty="0">
                <a:solidFill>
                  <a:srgbClr val="001F5F"/>
                </a:solidFill>
              </a:rPr>
              <a:t>β</a:t>
            </a:r>
            <a:r>
              <a:rPr sz="3850" spc="-50" dirty="0">
                <a:solidFill>
                  <a:srgbClr val="001F5F"/>
                </a:solidFill>
              </a:rPr>
              <a:t>-内酰胺类药物</a:t>
            </a:r>
            <a:endParaRPr sz="3850" dirty="0"/>
          </a:p>
        </p:txBody>
      </p:sp>
      <p:sp>
        <p:nvSpPr>
          <p:cNvPr id="20" name="object 20"/>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1</a:t>
            </a:fld>
            <a:r>
              <a:rPr spc="-10" dirty="0"/>
              <a:t> </a:t>
            </a:r>
            <a:r>
              <a:rPr spc="-50" dirty="0"/>
              <a:t>-</a:t>
            </a:r>
          </a:p>
        </p:txBody>
      </p:sp>
      <p:sp>
        <p:nvSpPr>
          <p:cNvPr id="21" name="文本框 20"/>
          <p:cNvSpPr txBox="1"/>
          <p:nvPr/>
        </p:nvSpPr>
        <p:spPr>
          <a:xfrm>
            <a:off x="8877300" y="6262370"/>
            <a:ext cx="1104900" cy="275590"/>
          </a:xfrm>
          <a:prstGeom prst="rect">
            <a:avLst/>
          </a:prstGeom>
          <a:noFill/>
        </p:spPr>
        <p:txBody>
          <a:bodyPr wrap="square" rtlCol="0">
            <a:spAutoFit/>
          </a:bodyPr>
          <a:lstStyle/>
          <a:p>
            <a:pPr algn="l"/>
            <a:r>
              <a:rPr sz="600" b="1" dirty="0">
                <a:latin typeface="宋体" panose="02010600030101010101" pitchFamily="2" charset="-122"/>
                <a:cs typeface="宋体" panose="02010600030101010101" pitchFamily="2" charset="-122"/>
                <a:sym typeface="+mn-ea"/>
              </a:rPr>
              <a:t>讲者声明用于辉瑞主办会议</a:t>
            </a:r>
            <a:endParaRPr sz="600" b="1">
              <a:latin typeface="Arial MT"/>
              <a:cs typeface="Arial MT"/>
            </a:endParaRPr>
          </a:p>
          <a:p>
            <a:endParaRPr lang="zh-CN" altLang="en-US" sz="600" b="1">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4"/>
          </p:nvPr>
        </p:nvSpPr>
        <p:spPr>
          <a:xfrm>
            <a:off x="1577340" y="2007235"/>
            <a:ext cx="8534400" cy="2477135"/>
          </a:xfrm>
        </p:spPr>
        <p:txBody>
          <a:bodyPr/>
          <a:lstStyle/>
          <a:p>
            <a:pPr marL="12700" marR="29845" algn="just">
              <a:lnSpc>
                <a:spcPct val="125000"/>
              </a:lnSpc>
            </a:pPr>
            <a:r>
              <a:rPr sz="1400" spc="-10" dirty="0">
                <a:solidFill>
                  <a:srgbClr val="333333"/>
                </a:solidFill>
                <a:latin typeface="Arial MT"/>
                <a:cs typeface="Arial MT"/>
                <a:sym typeface="+mn-ea"/>
              </a:rPr>
              <a:t>“</a:t>
            </a:r>
            <a:r>
              <a:rPr sz="1400" dirty="0">
                <a:latin typeface="宋体" panose="02010600030101010101" pitchFamily="2" charset="-122"/>
                <a:cs typeface="宋体" panose="02010600030101010101" pitchFamily="2" charset="-122"/>
                <a:sym typeface="+mn-ea"/>
              </a:rPr>
              <a:t>免责声明</a:t>
            </a:r>
            <a:r>
              <a:rPr sz="1400" spc="-25" dirty="0">
                <a:solidFill>
                  <a:srgbClr val="333333"/>
                </a:solidFill>
                <a:latin typeface="Arial MT"/>
                <a:cs typeface="Arial MT"/>
                <a:sym typeface="+mn-ea"/>
              </a:rPr>
              <a:t>: </a:t>
            </a:r>
            <a:r>
              <a:rPr sz="1400" spc="-5" dirty="0">
                <a:latin typeface="宋体" panose="02010600030101010101" pitchFamily="2" charset="-122"/>
                <a:cs typeface="宋体" panose="02010600030101010101" pitchFamily="2" charset="-122"/>
                <a:sym typeface="+mn-ea"/>
              </a:rPr>
              <a:t>辉瑞公司对资料内容已经进行审查确保符合辉瑞内部相关政策的标准及要求，但并不负责确认</a:t>
            </a:r>
            <a:r>
              <a:rPr sz="1400" dirty="0">
                <a:latin typeface="宋体" panose="02010600030101010101" pitchFamily="2" charset="-122"/>
                <a:cs typeface="宋体" panose="02010600030101010101" pitchFamily="2" charset="-122"/>
                <a:sym typeface="+mn-ea"/>
              </a:rPr>
              <a:t>参考资料是否正确引用。</a:t>
            </a:r>
            <a:r>
              <a:rPr sz="1400" spc="-50" dirty="0">
                <a:solidFill>
                  <a:srgbClr val="333333"/>
                </a:solidFill>
                <a:latin typeface="Arial MT"/>
                <a:cs typeface="Arial MT"/>
                <a:sym typeface="+mn-ea"/>
              </a:rPr>
              <a:t>”</a:t>
            </a:r>
            <a:endParaRPr sz="1400">
              <a:latin typeface="Arial MT"/>
              <a:cs typeface="Arial MT"/>
            </a:endParaRPr>
          </a:p>
          <a:p>
            <a:pPr marL="12700" algn="just">
              <a:lnSpc>
                <a:spcPct val="100000"/>
              </a:lnSpc>
              <a:spcBef>
                <a:spcPts val="210"/>
              </a:spcBef>
            </a:pPr>
            <a:r>
              <a:rPr sz="1400" spc="-10" dirty="0">
                <a:solidFill>
                  <a:srgbClr val="333333"/>
                </a:solidFill>
                <a:latin typeface="Arial MT"/>
                <a:cs typeface="Arial MT"/>
                <a:sym typeface="+mn-ea"/>
              </a:rPr>
              <a:t>*</a:t>
            </a:r>
            <a:r>
              <a:rPr sz="1400" dirty="0">
                <a:latin typeface="宋体" panose="02010600030101010101" pitchFamily="2" charset="-122"/>
                <a:cs typeface="宋体" panose="02010600030101010101" pitchFamily="2" charset="-122"/>
                <a:sym typeface="+mn-ea"/>
              </a:rPr>
              <a:t>辉瑞产品信息</a:t>
            </a:r>
            <a:r>
              <a:rPr sz="1400" dirty="0">
                <a:solidFill>
                  <a:srgbClr val="333333"/>
                </a:solidFill>
                <a:latin typeface="Arial MT"/>
                <a:cs typeface="Arial MT"/>
                <a:sym typeface="+mn-ea"/>
              </a:rPr>
              <a:t>: </a:t>
            </a:r>
            <a:r>
              <a:rPr sz="1400" spc="-5" dirty="0">
                <a:latin typeface="宋体" panose="02010600030101010101" pitchFamily="2" charset="-122"/>
                <a:cs typeface="宋体" panose="02010600030101010101" pitchFamily="2" charset="-122"/>
                <a:sym typeface="+mn-ea"/>
              </a:rPr>
              <a:t>包括但不限于产品名和或产品通用名</a:t>
            </a:r>
            <a:endParaRPr sz="1400">
              <a:latin typeface="宋体" panose="02010600030101010101" pitchFamily="2" charset="-122"/>
              <a:cs typeface="宋体" panose="02010600030101010101" pitchFamily="2" charset="-122"/>
            </a:endParaRPr>
          </a:p>
          <a:p>
            <a:pPr marL="12700" algn="just">
              <a:lnSpc>
                <a:spcPct val="100000"/>
              </a:lnSpc>
              <a:spcBef>
                <a:spcPts val="210"/>
              </a:spcBef>
            </a:pPr>
            <a:r>
              <a:rPr sz="1400" dirty="0">
                <a:latin typeface="宋体" panose="02010600030101010101" pitchFamily="2" charset="-122"/>
                <a:cs typeface="宋体" panose="02010600030101010101" pitchFamily="2" charset="-122"/>
                <a:sym typeface="+mn-ea"/>
              </a:rPr>
              <a:t>，产品</a:t>
            </a:r>
            <a:r>
              <a:rPr sz="1400" dirty="0">
                <a:solidFill>
                  <a:srgbClr val="333333"/>
                </a:solidFill>
                <a:latin typeface="Arial MT"/>
                <a:cs typeface="Arial MT"/>
                <a:sym typeface="+mn-ea"/>
              </a:rPr>
              <a:t>Logo, </a:t>
            </a:r>
            <a:r>
              <a:rPr sz="1400" spc="-10" dirty="0">
                <a:latin typeface="宋体" panose="02010600030101010101" pitchFamily="2" charset="-122"/>
                <a:cs typeface="宋体" panose="02010600030101010101" pitchFamily="2" charset="-122"/>
                <a:sym typeface="+mn-ea"/>
              </a:rPr>
              <a:t>产品形象图片等等；</a:t>
            </a:r>
          </a:p>
          <a:p>
            <a:pPr marL="12700" algn="just">
              <a:lnSpc>
                <a:spcPct val="100000"/>
              </a:lnSpc>
              <a:spcBef>
                <a:spcPts val="210"/>
              </a:spcBef>
            </a:pPr>
            <a:r>
              <a:rPr sz="1400" dirty="0">
                <a:latin typeface="宋体" panose="02010600030101010101" pitchFamily="2" charset="-122"/>
                <a:cs typeface="宋体" panose="02010600030101010101" pitchFamily="2" charset="-122"/>
                <a:sym typeface="+mn-ea"/>
              </a:rPr>
              <a:t>声明：本材料由我本人自行准备，仅用于</a:t>
            </a:r>
            <a:r>
              <a:rPr lang="zh-CN" sz="1400" dirty="0">
                <a:latin typeface="宋体" panose="02010600030101010101" pitchFamily="2" charset="-122"/>
                <a:cs typeface="宋体" panose="02010600030101010101" pitchFamily="2" charset="-122"/>
                <a:sym typeface="+mn-ea"/>
              </a:rPr>
              <a:t>本次</a:t>
            </a:r>
            <a:r>
              <a:rPr sz="1400" spc="-25" dirty="0">
                <a:latin typeface="宋体" panose="02010600030101010101" pitchFamily="2" charset="-122"/>
                <a:cs typeface="宋体" panose="02010600030101010101" pitchFamily="2" charset="-122"/>
                <a:sym typeface="+mn-ea"/>
              </a:rPr>
              <a:t>会议</a:t>
            </a:r>
            <a:r>
              <a:rPr sz="1400" dirty="0">
                <a:latin typeface="宋体" panose="02010600030101010101" pitchFamily="2" charset="-122"/>
                <a:cs typeface="宋体" panose="02010600030101010101" pitchFamily="2" charset="-122"/>
                <a:sym typeface="+mn-ea"/>
              </a:rPr>
              <a:t>供学术交流和讨论使用。材料中涉及的信息</a:t>
            </a:r>
            <a:r>
              <a:rPr sz="1400" spc="-10" dirty="0">
                <a:solidFill>
                  <a:srgbClr val="333333"/>
                </a:solidFill>
                <a:latin typeface="Arial MT"/>
                <a:cs typeface="Arial MT"/>
                <a:sym typeface="+mn-ea"/>
              </a:rPr>
              <a:t>/</a:t>
            </a:r>
            <a:r>
              <a:rPr sz="1400" dirty="0">
                <a:latin typeface="宋体" panose="02010600030101010101" pitchFamily="2" charset="-122"/>
                <a:cs typeface="宋体" panose="02010600030101010101" pitchFamily="2" charset="-122"/>
                <a:sym typeface="+mn-ea"/>
              </a:rPr>
              <a:t>数据</a:t>
            </a:r>
            <a:r>
              <a:rPr sz="1400" spc="-10" dirty="0">
                <a:solidFill>
                  <a:srgbClr val="333333"/>
                </a:solidFill>
                <a:latin typeface="Arial MT"/>
                <a:cs typeface="Arial MT"/>
                <a:sym typeface="+mn-ea"/>
              </a:rPr>
              <a:t>/</a:t>
            </a:r>
            <a:r>
              <a:rPr sz="1400" spc="-50" dirty="0">
                <a:latin typeface="宋体" panose="02010600030101010101" pitchFamily="2" charset="-122"/>
                <a:cs typeface="宋体" panose="02010600030101010101" pitchFamily="2" charset="-122"/>
                <a:sym typeface="+mn-ea"/>
              </a:rPr>
              <a:t>照</a:t>
            </a:r>
            <a:r>
              <a:rPr sz="1400" dirty="0">
                <a:latin typeface="宋体" panose="02010600030101010101" pitchFamily="2" charset="-122"/>
                <a:cs typeface="宋体" panose="02010600030101010101" pitchFamily="2" charset="-122"/>
                <a:sym typeface="+mn-ea"/>
              </a:rPr>
              <a:t>片由我在日常诊疗活动</a:t>
            </a:r>
            <a:r>
              <a:rPr sz="1400" spc="-10" dirty="0">
                <a:solidFill>
                  <a:srgbClr val="333333"/>
                </a:solidFill>
                <a:latin typeface="Arial MT"/>
                <a:cs typeface="Arial MT"/>
                <a:sym typeface="+mn-ea"/>
              </a:rPr>
              <a:t>/</a:t>
            </a:r>
            <a:r>
              <a:rPr sz="1400" dirty="0">
                <a:latin typeface="宋体" panose="02010600030101010101" pitchFamily="2" charset="-122"/>
                <a:cs typeface="宋体" panose="02010600030101010101" pitchFamily="2" charset="-122"/>
                <a:sym typeface="+mn-ea"/>
              </a:rPr>
              <a:t>科研活动中自行收集</a:t>
            </a:r>
            <a:r>
              <a:rPr sz="1400" spc="-10" dirty="0">
                <a:solidFill>
                  <a:srgbClr val="333333"/>
                </a:solidFill>
                <a:latin typeface="Arial MT"/>
                <a:cs typeface="Arial MT"/>
                <a:sym typeface="+mn-ea"/>
              </a:rPr>
              <a:t>/</a:t>
            </a:r>
            <a:r>
              <a:rPr sz="1400" spc="-20" dirty="0">
                <a:latin typeface="宋体" panose="02010600030101010101" pitchFamily="2" charset="-122"/>
                <a:cs typeface="宋体" panose="02010600030101010101" pitchFamily="2" charset="-122"/>
                <a:sym typeface="+mn-ea"/>
              </a:rPr>
              <a:t>总结。我确认</a:t>
            </a:r>
            <a:endParaRPr sz="1400">
              <a:latin typeface="宋体" panose="02010600030101010101" pitchFamily="2" charset="-122"/>
              <a:cs typeface="宋体" panose="02010600030101010101" pitchFamily="2" charset="-122"/>
            </a:endParaRPr>
          </a:p>
          <a:p>
            <a:pPr marL="239395" indent="-226695">
              <a:lnSpc>
                <a:spcPct val="100000"/>
              </a:lnSpc>
              <a:spcBef>
                <a:spcPts val="210"/>
              </a:spcBef>
              <a:buSzPct val="86000"/>
              <a:buAutoNum type="arabicPlain"/>
              <a:tabLst>
                <a:tab pos="239395" algn="l"/>
              </a:tabLst>
            </a:pPr>
            <a:r>
              <a:rPr sz="1400" dirty="0">
                <a:latin typeface="宋体" panose="02010600030101010101" pitchFamily="2" charset="-122"/>
                <a:cs typeface="宋体" panose="02010600030101010101" pitchFamily="2" charset="-122"/>
                <a:sym typeface="+mn-ea"/>
              </a:rPr>
              <a:t>该等信息</a:t>
            </a:r>
            <a:r>
              <a:rPr sz="1400" spc="-10" dirty="0">
                <a:solidFill>
                  <a:srgbClr val="333333"/>
                </a:solidFill>
                <a:latin typeface="Arial MT"/>
                <a:cs typeface="Arial MT"/>
                <a:sym typeface="+mn-ea"/>
              </a:rPr>
              <a:t>/</a:t>
            </a:r>
            <a:r>
              <a:rPr sz="1400" dirty="0">
                <a:latin typeface="宋体" panose="02010600030101010101" pitchFamily="2" charset="-122"/>
                <a:cs typeface="宋体" panose="02010600030101010101" pitchFamily="2" charset="-122"/>
                <a:sym typeface="+mn-ea"/>
              </a:rPr>
              <a:t>数据</a:t>
            </a:r>
            <a:r>
              <a:rPr sz="1400" spc="-10" dirty="0">
                <a:solidFill>
                  <a:srgbClr val="333333"/>
                </a:solidFill>
                <a:latin typeface="Arial MT"/>
                <a:cs typeface="Arial MT"/>
                <a:sym typeface="+mn-ea"/>
              </a:rPr>
              <a:t>/</a:t>
            </a:r>
            <a:r>
              <a:rPr sz="1400" spc="-10" dirty="0">
                <a:latin typeface="宋体" panose="02010600030101010101" pitchFamily="2" charset="-122"/>
                <a:cs typeface="宋体" panose="02010600030101010101" pitchFamily="2" charset="-122"/>
                <a:sym typeface="+mn-ea"/>
              </a:rPr>
              <a:t>图片真实、准确；</a:t>
            </a:r>
            <a:endParaRPr sz="1400">
              <a:latin typeface="宋体" panose="02010600030101010101" pitchFamily="2" charset="-122"/>
              <a:cs typeface="宋体" panose="02010600030101010101" pitchFamily="2" charset="-122"/>
            </a:endParaRPr>
          </a:p>
          <a:p>
            <a:pPr marL="239395" indent="-226695">
              <a:lnSpc>
                <a:spcPct val="100000"/>
              </a:lnSpc>
              <a:spcBef>
                <a:spcPts val="210"/>
              </a:spcBef>
              <a:buSzPct val="86000"/>
              <a:buAutoNum type="arabicPlain"/>
              <a:tabLst>
                <a:tab pos="239395" algn="l"/>
              </a:tabLst>
            </a:pPr>
            <a:r>
              <a:rPr sz="1400" dirty="0">
                <a:latin typeface="宋体" panose="02010600030101010101" pitchFamily="2" charset="-122"/>
                <a:cs typeface="宋体" panose="02010600030101010101" pitchFamily="2" charset="-122"/>
                <a:sym typeface="+mn-ea"/>
              </a:rPr>
              <a:t>对该等信息</a:t>
            </a:r>
            <a:r>
              <a:rPr sz="1400" spc="-10" dirty="0">
                <a:solidFill>
                  <a:srgbClr val="333333"/>
                </a:solidFill>
                <a:latin typeface="Arial MT"/>
                <a:cs typeface="Arial MT"/>
                <a:sym typeface="+mn-ea"/>
              </a:rPr>
              <a:t>/</a:t>
            </a:r>
            <a:r>
              <a:rPr sz="1400" dirty="0">
                <a:latin typeface="宋体" panose="02010600030101010101" pitchFamily="2" charset="-122"/>
                <a:cs typeface="宋体" panose="02010600030101010101" pitchFamily="2" charset="-122"/>
                <a:sym typeface="+mn-ea"/>
              </a:rPr>
              <a:t>数据</a:t>
            </a:r>
            <a:r>
              <a:rPr sz="1400" spc="-10" dirty="0">
                <a:solidFill>
                  <a:srgbClr val="333333"/>
                </a:solidFill>
                <a:latin typeface="Arial MT"/>
                <a:cs typeface="Arial MT"/>
                <a:sym typeface="+mn-ea"/>
              </a:rPr>
              <a:t>/</a:t>
            </a:r>
            <a:r>
              <a:rPr sz="1400" spc="-5" dirty="0">
                <a:latin typeface="宋体" panose="02010600030101010101" pitchFamily="2" charset="-122"/>
                <a:cs typeface="宋体" panose="02010600030101010101" pitchFamily="2" charset="-122"/>
                <a:sym typeface="+mn-ea"/>
              </a:rPr>
              <a:t>图片的援引和使用全面、客观</a:t>
            </a:r>
            <a:endParaRPr sz="1400">
              <a:latin typeface="宋体" panose="02010600030101010101" pitchFamily="2" charset="-122"/>
              <a:cs typeface="宋体" panose="02010600030101010101" pitchFamily="2" charset="-122"/>
            </a:endParaRPr>
          </a:p>
          <a:p>
            <a:pPr marL="12700">
              <a:lnSpc>
                <a:spcPct val="100000"/>
              </a:lnSpc>
              <a:spcBef>
                <a:spcPts val="210"/>
              </a:spcBef>
            </a:pPr>
            <a:r>
              <a:rPr sz="1400" spc="-10" dirty="0">
                <a:latin typeface="宋体" panose="02010600030101010101" pitchFamily="2" charset="-122"/>
                <a:cs typeface="宋体" panose="02010600030101010101" pitchFamily="2" charset="-122"/>
                <a:sym typeface="+mn-ea"/>
              </a:rPr>
              <a:t>、不误导；</a:t>
            </a:r>
            <a:endParaRPr sz="1400">
              <a:latin typeface="宋体" panose="02010600030101010101" pitchFamily="2" charset="-122"/>
              <a:cs typeface="宋体" panose="02010600030101010101" pitchFamily="2" charset="-122"/>
            </a:endParaRPr>
          </a:p>
          <a:p>
            <a:pPr marL="12700" marR="5080" indent="226695">
              <a:lnSpc>
                <a:spcPct val="125000"/>
              </a:lnSpc>
              <a:buSzPct val="86000"/>
              <a:buAutoNum type="arabicPlain" startAt="3"/>
              <a:tabLst>
                <a:tab pos="239395" algn="l"/>
              </a:tabLst>
            </a:pPr>
            <a:r>
              <a:rPr sz="1400" dirty="0">
                <a:latin typeface="宋体" panose="02010600030101010101" pitchFamily="2" charset="-122"/>
                <a:cs typeface="宋体" panose="02010600030101010101" pitchFamily="2" charset="-122"/>
                <a:sym typeface="+mn-ea"/>
              </a:rPr>
              <a:t>该等信息</a:t>
            </a:r>
            <a:r>
              <a:rPr sz="1400" spc="-10" dirty="0">
                <a:solidFill>
                  <a:srgbClr val="333333"/>
                </a:solidFill>
                <a:latin typeface="Arial MT"/>
                <a:cs typeface="Arial MT"/>
                <a:sym typeface="+mn-ea"/>
              </a:rPr>
              <a:t>/</a:t>
            </a:r>
            <a:r>
              <a:rPr sz="1400" dirty="0">
                <a:latin typeface="宋体" panose="02010600030101010101" pitchFamily="2" charset="-122"/>
                <a:cs typeface="宋体" panose="02010600030101010101" pitchFamily="2" charset="-122"/>
                <a:sym typeface="+mn-ea"/>
              </a:rPr>
              <a:t>数据</a:t>
            </a:r>
            <a:r>
              <a:rPr sz="1400" spc="-10" dirty="0">
                <a:solidFill>
                  <a:srgbClr val="333333"/>
                </a:solidFill>
                <a:latin typeface="Arial MT"/>
                <a:cs typeface="Arial MT"/>
                <a:sym typeface="+mn-ea"/>
              </a:rPr>
              <a:t>/</a:t>
            </a:r>
            <a:r>
              <a:rPr sz="1400" spc="-5" dirty="0">
                <a:latin typeface="宋体" panose="02010600030101010101" pitchFamily="2" charset="-122"/>
                <a:cs typeface="宋体" panose="02010600030101010101" pitchFamily="2" charset="-122"/>
                <a:sym typeface="+mn-ea"/>
              </a:rPr>
              <a:t>图片的使用和披露符合相关法律法规要求。我对材料的合法合规性自行承担责</a:t>
            </a:r>
            <a:r>
              <a:rPr lang="zh-CN" sz="1400" spc="-5" dirty="0">
                <a:latin typeface="宋体" panose="02010600030101010101" pitchFamily="2" charset="-122"/>
                <a:cs typeface="宋体" panose="02010600030101010101" pitchFamily="2" charset="-122"/>
                <a:sym typeface="+mn-ea"/>
              </a:rPr>
              <a:t>任</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475118" y="190398"/>
            <a:ext cx="2337206" cy="416966"/>
          </a:xfrm>
          <a:prstGeom prst="rect">
            <a:avLst/>
          </a:prstGeom>
        </p:spPr>
      </p:pic>
      <p:sp>
        <p:nvSpPr>
          <p:cNvPr id="3" name="object 3"/>
          <p:cNvSpPr/>
          <p:nvPr/>
        </p:nvSpPr>
        <p:spPr>
          <a:xfrm>
            <a:off x="127000" y="127000"/>
            <a:ext cx="2988310" cy="5486400"/>
          </a:xfrm>
          <a:custGeom>
            <a:avLst/>
            <a:gdLst/>
            <a:ahLst/>
            <a:cxnLst/>
            <a:rect l="l" t="t" r="r" b="b"/>
            <a:pathLst>
              <a:path w="2988310" h="5486400">
                <a:moveTo>
                  <a:pt x="2988259" y="5486400"/>
                </a:moveTo>
                <a:lnTo>
                  <a:pt x="0" y="5486400"/>
                </a:lnTo>
                <a:lnTo>
                  <a:pt x="0" y="0"/>
                </a:lnTo>
                <a:lnTo>
                  <a:pt x="2988259" y="0"/>
                </a:lnTo>
                <a:lnTo>
                  <a:pt x="2988259" y="5486400"/>
                </a:lnTo>
                <a:close/>
              </a:path>
            </a:pathLst>
          </a:custGeom>
          <a:solidFill>
            <a:srgbClr val="014D94"/>
          </a:solidFill>
        </p:spPr>
        <p:txBody>
          <a:bodyPr wrap="square" lIns="0" tIns="0" rIns="0" bIns="0" rtlCol="0"/>
          <a:lstStyle/>
          <a:p>
            <a:endParaRPr/>
          </a:p>
        </p:txBody>
      </p:sp>
      <p:sp>
        <p:nvSpPr>
          <p:cNvPr id="4" name="object 4"/>
          <p:cNvSpPr txBox="1"/>
          <p:nvPr/>
        </p:nvSpPr>
        <p:spPr>
          <a:xfrm>
            <a:off x="1313596" y="1266352"/>
            <a:ext cx="1488440" cy="891540"/>
          </a:xfrm>
          <a:prstGeom prst="rect">
            <a:avLst/>
          </a:prstGeom>
        </p:spPr>
        <p:txBody>
          <a:bodyPr vert="horz" wrap="square" lIns="0" tIns="16510" rIns="0" bIns="0" rtlCol="0">
            <a:spAutoFit/>
          </a:bodyPr>
          <a:lstStyle/>
          <a:p>
            <a:pPr marL="12700">
              <a:lnSpc>
                <a:spcPts val="3390"/>
              </a:lnSpc>
              <a:spcBef>
                <a:spcPts val="130"/>
              </a:spcBef>
            </a:pPr>
            <a:r>
              <a:rPr sz="2850" spc="-15" dirty="0">
                <a:solidFill>
                  <a:srgbClr val="FFFFFF"/>
                </a:solidFill>
                <a:latin typeface="微软雅黑" panose="020B0503020204020204" charset="-122"/>
                <a:cs typeface="微软雅黑" panose="020B0503020204020204" charset="-122"/>
              </a:rPr>
              <a:t>主要内容</a:t>
            </a:r>
            <a:endParaRPr sz="2850">
              <a:latin typeface="微软雅黑" panose="020B0503020204020204" charset="-122"/>
              <a:cs typeface="微软雅黑" panose="020B0503020204020204" charset="-122"/>
            </a:endParaRPr>
          </a:p>
          <a:p>
            <a:pPr marL="187960">
              <a:lnSpc>
                <a:spcPts val="3390"/>
              </a:lnSpc>
            </a:pPr>
            <a:r>
              <a:rPr sz="2850" spc="-10" dirty="0">
                <a:solidFill>
                  <a:srgbClr val="FFFFFF"/>
                </a:solidFill>
                <a:latin typeface="Calibri" panose="020F0502020204030204"/>
                <a:cs typeface="Calibri" panose="020F0502020204030204"/>
              </a:rPr>
              <a:t>contents</a:t>
            </a:r>
            <a:endParaRPr sz="2850">
              <a:latin typeface="Calibri" panose="020F0502020204030204"/>
              <a:cs typeface="Calibri" panose="020F0502020204030204"/>
            </a:endParaRPr>
          </a:p>
        </p:txBody>
      </p:sp>
      <p:sp>
        <p:nvSpPr>
          <p:cNvPr id="5" name="object 5"/>
          <p:cNvSpPr txBox="1">
            <a:spLocks noGrp="1"/>
          </p:cNvSpPr>
          <p:nvPr>
            <p:ph type="title"/>
          </p:nvPr>
        </p:nvSpPr>
        <p:spPr>
          <a:xfrm>
            <a:off x="3549294" y="1262075"/>
            <a:ext cx="615950" cy="484505"/>
          </a:xfrm>
          <a:prstGeom prst="rect">
            <a:avLst/>
          </a:prstGeom>
          <a:solidFill>
            <a:srgbClr val="014D94"/>
          </a:solidFill>
        </p:spPr>
        <p:txBody>
          <a:bodyPr vert="horz" wrap="square" lIns="0" tIns="0" rIns="0" bIns="0" rtlCol="0">
            <a:spAutoFit/>
          </a:bodyPr>
          <a:lstStyle/>
          <a:p>
            <a:pPr marL="100965">
              <a:lnSpc>
                <a:spcPts val="3630"/>
              </a:lnSpc>
            </a:pPr>
            <a:r>
              <a:rPr sz="3200" b="0" spc="-25" dirty="0">
                <a:solidFill>
                  <a:srgbClr val="FFFFFF"/>
                </a:solidFill>
                <a:latin typeface="Calibri" panose="020F0502020204030204"/>
                <a:cs typeface="Calibri" panose="020F0502020204030204"/>
              </a:rPr>
              <a:t>01</a:t>
            </a:r>
            <a:endParaRPr sz="3200">
              <a:latin typeface="Calibri" panose="020F0502020204030204"/>
              <a:cs typeface="Calibri" panose="020F0502020204030204"/>
            </a:endParaRPr>
          </a:p>
        </p:txBody>
      </p:sp>
      <p:sp>
        <p:nvSpPr>
          <p:cNvPr id="6" name="object 6"/>
          <p:cNvSpPr txBox="1"/>
          <p:nvPr/>
        </p:nvSpPr>
        <p:spPr>
          <a:xfrm>
            <a:off x="4341560" y="1298986"/>
            <a:ext cx="4672965" cy="366395"/>
          </a:xfrm>
          <a:prstGeom prst="rect">
            <a:avLst/>
          </a:prstGeom>
        </p:spPr>
        <p:txBody>
          <a:bodyPr vert="horz" wrap="square" lIns="0" tIns="17145" rIns="0" bIns="0" rtlCol="0">
            <a:spAutoFit/>
          </a:bodyPr>
          <a:lstStyle/>
          <a:p>
            <a:pPr marL="12700">
              <a:lnSpc>
                <a:spcPct val="100000"/>
              </a:lnSpc>
              <a:spcBef>
                <a:spcPts val="135"/>
              </a:spcBef>
            </a:pPr>
            <a:r>
              <a:rPr sz="2200" dirty="0">
                <a:latin typeface="微软雅黑" panose="020B0503020204020204" charset="-122"/>
                <a:cs typeface="微软雅黑" panose="020B0503020204020204" charset="-122"/>
              </a:rPr>
              <a:t>治疗MDR-GNB</a:t>
            </a:r>
            <a:r>
              <a:rPr sz="2200" spc="114" dirty="0">
                <a:latin typeface="微软雅黑" panose="020B0503020204020204" charset="-122"/>
                <a:cs typeface="微软雅黑" panose="020B0503020204020204" charset="-122"/>
              </a:rPr>
              <a:t> 新型</a:t>
            </a:r>
            <a:r>
              <a:rPr sz="2200" dirty="0">
                <a:latin typeface="微软雅黑" panose="020B0503020204020204" charset="-122"/>
                <a:cs typeface="微软雅黑" panose="020B0503020204020204" charset="-122"/>
              </a:rPr>
              <a:t>β</a:t>
            </a:r>
            <a:r>
              <a:rPr sz="2200" spc="-10" dirty="0">
                <a:latin typeface="微软雅黑" panose="020B0503020204020204" charset="-122"/>
                <a:cs typeface="微软雅黑" panose="020B0503020204020204" charset="-122"/>
              </a:rPr>
              <a:t>-内酰胺类药物</a:t>
            </a:r>
            <a:endParaRPr sz="2200">
              <a:latin typeface="微软雅黑" panose="020B0503020204020204" charset="-122"/>
              <a:cs typeface="微软雅黑" panose="020B0503020204020204" charset="-122"/>
            </a:endParaRPr>
          </a:p>
        </p:txBody>
      </p:sp>
      <p:sp>
        <p:nvSpPr>
          <p:cNvPr id="7" name="object 7"/>
          <p:cNvSpPr txBox="1"/>
          <p:nvPr/>
        </p:nvSpPr>
        <p:spPr>
          <a:xfrm>
            <a:off x="3549294" y="2044801"/>
            <a:ext cx="615950" cy="484505"/>
          </a:xfrm>
          <a:prstGeom prst="rect">
            <a:avLst/>
          </a:prstGeom>
          <a:solidFill>
            <a:srgbClr val="F09D18"/>
          </a:solidFill>
        </p:spPr>
        <p:txBody>
          <a:bodyPr vert="horz" wrap="square" lIns="0" tIns="0" rIns="0" bIns="0" rtlCol="0">
            <a:spAutoFit/>
          </a:bodyPr>
          <a:lstStyle/>
          <a:p>
            <a:pPr marL="100965">
              <a:lnSpc>
                <a:spcPts val="3630"/>
              </a:lnSpc>
            </a:pPr>
            <a:r>
              <a:rPr sz="3200" spc="-25" dirty="0">
                <a:solidFill>
                  <a:srgbClr val="FFFFFF"/>
                </a:solidFill>
                <a:latin typeface="Calibri" panose="020F0502020204030204"/>
                <a:cs typeface="Calibri" panose="020F0502020204030204"/>
              </a:rPr>
              <a:t>02</a:t>
            </a:r>
            <a:endParaRPr sz="3200">
              <a:latin typeface="Calibri" panose="020F0502020204030204"/>
              <a:cs typeface="Calibri" panose="020F0502020204030204"/>
            </a:endParaRPr>
          </a:p>
        </p:txBody>
      </p:sp>
      <p:sp>
        <p:nvSpPr>
          <p:cNvPr id="8" name="object 8"/>
          <p:cNvSpPr txBox="1"/>
          <p:nvPr/>
        </p:nvSpPr>
        <p:spPr>
          <a:xfrm>
            <a:off x="4282876" y="2081702"/>
            <a:ext cx="2016760" cy="366395"/>
          </a:xfrm>
          <a:prstGeom prst="rect">
            <a:avLst/>
          </a:prstGeom>
        </p:spPr>
        <p:txBody>
          <a:bodyPr vert="horz" wrap="square" lIns="0" tIns="17145" rIns="0" bIns="0" rtlCol="0">
            <a:spAutoFit/>
          </a:bodyPr>
          <a:lstStyle/>
          <a:p>
            <a:pPr marL="12700">
              <a:lnSpc>
                <a:spcPct val="100000"/>
              </a:lnSpc>
              <a:spcBef>
                <a:spcPts val="135"/>
              </a:spcBef>
            </a:pPr>
            <a:r>
              <a:rPr sz="2200" spc="-10" dirty="0">
                <a:latin typeface="微软雅黑" panose="020B0503020204020204" charset="-122"/>
                <a:cs typeface="微软雅黑" panose="020B0503020204020204" charset="-122"/>
              </a:rPr>
              <a:t>氨曲南阿维巴坦</a:t>
            </a:r>
            <a:endParaRPr sz="2200">
              <a:latin typeface="微软雅黑" panose="020B0503020204020204" charset="-122"/>
              <a:cs typeface="微软雅黑" panose="020B0503020204020204" charset="-122"/>
            </a:endParaRPr>
          </a:p>
        </p:txBody>
      </p:sp>
      <p:sp>
        <p:nvSpPr>
          <p:cNvPr id="9" name="object 9"/>
          <p:cNvSpPr txBox="1"/>
          <p:nvPr/>
        </p:nvSpPr>
        <p:spPr>
          <a:xfrm>
            <a:off x="3549294" y="2827527"/>
            <a:ext cx="615950" cy="484505"/>
          </a:xfrm>
          <a:prstGeom prst="rect">
            <a:avLst/>
          </a:prstGeom>
          <a:solidFill>
            <a:srgbClr val="64B339"/>
          </a:solidFill>
        </p:spPr>
        <p:txBody>
          <a:bodyPr vert="horz" wrap="square" lIns="0" tIns="0" rIns="0" bIns="0" rtlCol="0">
            <a:spAutoFit/>
          </a:bodyPr>
          <a:lstStyle/>
          <a:p>
            <a:pPr marL="100965">
              <a:lnSpc>
                <a:spcPts val="3630"/>
              </a:lnSpc>
            </a:pPr>
            <a:r>
              <a:rPr sz="3200" spc="-25" dirty="0">
                <a:solidFill>
                  <a:srgbClr val="FFFFFF"/>
                </a:solidFill>
                <a:latin typeface="Calibri" panose="020F0502020204030204"/>
                <a:cs typeface="Calibri" panose="020F0502020204030204"/>
              </a:rPr>
              <a:t>03</a:t>
            </a:r>
            <a:endParaRPr sz="3200">
              <a:latin typeface="Calibri" panose="020F0502020204030204"/>
              <a:cs typeface="Calibri" panose="020F0502020204030204"/>
            </a:endParaRPr>
          </a:p>
        </p:txBody>
      </p:sp>
      <p:sp>
        <p:nvSpPr>
          <p:cNvPr id="10" name="object 10"/>
          <p:cNvSpPr txBox="1"/>
          <p:nvPr/>
        </p:nvSpPr>
        <p:spPr>
          <a:xfrm>
            <a:off x="4282876" y="2872922"/>
            <a:ext cx="594360" cy="366395"/>
          </a:xfrm>
          <a:prstGeom prst="rect">
            <a:avLst/>
          </a:prstGeom>
        </p:spPr>
        <p:txBody>
          <a:bodyPr vert="horz" wrap="square" lIns="0" tIns="17145" rIns="0" bIns="0" rtlCol="0">
            <a:spAutoFit/>
          </a:bodyPr>
          <a:lstStyle/>
          <a:p>
            <a:pPr marL="12700">
              <a:lnSpc>
                <a:spcPct val="100000"/>
              </a:lnSpc>
              <a:spcBef>
                <a:spcPts val="135"/>
              </a:spcBef>
            </a:pPr>
            <a:r>
              <a:rPr sz="2200" spc="-25" dirty="0">
                <a:latin typeface="微软雅黑" panose="020B0503020204020204" charset="-122"/>
                <a:cs typeface="微软雅黑" panose="020B0503020204020204" charset="-122"/>
              </a:rPr>
              <a:t>小结</a:t>
            </a:r>
            <a:endParaRPr sz="2200">
              <a:latin typeface="微软雅黑" panose="020B0503020204020204" charset="-122"/>
              <a:cs typeface="微软雅黑" panose="020B0503020204020204" charset="-122"/>
            </a:endParaRPr>
          </a:p>
        </p:txBody>
      </p:sp>
      <p:sp>
        <p:nvSpPr>
          <p:cNvPr id="11" name="object 11"/>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13" name="object 13"/>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3</a:t>
            </a:fld>
            <a:r>
              <a:rPr spc="-10" dirty="0"/>
              <a:t> </a:t>
            </a:r>
            <a:r>
              <a:rPr spc="-5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6562" y="304292"/>
            <a:ext cx="4194175" cy="366395"/>
          </a:xfrm>
          <a:prstGeom prst="rect">
            <a:avLst/>
          </a:prstGeom>
        </p:spPr>
        <p:txBody>
          <a:bodyPr vert="horz" wrap="square" lIns="0" tIns="17145" rIns="0" bIns="0" rtlCol="0">
            <a:spAutoFit/>
          </a:bodyPr>
          <a:lstStyle/>
          <a:p>
            <a:pPr marL="12700">
              <a:lnSpc>
                <a:spcPct val="100000"/>
              </a:lnSpc>
              <a:spcBef>
                <a:spcPts val="135"/>
              </a:spcBef>
            </a:pPr>
            <a:r>
              <a:rPr dirty="0"/>
              <a:t>CRGNB</a:t>
            </a:r>
            <a:r>
              <a:rPr spc="-5" dirty="0"/>
              <a:t>主要抗菌药物的研发进程</a:t>
            </a:r>
          </a:p>
        </p:txBody>
      </p:sp>
      <p:pic>
        <p:nvPicPr>
          <p:cNvPr id="3" name="object 3"/>
          <p:cNvPicPr/>
          <p:nvPr/>
        </p:nvPicPr>
        <p:blipFill>
          <a:blip r:embed="rId3" cstate="print"/>
          <a:stretch>
            <a:fillRect/>
          </a:stretch>
        </p:blipFill>
        <p:spPr>
          <a:xfrm>
            <a:off x="302564" y="949960"/>
            <a:ext cx="3197332" cy="4581753"/>
          </a:xfrm>
          <a:prstGeom prst="rect">
            <a:avLst/>
          </a:prstGeom>
        </p:spPr>
      </p:pic>
      <p:sp>
        <p:nvSpPr>
          <p:cNvPr id="4" name="object 4"/>
          <p:cNvSpPr txBox="1"/>
          <p:nvPr/>
        </p:nvSpPr>
        <p:spPr>
          <a:xfrm>
            <a:off x="2403530" y="4967589"/>
            <a:ext cx="1589405" cy="135255"/>
          </a:xfrm>
          <a:prstGeom prst="rect">
            <a:avLst/>
          </a:prstGeom>
        </p:spPr>
        <p:txBody>
          <a:bodyPr vert="horz" wrap="square" lIns="0" tIns="15240" rIns="0" bIns="0" rtlCol="0">
            <a:spAutoFit/>
          </a:bodyPr>
          <a:lstStyle/>
          <a:p>
            <a:pPr marL="12700">
              <a:lnSpc>
                <a:spcPct val="100000"/>
              </a:lnSpc>
              <a:spcBef>
                <a:spcPts val="120"/>
              </a:spcBef>
            </a:pPr>
            <a:r>
              <a:rPr sz="700" spc="70" dirty="0">
                <a:solidFill>
                  <a:srgbClr val="404040"/>
                </a:solidFill>
                <a:latin typeface="微软雅黑" panose="020B0503020204020204" charset="-122"/>
                <a:cs typeface="微软雅黑" panose="020B0503020204020204" charset="-122"/>
              </a:rPr>
              <a:t>多肽类  </a:t>
            </a:r>
            <a:r>
              <a:rPr sz="450" dirty="0">
                <a:solidFill>
                  <a:srgbClr val="404040"/>
                </a:solidFill>
                <a:latin typeface="微软雅黑" panose="020B0503020204020204" charset="-122"/>
                <a:cs typeface="微软雅黑" panose="020B0503020204020204" charset="-122"/>
              </a:rPr>
              <a:t>由于肾毒性等原因在</a:t>
            </a:r>
            <a:r>
              <a:rPr sz="450" dirty="0">
                <a:solidFill>
                  <a:srgbClr val="404040"/>
                </a:solidFill>
                <a:latin typeface="Arial MT"/>
                <a:cs typeface="Arial MT"/>
              </a:rPr>
              <a:t>1960s</a:t>
            </a:r>
            <a:r>
              <a:rPr sz="450" spc="-10" dirty="0">
                <a:solidFill>
                  <a:srgbClr val="404040"/>
                </a:solidFill>
                <a:latin typeface="微软雅黑" panose="020B0503020204020204" charset="-122"/>
                <a:cs typeface="微软雅黑" panose="020B0503020204020204" charset="-122"/>
              </a:rPr>
              <a:t>不再被推荐广泛使用</a:t>
            </a:r>
            <a:endParaRPr sz="450">
              <a:latin typeface="微软雅黑" panose="020B0503020204020204" charset="-122"/>
              <a:cs typeface="微软雅黑" panose="020B0503020204020204" charset="-122"/>
            </a:endParaRPr>
          </a:p>
        </p:txBody>
      </p:sp>
      <p:sp>
        <p:nvSpPr>
          <p:cNvPr id="5" name="object 5"/>
          <p:cNvSpPr txBox="1"/>
          <p:nvPr/>
        </p:nvSpPr>
        <p:spPr>
          <a:xfrm>
            <a:off x="1388872" y="4846439"/>
            <a:ext cx="929640" cy="326390"/>
          </a:xfrm>
          <a:prstGeom prst="rect">
            <a:avLst/>
          </a:prstGeom>
        </p:spPr>
        <p:txBody>
          <a:bodyPr vert="horz" wrap="square" lIns="0" tIns="43815" rIns="0" bIns="0" rtlCol="0">
            <a:spAutoFit/>
          </a:bodyPr>
          <a:lstStyle/>
          <a:p>
            <a:pPr marL="229235">
              <a:lnSpc>
                <a:spcPct val="100000"/>
              </a:lnSpc>
              <a:spcBef>
                <a:spcPts val="345"/>
              </a:spcBef>
            </a:pPr>
            <a:r>
              <a:rPr sz="900" b="1" spc="-385" dirty="0">
                <a:solidFill>
                  <a:srgbClr val="404040"/>
                </a:solidFill>
                <a:latin typeface="微软雅黑" panose="020B0503020204020204" charset="-122"/>
                <a:cs typeface="微软雅黑" panose="020B0503020204020204" charset="-122"/>
              </a:rPr>
              <a:t>多黏菌素</a:t>
            </a:r>
            <a:r>
              <a:rPr sz="850" b="1" i="1" spc="-50" dirty="0">
                <a:solidFill>
                  <a:srgbClr val="404040"/>
                </a:solidFill>
                <a:latin typeface="Arial" panose="020B0604020202020204"/>
                <a:cs typeface="Arial" panose="020B0604020202020204"/>
              </a:rPr>
              <a:t>B</a:t>
            </a:r>
            <a:endParaRPr sz="850">
              <a:latin typeface="Arial" panose="020B0604020202020204"/>
              <a:cs typeface="Arial" panose="020B0604020202020204"/>
            </a:endParaRPr>
          </a:p>
          <a:p>
            <a:pPr marL="12700">
              <a:lnSpc>
                <a:spcPct val="100000"/>
              </a:lnSpc>
              <a:spcBef>
                <a:spcPts val="195"/>
              </a:spcBef>
            </a:pPr>
            <a:r>
              <a:rPr sz="700" b="1" dirty="0">
                <a:solidFill>
                  <a:srgbClr val="F09D18"/>
                </a:solidFill>
                <a:latin typeface="微软雅黑" panose="020B0503020204020204" charset="-122"/>
                <a:cs typeface="微软雅黑" panose="020B0503020204020204" charset="-122"/>
              </a:rPr>
              <a:t>中国获批：</a:t>
            </a:r>
            <a:r>
              <a:rPr sz="700" b="1" dirty="0">
                <a:solidFill>
                  <a:srgbClr val="F09D18"/>
                </a:solidFill>
                <a:latin typeface="Arial" panose="020B0604020202020204"/>
                <a:cs typeface="Arial" panose="020B0604020202020204"/>
              </a:rPr>
              <a:t>2017(</a:t>
            </a:r>
            <a:r>
              <a:rPr sz="700" b="1" dirty="0">
                <a:solidFill>
                  <a:srgbClr val="F09D18"/>
                </a:solidFill>
                <a:latin typeface="微软雅黑" panose="020B0503020204020204" charset="-122"/>
                <a:cs typeface="微软雅黑" panose="020B0503020204020204" charset="-122"/>
              </a:rPr>
              <a:t>仿制</a:t>
            </a:r>
            <a:r>
              <a:rPr sz="700" b="1" spc="-50" dirty="0">
                <a:solidFill>
                  <a:srgbClr val="F09D18"/>
                </a:solidFill>
                <a:latin typeface="Arial" panose="020B0604020202020204"/>
                <a:cs typeface="Arial" panose="020B0604020202020204"/>
              </a:rPr>
              <a:t>)</a:t>
            </a:r>
            <a:endParaRPr sz="700">
              <a:latin typeface="Arial" panose="020B0604020202020204"/>
              <a:cs typeface="Arial" panose="020B0604020202020204"/>
            </a:endParaRPr>
          </a:p>
        </p:txBody>
      </p:sp>
      <p:sp>
        <p:nvSpPr>
          <p:cNvPr id="6" name="object 6"/>
          <p:cNvSpPr txBox="1"/>
          <p:nvPr/>
        </p:nvSpPr>
        <p:spPr>
          <a:xfrm>
            <a:off x="2598877" y="4600874"/>
            <a:ext cx="1589405" cy="135255"/>
          </a:xfrm>
          <a:prstGeom prst="rect">
            <a:avLst/>
          </a:prstGeom>
        </p:spPr>
        <p:txBody>
          <a:bodyPr vert="horz" wrap="square" lIns="0" tIns="15240" rIns="0" bIns="0" rtlCol="0">
            <a:spAutoFit/>
          </a:bodyPr>
          <a:lstStyle/>
          <a:p>
            <a:pPr marL="12700">
              <a:lnSpc>
                <a:spcPct val="100000"/>
              </a:lnSpc>
              <a:spcBef>
                <a:spcPts val="120"/>
              </a:spcBef>
            </a:pPr>
            <a:r>
              <a:rPr sz="700" spc="70" dirty="0">
                <a:solidFill>
                  <a:srgbClr val="404040"/>
                </a:solidFill>
                <a:latin typeface="微软雅黑" panose="020B0503020204020204" charset="-122"/>
                <a:cs typeface="微软雅黑" panose="020B0503020204020204" charset="-122"/>
              </a:rPr>
              <a:t>多肽类  </a:t>
            </a:r>
            <a:r>
              <a:rPr sz="450" dirty="0">
                <a:solidFill>
                  <a:srgbClr val="404040"/>
                </a:solidFill>
                <a:latin typeface="微软雅黑" panose="020B0503020204020204" charset="-122"/>
                <a:cs typeface="微软雅黑" panose="020B0503020204020204" charset="-122"/>
              </a:rPr>
              <a:t>由于肾毒性等原因在</a:t>
            </a:r>
            <a:r>
              <a:rPr sz="450" dirty="0">
                <a:solidFill>
                  <a:srgbClr val="404040"/>
                </a:solidFill>
                <a:latin typeface="Arial MT"/>
                <a:cs typeface="Arial MT"/>
              </a:rPr>
              <a:t>1960s</a:t>
            </a:r>
            <a:r>
              <a:rPr sz="450" spc="-10" dirty="0">
                <a:solidFill>
                  <a:srgbClr val="404040"/>
                </a:solidFill>
                <a:latin typeface="微软雅黑" panose="020B0503020204020204" charset="-122"/>
                <a:cs typeface="微软雅黑" panose="020B0503020204020204" charset="-122"/>
              </a:rPr>
              <a:t>不再被推荐广泛使用</a:t>
            </a:r>
            <a:endParaRPr sz="450">
              <a:latin typeface="微软雅黑" panose="020B0503020204020204" charset="-122"/>
              <a:cs typeface="微软雅黑" panose="020B0503020204020204" charset="-122"/>
            </a:endParaRPr>
          </a:p>
        </p:txBody>
      </p:sp>
      <p:sp>
        <p:nvSpPr>
          <p:cNvPr id="7" name="object 7"/>
          <p:cNvSpPr txBox="1"/>
          <p:nvPr/>
        </p:nvSpPr>
        <p:spPr>
          <a:xfrm>
            <a:off x="1633839" y="4479622"/>
            <a:ext cx="929640" cy="326390"/>
          </a:xfrm>
          <a:prstGeom prst="rect">
            <a:avLst/>
          </a:prstGeom>
        </p:spPr>
        <p:txBody>
          <a:bodyPr vert="horz" wrap="square" lIns="0" tIns="43815" rIns="0" bIns="0" rtlCol="0">
            <a:spAutoFit/>
          </a:bodyPr>
          <a:lstStyle/>
          <a:p>
            <a:pPr marR="1905" algn="ctr">
              <a:lnSpc>
                <a:spcPct val="100000"/>
              </a:lnSpc>
              <a:spcBef>
                <a:spcPts val="345"/>
              </a:spcBef>
            </a:pPr>
            <a:r>
              <a:rPr sz="900" b="1" spc="-385" dirty="0">
                <a:solidFill>
                  <a:srgbClr val="404040"/>
                </a:solidFill>
                <a:latin typeface="微软雅黑" panose="020B0503020204020204" charset="-122"/>
                <a:cs typeface="微软雅黑" panose="020B0503020204020204" charset="-122"/>
              </a:rPr>
              <a:t>多黏菌素</a:t>
            </a:r>
            <a:r>
              <a:rPr sz="850" b="1" i="1" spc="-50" dirty="0">
                <a:solidFill>
                  <a:srgbClr val="404040"/>
                </a:solidFill>
                <a:latin typeface="Arial" panose="020B0604020202020204"/>
                <a:cs typeface="Arial" panose="020B0604020202020204"/>
              </a:rPr>
              <a:t>E</a:t>
            </a:r>
            <a:endParaRPr sz="850">
              <a:latin typeface="Arial" panose="020B0604020202020204"/>
              <a:cs typeface="Arial" panose="020B0604020202020204"/>
            </a:endParaRPr>
          </a:p>
          <a:p>
            <a:pPr algn="ctr">
              <a:lnSpc>
                <a:spcPct val="100000"/>
              </a:lnSpc>
              <a:spcBef>
                <a:spcPts val="195"/>
              </a:spcBef>
            </a:pPr>
            <a:r>
              <a:rPr sz="700" b="1" dirty="0">
                <a:solidFill>
                  <a:srgbClr val="F09D18"/>
                </a:solidFill>
                <a:latin typeface="微软雅黑" panose="020B0503020204020204" charset="-122"/>
                <a:cs typeface="微软雅黑" panose="020B0503020204020204" charset="-122"/>
              </a:rPr>
              <a:t>中国获批：</a:t>
            </a:r>
            <a:r>
              <a:rPr sz="700" b="1" dirty="0">
                <a:solidFill>
                  <a:srgbClr val="F09D18"/>
                </a:solidFill>
                <a:latin typeface="Arial" panose="020B0604020202020204"/>
                <a:cs typeface="Arial" panose="020B0604020202020204"/>
              </a:rPr>
              <a:t>2021(</a:t>
            </a:r>
            <a:r>
              <a:rPr sz="700" b="1" dirty="0">
                <a:solidFill>
                  <a:srgbClr val="F09D18"/>
                </a:solidFill>
                <a:latin typeface="微软雅黑" panose="020B0503020204020204" charset="-122"/>
                <a:cs typeface="微软雅黑" panose="020B0503020204020204" charset="-122"/>
              </a:rPr>
              <a:t>仿制</a:t>
            </a:r>
            <a:r>
              <a:rPr sz="700" b="1" spc="-50" dirty="0">
                <a:solidFill>
                  <a:srgbClr val="F09D18"/>
                </a:solidFill>
                <a:latin typeface="Arial" panose="020B0604020202020204"/>
                <a:cs typeface="Arial" panose="020B0604020202020204"/>
              </a:rPr>
              <a:t>)</a:t>
            </a:r>
            <a:endParaRPr sz="700">
              <a:latin typeface="Arial" panose="020B0604020202020204"/>
              <a:cs typeface="Arial" panose="020B0604020202020204"/>
            </a:endParaRPr>
          </a:p>
        </p:txBody>
      </p:sp>
      <p:sp>
        <p:nvSpPr>
          <p:cNvPr id="8" name="object 8"/>
          <p:cNvSpPr/>
          <p:nvPr/>
        </p:nvSpPr>
        <p:spPr>
          <a:xfrm>
            <a:off x="809752" y="4895291"/>
            <a:ext cx="507365" cy="248920"/>
          </a:xfrm>
          <a:custGeom>
            <a:avLst/>
            <a:gdLst/>
            <a:ahLst/>
            <a:cxnLst/>
            <a:rect l="l" t="t" r="r" b="b"/>
            <a:pathLst>
              <a:path w="507365" h="248920">
                <a:moveTo>
                  <a:pt x="410870" y="248716"/>
                </a:moveTo>
                <a:lnTo>
                  <a:pt x="97536" y="248716"/>
                </a:lnTo>
                <a:lnTo>
                  <a:pt x="59380" y="240884"/>
                </a:lnTo>
                <a:lnTo>
                  <a:pt x="28327" y="219939"/>
                </a:lnTo>
                <a:lnTo>
                  <a:pt x="7494" y="188999"/>
                </a:lnTo>
                <a:lnTo>
                  <a:pt x="0" y="151180"/>
                </a:lnTo>
                <a:lnTo>
                  <a:pt x="0" y="96316"/>
                </a:lnTo>
                <a:lnTo>
                  <a:pt x="7494" y="58734"/>
                </a:lnTo>
                <a:lnTo>
                  <a:pt x="28327" y="27999"/>
                </a:lnTo>
                <a:lnTo>
                  <a:pt x="59380" y="7344"/>
                </a:lnTo>
                <a:lnTo>
                  <a:pt x="97536" y="0"/>
                </a:lnTo>
                <a:lnTo>
                  <a:pt x="410870" y="0"/>
                </a:lnTo>
                <a:lnTo>
                  <a:pt x="448462" y="7344"/>
                </a:lnTo>
                <a:lnTo>
                  <a:pt x="479198" y="27999"/>
                </a:lnTo>
                <a:lnTo>
                  <a:pt x="499850" y="58734"/>
                </a:lnTo>
                <a:lnTo>
                  <a:pt x="507187" y="96316"/>
                </a:lnTo>
                <a:lnTo>
                  <a:pt x="507187" y="151180"/>
                </a:lnTo>
                <a:lnTo>
                  <a:pt x="499850" y="188999"/>
                </a:lnTo>
                <a:lnTo>
                  <a:pt x="479198" y="219939"/>
                </a:lnTo>
                <a:lnTo>
                  <a:pt x="448462" y="240884"/>
                </a:lnTo>
                <a:lnTo>
                  <a:pt x="410870" y="248716"/>
                </a:lnTo>
                <a:close/>
              </a:path>
            </a:pathLst>
          </a:custGeom>
          <a:solidFill>
            <a:srgbClr val="F09D18"/>
          </a:solidFill>
        </p:spPr>
        <p:txBody>
          <a:bodyPr wrap="square" lIns="0" tIns="0" rIns="0" bIns="0" rtlCol="0"/>
          <a:lstStyle/>
          <a:p>
            <a:endParaRPr/>
          </a:p>
        </p:txBody>
      </p:sp>
      <p:sp>
        <p:nvSpPr>
          <p:cNvPr id="9" name="object 9"/>
          <p:cNvSpPr txBox="1"/>
          <p:nvPr/>
        </p:nvSpPr>
        <p:spPr>
          <a:xfrm>
            <a:off x="895390" y="4933451"/>
            <a:ext cx="335915" cy="160655"/>
          </a:xfrm>
          <a:prstGeom prst="rect">
            <a:avLst/>
          </a:prstGeom>
        </p:spPr>
        <p:txBody>
          <a:bodyPr vert="horz" wrap="square" lIns="0" tIns="17145" rIns="0" bIns="0" rtlCol="0">
            <a:spAutoFit/>
          </a:bodyPr>
          <a:lstStyle/>
          <a:p>
            <a:pPr marL="12700">
              <a:lnSpc>
                <a:spcPct val="100000"/>
              </a:lnSpc>
              <a:spcBef>
                <a:spcPts val="135"/>
              </a:spcBef>
            </a:pPr>
            <a:r>
              <a:rPr sz="850" b="1" spc="-10" dirty="0">
                <a:solidFill>
                  <a:srgbClr val="FFFFFF"/>
                </a:solidFill>
                <a:latin typeface="Arial" panose="020B0604020202020204"/>
                <a:cs typeface="Arial" panose="020B0604020202020204"/>
              </a:rPr>
              <a:t>1950s</a:t>
            </a:r>
            <a:endParaRPr sz="850">
              <a:latin typeface="Arial" panose="020B0604020202020204"/>
              <a:cs typeface="Arial" panose="020B0604020202020204"/>
            </a:endParaRPr>
          </a:p>
        </p:txBody>
      </p:sp>
      <p:sp>
        <p:nvSpPr>
          <p:cNvPr id="10" name="object 10"/>
          <p:cNvSpPr/>
          <p:nvPr/>
        </p:nvSpPr>
        <p:spPr>
          <a:xfrm>
            <a:off x="1085291" y="4528311"/>
            <a:ext cx="508634" cy="248920"/>
          </a:xfrm>
          <a:custGeom>
            <a:avLst/>
            <a:gdLst/>
            <a:ahLst/>
            <a:cxnLst/>
            <a:rect l="l" t="t" r="r" b="b"/>
            <a:pathLst>
              <a:path w="508634" h="248920">
                <a:moveTo>
                  <a:pt x="410870" y="248716"/>
                </a:moveTo>
                <a:lnTo>
                  <a:pt x="97536" y="248716"/>
                </a:lnTo>
                <a:lnTo>
                  <a:pt x="59614" y="240982"/>
                </a:lnTo>
                <a:lnTo>
                  <a:pt x="28639" y="220069"/>
                </a:lnTo>
                <a:lnTo>
                  <a:pt x="7729" y="189096"/>
                </a:lnTo>
                <a:lnTo>
                  <a:pt x="0" y="151180"/>
                </a:lnTo>
                <a:lnTo>
                  <a:pt x="0" y="97536"/>
                </a:lnTo>
                <a:lnTo>
                  <a:pt x="7729" y="59341"/>
                </a:lnTo>
                <a:lnTo>
                  <a:pt x="28639" y="28277"/>
                </a:lnTo>
                <a:lnTo>
                  <a:pt x="59614" y="7459"/>
                </a:lnTo>
                <a:lnTo>
                  <a:pt x="97536" y="0"/>
                </a:lnTo>
                <a:lnTo>
                  <a:pt x="410870" y="0"/>
                </a:lnTo>
                <a:lnTo>
                  <a:pt x="448711" y="7459"/>
                </a:lnTo>
                <a:lnTo>
                  <a:pt x="479659" y="28277"/>
                </a:lnTo>
                <a:lnTo>
                  <a:pt x="500597" y="59341"/>
                </a:lnTo>
                <a:lnTo>
                  <a:pt x="508406" y="97536"/>
                </a:lnTo>
                <a:lnTo>
                  <a:pt x="508406" y="151180"/>
                </a:lnTo>
                <a:lnTo>
                  <a:pt x="500597" y="189096"/>
                </a:lnTo>
                <a:lnTo>
                  <a:pt x="479659" y="220069"/>
                </a:lnTo>
                <a:lnTo>
                  <a:pt x="448711" y="240982"/>
                </a:lnTo>
                <a:lnTo>
                  <a:pt x="410870" y="248716"/>
                </a:lnTo>
                <a:close/>
              </a:path>
            </a:pathLst>
          </a:custGeom>
          <a:solidFill>
            <a:srgbClr val="F09D18"/>
          </a:solidFill>
        </p:spPr>
        <p:txBody>
          <a:bodyPr wrap="square" lIns="0" tIns="0" rIns="0" bIns="0" rtlCol="0"/>
          <a:lstStyle/>
          <a:p>
            <a:endParaRPr/>
          </a:p>
        </p:txBody>
      </p:sp>
      <p:sp>
        <p:nvSpPr>
          <p:cNvPr id="11" name="object 11"/>
          <p:cNvSpPr txBox="1"/>
          <p:nvPr/>
        </p:nvSpPr>
        <p:spPr>
          <a:xfrm>
            <a:off x="1202334" y="4566645"/>
            <a:ext cx="274320" cy="160655"/>
          </a:xfrm>
          <a:prstGeom prst="rect">
            <a:avLst/>
          </a:prstGeom>
        </p:spPr>
        <p:txBody>
          <a:bodyPr vert="horz" wrap="square" lIns="0" tIns="17145" rIns="0" bIns="0" rtlCol="0">
            <a:spAutoFit/>
          </a:bodyPr>
          <a:lstStyle/>
          <a:p>
            <a:pPr marL="12700">
              <a:lnSpc>
                <a:spcPct val="100000"/>
              </a:lnSpc>
              <a:spcBef>
                <a:spcPts val="135"/>
              </a:spcBef>
            </a:pPr>
            <a:r>
              <a:rPr sz="850" b="1" spc="-20" dirty="0">
                <a:solidFill>
                  <a:srgbClr val="FFFFFF"/>
                </a:solidFill>
                <a:latin typeface="Arial" panose="020B0604020202020204"/>
                <a:cs typeface="Arial" panose="020B0604020202020204"/>
              </a:rPr>
              <a:t>1970</a:t>
            </a:r>
            <a:endParaRPr sz="850">
              <a:latin typeface="Arial" panose="020B0604020202020204"/>
              <a:cs typeface="Arial" panose="020B0604020202020204"/>
            </a:endParaRPr>
          </a:p>
        </p:txBody>
      </p:sp>
      <p:sp>
        <p:nvSpPr>
          <p:cNvPr id="12" name="object 12"/>
          <p:cNvSpPr txBox="1"/>
          <p:nvPr/>
        </p:nvSpPr>
        <p:spPr>
          <a:xfrm>
            <a:off x="2127676" y="4218858"/>
            <a:ext cx="3561079" cy="172085"/>
          </a:xfrm>
          <a:prstGeom prst="rect">
            <a:avLst/>
          </a:prstGeom>
        </p:spPr>
        <p:txBody>
          <a:bodyPr vert="horz" wrap="square" lIns="0" tIns="13970" rIns="0" bIns="0" rtlCol="0">
            <a:spAutoFit/>
          </a:bodyPr>
          <a:lstStyle/>
          <a:p>
            <a:pPr marL="12700">
              <a:lnSpc>
                <a:spcPct val="100000"/>
              </a:lnSpc>
              <a:spcBef>
                <a:spcPts val="110"/>
              </a:spcBef>
            </a:pPr>
            <a:r>
              <a:rPr sz="950" b="1" dirty="0">
                <a:latin typeface="微软雅黑" panose="020B0503020204020204" charset="-122"/>
                <a:cs typeface="微软雅黑" panose="020B0503020204020204" charset="-122"/>
              </a:rPr>
              <a:t>多黏菌素类药物</a:t>
            </a:r>
            <a:r>
              <a:rPr sz="950" spc="-5" dirty="0">
                <a:latin typeface="微软雅黑" panose="020B0503020204020204" charset="-122"/>
                <a:cs typeface="微软雅黑" panose="020B0503020204020204" charset="-122"/>
              </a:rPr>
              <a:t>又因其对多重耐药菌的有效作用而重新被推荐使用</a:t>
            </a:r>
            <a:endParaRPr sz="950">
              <a:latin typeface="微软雅黑" panose="020B0503020204020204" charset="-122"/>
              <a:cs typeface="微软雅黑" panose="020B0503020204020204" charset="-122"/>
            </a:endParaRPr>
          </a:p>
        </p:txBody>
      </p:sp>
      <p:pic>
        <p:nvPicPr>
          <p:cNvPr id="13" name="object 13"/>
          <p:cNvPicPr/>
          <p:nvPr/>
        </p:nvPicPr>
        <p:blipFill>
          <a:blip r:embed="rId4" cstate="print"/>
          <a:stretch>
            <a:fillRect/>
          </a:stretch>
        </p:blipFill>
        <p:spPr>
          <a:xfrm>
            <a:off x="1334008" y="4077208"/>
            <a:ext cx="731520" cy="438912"/>
          </a:xfrm>
          <a:prstGeom prst="rect">
            <a:avLst/>
          </a:prstGeom>
        </p:spPr>
      </p:pic>
      <p:sp>
        <p:nvSpPr>
          <p:cNvPr id="14" name="object 14"/>
          <p:cNvSpPr txBox="1"/>
          <p:nvPr/>
        </p:nvSpPr>
        <p:spPr>
          <a:xfrm>
            <a:off x="1456019" y="4209999"/>
            <a:ext cx="485140" cy="160655"/>
          </a:xfrm>
          <a:prstGeom prst="rect">
            <a:avLst/>
          </a:prstGeom>
        </p:spPr>
        <p:txBody>
          <a:bodyPr vert="horz" wrap="square" lIns="0" tIns="17145" rIns="0" bIns="0" rtlCol="0">
            <a:spAutoFit/>
          </a:bodyPr>
          <a:lstStyle/>
          <a:p>
            <a:pPr marL="12700">
              <a:lnSpc>
                <a:spcPct val="100000"/>
              </a:lnSpc>
              <a:spcBef>
                <a:spcPts val="135"/>
              </a:spcBef>
            </a:pPr>
            <a:r>
              <a:rPr sz="850" b="1" dirty="0">
                <a:solidFill>
                  <a:srgbClr val="FFFFFF"/>
                </a:solidFill>
                <a:latin typeface="Arial" panose="020B0604020202020204"/>
                <a:cs typeface="Arial" panose="020B0604020202020204"/>
              </a:rPr>
              <a:t>21</a:t>
            </a:r>
            <a:r>
              <a:rPr sz="850" b="1" spc="-20" dirty="0">
                <a:solidFill>
                  <a:srgbClr val="FFFFFF"/>
                </a:solidFill>
                <a:latin typeface="微软雅黑" panose="020B0503020204020204" charset="-122"/>
                <a:cs typeface="微软雅黑" panose="020B0503020204020204" charset="-122"/>
              </a:rPr>
              <a:t>世纪初</a:t>
            </a:r>
            <a:endParaRPr sz="850">
              <a:latin typeface="微软雅黑" panose="020B0503020204020204" charset="-122"/>
              <a:cs typeface="微软雅黑" panose="020B0503020204020204" charset="-122"/>
            </a:endParaRPr>
          </a:p>
        </p:txBody>
      </p:sp>
      <p:sp>
        <p:nvSpPr>
          <p:cNvPr id="15" name="object 15"/>
          <p:cNvSpPr/>
          <p:nvPr/>
        </p:nvSpPr>
        <p:spPr>
          <a:xfrm>
            <a:off x="1610766" y="3790696"/>
            <a:ext cx="508634" cy="248920"/>
          </a:xfrm>
          <a:custGeom>
            <a:avLst/>
            <a:gdLst/>
            <a:ahLst/>
            <a:cxnLst/>
            <a:rect l="l" t="t" r="r" b="b"/>
            <a:pathLst>
              <a:path w="508635" h="248920">
                <a:moveTo>
                  <a:pt x="410870" y="248716"/>
                </a:moveTo>
                <a:lnTo>
                  <a:pt x="97536" y="248716"/>
                </a:lnTo>
                <a:lnTo>
                  <a:pt x="59770" y="241119"/>
                </a:lnTo>
                <a:lnTo>
                  <a:pt x="28849" y="220252"/>
                </a:lnTo>
                <a:lnTo>
                  <a:pt x="7887" y="189233"/>
                </a:lnTo>
                <a:lnTo>
                  <a:pt x="0" y="151180"/>
                </a:lnTo>
                <a:lnTo>
                  <a:pt x="0" y="97536"/>
                </a:lnTo>
                <a:lnTo>
                  <a:pt x="7887" y="59478"/>
                </a:lnTo>
                <a:lnTo>
                  <a:pt x="28849" y="28460"/>
                </a:lnTo>
                <a:lnTo>
                  <a:pt x="59770" y="7596"/>
                </a:lnTo>
                <a:lnTo>
                  <a:pt x="97536" y="0"/>
                </a:lnTo>
                <a:lnTo>
                  <a:pt x="410870" y="0"/>
                </a:lnTo>
                <a:lnTo>
                  <a:pt x="448871" y="7596"/>
                </a:lnTo>
                <a:lnTo>
                  <a:pt x="479873" y="28460"/>
                </a:lnTo>
                <a:lnTo>
                  <a:pt x="500757" y="59478"/>
                </a:lnTo>
                <a:lnTo>
                  <a:pt x="508406" y="97536"/>
                </a:lnTo>
                <a:lnTo>
                  <a:pt x="508406" y="151180"/>
                </a:lnTo>
                <a:lnTo>
                  <a:pt x="500757" y="189233"/>
                </a:lnTo>
                <a:lnTo>
                  <a:pt x="479873" y="220252"/>
                </a:lnTo>
                <a:lnTo>
                  <a:pt x="448871" y="241119"/>
                </a:lnTo>
                <a:lnTo>
                  <a:pt x="410870" y="248716"/>
                </a:lnTo>
                <a:close/>
              </a:path>
            </a:pathLst>
          </a:custGeom>
          <a:solidFill>
            <a:srgbClr val="F09D18"/>
          </a:solidFill>
        </p:spPr>
        <p:txBody>
          <a:bodyPr wrap="square" lIns="0" tIns="0" rIns="0" bIns="0" rtlCol="0"/>
          <a:lstStyle/>
          <a:p>
            <a:endParaRPr/>
          </a:p>
        </p:txBody>
      </p:sp>
      <p:sp>
        <p:nvSpPr>
          <p:cNvPr id="16" name="object 16"/>
          <p:cNvSpPr txBox="1"/>
          <p:nvPr/>
        </p:nvSpPr>
        <p:spPr>
          <a:xfrm>
            <a:off x="1728094" y="3829273"/>
            <a:ext cx="274320" cy="160655"/>
          </a:xfrm>
          <a:prstGeom prst="rect">
            <a:avLst/>
          </a:prstGeom>
        </p:spPr>
        <p:txBody>
          <a:bodyPr vert="horz" wrap="square" lIns="0" tIns="17145" rIns="0" bIns="0" rtlCol="0">
            <a:spAutoFit/>
          </a:bodyPr>
          <a:lstStyle/>
          <a:p>
            <a:pPr marL="12700">
              <a:lnSpc>
                <a:spcPct val="100000"/>
              </a:lnSpc>
              <a:spcBef>
                <a:spcPts val="135"/>
              </a:spcBef>
            </a:pPr>
            <a:r>
              <a:rPr sz="850" b="1" spc="-20" dirty="0">
                <a:solidFill>
                  <a:srgbClr val="FFFFFF"/>
                </a:solidFill>
                <a:latin typeface="Arial" panose="020B0604020202020204"/>
                <a:cs typeface="Arial" panose="020B0604020202020204"/>
              </a:rPr>
              <a:t>2005</a:t>
            </a:r>
            <a:endParaRPr sz="850">
              <a:latin typeface="Arial" panose="020B0604020202020204"/>
              <a:cs typeface="Arial" panose="020B0604020202020204"/>
            </a:endParaRPr>
          </a:p>
        </p:txBody>
      </p:sp>
      <p:sp>
        <p:nvSpPr>
          <p:cNvPr id="17" name="object 17"/>
          <p:cNvSpPr/>
          <p:nvPr/>
        </p:nvSpPr>
        <p:spPr>
          <a:xfrm>
            <a:off x="2286203" y="3722420"/>
            <a:ext cx="965835" cy="412115"/>
          </a:xfrm>
          <a:custGeom>
            <a:avLst/>
            <a:gdLst/>
            <a:ahLst/>
            <a:cxnLst/>
            <a:rect l="l" t="t" r="r" b="b"/>
            <a:pathLst>
              <a:path w="965835" h="412114">
                <a:moveTo>
                  <a:pt x="896112" y="412089"/>
                </a:moveTo>
                <a:lnTo>
                  <a:pt x="68275" y="412089"/>
                </a:lnTo>
                <a:lnTo>
                  <a:pt x="41845" y="406679"/>
                </a:lnTo>
                <a:lnTo>
                  <a:pt x="20154" y="391995"/>
                </a:lnTo>
                <a:lnTo>
                  <a:pt x="5455" y="370290"/>
                </a:lnTo>
                <a:lnTo>
                  <a:pt x="0" y="343814"/>
                </a:lnTo>
                <a:lnTo>
                  <a:pt x="0" y="68275"/>
                </a:lnTo>
                <a:lnTo>
                  <a:pt x="5455" y="41673"/>
                </a:lnTo>
                <a:lnTo>
                  <a:pt x="20154" y="19926"/>
                </a:lnTo>
                <a:lnTo>
                  <a:pt x="41845" y="5284"/>
                </a:lnTo>
                <a:lnTo>
                  <a:pt x="68275" y="0"/>
                </a:lnTo>
                <a:lnTo>
                  <a:pt x="896112" y="0"/>
                </a:lnTo>
                <a:lnTo>
                  <a:pt x="922966" y="5284"/>
                </a:lnTo>
                <a:lnTo>
                  <a:pt x="944925" y="19926"/>
                </a:lnTo>
                <a:lnTo>
                  <a:pt x="959851" y="41673"/>
                </a:lnTo>
                <a:lnTo>
                  <a:pt x="965606" y="68275"/>
                </a:lnTo>
                <a:lnTo>
                  <a:pt x="965606" y="343814"/>
                </a:lnTo>
                <a:lnTo>
                  <a:pt x="959851" y="370290"/>
                </a:lnTo>
                <a:lnTo>
                  <a:pt x="944925" y="391995"/>
                </a:lnTo>
                <a:lnTo>
                  <a:pt x="922966" y="406679"/>
                </a:lnTo>
                <a:lnTo>
                  <a:pt x="896112" y="412089"/>
                </a:lnTo>
                <a:close/>
              </a:path>
            </a:pathLst>
          </a:custGeom>
          <a:solidFill>
            <a:srgbClr val="FBEBD1"/>
          </a:solidFill>
        </p:spPr>
        <p:txBody>
          <a:bodyPr wrap="square" lIns="0" tIns="0" rIns="0" bIns="0" rtlCol="0"/>
          <a:lstStyle/>
          <a:p>
            <a:endParaRPr/>
          </a:p>
        </p:txBody>
      </p:sp>
      <p:sp>
        <p:nvSpPr>
          <p:cNvPr id="18" name="object 18"/>
          <p:cNvSpPr txBox="1"/>
          <p:nvPr/>
        </p:nvSpPr>
        <p:spPr>
          <a:xfrm>
            <a:off x="2425821" y="3753351"/>
            <a:ext cx="686435" cy="336550"/>
          </a:xfrm>
          <a:prstGeom prst="rect">
            <a:avLst/>
          </a:prstGeom>
        </p:spPr>
        <p:txBody>
          <a:bodyPr vert="horz" wrap="square" lIns="0" tIns="45085" rIns="0" bIns="0" rtlCol="0">
            <a:spAutoFit/>
          </a:bodyPr>
          <a:lstStyle/>
          <a:p>
            <a:pPr algn="ctr">
              <a:lnSpc>
                <a:spcPct val="100000"/>
              </a:lnSpc>
              <a:spcBef>
                <a:spcPts val="355"/>
              </a:spcBef>
            </a:pPr>
            <a:r>
              <a:rPr sz="950" b="1" spc="-15" dirty="0">
                <a:latin typeface="微软雅黑" panose="020B0503020204020204" charset="-122"/>
                <a:cs typeface="微软雅黑" panose="020B0503020204020204" charset="-122"/>
              </a:rPr>
              <a:t>替加环素</a:t>
            </a:r>
            <a:endParaRPr sz="950">
              <a:latin typeface="微软雅黑" panose="020B0503020204020204" charset="-122"/>
              <a:cs typeface="微软雅黑" panose="020B0503020204020204" charset="-122"/>
            </a:endParaRPr>
          </a:p>
          <a:p>
            <a:pPr algn="ctr">
              <a:lnSpc>
                <a:spcPct val="100000"/>
              </a:lnSpc>
              <a:spcBef>
                <a:spcPts val="205"/>
              </a:spcBef>
            </a:pPr>
            <a:r>
              <a:rPr sz="700" b="1" spc="-5" dirty="0">
                <a:solidFill>
                  <a:srgbClr val="F09D18"/>
                </a:solidFill>
                <a:latin typeface="微软雅黑" panose="020B0503020204020204" charset="-122"/>
                <a:cs typeface="微软雅黑" panose="020B0503020204020204" charset="-122"/>
              </a:rPr>
              <a:t>中国获批：</a:t>
            </a:r>
            <a:r>
              <a:rPr sz="700" b="1" spc="-10" dirty="0">
                <a:solidFill>
                  <a:srgbClr val="F09D18"/>
                </a:solidFill>
                <a:latin typeface="Arial" panose="020B0604020202020204"/>
                <a:cs typeface="Arial" panose="020B0604020202020204"/>
              </a:rPr>
              <a:t>2010</a:t>
            </a:r>
            <a:endParaRPr sz="700">
              <a:latin typeface="Arial" panose="020B0604020202020204"/>
              <a:cs typeface="Arial" panose="020B0604020202020204"/>
            </a:endParaRPr>
          </a:p>
        </p:txBody>
      </p:sp>
      <p:sp>
        <p:nvSpPr>
          <p:cNvPr id="19" name="object 19"/>
          <p:cNvSpPr/>
          <p:nvPr/>
        </p:nvSpPr>
        <p:spPr>
          <a:xfrm>
            <a:off x="2314244" y="3388360"/>
            <a:ext cx="1238885" cy="260985"/>
          </a:xfrm>
          <a:custGeom>
            <a:avLst/>
            <a:gdLst/>
            <a:ahLst/>
            <a:cxnLst/>
            <a:rect l="l" t="t" r="r" b="b"/>
            <a:pathLst>
              <a:path w="1238885" h="260985">
                <a:moveTo>
                  <a:pt x="1194816" y="260908"/>
                </a:moveTo>
                <a:lnTo>
                  <a:pt x="43891" y="260908"/>
                </a:lnTo>
                <a:lnTo>
                  <a:pt x="26717" y="257565"/>
                </a:lnTo>
                <a:lnTo>
                  <a:pt x="12771" y="248229"/>
                </a:lnTo>
                <a:lnTo>
                  <a:pt x="3411" y="234259"/>
                </a:lnTo>
                <a:lnTo>
                  <a:pt x="0" y="217017"/>
                </a:lnTo>
                <a:lnTo>
                  <a:pt x="0" y="43891"/>
                </a:lnTo>
                <a:lnTo>
                  <a:pt x="3411" y="26786"/>
                </a:lnTo>
                <a:lnTo>
                  <a:pt x="12771" y="12862"/>
                </a:lnTo>
                <a:lnTo>
                  <a:pt x="26717" y="3480"/>
                </a:lnTo>
                <a:lnTo>
                  <a:pt x="43891" y="0"/>
                </a:lnTo>
                <a:lnTo>
                  <a:pt x="1194816" y="0"/>
                </a:lnTo>
                <a:lnTo>
                  <a:pt x="1211916" y="3480"/>
                </a:lnTo>
                <a:lnTo>
                  <a:pt x="1225840" y="12862"/>
                </a:lnTo>
                <a:lnTo>
                  <a:pt x="1235225" y="26786"/>
                </a:lnTo>
                <a:lnTo>
                  <a:pt x="1238707" y="43891"/>
                </a:lnTo>
                <a:lnTo>
                  <a:pt x="1238707" y="217017"/>
                </a:lnTo>
                <a:lnTo>
                  <a:pt x="1235225" y="234259"/>
                </a:lnTo>
                <a:lnTo>
                  <a:pt x="1225840" y="248229"/>
                </a:lnTo>
                <a:lnTo>
                  <a:pt x="1211916" y="257565"/>
                </a:lnTo>
                <a:lnTo>
                  <a:pt x="1194816" y="260908"/>
                </a:lnTo>
                <a:close/>
              </a:path>
            </a:pathLst>
          </a:custGeom>
          <a:solidFill>
            <a:srgbClr val="B7DCFF"/>
          </a:solidFill>
        </p:spPr>
        <p:txBody>
          <a:bodyPr wrap="square" lIns="0" tIns="0" rIns="0" bIns="0" rtlCol="0"/>
          <a:lstStyle/>
          <a:p>
            <a:endParaRPr/>
          </a:p>
        </p:txBody>
      </p:sp>
      <p:sp>
        <p:nvSpPr>
          <p:cNvPr id="20" name="object 20"/>
          <p:cNvSpPr txBox="1"/>
          <p:nvPr/>
        </p:nvSpPr>
        <p:spPr>
          <a:xfrm>
            <a:off x="2433137" y="3440826"/>
            <a:ext cx="1000760" cy="172085"/>
          </a:xfrm>
          <a:prstGeom prst="rect">
            <a:avLst/>
          </a:prstGeom>
        </p:spPr>
        <p:txBody>
          <a:bodyPr vert="horz" wrap="square" lIns="0" tIns="13970" rIns="0" bIns="0" rtlCol="0">
            <a:spAutoFit/>
          </a:bodyPr>
          <a:lstStyle/>
          <a:p>
            <a:pPr marL="12700">
              <a:lnSpc>
                <a:spcPct val="100000"/>
              </a:lnSpc>
              <a:spcBef>
                <a:spcPts val="110"/>
              </a:spcBef>
            </a:pPr>
            <a:r>
              <a:rPr sz="950" b="1" spc="-10" dirty="0">
                <a:latin typeface="微软雅黑" panose="020B0503020204020204" charset="-122"/>
                <a:cs typeface="微软雅黑" panose="020B0503020204020204" charset="-122"/>
              </a:rPr>
              <a:t>头孢洛扎他唑巴坦</a:t>
            </a:r>
            <a:endParaRPr sz="950">
              <a:latin typeface="微软雅黑" panose="020B0503020204020204" charset="-122"/>
              <a:cs typeface="微软雅黑" panose="020B0503020204020204" charset="-122"/>
            </a:endParaRPr>
          </a:p>
        </p:txBody>
      </p:sp>
      <p:sp>
        <p:nvSpPr>
          <p:cNvPr id="21" name="object 21"/>
          <p:cNvSpPr txBox="1"/>
          <p:nvPr/>
        </p:nvSpPr>
        <p:spPr>
          <a:xfrm>
            <a:off x="3538859" y="3366903"/>
            <a:ext cx="1364615" cy="288925"/>
          </a:xfrm>
          <a:prstGeom prst="rect">
            <a:avLst/>
          </a:prstGeom>
        </p:spPr>
        <p:txBody>
          <a:bodyPr vert="horz" wrap="square" lIns="0" tIns="41910" rIns="0" bIns="0" rtlCol="0">
            <a:spAutoFit/>
          </a:bodyPr>
          <a:lstStyle/>
          <a:p>
            <a:pPr marL="12700">
              <a:lnSpc>
                <a:spcPct val="100000"/>
              </a:lnSpc>
              <a:spcBef>
                <a:spcPts val="330"/>
              </a:spcBef>
            </a:pPr>
            <a:r>
              <a:rPr sz="850" spc="-20" dirty="0">
                <a:latin typeface="微软雅黑" panose="020B0503020204020204" charset="-122"/>
                <a:cs typeface="微软雅黑" panose="020B0503020204020204" charset="-122"/>
              </a:rPr>
              <a:t>头孢菌素</a:t>
            </a:r>
            <a:r>
              <a:rPr sz="850" spc="-20" dirty="0">
                <a:latin typeface="Arial MT"/>
                <a:cs typeface="Arial MT"/>
              </a:rPr>
              <a:t>+BLI</a:t>
            </a:r>
            <a:endParaRPr sz="850">
              <a:latin typeface="Arial MT"/>
              <a:cs typeface="Arial MT"/>
            </a:endParaRPr>
          </a:p>
          <a:p>
            <a:pPr marL="12700">
              <a:lnSpc>
                <a:spcPct val="100000"/>
              </a:lnSpc>
              <a:spcBef>
                <a:spcPts val="160"/>
              </a:spcBef>
            </a:pPr>
            <a:r>
              <a:rPr sz="550" dirty="0">
                <a:latin typeface="Arial MT"/>
                <a:cs typeface="Arial MT"/>
              </a:rPr>
              <a:t>cIAI</a:t>
            </a:r>
            <a:r>
              <a:rPr sz="550" dirty="0">
                <a:latin typeface="微软雅黑" panose="020B0503020204020204" charset="-122"/>
                <a:cs typeface="微软雅黑" panose="020B0503020204020204" charset="-122"/>
              </a:rPr>
              <a:t>、</a:t>
            </a:r>
            <a:r>
              <a:rPr sz="550" dirty="0">
                <a:latin typeface="Arial MT"/>
                <a:cs typeface="Arial MT"/>
              </a:rPr>
              <a:t>cUTI(</a:t>
            </a:r>
            <a:r>
              <a:rPr sz="550" dirty="0">
                <a:latin typeface="微软雅黑" panose="020B0503020204020204" charset="-122"/>
                <a:cs typeface="微软雅黑" panose="020B0503020204020204" charset="-122"/>
              </a:rPr>
              <a:t>包括急性肾盂肾炎</a:t>
            </a:r>
            <a:r>
              <a:rPr sz="550" spc="-10" dirty="0">
                <a:latin typeface="Arial MT"/>
                <a:cs typeface="Arial MT"/>
              </a:rPr>
              <a:t>)</a:t>
            </a:r>
            <a:r>
              <a:rPr sz="550" dirty="0">
                <a:latin typeface="微软雅黑" panose="020B0503020204020204" charset="-122"/>
                <a:cs typeface="微软雅黑" panose="020B0503020204020204" charset="-122"/>
              </a:rPr>
              <a:t>、</a:t>
            </a:r>
            <a:r>
              <a:rPr sz="550" spc="-10" dirty="0">
                <a:latin typeface="Arial MT"/>
                <a:cs typeface="Arial MT"/>
              </a:rPr>
              <a:t>HAP/VAP</a:t>
            </a:r>
            <a:endParaRPr sz="550">
              <a:latin typeface="Arial MT"/>
              <a:cs typeface="Arial MT"/>
            </a:endParaRPr>
          </a:p>
        </p:txBody>
      </p:sp>
      <p:sp>
        <p:nvSpPr>
          <p:cNvPr id="22" name="object 22"/>
          <p:cNvSpPr/>
          <p:nvPr/>
        </p:nvSpPr>
        <p:spPr>
          <a:xfrm>
            <a:off x="1626616" y="3388360"/>
            <a:ext cx="508634" cy="248920"/>
          </a:xfrm>
          <a:custGeom>
            <a:avLst/>
            <a:gdLst/>
            <a:ahLst/>
            <a:cxnLst/>
            <a:rect l="l" t="t" r="r" b="b"/>
            <a:pathLst>
              <a:path w="508635" h="248920">
                <a:moveTo>
                  <a:pt x="410870" y="248716"/>
                </a:moveTo>
                <a:lnTo>
                  <a:pt x="97536" y="248716"/>
                </a:lnTo>
                <a:lnTo>
                  <a:pt x="59660" y="240874"/>
                </a:lnTo>
                <a:lnTo>
                  <a:pt x="28700" y="219928"/>
                </a:lnTo>
                <a:lnTo>
                  <a:pt x="7774" y="188992"/>
                </a:lnTo>
                <a:lnTo>
                  <a:pt x="0" y="151180"/>
                </a:lnTo>
                <a:lnTo>
                  <a:pt x="0" y="96316"/>
                </a:lnTo>
                <a:lnTo>
                  <a:pt x="7774" y="58723"/>
                </a:lnTo>
                <a:lnTo>
                  <a:pt x="28700" y="27984"/>
                </a:lnTo>
                <a:lnTo>
                  <a:pt x="59660" y="7332"/>
                </a:lnTo>
                <a:lnTo>
                  <a:pt x="97536" y="0"/>
                </a:lnTo>
                <a:lnTo>
                  <a:pt x="410870" y="0"/>
                </a:lnTo>
                <a:lnTo>
                  <a:pt x="448757" y="7332"/>
                </a:lnTo>
                <a:lnTo>
                  <a:pt x="479720" y="27984"/>
                </a:lnTo>
                <a:lnTo>
                  <a:pt x="500643" y="58723"/>
                </a:lnTo>
                <a:lnTo>
                  <a:pt x="508406" y="96316"/>
                </a:lnTo>
                <a:lnTo>
                  <a:pt x="508406" y="151180"/>
                </a:lnTo>
                <a:lnTo>
                  <a:pt x="500643" y="188992"/>
                </a:lnTo>
                <a:lnTo>
                  <a:pt x="479720" y="219928"/>
                </a:lnTo>
                <a:lnTo>
                  <a:pt x="448757" y="240874"/>
                </a:lnTo>
                <a:lnTo>
                  <a:pt x="410870" y="248716"/>
                </a:lnTo>
                <a:close/>
              </a:path>
            </a:pathLst>
          </a:custGeom>
          <a:solidFill>
            <a:srgbClr val="014D94"/>
          </a:solidFill>
        </p:spPr>
        <p:txBody>
          <a:bodyPr wrap="square" lIns="0" tIns="0" rIns="0" bIns="0" rtlCol="0"/>
          <a:lstStyle/>
          <a:p>
            <a:endParaRPr/>
          </a:p>
        </p:txBody>
      </p:sp>
      <p:sp>
        <p:nvSpPr>
          <p:cNvPr id="23" name="object 23"/>
          <p:cNvSpPr txBox="1"/>
          <p:nvPr/>
        </p:nvSpPr>
        <p:spPr>
          <a:xfrm>
            <a:off x="1743740" y="3426500"/>
            <a:ext cx="274320" cy="160655"/>
          </a:xfrm>
          <a:prstGeom prst="rect">
            <a:avLst/>
          </a:prstGeom>
        </p:spPr>
        <p:txBody>
          <a:bodyPr vert="horz" wrap="square" lIns="0" tIns="16510" rIns="0" bIns="0" rtlCol="0">
            <a:spAutoFit/>
          </a:bodyPr>
          <a:lstStyle/>
          <a:p>
            <a:pPr marL="12700">
              <a:lnSpc>
                <a:spcPct val="100000"/>
              </a:lnSpc>
              <a:spcBef>
                <a:spcPts val="130"/>
              </a:spcBef>
            </a:pPr>
            <a:r>
              <a:rPr sz="850" b="1" spc="-20" dirty="0">
                <a:solidFill>
                  <a:srgbClr val="FFFFFF"/>
                </a:solidFill>
                <a:latin typeface="Arial" panose="020B0604020202020204"/>
                <a:cs typeface="Arial" panose="020B0604020202020204"/>
              </a:rPr>
              <a:t>2014</a:t>
            </a:r>
            <a:endParaRPr sz="850">
              <a:latin typeface="Arial" panose="020B0604020202020204"/>
              <a:cs typeface="Arial" panose="020B0604020202020204"/>
            </a:endParaRPr>
          </a:p>
        </p:txBody>
      </p:sp>
      <p:sp>
        <p:nvSpPr>
          <p:cNvPr id="24" name="object 24"/>
          <p:cNvSpPr/>
          <p:nvPr/>
        </p:nvSpPr>
        <p:spPr>
          <a:xfrm>
            <a:off x="1761947" y="3016504"/>
            <a:ext cx="508634" cy="250190"/>
          </a:xfrm>
          <a:custGeom>
            <a:avLst/>
            <a:gdLst/>
            <a:ahLst/>
            <a:cxnLst/>
            <a:rect l="l" t="t" r="r" b="b"/>
            <a:pathLst>
              <a:path w="508635" h="250189">
                <a:moveTo>
                  <a:pt x="410870" y="249936"/>
                </a:moveTo>
                <a:lnTo>
                  <a:pt x="97536" y="249936"/>
                </a:lnTo>
                <a:lnTo>
                  <a:pt x="59448" y="241961"/>
                </a:lnTo>
                <a:lnTo>
                  <a:pt x="28418" y="220968"/>
                </a:lnTo>
                <a:lnTo>
                  <a:pt x="7563" y="190075"/>
                </a:lnTo>
                <a:lnTo>
                  <a:pt x="0" y="152400"/>
                </a:lnTo>
                <a:lnTo>
                  <a:pt x="0" y="97536"/>
                </a:lnTo>
                <a:lnTo>
                  <a:pt x="7563" y="59791"/>
                </a:lnTo>
                <a:lnTo>
                  <a:pt x="28418" y="28875"/>
                </a:lnTo>
                <a:lnTo>
                  <a:pt x="59448" y="7906"/>
                </a:lnTo>
                <a:lnTo>
                  <a:pt x="97536" y="0"/>
                </a:lnTo>
                <a:lnTo>
                  <a:pt x="410870" y="0"/>
                </a:lnTo>
                <a:lnTo>
                  <a:pt x="448550" y="7906"/>
                </a:lnTo>
                <a:lnTo>
                  <a:pt x="479442" y="28875"/>
                </a:lnTo>
                <a:lnTo>
                  <a:pt x="500433" y="59791"/>
                </a:lnTo>
                <a:lnTo>
                  <a:pt x="508406" y="97536"/>
                </a:lnTo>
                <a:lnTo>
                  <a:pt x="508406" y="152400"/>
                </a:lnTo>
                <a:lnTo>
                  <a:pt x="500433" y="190075"/>
                </a:lnTo>
                <a:lnTo>
                  <a:pt x="479442" y="220968"/>
                </a:lnTo>
                <a:lnTo>
                  <a:pt x="448550" y="241961"/>
                </a:lnTo>
                <a:lnTo>
                  <a:pt x="410870" y="249936"/>
                </a:lnTo>
                <a:close/>
              </a:path>
            </a:pathLst>
          </a:custGeom>
          <a:solidFill>
            <a:srgbClr val="F09D18"/>
          </a:solidFill>
        </p:spPr>
        <p:txBody>
          <a:bodyPr wrap="square" lIns="0" tIns="0" rIns="0" bIns="0" rtlCol="0"/>
          <a:lstStyle/>
          <a:p>
            <a:endParaRPr/>
          </a:p>
        </p:txBody>
      </p:sp>
      <p:sp>
        <p:nvSpPr>
          <p:cNvPr id="25" name="object 25"/>
          <p:cNvSpPr txBox="1"/>
          <p:nvPr/>
        </p:nvSpPr>
        <p:spPr>
          <a:xfrm>
            <a:off x="1878695" y="3055630"/>
            <a:ext cx="274320" cy="160655"/>
          </a:xfrm>
          <a:prstGeom prst="rect">
            <a:avLst/>
          </a:prstGeom>
        </p:spPr>
        <p:txBody>
          <a:bodyPr vert="horz" wrap="square" lIns="0" tIns="16510" rIns="0" bIns="0" rtlCol="0">
            <a:spAutoFit/>
          </a:bodyPr>
          <a:lstStyle/>
          <a:p>
            <a:pPr marL="12700">
              <a:lnSpc>
                <a:spcPct val="100000"/>
              </a:lnSpc>
              <a:spcBef>
                <a:spcPts val="130"/>
              </a:spcBef>
            </a:pPr>
            <a:r>
              <a:rPr sz="850" b="1" spc="-20" dirty="0">
                <a:solidFill>
                  <a:srgbClr val="FFFFFF"/>
                </a:solidFill>
                <a:latin typeface="Arial" panose="020B0604020202020204"/>
                <a:cs typeface="Arial" panose="020B0604020202020204"/>
              </a:rPr>
              <a:t>2015</a:t>
            </a:r>
            <a:endParaRPr sz="850">
              <a:latin typeface="Arial" panose="020B0604020202020204"/>
              <a:cs typeface="Arial" panose="020B0604020202020204"/>
            </a:endParaRPr>
          </a:p>
        </p:txBody>
      </p:sp>
      <p:sp>
        <p:nvSpPr>
          <p:cNvPr id="26" name="object 26"/>
          <p:cNvSpPr/>
          <p:nvPr/>
        </p:nvSpPr>
        <p:spPr>
          <a:xfrm>
            <a:off x="2521508" y="2942132"/>
            <a:ext cx="1195070" cy="412115"/>
          </a:xfrm>
          <a:custGeom>
            <a:avLst/>
            <a:gdLst/>
            <a:ahLst/>
            <a:cxnLst/>
            <a:rect l="l" t="t" r="r" b="b"/>
            <a:pathLst>
              <a:path w="1195070" h="412114">
                <a:moveTo>
                  <a:pt x="1126540" y="412089"/>
                </a:moveTo>
                <a:lnTo>
                  <a:pt x="68275" y="412089"/>
                </a:lnTo>
                <a:lnTo>
                  <a:pt x="41879" y="406679"/>
                </a:lnTo>
                <a:lnTo>
                  <a:pt x="20200" y="391995"/>
                </a:lnTo>
                <a:lnTo>
                  <a:pt x="5490" y="370290"/>
                </a:lnTo>
                <a:lnTo>
                  <a:pt x="0" y="343814"/>
                </a:lnTo>
                <a:lnTo>
                  <a:pt x="0" y="68275"/>
                </a:lnTo>
                <a:lnTo>
                  <a:pt x="5490" y="41668"/>
                </a:lnTo>
                <a:lnTo>
                  <a:pt x="20200" y="19918"/>
                </a:lnTo>
                <a:lnTo>
                  <a:pt x="41879" y="5278"/>
                </a:lnTo>
                <a:lnTo>
                  <a:pt x="68275" y="0"/>
                </a:lnTo>
                <a:lnTo>
                  <a:pt x="1126540" y="0"/>
                </a:lnTo>
                <a:lnTo>
                  <a:pt x="1153003" y="5278"/>
                </a:lnTo>
                <a:lnTo>
                  <a:pt x="1174703" y="19918"/>
                </a:lnTo>
                <a:lnTo>
                  <a:pt x="1189390" y="41668"/>
                </a:lnTo>
                <a:lnTo>
                  <a:pt x="1194816" y="68275"/>
                </a:lnTo>
                <a:lnTo>
                  <a:pt x="1194816" y="343814"/>
                </a:lnTo>
                <a:lnTo>
                  <a:pt x="1189390" y="370290"/>
                </a:lnTo>
                <a:lnTo>
                  <a:pt x="1174703" y="391995"/>
                </a:lnTo>
                <a:lnTo>
                  <a:pt x="1153003" y="406679"/>
                </a:lnTo>
                <a:lnTo>
                  <a:pt x="1126540" y="412089"/>
                </a:lnTo>
                <a:close/>
              </a:path>
            </a:pathLst>
          </a:custGeom>
          <a:solidFill>
            <a:srgbClr val="FBEBD1"/>
          </a:solidFill>
        </p:spPr>
        <p:txBody>
          <a:bodyPr wrap="square" lIns="0" tIns="0" rIns="0" bIns="0" rtlCol="0"/>
          <a:lstStyle/>
          <a:p>
            <a:endParaRPr/>
          </a:p>
        </p:txBody>
      </p:sp>
      <p:sp>
        <p:nvSpPr>
          <p:cNvPr id="27" name="object 27"/>
          <p:cNvSpPr txBox="1"/>
          <p:nvPr/>
        </p:nvSpPr>
        <p:spPr>
          <a:xfrm>
            <a:off x="2618516" y="2973063"/>
            <a:ext cx="1000760" cy="336550"/>
          </a:xfrm>
          <a:prstGeom prst="rect">
            <a:avLst/>
          </a:prstGeom>
        </p:spPr>
        <p:txBody>
          <a:bodyPr vert="horz" wrap="square" lIns="0" tIns="45085" rIns="0" bIns="0" rtlCol="0">
            <a:spAutoFit/>
          </a:bodyPr>
          <a:lstStyle/>
          <a:p>
            <a:pPr algn="ctr">
              <a:lnSpc>
                <a:spcPct val="100000"/>
              </a:lnSpc>
              <a:spcBef>
                <a:spcPts val="355"/>
              </a:spcBef>
            </a:pPr>
            <a:r>
              <a:rPr sz="950" b="1" spc="-10" dirty="0">
                <a:latin typeface="微软雅黑" panose="020B0503020204020204" charset="-122"/>
                <a:cs typeface="微软雅黑" panose="020B0503020204020204" charset="-122"/>
              </a:rPr>
              <a:t>头孢他啶阿维巴坦</a:t>
            </a:r>
            <a:endParaRPr sz="950">
              <a:latin typeface="微软雅黑" panose="020B0503020204020204" charset="-122"/>
              <a:cs typeface="微软雅黑" panose="020B0503020204020204" charset="-122"/>
            </a:endParaRPr>
          </a:p>
          <a:p>
            <a:pPr algn="ctr">
              <a:lnSpc>
                <a:spcPct val="100000"/>
              </a:lnSpc>
              <a:spcBef>
                <a:spcPts val="205"/>
              </a:spcBef>
            </a:pPr>
            <a:r>
              <a:rPr sz="700" b="1" spc="-5" dirty="0">
                <a:solidFill>
                  <a:srgbClr val="F09D18"/>
                </a:solidFill>
                <a:latin typeface="微软雅黑" panose="020B0503020204020204" charset="-122"/>
                <a:cs typeface="微软雅黑" panose="020B0503020204020204" charset="-122"/>
              </a:rPr>
              <a:t>中国获批：</a:t>
            </a:r>
            <a:r>
              <a:rPr sz="700" b="1" spc="-10" dirty="0">
                <a:solidFill>
                  <a:srgbClr val="F09D18"/>
                </a:solidFill>
                <a:latin typeface="Arial" panose="020B0604020202020204"/>
                <a:cs typeface="Arial" panose="020B0604020202020204"/>
              </a:rPr>
              <a:t>2019</a:t>
            </a:r>
            <a:endParaRPr sz="700">
              <a:latin typeface="Arial" panose="020B0604020202020204"/>
              <a:cs typeface="Arial" panose="020B0604020202020204"/>
            </a:endParaRPr>
          </a:p>
        </p:txBody>
      </p:sp>
      <p:sp>
        <p:nvSpPr>
          <p:cNvPr id="28" name="object 28"/>
          <p:cNvSpPr/>
          <p:nvPr/>
        </p:nvSpPr>
        <p:spPr>
          <a:xfrm>
            <a:off x="2778760" y="2632455"/>
            <a:ext cx="1195070" cy="260985"/>
          </a:xfrm>
          <a:custGeom>
            <a:avLst/>
            <a:gdLst/>
            <a:ahLst/>
            <a:cxnLst/>
            <a:rect l="l" t="t" r="r" b="b"/>
            <a:pathLst>
              <a:path w="1195070" h="260985">
                <a:moveTo>
                  <a:pt x="1150924" y="260908"/>
                </a:moveTo>
                <a:lnTo>
                  <a:pt x="42672" y="260908"/>
                </a:lnTo>
                <a:lnTo>
                  <a:pt x="26053" y="257375"/>
                </a:lnTo>
                <a:lnTo>
                  <a:pt x="12424" y="247981"/>
                </a:lnTo>
                <a:lnTo>
                  <a:pt x="3251" y="234078"/>
                </a:lnTo>
                <a:lnTo>
                  <a:pt x="0" y="217017"/>
                </a:lnTo>
                <a:lnTo>
                  <a:pt x="0" y="43891"/>
                </a:lnTo>
                <a:lnTo>
                  <a:pt x="3251" y="26853"/>
                </a:lnTo>
                <a:lnTo>
                  <a:pt x="12424" y="12957"/>
                </a:lnTo>
                <a:lnTo>
                  <a:pt x="26053" y="3556"/>
                </a:lnTo>
                <a:lnTo>
                  <a:pt x="42672" y="0"/>
                </a:lnTo>
                <a:lnTo>
                  <a:pt x="1150924" y="0"/>
                </a:lnTo>
                <a:lnTo>
                  <a:pt x="1167819" y="3556"/>
                </a:lnTo>
                <a:lnTo>
                  <a:pt x="1181667" y="12957"/>
                </a:lnTo>
                <a:lnTo>
                  <a:pt x="1191116" y="26853"/>
                </a:lnTo>
                <a:lnTo>
                  <a:pt x="1194816" y="43891"/>
                </a:lnTo>
                <a:lnTo>
                  <a:pt x="1194816" y="217017"/>
                </a:lnTo>
                <a:lnTo>
                  <a:pt x="1191116" y="234078"/>
                </a:lnTo>
                <a:lnTo>
                  <a:pt x="1181667" y="247981"/>
                </a:lnTo>
                <a:lnTo>
                  <a:pt x="1167819" y="257375"/>
                </a:lnTo>
                <a:lnTo>
                  <a:pt x="1150924" y="260908"/>
                </a:lnTo>
                <a:close/>
              </a:path>
            </a:pathLst>
          </a:custGeom>
          <a:solidFill>
            <a:srgbClr val="B7DCFF"/>
          </a:solidFill>
        </p:spPr>
        <p:txBody>
          <a:bodyPr wrap="square" lIns="0" tIns="0" rIns="0" bIns="0" rtlCol="0"/>
          <a:lstStyle/>
          <a:p>
            <a:endParaRPr/>
          </a:p>
        </p:txBody>
      </p:sp>
      <p:sp>
        <p:nvSpPr>
          <p:cNvPr id="29" name="object 29"/>
          <p:cNvSpPr txBox="1"/>
          <p:nvPr/>
        </p:nvSpPr>
        <p:spPr>
          <a:xfrm>
            <a:off x="2875026" y="2684526"/>
            <a:ext cx="1000760" cy="172085"/>
          </a:xfrm>
          <a:prstGeom prst="rect">
            <a:avLst/>
          </a:prstGeom>
        </p:spPr>
        <p:txBody>
          <a:bodyPr vert="horz" wrap="square" lIns="0" tIns="13970" rIns="0" bIns="0" rtlCol="0">
            <a:spAutoFit/>
          </a:bodyPr>
          <a:lstStyle/>
          <a:p>
            <a:pPr marL="12700">
              <a:lnSpc>
                <a:spcPct val="100000"/>
              </a:lnSpc>
              <a:spcBef>
                <a:spcPts val="110"/>
              </a:spcBef>
            </a:pPr>
            <a:r>
              <a:rPr sz="950" b="1" spc="-10" dirty="0">
                <a:latin typeface="微软雅黑" panose="020B0503020204020204" charset="-122"/>
                <a:cs typeface="微软雅黑" panose="020B0503020204020204" charset="-122"/>
              </a:rPr>
              <a:t>美罗培南韦博巴坦</a:t>
            </a:r>
            <a:endParaRPr sz="950">
              <a:latin typeface="微软雅黑" panose="020B0503020204020204" charset="-122"/>
              <a:cs typeface="微软雅黑" panose="020B0503020204020204" charset="-122"/>
            </a:endParaRPr>
          </a:p>
        </p:txBody>
      </p:sp>
      <p:sp>
        <p:nvSpPr>
          <p:cNvPr id="30" name="object 30"/>
          <p:cNvSpPr txBox="1"/>
          <p:nvPr/>
        </p:nvSpPr>
        <p:spPr>
          <a:xfrm>
            <a:off x="4043080" y="2613690"/>
            <a:ext cx="1512570" cy="299085"/>
          </a:xfrm>
          <a:prstGeom prst="rect">
            <a:avLst/>
          </a:prstGeom>
        </p:spPr>
        <p:txBody>
          <a:bodyPr vert="horz" wrap="square" lIns="0" tIns="38100" rIns="0" bIns="0" rtlCol="0">
            <a:spAutoFit/>
          </a:bodyPr>
          <a:lstStyle/>
          <a:p>
            <a:pPr marL="12700">
              <a:lnSpc>
                <a:spcPct val="100000"/>
              </a:lnSpc>
              <a:spcBef>
                <a:spcPts val="300"/>
              </a:spcBef>
            </a:pPr>
            <a:r>
              <a:rPr sz="850" spc="-20" dirty="0">
                <a:latin typeface="微软雅黑" panose="020B0503020204020204" charset="-122"/>
                <a:cs typeface="微软雅黑" panose="020B0503020204020204" charset="-122"/>
              </a:rPr>
              <a:t>碳青霉烯类与β</a:t>
            </a:r>
            <a:r>
              <a:rPr sz="850" spc="-20" dirty="0">
                <a:latin typeface="Arial MT"/>
                <a:cs typeface="Arial MT"/>
              </a:rPr>
              <a:t>-</a:t>
            </a:r>
            <a:r>
              <a:rPr sz="850" spc="-25" dirty="0">
                <a:latin typeface="微软雅黑" panose="020B0503020204020204" charset="-122"/>
                <a:cs typeface="微软雅黑" panose="020B0503020204020204" charset="-122"/>
              </a:rPr>
              <a:t>内酰胺酶抑制剂</a:t>
            </a:r>
            <a:endParaRPr sz="850">
              <a:latin typeface="微软雅黑" panose="020B0503020204020204" charset="-122"/>
              <a:cs typeface="微软雅黑" panose="020B0503020204020204" charset="-122"/>
            </a:endParaRPr>
          </a:p>
          <a:p>
            <a:pPr marL="12700">
              <a:lnSpc>
                <a:spcPct val="100000"/>
              </a:lnSpc>
              <a:spcBef>
                <a:spcPts val="155"/>
              </a:spcBef>
            </a:pPr>
            <a:r>
              <a:rPr sz="550" dirty="0">
                <a:latin typeface="Arial MT"/>
                <a:cs typeface="Arial MT"/>
              </a:rPr>
              <a:t>cUTI(</a:t>
            </a:r>
            <a:r>
              <a:rPr sz="550" dirty="0">
                <a:latin typeface="微软雅黑" panose="020B0503020204020204" charset="-122"/>
                <a:cs typeface="微软雅黑" panose="020B0503020204020204" charset="-122"/>
              </a:rPr>
              <a:t>包括肾盂肾炎</a:t>
            </a:r>
            <a:r>
              <a:rPr sz="550" spc="-10" dirty="0">
                <a:latin typeface="Arial MT"/>
                <a:cs typeface="Arial MT"/>
              </a:rPr>
              <a:t>)</a:t>
            </a:r>
            <a:r>
              <a:rPr sz="550" spc="65" dirty="0">
                <a:latin typeface="微软雅黑" panose="020B0503020204020204" charset="-122"/>
                <a:cs typeface="微软雅黑" panose="020B0503020204020204" charset="-122"/>
              </a:rPr>
              <a:t>、 </a:t>
            </a:r>
            <a:r>
              <a:rPr sz="650" spc="-10" dirty="0">
                <a:latin typeface="Arial MT"/>
                <a:cs typeface="Arial MT"/>
              </a:rPr>
              <a:t>cIAI</a:t>
            </a:r>
            <a:r>
              <a:rPr sz="650" spc="-20" dirty="0">
                <a:latin typeface="微软雅黑" panose="020B0503020204020204" charset="-122"/>
                <a:cs typeface="微软雅黑" panose="020B0503020204020204" charset="-122"/>
              </a:rPr>
              <a:t>、</a:t>
            </a:r>
            <a:r>
              <a:rPr sz="650" spc="-25" dirty="0">
                <a:latin typeface="Arial MT"/>
                <a:cs typeface="Arial MT"/>
              </a:rPr>
              <a:t>HAP</a:t>
            </a:r>
            <a:r>
              <a:rPr sz="650" spc="-20" dirty="0">
                <a:latin typeface="微软雅黑" panose="020B0503020204020204" charset="-122"/>
                <a:cs typeface="微软雅黑" panose="020B0503020204020204" charset="-122"/>
              </a:rPr>
              <a:t>包括</a:t>
            </a:r>
            <a:r>
              <a:rPr sz="650" spc="-25" dirty="0">
                <a:latin typeface="Arial MT"/>
                <a:cs typeface="Arial MT"/>
              </a:rPr>
              <a:t>VAP</a:t>
            </a:r>
            <a:endParaRPr sz="650">
              <a:latin typeface="Arial MT"/>
              <a:cs typeface="Arial MT"/>
            </a:endParaRPr>
          </a:p>
        </p:txBody>
      </p:sp>
      <p:sp>
        <p:nvSpPr>
          <p:cNvPr id="31" name="object 31"/>
          <p:cNvSpPr/>
          <p:nvPr/>
        </p:nvSpPr>
        <p:spPr>
          <a:xfrm>
            <a:off x="1981403" y="2638552"/>
            <a:ext cx="508634" cy="248920"/>
          </a:xfrm>
          <a:custGeom>
            <a:avLst/>
            <a:gdLst/>
            <a:ahLst/>
            <a:cxnLst/>
            <a:rect l="l" t="t" r="r" b="b"/>
            <a:pathLst>
              <a:path w="508635" h="248919">
                <a:moveTo>
                  <a:pt x="410870" y="248716"/>
                </a:moveTo>
                <a:lnTo>
                  <a:pt x="97536" y="248716"/>
                </a:lnTo>
                <a:lnTo>
                  <a:pt x="59861" y="241130"/>
                </a:lnTo>
                <a:lnTo>
                  <a:pt x="28971" y="220267"/>
                </a:lnTo>
                <a:lnTo>
                  <a:pt x="7979" y="189245"/>
                </a:lnTo>
                <a:lnTo>
                  <a:pt x="0" y="151180"/>
                </a:lnTo>
                <a:lnTo>
                  <a:pt x="0" y="97536"/>
                </a:lnTo>
                <a:lnTo>
                  <a:pt x="7979" y="59490"/>
                </a:lnTo>
                <a:lnTo>
                  <a:pt x="28971" y="28475"/>
                </a:lnTo>
                <a:lnTo>
                  <a:pt x="59861" y="7607"/>
                </a:lnTo>
                <a:lnTo>
                  <a:pt x="97536" y="0"/>
                </a:lnTo>
                <a:lnTo>
                  <a:pt x="410870" y="0"/>
                </a:lnTo>
                <a:lnTo>
                  <a:pt x="448963" y="7607"/>
                </a:lnTo>
                <a:lnTo>
                  <a:pt x="479995" y="28475"/>
                </a:lnTo>
                <a:lnTo>
                  <a:pt x="500848" y="59490"/>
                </a:lnTo>
                <a:lnTo>
                  <a:pt x="508406" y="97536"/>
                </a:lnTo>
                <a:lnTo>
                  <a:pt x="508406" y="151180"/>
                </a:lnTo>
                <a:lnTo>
                  <a:pt x="500848" y="189245"/>
                </a:lnTo>
                <a:lnTo>
                  <a:pt x="479995" y="220267"/>
                </a:lnTo>
                <a:lnTo>
                  <a:pt x="448963" y="241130"/>
                </a:lnTo>
                <a:lnTo>
                  <a:pt x="410870" y="248716"/>
                </a:lnTo>
                <a:close/>
              </a:path>
            </a:pathLst>
          </a:custGeom>
          <a:solidFill>
            <a:srgbClr val="014D94"/>
          </a:solidFill>
        </p:spPr>
        <p:txBody>
          <a:bodyPr wrap="square" lIns="0" tIns="0" rIns="0" bIns="0" rtlCol="0"/>
          <a:lstStyle/>
          <a:p>
            <a:endParaRPr/>
          </a:p>
        </p:txBody>
      </p:sp>
      <p:sp>
        <p:nvSpPr>
          <p:cNvPr id="32" name="object 32"/>
          <p:cNvSpPr txBox="1"/>
          <p:nvPr/>
        </p:nvSpPr>
        <p:spPr>
          <a:xfrm>
            <a:off x="2098893" y="2677149"/>
            <a:ext cx="274320" cy="160655"/>
          </a:xfrm>
          <a:prstGeom prst="rect">
            <a:avLst/>
          </a:prstGeom>
        </p:spPr>
        <p:txBody>
          <a:bodyPr vert="horz" wrap="square" lIns="0" tIns="16510" rIns="0" bIns="0" rtlCol="0">
            <a:spAutoFit/>
          </a:bodyPr>
          <a:lstStyle/>
          <a:p>
            <a:pPr marL="12700">
              <a:lnSpc>
                <a:spcPct val="100000"/>
              </a:lnSpc>
              <a:spcBef>
                <a:spcPts val="130"/>
              </a:spcBef>
            </a:pPr>
            <a:r>
              <a:rPr sz="850" b="1" spc="-20" dirty="0">
                <a:solidFill>
                  <a:srgbClr val="FFFFFF"/>
                </a:solidFill>
                <a:latin typeface="Arial" panose="020B0604020202020204"/>
                <a:cs typeface="Arial" panose="020B0604020202020204"/>
              </a:rPr>
              <a:t>2017</a:t>
            </a:r>
            <a:endParaRPr sz="850">
              <a:latin typeface="Arial" panose="020B0604020202020204"/>
              <a:cs typeface="Arial" panose="020B0604020202020204"/>
            </a:endParaRPr>
          </a:p>
        </p:txBody>
      </p:sp>
      <p:sp>
        <p:nvSpPr>
          <p:cNvPr id="33" name="object 33"/>
          <p:cNvSpPr/>
          <p:nvPr/>
        </p:nvSpPr>
        <p:spPr>
          <a:xfrm>
            <a:off x="2982366" y="2130145"/>
            <a:ext cx="914400" cy="443865"/>
          </a:xfrm>
          <a:custGeom>
            <a:avLst/>
            <a:gdLst/>
            <a:ahLst/>
            <a:cxnLst/>
            <a:rect l="l" t="t" r="r" b="b"/>
            <a:pathLst>
              <a:path w="914400" h="443864">
                <a:moveTo>
                  <a:pt x="840028" y="443788"/>
                </a:moveTo>
                <a:lnTo>
                  <a:pt x="74371" y="443788"/>
                </a:lnTo>
                <a:lnTo>
                  <a:pt x="45321" y="438313"/>
                </a:lnTo>
                <a:lnTo>
                  <a:pt x="21667" y="422643"/>
                </a:lnTo>
                <a:lnTo>
                  <a:pt x="5772" y="399257"/>
                </a:lnTo>
                <a:lnTo>
                  <a:pt x="0" y="370636"/>
                </a:lnTo>
                <a:lnTo>
                  <a:pt x="0" y="73152"/>
                </a:lnTo>
                <a:lnTo>
                  <a:pt x="5772" y="44554"/>
                </a:lnTo>
                <a:lnTo>
                  <a:pt x="21667" y="21175"/>
                </a:lnTo>
                <a:lnTo>
                  <a:pt x="45321" y="5497"/>
                </a:lnTo>
                <a:lnTo>
                  <a:pt x="74371" y="0"/>
                </a:lnTo>
                <a:lnTo>
                  <a:pt x="840028" y="0"/>
                </a:lnTo>
                <a:lnTo>
                  <a:pt x="868794" y="5497"/>
                </a:lnTo>
                <a:lnTo>
                  <a:pt x="892355" y="21175"/>
                </a:lnTo>
                <a:lnTo>
                  <a:pt x="908345" y="44554"/>
                </a:lnTo>
                <a:lnTo>
                  <a:pt x="914400" y="73152"/>
                </a:lnTo>
                <a:lnTo>
                  <a:pt x="914400" y="370636"/>
                </a:lnTo>
                <a:lnTo>
                  <a:pt x="908345" y="399257"/>
                </a:lnTo>
                <a:lnTo>
                  <a:pt x="892355" y="422643"/>
                </a:lnTo>
                <a:lnTo>
                  <a:pt x="868794" y="438313"/>
                </a:lnTo>
                <a:lnTo>
                  <a:pt x="840028" y="443788"/>
                </a:lnTo>
                <a:close/>
              </a:path>
            </a:pathLst>
          </a:custGeom>
          <a:solidFill>
            <a:srgbClr val="FBEBD1"/>
          </a:solidFill>
        </p:spPr>
        <p:txBody>
          <a:bodyPr wrap="square" lIns="0" tIns="0" rIns="0" bIns="0" rtlCol="0"/>
          <a:lstStyle/>
          <a:p>
            <a:endParaRPr/>
          </a:p>
        </p:txBody>
      </p:sp>
      <p:sp>
        <p:nvSpPr>
          <p:cNvPr id="34" name="object 34"/>
          <p:cNvSpPr txBox="1"/>
          <p:nvPr/>
        </p:nvSpPr>
        <p:spPr>
          <a:xfrm>
            <a:off x="3095924" y="2392608"/>
            <a:ext cx="686435" cy="135255"/>
          </a:xfrm>
          <a:prstGeom prst="rect">
            <a:avLst/>
          </a:prstGeom>
        </p:spPr>
        <p:txBody>
          <a:bodyPr vert="horz" wrap="square" lIns="0" tIns="15240" rIns="0" bIns="0" rtlCol="0">
            <a:spAutoFit/>
          </a:bodyPr>
          <a:lstStyle/>
          <a:p>
            <a:pPr marL="12700">
              <a:lnSpc>
                <a:spcPct val="100000"/>
              </a:lnSpc>
              <a:spcBef>
                <a:spcPts val="120"/>
              </a:spcBef>
            </a:pPr>
            <a:r>
              <a:rPr sz="700" b="1" spc="-5" dirty="0">
                <a:solidFill>
                  <a:srgbClr val="F09D18"/>
                </a:solidFill>
                <a:latin typeface="微软雅黑" panose="020B0503020204020204" charset="-122"/>
                <a:cs typeface="微软雅黑" panose="020B0503020204020204" charset="-122"/>
              </a:rPr>
              <a:t>中国获批：</a:t>
            </a:r>
            <a:r>
              <a:rPr sz="700" b="1" spc="-10" dirty="0">
                <a:solidFill>
                  <a:srgbClr val="F09D18"/>
                </a:solidFill>
                <a:latin typeface="Arial" panose="020B0604020202020204"/>
                <a:cs typeface="Arial" panose="020B0604020202020204"/>
              </a:rPr>
              <a:t>2023</a:t>
            </a:r>
            <a:endParaRPr sz="700">
              <a:latin typeface="Arial" panose="020B0604020202020204"/>
              <a:cs typeface="Arial" panose="020B0604020202020204"/>
            </a:endParaRPr>
          </a:p>
        </p:txBody>
      </p:sp>
      <p:sp>
        <p:nvSpPr>
          <p:cNvPr id="35" name="object 35"/>
          <p:cNvSpPr txBox="1"/>
          <p:nvPr/>
        </p:nvSpPr>
        <p:spPr>
          <a:xfrm>
            <a:off x="3141644" y="2196520"/>
            <a:ext cx="1161415" cy="196850"/>
          </a:xfrm>
          <a:prstGeom prst="rect">
            <a:avLst/>
          </a:prstGeom>
        </p:spPr>
        <p:txBody>
          <a:bodyPr vert="horz" wrap="square" lIns="0" tIns="15875" rIns="0" bIns="0" rtlCol="0">
            <a:spAutoFit/>
          </a:bodyPr>
          <a:lstStyle/>
          <a:p>
            <a:pPr marL="12700">
              <a:lnSpc>
                <a:spcPct val="100000"/>
              </a:lnSpc>
              <a:spcBef>
                <a:spcPts val="125"/>
              </a:spcBef>
              <a:tabLst>
                <a:tab pos="827405" algn="l"/>
              </a:tabLst>
            </a:pPr>
            <a:r>
              <a:rPr sz="1100" b="1" dirty="0">
                <a:latin typeface="微软雅黑" panose="020B0503020204020204" charset="-122"/>
                <a:cs typeface="微软雅黑" panose="020B0503020204020204" charset="-122"/>
              </a:rPr>
              <a:t>依拉环</a:t>
            </a:r>
            <a:r>
              <a:rPr sz="1100" b="1" spc="-50" dirty="0">
                <a:latin typeface="微软雅黑" panose="020B0503020204020204" charset="-122"/>
                <a:cs typeface="微软雅黑" panose="020B0503020204020204" charset="-122"/>
              </a:rPr>
              <a:t>素</a:t>
            </a:r>
            <a:r>
              <a:rPr sz="1100" b="1" dirty="0">
                <a:latin typeface="微软雅黑" panose="020B0503020204020204" charset="-122"/>
                <a:cs typeface="微软雅黑" panose="020B0503020204020204" charset="-122"/>
              </a:rPr>
              <a:t>	</a:t>
            </a:r>
            <a:r>
              <a:rPr sz="850" spc="-20" dirty="0">
                <a:latin typeface="微软雅黑" panose="020B0503020204020204" charset="-122"/>
                <a:cs typeface="微软雅黑" panose="020B0503020204020204" charset="-122"/>
              </a:rPr>
              <a:t>氟环</a:t>
            </a:r>
            <a:r>
              <a:rPr sz="850" spc="-50" dirty="0">
                <a:latin typeface="微软雅黑" panose="020B0503020204020204" charset="-122"/>
                <a:cs typeface="微软雅黑" panose="020B0503020204020204" charset="-122"/>
              </a:rPr>
              <a:t>素</a:t>
            </a:r>
            <a:endParaRPr sz="850">
              <a:latin typeface="微软雅黑" panose="020B0503020204020204" charset="-122"/>
              <a:cs typeface="微软雅黑" panose="020B0503020204020204" charset="-122"/>
            </a:endParaRPr>
          </a:p>
        </p:txBody>
      </p:sp>
      <p:sp>
        <p:nvSpPr>
          <p:cNvPr id="36" name="object 36"/>
          <p:cNvSpPr txBox="1"/>
          <p:nvPr/>
        </p:nvSpPr>
        <p:spPr>
          <a:xfrm>
            <a:off x="3956822" y="2378283"/>
            <a:ext cx="290195" cy="110489"/>
          </a:xfrm>
          <a:prstGeom prst="rect">
            <a:avLst/>
          </a:prstGeom>
        </p:spPr>
        <p:txBody>
          <a:bodyPr vert="horz" wrap="square" lIns="0" tIns="13335" rIns="0" bIns="0" rtlCol="0">
            <a:spAutoFit/>
          </a:bodyPr>
          <a:lstStyle/>
          <a:p>
            <a:pPr marL="12700">
              <a:lnSpc>
                <a:spcPct val="100000"/>
              </a:lnSpc>
              <a:spcBef>
                <a:spcPts val="105"/>
              </a:spcBef>
            </a:pPr>
            <a:r>
              <a:rPr sz="550" dirty="0">
                <a:latin typeface="微软雅黑" panose="020B0503020204020204" charset="-122"/>
                <a:cs typeface="微软雅黑" panose="020B0503020204020204" charset="-122"/>
              </a:rPr>
              <a:t>成人</a:t>
            </a:r>
            <a:r>
              <a:rPr sz="550" spc="-20" dirty="0">
                <a:latin typeface="Arial MT"/>
                <a:cs typeface="Arial MT"/>
              </a:rPr>
              <a:t>cIAI</a:t>
            </a:r>
            <a:endParaRPr sz="550">
              <a:latin typeface="Arial MT"/>
              <a:cs typeface="Arial MT"/>
            </a:endParaRPr>
          </a:p>
        </p:txBody>
      </p:sp>
      <p:sp>
        <p:nvSpPr>
          <p:cNvPr id="37" name="object 37"/>
          <p:cNvSpPr/>
          <p:nvPr/>
        </p:nvSpPr>
        <p:spPr>
          <a:xfrm>
            <a:off x="4592929" y="2221585"/>
            <a:ext cx="914400" cy="260985"/>
          </a:xfrm>
          <a:custGeom>
            <a:avLst/>
            <a:gdLst/>
            <a:ahLst/>
            <a:cxnLst/>
            <a:rect l="l" t="t" r="r" b="b"/>
            <a:pathLst>
              <a:path w="914400" h="260985">
                <a:moveTo>
                  <a:pt x="870508" y="260908"/>
                </a:moveTo>
                <a:lnTo>
                  <a:pt x="43891" y="260908"/>
                </a:lnTo>
                <a:lnTo>
                  <a:pt x="26664" y="257375"/>
                </a:lnTo>
                <a:lnTo>
                  <a:pt x="12706" y="247981"/>
                </a:lnTo>
                <a:lnTo>
                  <a:pt x="3367" y="234078"/>
                </a:lnTo>
                <a:lnTo>
                  <a:pt x="0" y="217017"/>
                </a:lnTo>
                <a:lnTo>
                  <a:pt x="0" y="43891"/>
                </a:lnTo>
                <a:lnTo>
                  <a:pt x="3367" y="26853"/>
                </a:lnTo>
                <a:lnTo>
                  <a:pt x="12706" y="12957"/>
                </a:lnTo>
                <a:lnTo>
                  <a:pt x="26664" y="3556"/>
                </a:lnTo>
                <a:lnTo>
                  <a:pt x="43891" y="0"/>
                </a:lnTo>
                <a:lnTo>
                  <a:pt x="870508" y="0"/>
                </a:lnTo>
                <a:lnTo>
                  <a:pt x="887466" y="3556"/>
                </a:lnTo>
                <a:lnTo>
                  <a:pt x="901335" y="12957"/>
                </a:lnTo>
                <a:lnTo>
                  <a:pt x="910763" y="26853"/>
                </a:lnTo>
                <a:lnTo>
                  <a:pt x="914400" y="43891"/>
                </a:lnTo>
                <a:lnTo>
                  <a:pt x="914400" y="217017"/>
                </a:lnTo>
                <a:lnTo>
                  <a:pt x="910763" y="234078"/>
                </a:lnTo>
                <a:lnTo>
                  <a:pt x="901335" y="247981"/>
                </a:lnTo>
                <a:lnTo>
                  <a:pt x="887466" y="257375"/>
                </a:lnTo>
                <a:lnTo>
                  <a:pt x="870508" y="260908"/>
                </a:lnTo>
                <a:close/>
              </a:path>
            </a:pathLst>
          </a:custGeom>
          <a:solidFill>
            <a:srgbClr val="B7DCFF"/>
          </a:solidFill>
        </p:spPr>
        <p:txBody>
          <a:bodyPr wrap="square" lIns="0" tIns="0" rIns="0" bIns="0" rtlCol="0"/>
          <a:lstStyle/>
          <a:p>
            <a:endParaRPr/>
          </a:p>
        </p:txBody>
      </p:sp>
      <p:sp>
        <p:nvSpPr>
          <p:cNvPr id="38" name="object 38"/>
          <p:cNvSpPr txBox="1"/>
          <p:nvPr/>
        </p:nvSpPr>
        <p:spPr>
          <a:xfrm>
            <a:off x="4732040" y="2273655"/>
            <a:ext cx="635000" cy="172085"/>
          </a:xfrm>
          <a:prstGeom prst="rect">
            <a:avLst/>
          </a:prstGeom>
        </p:spPr>
        <p:txBody>
          <a:bodyPr vert="horz" wrap="square" lIns="0" tIns="13970" rIns="0" bIns="0" rtlCol="0">
            <a:spAutoFit/>
          </a:bodyPr>
          <a:lstStyle/>
          <a:p>
            <a:pPr marL="12700">
              <a:lnSpc>
                <a:spcPct val="100000"/>
              </a:lnSpc>
              <a:spcBef>
                <a:spcPts val="110"/>
              </a:spcBef>
            </a:pPr>
            <a:r>
              <a:rPr sz="950" b="1" spc="-10" dirty="0">
                <a:latin typeface="微软雅黑" panose="020B0503020204020204" charset="-122"/>
                <a:cs typeface="微软雅黑" panose="020B0503020204020204" charset="-122"/>
              </a:rPr>
              <a:t>普拉佐米星</a:t>
            </a:r>
            <a:endParaRPr sz="950">
              <a:latin typeface="微软雅黑" panose="020B0503020204020204" charset="-122"/>
              <a:cs typeface="微软雅黑" panose="020B0503020204020204" charset="-122"/>
            </a:endParaRPr>
          </a:p>
        </p:txBody>
      </p:sp>
      <p:sp>
        <p:nvSpPr>
          <p:cNvPr id="39" name="object 39"/>
          <p:cNvSpPr txBox="1"/>
          <p:nvPr/>
        </p:nvSpPr>
        <p:spPr>
          <a:xfrm>
            <a:off x="5667796" y="2200027"/>
            <a:ext cx="1199515" cy="288925"/>
          </a:xfrm>
          <a:prstGeom prst="rect">
            <a:avLst/>
          </a:prstGeom>
        </p:spPr>
        <p:txBody>
          <a:bodyPr vert="horz" wrap="square" lIns="0" tIns="41910" rIns="0" bIns="0" rtlCol="0">
            <a:spAutoFit/>
          </a:bodyPr>
          <a:lstStyle/>
          <a:p>
            <a:pPr marL="12700">
              <a:lnSpc>
                <a:spcPct val="100000"/>
              </a:lnSpc>
              <a:spcBef>
                <a:spcPts val="330"/>
              </a:spcBef>
            </a:pPr>
            <a:r>
              <a:rPr sz="850" spc="-25" dirty="0">
                <a:latin typeface="微软雅黑" panose="020B0503020204020204" charset="-122"/>
                <a:cs typeface="微软雅黑" panose="020B0503020204020204" charset="-122"/>
              </a:rPr>
              <a:t>半合成氨基糖苷类抗生素</a:t>
            </a:r>
            <a:endParaRPr sz="850">
              <a:latin typeface="微软雅黑" panose="020B0503020204020204" charset="-122"/>
              <a:cs typeface="微软雅黑" panose="020B0503020204020204" charset="-122"/>
            </a:endParaRPr>
          </a:p>
          <a:p>
            <a:pPr marL="12700">
              <a:lnSpc>
                <a:spcPct val="100000"/>
              </a:lnSpc>
              <a:spcBef>
                <a:spcPts val="160"/>
              </a:spcBef>
            </a:pPr>
            <a:r>
              <a:rPr sz="550" dirty="0">
                <a:latin typeface="微软雅黑" panose="020B0503020204020204" charset="-122"/>
                <a:cs typeface="微软雅黑" panose="020B0503020204020204" charset="-122"/>
              </a:rPr>
              <a:t>成人</a:t>
            </a:r>
            <a:r>
              <a:rPr sz="550" dirty="0">
                <a:latin typeface="Arial MT"/>
                <a:cs typeface="Arial MT"/>
              </a:rPr>
              <a:t>cUTI(</a:t>
            </a:r>
            <a:r>
              <a:rPr sz="550" dirty="0">
                <a:latin typeface="微软雅黑" panose="020B0503020204020204" charset="-122"/>
                <a:cs typeface="微软雅黑" panose="020B0503020204020204" charset="-122"/>
              </a:rPr>
              <a:t>包括肾盂肾炎</a:t>
            </a:r>
            <a:r>
              <a:rPr sz="550" spc="-50" dirty="0">
                <a:latin typeface="Arial MT"/>
                <a:cs typeface="Arial MT"/>
              </a:rPr>
              <a:t>)</a:t>
            </a:r>
            <a:endParaRPr sz="550">
              <a:latin typeface="Arial MT"/>
              <a:cs typeface="Arial MT"/>
            </a:endParaRPr>
          </a:p>
        </p:txBody>
      </p:sp>
      <p:pic>
        <p:nvPicPr>
          <p:cNvPr id="40" name="object 40"/>
          <p:cNvPicPr/>
          <p:nvPr/>
        </p:nvPicPr>
        <p:blipFill>
          <a:blip r:embed="rId5" cstate="print"/>
          <a:stretch>
            <a:fillRect/>
          </a:stretch>
        </p:blipFill>
        <p:spPr>
          <a:xfrm>
            <a:off x="2211832" y="2138679"/>
            <a:ext cx="658368" cy="402336"/>
          </a:xfrm>
          <a:prstGeom prst="rect">
            <a:avLst/>
          </a:prstGeom>
        </p:spPr>
      </p:pic>
      <p:sp>
        <p:nvSpPr>
          <p:cNvPr id="41" name="object 41"/>
          <p:cNvSpPr txBox="1"/>
          <p:nvPr/>
        </p:nvSpPr>
        <p:spPr>
          <a:xfrm>
            <a:off x="2385435" y="2260183"/>
            <a:ext cx="295910" cy="172085"/>
          </a:xfrm>
          <a:prstGeom prst="rect">
            <a:avLst/>
          </a:prstGeom>
        </p:spPr>
        <p:txBody>
          <a:bodyPr vert="horz" wrap="square" lIns="0" tIns="13970" rIns="0" bIns="0" rtlCol="0">
            <a:spAutoFit/>
          </a:bodyPr>
          <a:lstStyle/>
          <a:p>
            <a:pPr marL="12700">
              <a:lnSpc>
                <a:spcPct val="100000"/>
              </a:lnSpc>
              <a:spcBef>
                <a:spcPts val="110"/>
              </a:spcBef>
            </a:pPr>
            <a:r>
              <a:rPr sz="950" b="1" spc="-20" dirty="0">
                <a:solidFill>
                  <a:srgbClr val="FFFFFF"/>
                </a:solidFill>
                <a:latin typeface="Arial" panose="020B0604020202020204"/>
                <a:cs typeface="Arial" panose="020B0604020202020204"/>
              </a:rPr>
              <a:t>2018</a:t>
            </a:r>
            <a:endParaRPr sz="950">
              <a:latin typeface="Arial" panose="020B0604020202020204"/>
              <a:cs typeface="Arial" panose="020B0604020202020204"/>
            </a:endParaRPr>
          </a:p>
        </p:txBody>
      </p:sp>
      <p:sp>
        <p:nvSpPr>
          <p:cNvPr id="42" name="object 42"/>
          <p:cNvSpPr/>
          <p:nvPr/>
        </p:nvSpPr>
        <p:spPr>
          <a:xfrm>
            <a:off x="3087217" y="1832660"/>
            <a:ext cx="914400" cy="260985"/>
          </a:xfrm>
          <a:custGeom>
            <a:avLst/>
            <a:gdLst/>
            <a:ahLst/>
            <a:cxnLst/>
            <a:rect l="l" t="t" r="r" b="b"/>
            <a:pathLst>
              <a:path w="914400" h="260985">
                <a:moveTo>
                  <a:pt x="870508" y="260908"/>
                </a:moveTo>
                <a:lnTo>
                  <a:pt x="43891" y="260908"/>
                </a:lnTo>
                <a:lnTo>
                  <a:pt x="26716" y="257564"/>
                </a:lnTo>
                <a:lnTo>
                  <a:pt x="12774" y="248232"/>
                </a:lnTo>
                <a:lnTo>
                  <a:pt x="3418" y="234266"/>
                </a:lnTo>
                <a:lnTo>
                  <a:pt x="0" y="217017"/>
                </a:lnTo>
                <a:lnTo>
                  <a:pt x="0" y="43891"/>
                </a:lnTo>
                <a:lnTo>
                  <a:pt x="3418" y="27041"/>
                </a:lnTo>
                <a:lnTo>
                  <a:pt x="12774" y="13209"/>
                </a:lnTo>
                <a:lnTo>
                  <a:pt x="26716" y="3744"/>
                </a:lnTo>
                <a:lnTo>
                  <a:pt x="43891" y="0"/>
                </a:lnTo>
                <a:lnTo>
                  <a:pt x="870508" y="0"/>
                </a:lnTo>
                <a:lnTo>
                  <a:pt x="887518" y="3744"/>
                </a:lnTo>
                <a:lnTo>
                  <a:pt x="901404" y="13209"/>
                </a:lnTo>
                <a:lnTo>
                  <a:pt x="910815" y="27041"/>
                </a:lnTo>
                <a:lnTo>
                  <a:pt x="914400" y="43891"/>
                </a:lnTo>
                <a:lnTo>
                  <a:pt x="914400" y="217017"/>
                </a:lnTo>
                <a:lnTo>
                  <a:pt x="910815" y="234266"/>
                </a:lnTo>
                <a:lnTo>
                  <a:pt x="901404" y="248232"/>
                </a:lnTo>
                <a:lnTo>
                  <a:pt x="887518" y="257564"/>
                </a:lnTo>
                <a:lnTo>
                  <a:pt x="870508" y="260908"/>
                </a:lnTo>
                <a:close/>
              </a:path>
            </a:pathLst>
          </a:custGeom>
          <a:solidFill>
            <a:srgbClr val="B7DCFF"/>
          </a:solidFill>
        </p:spPr>
        <p:txBody>
          <a:bodyPr wrap="square" lIns="0" tIns="0" rIns="0" bIns="0" rtlCol="0"/>
          <a:lstStyle/>
          <a:p>
            <a:endParaRPr/>
          </a:p>
        </p:txBody>
      </p:sp>
      <p:sp>
        <p:nvSpPr>
          <p:cNvPr id="43" name="object 43"/>
          <p:cNvSpPr txBox="1"/>
          <p:nvPr/>
        </p:nvSpPr>
        <p:spPr>
          <a:xfrm>
            <a:off x="3287390" y="1885065"/>
            <a:ext cx="513080" cy="172085"/>
          </a:xfrm>
          <a:prstGeom prst="rect">
            <a:avLst/>
          </a:prstGeom>
        </p:spPr>
        <p:txBody>
          <a:bodyPr vert="horz" wrap="square" lIns="0" tIns="13970" rIns="0" bIns="0" rtlCol="0">
            <a:spAutoFit/>
          </a:bodyPr>
          <a:lstStyle/>
          <a:p>
            <a:pPr marL="12700">
              <a:lnSpc>
                <a:spcPct val="100000"/>
              </a:lnSpc>
              <a:spcBef>
                <a:spcPts val="110"/>
              </a:spcBef>
            </a:pPr>
            <a:r>
              <a:rPr sz="950" b="1" spc="-15" dirty="0">
                <a:latin typeface="微软雅黑" panose="020B0503020204020204" charset="-122"/>
                <a:cs typeface="微软雅黑" panose="020B0503020204020204" charset="-122"/>
              </a:rPr>
              <a:t>头孢地尔</a:t>
            </a:r>
            <a:endParaRPr sz="950">
              <a:latin typeface="微软雅黑" panose="020B0503020204020204" charset="-122"/>
              <a:cs typeface="微软雅黑" panose="020B0503020204020204" charset="-122"/>
            </a:endParaRPr>
          </a:p>
        </p:txBody>
      </p:sp>
      <p:sp>
        <p:nvSpPr>
          <p:cNvPr id="44" name="object 44"/>
          <p:cNvSpPr txBox="1"/>
          <p:nvPr/>
        </p:nvSpPr>
        <p:spPr>
          <a:xfrm>
            <a:off x="4061774" y="1811437"/>
            <a:ext cx="1306195" cy="288925"/>
          </a:xfrm>
          <a:prstGeom prst="rect">
            <a:avLst/>
          </a:prstGeom>
        </p:spPr>
        <p:txBody>
          <a:bodyPr vert="horz" wrap="square" lIns="0" tIns="41910" rIns="0" bIns="0" rtlCol="0">
            <a:spAutoFit/>
          </a:bodyPr>
          <a:lstStyle/>
          <a:p>
            <a:pPr marL="12700">
              <a:lnSpc>
                <a:spcPct val="100000"/>
              </a:lnSpc>
              <a:spcBef>
                <a:spcPts val="330"/>
              </a:spcBef>
            </a:pPr>
            <a:r>
              <a:rPr sz="850" spc="-25" dirty="0">
                <a:latin typeface="微软雅黑" panose="020B0503020204020204" charset="-122"/>
                <a:cs typeface="微软雅黑" panose="020B0503020204020204" charset="-122"/>
              </a:rPr>
              <a:t>含铁载体的头孢菌素类药物</a:t>
            </a:r>
            <a:endParaRPr sz="850">
              <a:latin typeface="微软雅黑" panose="020B0503020204020204" charset="-122"/>
              <a:cs typeface="微软雅黑" panose="020B0503020204020204" charset="-122"/>
            </a:endParaRPr>
          </a:p>
          <a:p>
            <a:pPr marL="12700">
              <a:lnSpc>
                <a:spcPct val="100000"/>
              </a:lnSpc>
              <a:spcBef>
                <a:spcPts val="160"/>
              </a:spcBef>
            </a:pPr>
            <a:r>
              <a:rPr sz="550" dirty="0">
                <a:latin typeface="Arial MT"/>
                <a:cs typeface="Arial MT"/>
              </a:rPr>
              <a:t>cUTI(</a:t>
            </a:r>
            <a:r>
              <a:rPr sz="550" dirty="0">
                <a:latin typeface="微软雅黑" panose="020B0503020204020204" charset="-122"/>
                <a:cs typeface="微软雅黑" panose="020B0503020204020204" charset="-122"/>
              </a:rPr>
              <a:t>包括肾盂肾炎</a:t>
            </a:r>
            <a:r>
              <a:rPr sz="550" spc="-10" dirty="0">
                <a:latin typeface="Arial MT"/>
                <a:cs typeface="Arial MT"/>
              </a:rPr>
              <a:t>)</a:t>
            </a:r>
            <a:r>
              <a:rPr sz="550" spc="-10" dirty="0">
                <a:latin typeface="微软雅黑" panose="020B0503020204020204" charset="-122"/>
                <a:cs typeface="微软雅黑" panose="020B0503020204020204" charset="-122"/>
              </a:rPr>
              <a:t>；</a:t>
            </a:r>
            <a:r>
              <a:rPr sz="550" spc="-10" dirty="0">
                <a:latin typeface="Arial MT"/>
                <a:cs typeface="Arial MT"/>
              </a:rPr>
              <a:t>HABP/VABP</a:t>
            </a:r>
            <a:endParaRPr sz="550">
              <a:latin typeface="Arial MT"/>
              <a:cs typeface="Arial MT"/>
            </a:endParaRPr>
          </a:p>
        </p:txBody>
      </p:sp>
      <p:sp>
        <p:nvSpPr>
          <p:cNvPr id="45" name="object 45"/>
          <p:cNvSpPr/>
          <p:nvPr/>
        </p:nvSpPr>
        <p:spPr>
          <a:xfrm>
            <a:off x="5565851" y="1832660"/>
            <a:ext cx="1681480" cy="260985"/>
          </a:xfrm>
          <a:custGeom>
            <a:avLst/>
            <a:gdLst/>
            <a:ahLst/>
            <a:cxnLst/>
            <a:rect l="l" t="t" r="r" b="b"/>
            <a:pathLst>
              <a:path w="1681479" h="260985">
                <a:moveTo>
                  <a:pt x="1638604" y="260908"/>
                </a:moveTo>
                <a:lnTo>
                  <a:pt x="43891" y="260908"/>
                </a:lnTo>
                <a:lnTo>
                  <a:pt x="26887" y="257714"/>
                </a:lnTo>
                <a:lnTo>
                  <a:pt x="12995" y="248552"/>
                </a:lnTo>
                <a:lnTo>
                  <a:pt x="3579" y="234901"/>
                </a:lnTo>
                <a:lnTo>
                  <a:pt x="0" y="218236"/>
                </a:lnTo>
                <a:lnTo>
                  <a:pt x="0" y="43891"/>
                </a:lnTo>
                <a:lnTo>
                  <a:pt x="3579" y="26917"/>
                </a:lnTo>
                <a:lnTo>
                  <a:pt x="12995" y="13037"/>
                </a:lnTo>
                <a:lnTo>
                  <a:pt x="26887" y="3611"/>
                </a:lnTo>
                <a:lnTo>
                  <a:pt x="43891" y="0"/>
                </a:lnTo>
                <a:lnTo>
                  <a:pt x="1638604" y="0"/>
                </a:lnTo>
                <a:lnTo>
                  <a:pt x="1655239" y="3611"/>
                </a:lnTo>
                <a:lnTo>
                  <a:pt x="1668879" y="13037"/>
                </a:lnTo>
                <a:lnTo>
                  <a:pt x="1678049" y="26917"/>
                </a:lnTo>
                <a:lnTo>
                  <a:pt x="1681276" y="43891"/>
                </a:lnTo>
                <a:lnTo>
                  <a:pt x="1681276" y="218236"/>
                </a:lnTo>
                <a:lnTo>
                  <a:pt x="1678049" y="234901"/>
                </a:lnTo>
                <a:lnTo>
                  <a:pt x="1668879" y="248552"/>
                </a:lnTo>
                <a:lnTo>
                  <a:pt x="1655239" y="257714"/>
                </a:lnTo>
                <a:lnTo>
                  <a:pt x="1638604" y="260908"/>
                </a:lnTo>
                <a:close/>
              </a:path>
            </a:pathLst>
          </a:custGeom>
          <a:solidFill>
            <a:srgbClr val="B7DCFF"/>
          </a:solidFill>
        </p:spPr>
        <p:txBody>
          <a:bodyPr wrap="square" lIns="0" tIns="0" rIns="0" bIns="0" rtlCol="0"/>
          <a:lstStyle/>
          <a:p>
            <a:endParaRPr/>
          </a:p>
        </p:txBody>
      </p:sp>
      <p:sp>
        <p:nvSpPr>
          <p:cNvPr id="46" name="object 46"/>
          <p:cNvSpPr txBox="1"/>
          <p:nvPr/>
        </p:nvSpPr>
        <p:spPr>
          <a:xfrm>
            <a:off x="5662178" y="1885350"/>
            <a:ext cx="1488440" cy="172085"/>
          </a:xfrm>
          <a:prstGeom prst="rect">
            <a:avLst/>
          </a:prstGeom>
        </p:spPr>
        <p:txBody>
          <a:bodyPr vert="horz" wrap="square" lIns="0" tIns="13970" rIns="0" bIns="0" rtlCol="0">
            <a:spAutoFit/>
          </a:bodyPr>
          <a:lstStyle/>
          <a:p>
            <a:pPr marL="12700">
              <a:lnSpc>
                <a:spcPct val="100000"/>
              </a:lnSpc>
              <a:spcBef>
                <a:spcPts val="110"/>
              </a:spcBef>
            </a:pPr>
            <a:r>
              <a:rPr sz="950" b="1" spc="-5" dirty="0">
                <a:latin typeface="微软雅黑" panose="020B0503020204020204" charset="-122"/>
                <a:cs typeface="微软雅黑" panose="020B0503020204020204" charset="-122"/>
              </a:rPr>
              <a:t>亚胺培南西司他丁瑞来巴坦</a:t>
            </a:r>
            <a:endParaRPr sz="950">
              <a:latin typeface="微软雅黑" panose="020B0503020204020204" charset="-122"/>
              <a:cs typeface="微软雅黑" panose="020B0503020204020204" charset="-122"/>
            </a:endParaRPr>
          </a:p>
        </p:txBody>
      </p:sp>
      <p:sp>
        <p:nvSpPr>
          <p:cNvPr id="47" name="object 47"/>
          <p:cNvSpPr txBox="1"/>
          <p:nvPr/>
        </p:nvSpPr>
        <p:spPr>
          <a:xfrm>
            <a:off x="7312812" y="1811437"/>
            <a:ext cx="1364615" cy="288925"/>
          </a:xfrm>
          <a:prstGeom prst="rect">
            <a:avLst/>
          </a:prstGeom>
        </p:spPr>
        <p:txBody>
          <a:bodyPr vert="horz" wrap="square" lIns="0" tIns="41910" rIns="0" bIns="0" rtlCol="0">
            <a:spAutoFit/>
          </a:bodyPr>
          <a:lstStyle/>
          <a:p>
            <a:pPr marL="12700">
              <a:lnSpc>
                <a:spcPct val="100000"/>
              </a:lnSpc>
              <a:spcBef>
                <a:spcPts val="330"/>
              </a:spcBef>
            </a:pPr>
            <a:r>
              <a:rPr sz="850" spc="-20" dirty="0">
                <a:latin typeface="微软雅黑" panose="020B0503020204020204" charset="-122"/>
                <a:cs typeface="微软雅黑" panose="020B0503020204020204" charset="-122"/>
              </a:rPr>
              <a:t>β</a:t>
            </a:r>
            <a:r>
              <a:rPr sz="850" spc="-20" dirty="0">
                <a:latin typeface="Arial MT"/>
                <a:cs typeface="Arial MT"/>
              </a:rPr>
              <a:t>-</a:t>
            </a:r>
            <a:r>
              <a:rPr sz="850" spc="-25" dirty="0">
                <a:latin typeface="微软雅黑" panose="020B0503020204020204" charset="-122"/>
                <a:cs typeface="微软雅黑" panose="020B0503020204020204" charset="-122"/>
              </a:rPr>
              <a:t>内酰胺酶抑制剂复方制剂</a:t>
            </a:r>
            <a:endParaRPr sz="850">
              <a:latin typeface="微软雅黑" panose="020B0503020204020204" charset="-122"/>
              <a:cs typeface="微软雅黑" panose="020B0503020204020204" charset="-122"/>
            </a:endParaRPr>
          </a:p>
          <a:p>
            <a:pPr marL="12700">
              <a:lnSpc>
                <a:spcPct val="100000"/>
              </a:lnSpc>
              <a:spcBef>
                <a:spcPts val="160"/>
              </a:spcBef>
            </a:pPr>
            <a:r>
              <a:rPr sz="550" dirty="0">
                <a:latin typeface="Arial MT"/>
                <a:cs typeface="Arial MT"/>
              </a:rPr>
              <a:t>cIAI</a:t>
            </a:r>
            <a:r>
              <a:rPr sz="550" dirty="0">
                <a:latin typeface="微软雅黑" panose="020B0503020204020204" charset="-122"/>
                <a:cs typeface="微软雅黑" panose="020B0503020204020204" charset="-122"/>
              </a:rPr>
              <a:t>、</a:t>
            </a:r>
            <a:r>
              <a:rPr sz="550" dirty="0">
                <a:latin typeface="Arial MT"/>
                <a:cs typeface="Arial MT"/>
              </a:rPr>
              <a:t>cUTI(</a:t>
            </a:r>
            <a:r>
              <a:rPr sz="550" dirty="0">
                <a:latin typeface="微软雅黑" panose="020B0503020204020204" charset="-122"/>
                <a:cs typeface="微软雅黑" panose="020B0503020204020204" charset="-122"/>
              </a:rPr>
              <a:t>包括急性肾盂肾炎</a:t>
            </a:r>
            <a:r>
              <a:rPr sz="550" spc="-10" dirty="0">
                <a:latin typeface="Arial MT"/>
                <a:cs typeface="Arial MT"/>
              </a:rPr>
              <a:t>)</a:t>
            </a:r>
            <a:r>
              <a:rPr sz="550" dirty="0">
                <a:latin typeface="微软雅黑" panose="020B0503020204020204" charset="-122"/>
                <a:cs typeface="微软雅黑" panose="020B0503020204020204" charset="-122"/>
              </a:rPr>
              <a:t>、</a:t>
            </a:r>
            <a:r>
              <a:rPr sz="550" spc="-10" dirty="0">
                <a:latin typeface="Arial MT"/>
                <a:cs typeface="Arial MT"/>
              </a:rPr>
              <a:t>HAP/VAP</a:t>
            </a:r>
            <a:endParaRPr sz="550">
              <a:latin typeface="Arial MT"/>
              <a:cs typeface="Arial MT"/>
            </a:endParaRPr>
          </a:p>
        </p:txBody>
      </p:sp>
      <p:sp>
        <p:nvSpPr>
          <p:cNvPr id="48" name="object 48"/>
          <p:cNvSpPr/>
          <p:nvPr/>
        </p:nvSpPr>
        <p:spPr>
          <a:xfrm>
            <a:off x="2327655" y="1838756"/>
            <a:ext cx="508634" cy="248920"/>
          </a:xfrm>
          <a:custGeom>
            <a:avLst/>
            <a:gdLst/>
            <a:ahLst/>
            <a:cxnLst/>
            <a:rect l="l" t="t" r="r" b="b"/>
            <a:pathLst>
              <a:path w="508635" h="248919">
                <a:moveTo>
                  <a:pt x="410870" y="248716"/>
                </a:moveTo>
                <a:lnTo>
                  <a:pt x="97536" y="248716"/>
                </a:lnTo>
                <a:lnTo>
                  <a:pt x="59838" y="241338"/>
                </a:lnTo>
                <a:lnTo>
                  <a:pt x="28940" y="220671"/>
                </a:lnTo>
                <a:lnTo>
                  <a:pt x="7956" y="189948"/>
                </a:lnTo>
                <a:lnTo>
                  <a:pt x="0" y="152400"/>
                </a:lnTo>
                <a:lnTo>
                  <a:pt x="0" y="97536"/>
                </a:lnTo>
                <a:lnTo>
                  <a:pt x="7956" y="59678"/>
                </a:lnTo>
                <a:lnTo>
                  <a:pt x="28940" y="28727"/>
                </a:lnTo>
                <a:lnTo>
                  <a:pt x="59838" y="7796"/>
                </a:lnTo>
                <a:lnTo>
                  <a:pt x="97536" y="0"/>
                </a:lnTo>
                <a:lnTo>
                  <a:pt x="410870" y="0"/>
                </a:lnTo>
                <a:lnTo>
                  <a:pt x="448940" y="7796"/>
                </a:lnTo>
                <a:lnTo>
                  <a:pt x="479964" y="28727"/>
                </a:lnTo>
                <a:lnTo>
                  <a:pt x="500825" y="59678"/>
                </a:lnTo>
                <a:lnTo>
                  <a:pt x="508406" y="97536"/>
                </a:lnTo>
                <a:lnTo>
                  <a:pt x="508406" y="152400"/>
                </a:lnTo>
                <a:lnTo>
                  <a:pt x="500825" y="189948"/>
                </a:lnTo>
                <a:lnTo>
                  <a:pt x="479964" y="220671"/>
                </a:lnTo>
                <a:lnTo>
                  <a:pt x="448940" y="241338"/>
                </a:lnTo>
                <a:lnTo>
                  <a:pt x="410870" y="248716"/>
                </a:lnTo>
                <a:close/>
              </a:path>
            </a:pathLst>
          </a:custGeom>
          <a:solidFill>
            <a:srgbClr val="014D94"/>
          </a:solidFill>
        </p:spPr>
        <p:txBody>
          <a:bodyPr wrap="square" lIns="0" tIns="0" rIns="0" bIns="0" rtlCol="0"/>
          <a:lstStyle/>
          <a:p>
            <a:endParaRPr/>
          </a:p>
        </p:txBody>
      </p:sp>
      <p:sp>
        <p:nvSpPr>
          <p:cNvPr id="49" name="object 49"/>
          <p:cNvSpPr txBox="1"/>
          <p:nvPr/>
        </p:nvSpPr>
        <p:spPr>
          <a:xfrm>
            <a:off x="2445105" y="1877690"/>
            <a:ext cx="274320" cy="160655"/>
          </a:xfrm>
          <a:prstGeom prst="rect">
            <a:avLst/>
          </a:prstGeom>
        </p:spPr>
        <p:txBody>
          <a:bodyPr vert="horz" wrap="square" lIns="0" tIns="16510" rIns="0" bIns="0" rtlCol="0">
            <a:spAutoFit/>
          </a:bodyPr>
          <a:lstStyle/>
          <a:p>
            <a:pPr marL="12700">
              <a:lnSpc>
                <a:spcPct val="100000"/>
              </a:lnSpc>
              <a:spcBef>
                <a:spcPts val="130"/>
              </a:spcBef>
            </a:pPr>
            <a:r>
              <a:rPr sz="850" b="1" spc="-20" dirty="0">
                <a:solidFill>
                  <a:srgbClr val="FFFFFF"/>
                </a:solidFill>
                <a:latin typeface="Arial" panose="020B0604020202020204"/>
                <a:cs typeface="Arial" panose="020B0604020202020204"/>
              </a:rPr>
              <a:t>2019</a:t>
            </a:r>
            <a:endParaRPr sz="850">
              <a:latin typeface="Arial" panose="020B0604020202020204"/>
              <a:cs typeface="Arial" panose="020B0604020202020204"/>
            </a:endParaRPr>
          </a:p>
        </p:txBody>
      </p:sp>
      <p:sp>
        <p:nvSpPr>
          <p:cNvPr id="50" name="object 50"/>
          <p:cNvSpPr/>
          <p:nvPr/>
        </p:nvSpPr>
        <p:spPr>
          <a:xfrm>
            <a:off x="3239617" y="1342542"/>
            <a:ext cx="1217295" cy="412115"/>
          </a:xfrm>
          <a:custGeom>
            <a:avLst/>
            <a:gdLst/>
            <a:ahLst/>
            <a:cxnLst/>
            <a:rect l="l" t="t" r="r" b="b"/>
            <a:pathLst>
              <a:path w="1217295" h="412114">
                <a:moveTo>
                  <a:pt x="1148486" y="412089"/>
                </a:moveTo>
                <a:lnTo>
                  <a:pt x="68275" y="412089"/>
                </a:lnTo>
                <a:lnTo>
                  <a:pt x="41519" y="406806"/>
                </a:lnTo>
                <a:lnTo>
                  <a:pt x="19720" y="392167"/>
                </a:lnTo>
                <a:lnTo>
                  <a:pt x="5130" y="370420"/>
                </a:lnTo>
                <a:lnTo>
                  <a:pt x="0" y="343814"/>
                </a:lnTo>
                <a:lnTo>
                  <a:pt x="0" y="68275"/>
                </a:lnTo>
                <a:lnTo>
                  <a:pt x="5130" y="41799"/>
                </a:lnTo>
                <a:lnTo>
                  <a:pt x="19720" y="20093"/>
                </a:lnTo>
                <a:lnTo>
                  <a:pt x="41519" y="5410"/>
                </a:lnTo>
                <a:lnTo>
                  <a:pt x="68275" y="0"/>
                </a:lnTo>
                <a:lnTo>
                  <a:pt x="1148486" y="0"/>
                </a:lnTo>
                <a:lnTo>
                  <a:pt x="1175173" y="5410"/>
                </a:lnTo>
                <a:lnTo>
                  <a:pt x="1196949" y="20093"/>
                </a:lnTo>
                <a:lnTo>
                  <a:pt x="1211562" y="41799"/>
                </a:lnTo>
                <a:lnTo>
                  <a:pt x="1216761" y="68275"/>
                </a:lnTo>
                <a:lnTo>
                  <a:pt x="1216761" y="343814"/>
                </a:lnTo>
                <a:lnTo>
                  <a:pt x="1211562" y="370420"/>
                </a:lnTo>
                <a:lnTo>
                  <a:pt x="1196949" y="392167"/>
                </a:lnTo>
                <a:lnTo>
                  <a:pt x="1175173" y="406806"/>
                </a:lnTo>
                <a:lnTo>
                  <a:pt x="1148486" y="412089"/>
                </a:lnTo>
                <a:close/>
              </a:path>
            </a:pathLst>
          </a:custGeom>
          <a:solidFill>
            <a:srgbClr val="FBEBD1"/>
          </a:solidFill>
        </p:spPr>
        <p:txBody>
          <a:bodyPr wrap="square" lIns="0" tIns="0" rIns="0" bIns="0" rtlCol="0"/>
          <a:lstStyle/>
          <a:p>
            <a:endParaRPr/>
          </a:p>
        </p:txBody>
      </p:sp>
      <p:sp>
        <p:nvSpPr>
          <p:cNvPr id="51" name="object 51"/>
          <p:cNvSpPr txBox="1"/>
          <p:nvPr/>
        </p:nvSpPr>
        <p:spPr>
          <a:xfrm>
            <a:off x="3408121" y="1373706"/>
            <a:ext cx="878840" cy="336550"/>
          </a:xfrm>
          <a:prstGeom prst="rect">
            <a:avLst/>
          </a:prstGeom>
        </p:spPr>
        <p:txBody>
          <a:bodyPr vert="horz" wrap="square" lIns="0" tIns="45085" rIns="0" bIns="0" rtlCol="0">
            <a:spAutoFit/>
          </a:bodyPr>
          <a:lstStyle/>
          <a:p>
            <a:pPr algn="ctr">
              <a:lnSpc>
                <a:spcPct val="100000"/>
              </a:lnSpc>
              <a:spcBef>
                <a:spcPts val="355"/>
              </a:spcBef>
            </a:pPr>
            <a:r>
              <a:rPr sz="950" b="1" spc="-10" dirty="0">
                <a:latin typeface="微软雅黑" panose="020B0503020204020204" charset="-122"/>
                <a:cs typeface="微软雅黑" panose="020B0503020204020204" charset="-122"/>
              </a:rPr>
              <a:t>舒巴坦度洛巴坦</a:t>
            </a:r>
            <a:endParaRPr sz="950">
              <a:latin typeface="微软雅黑" panose="020B0503020204020204" charset="-122"/>
              <a:cs typeface="微软雅黑" panose="020B0503020204020204" charset="-122"/>
            </a:endParaRPr>
          </a:p>
          <a:p>
            <a:pPr algn="ctr">
              <a:lnSpc>
                <a:spcPct val="100000"/>
              </a:lnSpc>
              <a:spcBef>
                <a:spcPts val="205"/>
              </a:spcBef>
            </a:pPr>
            <a:r>
              <a:rPr sz="700" b="1" spc="-5" dirty="0">
                <a:solidFill>
                  <a:srgbClr val="F09D18"/>
                </a:solidFill>
                <a:latin typeface="微软雅黑" panose="020B0503020204020204" charset="-122"/>
                <a:cs typeface="微软雅黑" panose="020B0503020204020204" charset="-122"/>
              </a:rPr>
              <a:t>中国获批：</a:t>
            </a:r>
            <a:r>
              <a:rPr sz="700" b="1" spc="-10" dirty="0">
                <a:solidFill>
                  <a:srgbClr val="F09D18"/>
                </a:solidFill>
                <a:latin typeface="Arial" panose="020B0604020202020204"/>
                <a:cs typeface="Arial" panose="020B0604020202020204"/>
              </a:rPr>
              <a:t>2024</a:t>
            </a:r>
            <a:endParaRPr sz="700">
              <a:latin typeface="Arial" panose="020B0604020202020204"/>
              <a:cs typeface="Arial" panose="020B0604020202020204"/>
            </a:endParaRPr>
          </a:p>
        </p:txBody>
      </p:sp>
      <p:sp>
        <p:nvSpPr>
          <p:cNvPr id="52" name="object 52"/>
          <p:cNvSpPr txBox="1"/>
          <p:nvPr/>
        </p:nvSpPr>
        <p:spPr>
          <a:xfrm>
            <a:off x="4534418" y="1396665"/>
            <a:ext cx="2066925" cy="288925"/>
          </a:xfrm>
          <a:prstGeom prst="rect">
            <a:avLst/>
          </a:prstGeom>
        </p:spPr>
        <p:txBody>
          <a:bodyPr vert="horz" wrap="square" lIns="0" tIns="41910" rIns="0" bIns="0" rtlCol="0">
            <a:spAutoFit/>
          </a:bodyPr>
          <a:lstStyle/>
          <a:p>
            <a:pPr marL="12700">
              <a:lnSpc>
                <a:spcPct val="100000"/>
              </a:lnSpc>
              <a:spcBef>
                <a:spcPts val="330"/>
              </a:spcBef>
            </a:pPr>
            <a:r>
              <a:rPr sz="850" spc="-20" dirty="0">
                <a:latin typeface="微软雅黑" panose="020B0503020204020204" charset="-122"/>
                <a:cs typeface="微软雅黑" panose="020B0503020204020204" charset="-122"/>
              </a:rPr>
              <a:t>β</a:t>
            </a:r>
            <a:r>
              <a:rPr sz="850" spc="-20" dirty="0">
                <a:latin typeface="Arial MT"/>
                <a:cs typeface="Arial MT"/>
              </a:rPr>
              <a:t>-</a:t>
            </a:r>
            <a:r>
              <a:rPr sz="850" spc="-25" dirty="0">
                <a:latin typeface="微软雅黑" panose="020B0503020204020204" charset="-122"/>
                <a:cs typeface="微软雅黑" panose="020B0503020204020204" charset="-122"/>
              </a:rPr>
              <a:t>内酰胺酶抑制剂复方制剂</a:t>
            </a:r>
            <a:endParaRPr sz="850">
              <a:latin typeface="微软雅黑" panose="020B0503020204020204" charset="-122"/>
              <a:cs typeface="微软雅黑" panose="020B0503020204020204" charset="-122"/>
            </a:endParaRPr>
          </a:p>
          <a:p>
            <a:pPr marL="12700">
              <a:lnSpc>
                <a:spcPct val="100000"/>
              </a:lnSpc>
              <a:spcBef>
                <a:spcPts val="160"/>
              </a:spcBef>
            </a:pPr>
            <a:r>
              <a:rPr sz="550" dirty="0">
                <a:latin typeface="微软雅黑" panose="020B0503020204020204" charset="-122"/>
                <a:cs typeface="微软雅黑" panose="020B0503020204020204" charset="-122"/>
              </a:rPr>
              <a:t>成人由鲍曼</a:t>
            </a:r>
            <a:r>
              <a:rPr sz="550" spc="-10" dirty="0">
                <a:latin typeface="Arial MT"/>
                <a:cs typeface="Arial MT"/>
              </a:rPr>
              <a:t>-</a:t>
            </a:r>
            <a:r>
              <a:rPr sz="550" dirty="0">
                <a:latin typeface="微软雅黑" panose="020B0503020204020204" charset="-122"/>
                <a:cs typeface="微软雅黑" panose="020B0503020204020204" charset="-122"/>
              </a:rPr>
              <a:t>醋酸钙不动杆菌复合体敏感分离株所致</a:t>
            </a:r>
            <a:r>
              <a:rPr sz="550" dirty="0">
                <a:latin typeface="Arial MT"/>
                <a:cs typeface="Arial MT"/>
              </a:rPr>
              <a:t>HABP</a:t>
            </a:r>
            <a:r>
              <a:rPr sz="550" dirty="0">
                <a:latin typeface="微软雅黑" panose="020B0503020204020204" charset="-122"/>
                <a:cs typeface="微软雅黑" panose="020B0503020204020204" charset="-122"/>
              </a:rPr>
              <a:t>、</a:t>
            </a:r>
            <a:r>
              <a:rPr sz="550" spc="-20" dirty="0">
                <a:latin typeface="Arial MT"/>
                <a:cs typeface="Arial MT"/>
              </a:rPr>
              <a:t>VABP</a:t>
            </a:r>
            <a:endParaRPr sz="550">
              <a:latin typeface="Arial MT"/>
              <a:cs typeface="Arial MT"/>
            </a:endParaRPr>
          </a:p>
        </p:txBody>
      </p:sp>
      <p:sp>
        <p:nvSpPr>
          <p:cNvPr id="53" name="object 53"/>
          <p:cNvSpPr/>
          <p:nvPr/>
        </p:nvSpPr>
        <p:spPr>
          <a:xfrm>
            <a:off x="2595880" y="1424228"/>
            <a:ext cx="508634" cy="248920"/>
          </a:xfrm>
          <a:custGeom>
            <a:avLst/>
            <a:gdLst/>
            <a:ahLst/>
            <a:cxnLst/>
            <a:rect l="l" t="t" r="r" b="b"/>
            <a:pathLst>
              <a:path w="508635" h="248919">
                <a:moveTo>
                  <a:pt x="410870" y="248716"/>
                </a:moveTo>
                <a:lnTo>
                  <a:pt x="97536" y="248716"/>
                </a:lnTo>
                <a:lnTo>
                  <a:pt x="59820" y="241183"/>
                </a:lnTo>
                <a:lnTo>
                  <a:pt x="28914" y="220339"/>
                </a:lnTo>
                <a:lnTo>
                  <a:pt x="7934" y="189300"/>
                </a:lnTo>
                <a:lnTo>
                  <a:pt x="0" y="151180"/>
                </a:lnTo>
                <a:lnTo>
                  <a:pt x="0" y="97536"/>
                </a:lnTo>
                <a:lnTo>
                  <a:pt x="7934" y="59546"/>
                </a:lnTo>
                <a:lnTo>
                  <a:pt x="28914" y="28548"/>
                </a:lnTo>
                <a:lnTo>
                  <a:pt x="59820" y="7660"/>
                </a:lnTo>
                <a:lnTo>
                  <a:pt x="97536" y="0"/>
                </a:lnTo>
                <a:lnTo>
                  <a:pt x="410870" y="0"/>
                </a:lnTo>
                <a:lnTo>
                  <a:pt x="448921" y="7660"/>
                </a:lnTo>
                <a:lnTo>
                  <a:pt x="479938" y="28548"/>
                </a:lnTo>
                <a:lnTo>
                  <a:pt x="500804" y="59546"/>
                </a:lnTo>
                <a:lnTo>
                  <a:pt x="508406" y="97536"/>
                </a:lnTo>
                <a:lnTo>
                  <a:pt x="508406" y="151180"/>
                </a:lnTo>
                <a:lnTo>
                  <a:pt x="500804" y="189300"/>
                </a:lnTo>
                <a:lnTo>
                  <a:pt x="479938" y="220339"/>
                </a:lnTo>
                <a:lnTo>
                  <a:pt x="448921" y="241183"/>
                </a:lnTo>
                <a:lnTo>
                  <a:pt x="410870" y="248716"/>
                </a:lnTo>
                <a:close/>
              </a:path>
            </a:pathLst>
          </a:custGeom>
          <a:solidFill>
            <a:srgbClr val="F09D18"/>
          </a:solidFill>
        </p:spPr>
        <p:txBody>
          <a:bodyPr wrap="square" lIns="0" tIns="0" rIns="0" bIns="0" rtlCol="0"/>
          <a:lstStyle/>
          <a:p>
            <a:endParaRPr/>
          </a:p>
        </p:txBody>
      </p:sp>
      <p:sp>
        <p:nvSpPr>
          <p:cNvPr id="54" name="object 54"/>
          <p:cNvSpPr txBox="1"/>
          <p:nvPr/>
        </p:nvSpPr>
        <p:spPr>
          <a:xfrm>
            <a:off x="2713289" y="1462918"/>
            <a:ext cx="274320" cy="160655"/>
          </a:xfrm>
          <a:prstGeom prst="rect">
            <a:avLst/>
          </a:prstGeom>
        </p:spPr>
        <p:txBody>
          <a:bodyPr vert="horz" wrap="square" lIns="0" tIns="16510" rIns="0" bIns="0" rtlCol="0">
            <a:spAutoFit/>
          </a:bodyPr>
          <a:lstStyle/>
          <a:p>
            <a:pPr marL="12700">
              <a:lnSpc>
                <a:spcPct val="100000"/>
              </a:lnSpc>
              <a:spcBef>
                <a:spcPts val="130"/>
              </a:spcBef>
            </a:pPr>
            <a:r>
              <a:rPr sz="850" b="1" spc="-20" dirty="0">
                <a:solidFill>
                  <a:srgbClr val="FFFFFF"/>
                </a:solidFill>
                <a:latin typeface="Arial" panose="020B0604020202020204"/>
                <a:cs typeface="Arial" panose="020B0604020202020204"/>
              </a:rPr>
              <a:t>2023</a:t>
            </a:r>
            <a:endParaRPr sz="850">
              <a:latin typeface="Arial" panose="020B0604020202020204"/>
              <a:cs typeface="Arial" panose="020B0604020202020204"/>
            </a:endParaRPr>
          </a:p>
        </p:txBody>
      </p:sp>
      <p:sp>
        <p:nvSpPr>
          <p:cNvPr id="55" name="object 55"/>
          <p:cNvSpPr/>
          <p:nvPr/>
        </p:nvSpPr>
        <p:spPr>
          <a:xfrm>
            <a:off x="3613911" y="913383"/>
            <a:ext cx="1289050" cy="412115"/>
          </a:xfrm>
          <a:custGeom>
            <a:avLst/>
            <a:gdLst/>
            <a:ahLst/>
            <a:cxnLst/>
            <a:rect l="l" t="t" r="r" b="b"/>
            <a:pathLst>
              <a:path w="1289050" h="412115">
                <a:moveTo>
                  <a:pt x="1219200" y="412089"/>
                </a:moveTo>
                <a:lnTo>
                  <a:pt x="68275" y="412089"/>
                </a:lnTo>
                <a:lnTo>
                  <a:pt x="41445" y="406827"/>
                </a:lnTo>
                <a:lnTo>
                  <a:pt x="19621" y="392193"/>
                </a:lnTo>
                <a:lnTo>
                  <a:pt x="5055" y="370438"/>
                </a:lnTo>
                <a:lnTo>
                  <a:pt x="0" y="343814"/>
                </a:lnTo>
                <a:lnTo>
                  <a:pt x="0" y="68275"/>
                </a:lnTo>
                <a:lnTo>
                  <a:pt x="5055" y="41822"/>
                </a:lnTo>
                <a:lnTo>
                  <a:pt x="19621" y="20124"/>
                </a:lnTo>
                <a:lnTo>
                  <a:pt x="41445" y="5433"/>
                </a:lnTo>
                <a:lnTo>
                  <a:pt x="68275" y="0"/>
                </a:lnTo>
                <a:lnTo>
                  <a:pt x="1219200" y="0"/>
                </a:lnTo>
                <a:lnTo>
                  <a:pt x="1246180" y="5433"/>
                </a:lnTo>
                <a:lnTo>
                  <a:pt x="1268181" y="20124"/>
                </a:lnTo>
                <a:lnTo>
                  <a:pt x="1283065" y="41822"/>
                </a:lnTo>
                <a:lnTo>
                  <a:pt x="1288694" y="68275"/>
                </a:lnTo>
                <a:lnTo>
                  <a:pt x="1288694" y="343814"/>
                </a:lnTo>
                <a:lnTo>
                  <a:pt x="1283065" y="370438"/>
                </a:lnTo>
                <a:lnTo>
                  <a:pt x="1268181" y="392193"/>
                </a:lnTo>
                <a:lnTo>
                  <a:pt x="1246180" y="406827"/>
                </a:lnTo>
                <a:lnTo>
                  <a:pt x="1219200" y="412089"/>
                </a:lnTo>
                <a:close/>
              </a:path>
            </a:pathLst>
          </a:custGeom>
          <a:solidFill>
            <a:srgbClr val="FBEBD1"/>
          </a:solidFill>
        </p:spPr>
        <p:txBody>
          <a:bodyPr wrap="square" lIns="0" tIns="0" rIns="0" bIns="0" rtlCol="0"/>
          <a:lstStyle/>
          <a:p>
            <a:endParaRPr/>
          </a:p>
        </p:txBody>
      </p:sp>
      <p:sp>
        <p:nvSpPr>
          <p:cNvPr id="56" name="object 56"/>
          <p:cNvSpPr txBox="1"/>
          <p:nvPr/>
        </p:nvSpPr>
        <p:spPr>
          <a:xfrm>
            <a:off x="3756883" y="944588"/>
            <a:ext cx="1000760" cy="336550"/>
          </a:xfrm>
          <a:prstGeom prst="rect">
            <a:avLst/>
          </a:prstGeom>
        </p:spPr>
        <p:txBody>
          <a:bodyPr vert="horz" wrap="square" lIns="0" tIns="45085" rIns="0" bIns="0" rtlCol="0">
            <a:spAutoFit/>
          </a:bodyPr>
          <a:lstStyle/>
          <a:p>
            <a:pPr algn="ctr">
              <a:lnSpc>
                <a:spcPct val="100000"/>
              </a:lnSpc>
              <a:spcBef>
                <a:spcPts val="355"/>
              </a:spcBef>
            </a:pPr>
            <a:r>
              <a:rPr sz="950" b="1" spc="-10" dirty="0">
                <a:latin typeface="微软雅黑" panose="020B0503020204020204" charset="-122"/>
                <a:cs typeface="微软雅黑" panose="020B0503020204020204" charset="-122"/>
              </a:rPr>
              <a:t>氨曲南阿维巴坦钠</a:t>
            </a:r>
            <a:endParaRPr sz="950">
              <a:latin typeface="微软雅黑" panose="020B0503020204020204" charset="-122"/>
              <a:cs typeface="微软雅黑" panose="020B0503020204020204" charset="-122"/>
            </a:endParaRPr>
          </a:p>
          <a:p>
            <a:pPr algn="ctr">
              <a:lnSpc>
                <a:spcPct val="100000"/>
              </a:lnSpc>
              <a:spcBef>
                <a:spcPts val="205"/>
              </a:spcBef>
            </a:pPr>
            <a:r>
              <a:rPr sz="700" b="1" spc="-5" dirty="0">
                <a:solidFill>
                  <a:srgbClr val="F09D18"/>
                </a:solidFill>
                <a:latin typeface="微软雅黑" panose="020B0503020204020204" charset="-122"/>
                <a:cs typeface="微软雅黑" panose="020B0503020204020204" charset="-122"/>
              </a:rPr>
              <a:t>中国获批：</a:t>
            </a:r>
            <a:r>
              <a:rPr sz="700" b="1" spc="-10" dirty="0">
                <a:solidFill>
                  <a:srgbClr val="F09D18"/>
                </a:solidFill>
                <a:latin typeface="Arial" panose="020B0604020202020204"/>
                <a:cs typeface="Arial" panose="020B0604020202020204"/>
              </a:rPr>
              <a:t>2025</a:t>
            </a:r>
            <a:endParaRPr sz="700">
              <a:latin typeface="Arial" panose="020B0604020202020204"/>
              <a:cs typeface="Arial" panose="020B0604020202020204"/>
            </a:endParaRPr>
          </a:p>
        </p:txBody>
      </p:sp>
      <p:sp>
        <p:nvSpPr>
          <p:cNvPr id="57" name="object 57"/>
          <p:cNvSpPr txBox="1"/>
          <p:nvPr/>
        </p:nvSpPr>
        <p:spPr>
          <a:xfrm>
            <a:off x="4989464" y="1032255"/>
            <a:ext cx="2054860" cy="154305"/>
          </a:xfrm>
          <a:prstGeom prst="rect">
            <a:avLst/>
          </a:prstGeom>
        </p:spPr>
        <p:txBody>
          <a:bodyPr vert="horz" wrap="square" lIns="0" tIns="11430" rIns="0" bIns="0" rtlCol="0">
            <a:spAutoFit/>
          </a:bodyPr>
          <a:lstStyle/>
          <a:p>
            <a:pPr marL="12700">
              <a:lnSpc>
                <a:spcPct val="100000"/>
              </a:lnSpc>
              <a:spcBef>
                <a:spcPts val="90"/>
              </a:spcBef>
            </a:pPr>
            <a:r>
              <a:rPr sz="850" spc="-20" dirty="0">
                <a:latin typeface="微软雅黑" panose="020B0503020204020204" charset="-122"/>
                <a:cs typeface="微软雅黑" panose="020B0503020204020204" charset="-122"/>
              </a:rPr>
              <a:t>单环β</a:t>
            </a:r>
            <a:r>
              <a:rPr sz="850" spc="-20" dirty="0">
                <a:latin typeface="Arial MT"/>
                <a:cs typeface="Arial MT"/>
              </a:rPr>
              <a:t>-</a:t>
            </a:r>
            <a:r>
              <a:rPr sz="850" spc="-20" dirty="0">
                <a:latin typeface="微软雅黑" panose="020B0503020204020204" charset="-122"/>
                <a:cs typeface="微软雅黑" panose="020B0503020204020204" charset="-122"/>
              </a:rPr>
              <a:t>内酰胺类抗生素</a:t>
            </a:r>
            <a:r>
              <a:rPr sz="850" spc="-20" dirty="0">
                <a:latin typeface="Arial MT"/>
                <a:cs typeface="Arial MT"/>
              </a:rPr>
              <a:t>+</a:t>
            </a:r>
            <a:r>
              <a:rPr sz="850" spc="-20" dirty="0">
                <a:latin typeface="微软雅黑" panose="020B0503020204020204" charset="-122"/>
                <a:cs typeface="微软雅黑" panose="020B0503020204020204" charset="-122"/>
              </a:rPr>
              <a:t>β</a:t>
            </a:r>
            <a:r>
              <a:rPr sz="850" spc="-20" dirty="0">
                <a:latin typeface="Arial MT"/>
                <a:cs typeface="Arial MT"/>
              </a:rPr>
              <a:t>-lactamase</a:t>
            </a:r>
            <a:r>
              <a:rPr sz="850" spc="-35" dirty="0">
                <a:latin typeface="微软雅黑" panose="020B0503020204020204" charset="-122"/>
                <a:cs typeface="微软雅黑" panose="020B0503020204020204" charset="-122"/>
              </a:rPr>
              <a:t>抑制剂</a:t>
            </a:r>
            <a:endParaRPr sz="850">
              <a:latin typeface="微软雅黑" panose="020B0503020204020204" charset="-122"/>
              <a:cs typeface="微软雅黑" panose="020B0503020204020204" charset="-122"/>
            </a:endParaRPr>
          </a:p>
        </p:txBody>
      </p:sp>
      <p:sp>
        <p:nvSpPr>
          <p:cNvPr id="58" name="object 58"/>
          <p:cNvSpPr/>
          <p:nvPr/>
        </p:nvSpPr>
        <p:spPr>
          <a:xfrm>
            <a:off x="2906776" y="976782"/>
            <a:ext cx="507365" cy="248920"/>
          </a:xfrm>
          <a:custGeom>
            <a:avLst/>
            <a:gdLst/>
            <a:ahLst/>
            <a:cxnLst/>
            <a:rect l="l" t="t" r="r" b="b"/>
            <a:pathLst>
              <a:path w="507364" h="248919">
                <a:moveTo>
                  <a:pt x="409651" y="248716"/>
                </a:moveTo>
                <a:lnTo>
                  <a:pt x="96316" y="248716"/>
                </a:lnTo>
                <a:lnTo>
                  <a:pt x="58705" y="241132"/>
                </a:lnTo>
                <a:lnTo>
                  <a:pt x="27961" y="220271"/>
                </a:lnTo>
                <a:lnTo>
                  <a:pt x="7315" y="189249"/>
                </a:lnTo>
                <a:lnTo>
                  <a:pt x="0" y="151180"/>
                </a:lnTo>
                <a:lnTo>
                  <a:pt x="0" y="97536"/>
                </a:lnTo>
                <a:lnTo>
                  <a:pt x="7315" y="59494"/>
                </a:lnTo>
                <a:lnTo>
                  <a:pt x="27961" y="28479"/>
                </a:lnTo>
                <a:lnTo>
                  <a:pt x="58705" y="7609"/>
                </a:lnTo>
                <a:lnTo>
                  <a:pt x="96316" y="0"/>
                </a:lnTo>
                <a:lnTo>
                  <a:pt x="409651" y="0"/>
                </a:lnTo>
                <a:lnTo>
                  <a:pt x="447784" y="7609"/>
                </a:lnTo>
                <a:lnTo>
                  <a:pt x="478829" y="28479"/>
                </a:lnTo>
                <a:lnTo>
                  <a:pt x="499669" y="59494"/>
                </a:lnTo>
                <a:lnTo>
                  <a:pt x="507187" y="97536"/>
                </a:lnTo>
                <a:lnTo>
                  <a:pt x="507187" y="151180"/>
                </a:lnTo>
                <a:lnTo>
                  <a:pt x="499669" y="189249"/>
                </a:lnTo>
                <a:lnTo>
                  <a:pt x="478829" y="220271"/>
                </a:lnTo>
                <a:lnTo>
                  <a:pt x="447784" y="241132"/>
                </a:lnTo>
                <a:lnTo>
                  <a:pt x="409651" y="248716"/>
                </a:lnTo>
                <a:close/>
              </a:path>
            </a:pathLst>
          </a:custGeom>
          <a:solidFill>
            <a:srgbClr val="F09D18"/>
          </a:solidFill>
        </p:spPr>
        <p:txBody>
          <a:bodyPr wrap="square" lIns="0" tIns="0" rIns="0" bIns="0" rtlCol="0"/>
          <a:lstStyle/>
          <a:p>
            <a:endParaRPr/>
          </a:p>
        </p:txBody>
      </p:sp>
      <p:sp>
        <p:nvSpPr>
          <p:cNvPr id="59" name="object 59"/>
          <p:cNvSpPr txBox="1"/>
          <p:nvPr/>
        </p:nvSpPr>
        <p:spPr>
          <a:xfrm>
            <a:off x="3023118" y="1015380"/>
            <a:ext cx="274320" cy="160655"/>
          </a:xfrm>
          <a:prstGeom prst="rect">
            <a:avLst/>
          </a:prstGeom>
        </p:spPr>
        <p:txBody>
          <a:bodyPr vert="horz" wrap="square" lIns="0" tIns="16510" rIns="0" bIns="0" rtlCol="0">
            <a:spAutoFit/>
          </a:bodyPr>
          <a:lstStyle/>
          <a:p>
            <a:pPr marL="12700">
              <a:lnSpc>
                <a:spcPct val="100000"/>
              </a:lnSpc>
              <a:spcBef>
                <a:spcPts val="130"/>
              </a:spcBef>
            </a:pPr>
            <a:r>
              <a:rPr sz="850" b="1" spc="-20" dirty="0">
                <a:solidFill>
                  <a:srgbClr val="FFFFFF"/>
                </a:solidFill>
                <a:latin typeface="Arial" panose="020B0604020202020204"/>
                <a:cs typeface="Arial" panose="020B0604020202020204"/>
              </a:rPr>
              <a:t>2024</a:t>
            </a:r>
            <a:endParaRPr sz="850">
              <a:latin typeface="Arial" panose="020B0604020202020204"/>
              <a:cs typeface="Arial" panose="020B0604020202020204"/>
            </a:endParaRPr>
          </a:p>
        </p:txBody>
      </p:sp>
      <p:grpSp>
        <p:nvGrpSpPr>
          <p:cNvPr id="60" name="object 60"/>
          <p:cNvGrpSpPr/>
          <p:nvPr/>
        </p:nvGrpSpPr>
        <p:grpSpPr>
          <a:xfrm>
            <a:off x="273578" y="3245713"/>
            <a:ext cx="9366885" cy="1284605"/>
            <a:chOff x="273578" y="3245713"/>
            <a:chExt cx="9366885" cy="1284605"/>
          </a:xfrm>
        </p:grpSpPr>
        <p:pic>
          <p:nvPicPr>
            <p:cNvPr id="61" name="object 61"/>
            <p:cNvPicPr/>
            <p:nvPr/>
          </p:nvPicPr>
          <p:blipFill>
            <a:blip r:embed="rId6" cstate="print"/>
            <a:stretch>
              <a:fillRect/>
            </a:stretch>
          </p:blipFill>
          <p:spPr>
            <a:xfrm>
              <a:off x="6609872" y="4185513"/>
              <a:ext cx="1275994" cy="138175"/>
            </a:xfrm>
            <a:prstGeom prst="rect">
              <a:avLst/>
            </a:prstGeom>
          </p:spPr>
        </p:pic>
        <p:pic>
          <p:nvPicPr>
            <p:cNvPr id="62" name="object 62"/>
            <p:cNvPicPr/>
            <p:nvPr/>
          </p:nvPicPr>
          <p:blipFill>
            <a:blip r:embed="rId7" cstate="print"/>
            <a:stretch>
              <a:fillRect/>
            </a:stretch>
          </p:blipFill>
          <p:spPr>
            <a:xfrm>
              <a:off x="7904194" y="4193641"/>
              <a:ext cx="109738" cy="127507"/>
            </a:xfrm>
            <a:prstGeom prst="rect">
              <a:avLst/>
            </a:prstGeom>
          </p:spPr>
        </p:pic>
        <p:pic>
          <p:nvPicPr>
            <p:cNvPr id="63" name="object 63"/>
            <p:cNvPicPr/>
            <p:nvPr/>
          </p:nvPicPr>
          <p:blipFill>
            <a:blip r:embed="rId8" cstate="print"/>
            <a:stretch>
              <a:fillRect/>
            </a:stretch>
          </p:blipFill>
          <p:spPr>
            <a:xfrm>
              <a:off x="8032272" y="4185005"/>
              <a:ext cx="422269" cy="138683"/>
            </a:xfrm>
            <a:prstGeom prst="rect">
              <a:avLst/>
            </a:prstGeom>
          </p:spPr>
        </p:pic>
        <p:pic>
          <p:nvPicPr>
            <p:cNvPr id="64" name="object 64"/>
            <p:cNvPicPr/>
            <p:nvPr/>
          </p:nvPicPr>
          <p:blipFill>
            <a:blip r:embed="rId9" cstate="print"/>
            <a:stretch>
              <a:fillRect/>
            </a:stretch>
          </p:blipFill>
          <p:spPr>
            <a:xfrm>
              <a:off x="8474648" y="4286097"/>
              <a:ext cx="27685" cy="37591"/>
            </a:xfrm>
            <a:prstGeom prst="rect">
              <a:avLst/>
            </a:prstGeom>
          </p:spPr>
        </p:pic>
        <p:pic>
          <p:nvPicPr>
            <p:cNvPr id="65" name="object 65"/>
            <p:cNvPicPr/>
            <p:nvPr/>
          </p:nvPicPr>
          <p:blipFill>
            <a:blip r:embed="rId10" cstate="print"/>
            <a:stretch>
              <a:fillRect/>
            </a:stretch>
          </p:blipFill>
          <p:spPr>
            <a:xfrm>
              <a:off x="5969233" y="4390237"/>
              <a:ext cx="2409606" cy="139699"/>
            </a:xfrm>
            <a:prstGeom prst="rect">
              <a:avLst/>
            </a:prstGeom>
          </p:spPr>
        </p:pic>
        <p:pic>
          <p:nvPicPr>
            <p:cNvPr id="66" name="object 66"/>
            <p:cNvPicPr/>
            <p:nvPr/>
          </p:nvPicPr>
          <p:blipFill>
            <a:blip r:embed="rId11" cstate="print"/>
            <a:stretch>
              <a:fillRect/>
            </a:stretch>
          </p:blipFill>
          <p:spPr>
            <a:xfrm>
              <a:off x="8460932" y="4390237"/>
              <a:ext cx="702055" cy="138175"/>
            </a:xfrm>
            <a:prstGeom prst="rect">
              <a:avLst/>
            </a:prstGeom>
          </p:spPr>
        </p:pic>
        <p:sp>
          <p:nvSpPr>
            <p:cNvPr id="67" name="object 67"/>
            <p:cNvSpPr/>
            <p:nvPr/>
          </p:nvSpPr>
          <p:spPr>
            <a:xfrm>
              <a:off x="273578" y="4098137"/>
              <a:ext cx="9366885" cy="18415"/>
            </a:xfrm>
            <a:custGeom>
              <a:avLst/>
              <a:gdLst/>
              <a:ahLst/>
              <a:cxnLst/>
              <a:rect l="l" t="t" r="r" b="b"/>
              <a:pathLst>
                <a:path w="9366885" h="18414">
                  <a:moveTo>
                    <a:pt x="9366361" y="18227"/>
                  </a:moveTo>
                  <a:lnTo>
                    <a:pt x="0" y="6096"/>
                  </a:lnTo>
                  <a:lnTo>
                    <a:pt x="0" y="0"/>
                  </a:lnTo>
                  <a:lnTo>
                    <a:pt x="9366372" y="12131"/>
                  </a:lnTo>
                  <a:lnTo>
                    <a:pt x="9366361" y="18227"/>
                  </a:lnTo>
                  <a:close/>
                </a:path>
              </a:pathLst>
            </a:custGeom>
            <a:solidFill>
              <a:srgbClr val="64B339"/>
            </a:solidFill>
          </p:spPr>
          <p:txBody>
            <a:bodyPr wrap="square" lIns="0" tIns="0" rIns="0" bIns="0" rtlCol="0"/>
            <a:lstStyle/>
            <a:p>
              <a:endParaRPr/>
            </a:p>
          </p:txBody>
        </p:sp>
        <p:sp>
          <p:nvSpPr>
            <p:cNvPr id="68" name="object 68"/>
            <p:cNvSpPr/>
            <p:nvPr/>
          </p:nvSpPr>
          <p:spPr>
            <a:xfrm>
              <a:off x="8473643" y="3245713"/>
              <a:ext cx="118745" cy="59055"/>
            </a:xfrm>
            <a:custGeom>
              <a:avLst/>
              <a:gdLst/>
              <a:ahLst/>
              <a:cxnLst/>
              <a:rect l="l" t="t" r="r" b="b"/>
              <a:pathLst>
                <a:path w="118745" h="59054">
                  <a:moveTo>
                    <a:pt x="95097" y="58521"/>
                  </a:moveTo>
                  <a:lnTo>
                    <a:pt x="23164" y="58521"/>
                  </a:lnTo>
                  <a:lnTo>
                    <a:pt x="14091" y="56489"/>
                  </a:lnTo>
                  <a:lnTo>
                    <a:pt x="6762" y="51507"/>
                  </a:lnTo>
                  <a:lnTo>
                    <a:pt x="1843" y="44241"/>
                  </a:lnTo>
                  <a:lnTo>
                    <a:pt x="0" y="35356"/>
                  </a:lnTo>
                  <a:lnTo>
                    <a:pt x="0" y="23164"/>
                  </a:lnTo>
                  <a:lnTo>
                    <a:pt x="1843" y="14297"/>
                  </a:lnTo>
                  <a:lnTo>
                    <a:pt x="6762" y="7037"/>
                  </a:lnTo>
                  <a:lnTo>
                    <a:pt x="14091" y="2049"/>
                  </a:lnTo>
                  <a:lnTo>
                    <a:pt x="23164" y="0"/>
                  </a:lnTo>
                  <a:lnTo>
                    <a:pt x="95097" y="0"/>
                  </a:lnTo>
                  <a:lnTo>
                    <a:pt x="103896" y="2049"/>
                  </a:lnTo>
                  <a:lnTo>
                    <a:pt x="111133" y="7037"/>
                  </a:lnTo>
                  <a:lnTo>
                    <a:pt x="116144" y="14297"/>
                  </a:lnTo>
                  <a:lnTo>
                    <a:pt x="118262" y="23164"/>
                  </a:lnTo>
                  <a:lnTo>
                    <a:pt x="118262" y="35356"/>
                  </a:lnTo>
                  <a:lnTo>
                    <a:pt x="116144" y="44241"/>
                  </a:lnTo>
                  <a:lnTo>
                    <a:pt x="111133" y="51507"/>
                  </a:lnTo>
                  <a:lnTo>
                    <a:pt x="103896" y="56489"/>
                  </a:lnTo>
                  <a:lnTo>
                    <a:pt x="95097" y="58521"/>
                  </a:lnTo>
                  <a:close/>
                </a:path>
              </a:pathLst>
            </a:custGeom>
            <a:solidFill>
              <a:srgbClr val="014D94"/>
            </a:solidFill>
          </p:spPr>
          <p:txBody>
            <a:bodyPr wrap="square" lIns="0" tIns="0" rIns="0" bIns="0" rtlCol="0"/>
            <a:lstStyle/>
            <a:p>
              <a:endParaRPr/>
            </a:p>
          </p:txBody>
        </p:sp>
        <p:sp>
          <p:nvSpPr>
            <p:cNvPr id="69" name="object 69"/>
            <p:cNvSpPr/>
            <p:nvPr/>
          </p:nvSpPr>
          <p:spPr>
            <a:xfrm>
              <a:off x="8473643" y="3356660"/>
              <a:ext cx="118745" cy="57785"/>
            </a:xfrm>
            <a:custGeom>
              <a:avLst/>
              <a:gdLst/>
              <a:ahLst/>
              <a:cxnLst/>
              <a:rect l="l" t="t" r="r" b="b"/>
              <a:pathLst>
                <a:path w="118745" h="57785">
                  <a:moveTo>
                    <a:pt x="95097" y="57302"/>
                  </a:moveTo>
                  <a:lnTo>
                    <a:pt x="23164" y="57302"/>
                  </a:lnTo>
                  <a:lnTo>
                    <a:pt x="14091" y="55763"/>
                  </a:lnTo>
                  <a:lnTo>
                    <a:pt x="6762" y="51073"/>
                  </a:lnTo>
                  <a:lnTo>
                    <a:pt x="1843" y="44010"/>
                  </a:lnTo>
                  <a:lnTo>
                    <a:pt x="0" y="35356"/>
                  </a:lnTo>
                  <a:lnTo>
                    <a:pt x="0" y="23164"/>
                  </a:lnTo>
                  <a:lnTo>
                    <a:pt x="1843" y="14081"/>
                  </a:lnTo>
                  <a:lnTo>
                    <a:pt x="6762" y="6751"/>
                  </a:lnTo>
                  <a:lnTo>
                    <a:pt x="14091" y="1836"/>
                  </a:lnTo>
                  <a:lnTo>
                    <a:pt x="23164" y="0"/>
                  </a:lnTo>
                  <a:lnTo>
                    <a:pt x="95097" y="0"/>
                  </a:lnTo>
                  <a:lnTo>
                    <a:pt x="103896" y="1836"/>
                  </a:lnTo>
                  <a:lnTo>
                    <a:pt x="111133" y="6751"/>
                  </a:lnTo>
                  <a:lnTo>
                    <a:pt x="116144" y="14081"/>
                  </a:lnTo>
                  <a:lnTo>
                    <a:pt x="118262" y="23164"/>
                  </a:lnTo>
                  <a:lnTo>
                    <a:pt x="118262" y="35356"/>
                  </a:lnTo>
                  <a:lnTo>
                    <a:pt x="116144" y="44010"/>
                  </a:lnTo>
                  <a:lnTo>
                    <a:pt x="111133" y="51073"/>
                  </a:lnTo>
                  <a:lnTo>
                    <a:pt x="103896" y="55763"/>
                  </a:lnTo>
                  <a:lnTo>
                    <a:pt x="95097" y="57302"/>
                  </a:lnTo>
                  <a:close/>
                </a:path>
              </a:pathLst>
            </a:custGeom>
            <a:solidFill>
              <a:srgbClr val="F09D18"/>
            </a:solidFill>
          </p:spPr>
          <p:txBody>
            <a:bodyPr wrap="square" lIns="0" tIns="0" rIns="0" bIns="0" rtlCol="0"/>
            <a:lstStyle/>
            <a:p>
              <a:endParaRPr/>
            </a:p>
          </p:txBody>
        </p:sp>
      </p:grpSp>
      <p:sp>
        <p:nvSpPr>
          <p:cNvPr id="70" name="object 70"/>
          <p:cNvSpPr txBox="1"/>
          <p:nvPr/>
        </p:nvSpPr>
        <p:spPr>
          <a:xfrm>
            <a:off x="8454521" y="3195197"/>
            <a:ext cx="1223010" cy="841375"/>
          </a:xfrm>
          <a:prstGeom prst="rect">
            <a:avLst/>
          </a:prstGeom>
        </p:spPr>
        <p:txBody>
          <a:bodyPr vert="horz" wrap="square" lIns="0" tIns="12700" rIns="0" bIns="0" rtlCol="0">
            <a:spAutoFit/>
          </a:bodyPr>
          <a:lstStyle/>
          <a:p>
            <a:pPr marL="186055" marR="540385">
              <a:lnSpc>
                <a:spcPct val="112000"/>
              </a:lnSpc>
              <a:spcBef>
                <a:spcPts val="100"/>
              </a:spcBef>
            </a:pPr>
            <a:r>
              <a:rPr sz="650" spc="-25" dirty="0">
                <a:solidFill>
                  <a:srgbClr val="404040"/>
                </a:solidFill>
                <a:latin typeface="微软雅黑" panose="020B0503020204020204" charset="-122"/>
                <a:cs typeface="微软雅黑" panose="020B0503020204020204" charset="-122"/>
              </a:rPr>
              <a:t>未在中国获批已在中国获批</a:t>
            </a:r>
            <a:endParaRPr sz="650">
              <a:latin typeface="微软雅黑" panose="020B0503020204020204" charset="-122"/>
              <a:cs typeface="微软雅黑" panose="020B0503020204020204" charset="-122"/>
            </a:endParaRPr>
          </a:p>
          <a:p>
            <a:pPr marL="12700">
              <a:lnSpc>
                <a:spcPts val="775"/>
              </a:lnSpc>
              <a:spcBef>
                <a:spcPts val="60"/>
              </a:spcBef>
            </a:pPr>
            <a:r>
              <a:rPr sz="650" spc="-10" dirty="0">
                <a:solidFill>
                  <a:srgbClr val="404040"/>
                </a:solidFill>
                <a:latin typeface="Arial MT"/>
                <a:cs typeface="Arial MT"/>
              </a:rPr>
              <a:t>BLI</a:t>
            </a:r>
            <a:r>
              <a:rPr sz="650" spc="-10" dirty="0">
                <a:solidFill>
                  <a:srgbClr val="404040"/>
                </a:solidFill>
                <a:latin typeface="微软雅黑" panose="020B0503020204020204" charset="-122"/>
                <a:cs typeface="微软雅黑" panose="020B0503020204020204" charset="-122"/>
              </a:rPr>
              <a:t>：β</a:t>
            </a:r>
            <a:r>
              <a:rPr sz="650" spc="-30" dirty="0">
                <a:solidFill>
                  <a:srgbClr val="404040"/>
                </a:solidFill>
                <a:latin typeface="微软雅黑" panose="020B0503020204020204" charset="-122"/>
                <a:cs typeface="微软雅黑" panose="020B0503020204020204" charset="-122"/>
              </a:rPr>
              <a:t>内酰胺酶抑制剂</a:t>
            </a:r>
            <a:endParaRPr sz="650">
              <a:latin typeface="微软雅黑" panose="020B0503020204020204" charset="-122"/>
              <a:cs typeface="微软雅黑" panose="020B0503020204020204" charset="-122"/>
            </a:endParaRPr>
          </a:p>
          <a:p>
            <a:pPr marL="12700" marR="5080">
              <a:lnSpc>
                <a:spcPts val="770"/>
              </a:lnSpc>
              <a:spcBef>
                <a:spcPts val="25"/>
              </a:spcBef>
            </a:pPr>
            <a:r>
              <a:rPr sz="650" spc="-20" dirty="0">
                <a:solidFill>
                  <a:srgbClr val="404040"/>
                </a:solidFill>
                <a:latin typeface="Arial MT"/>
                <a:cs typeface="Arial MT"/>
              </a:rPr>
              <a:t>cSSTI</a:t>
            </a:r>
            <a:r>
              <a:rPr sz="650" spc="-25" dirty="0">
                <a:solidFill>
                  <a:srgbClr val="404040"/>
                </a:solidFill>
                <a:latin typeface="微软雅黑" panose="020B0503020204020204" charset="-122"/>
                <a:cs typeface="微软雅黑" panose="020B0503020204020204" charset="-122"/>
              </a:rPr>
              <a:t>：复杂性皮肤和软组织感染</a:t>
            </a:r>
            <a:r>
              <a:rPr sz="650" spc="500" dirty="0">
                <a:solidFill>
                  <a:srgbClr val="404040"/>
                </a:solidFill>
                <a:latin typeface="微软雅黑" panose="020B0503020204020204" charset="-122"/>
                <a:cs typeface="微软雅黑" panose="020B0503020204020204" charset="-122"/>
              </a:rPr>
              <a:t> </a:t>
            </a:r>
            <a:r>
              <a:rPr sz="650" spc="-10" dirty="0">
                <a:solidFill>
                  <a:srgbClr val="404040"/>
                </a:solidFill>
                <a:latin typeface="Arial MT"/>
                <a:cs typeface="Arial MT"/>
              </a:rPr>
              <a:t>cIAI</a:t>
            </a:r>
            <a:r>
              <a:rPr sz="650" spc="-25" dirty="0">
                <a:solidFill>
                  <a:srgbClr val="404040"/>
                </a:solidFill>
                <a:latin typeface="微软雅黑" panose="020B0503020204020204" charset="-122"/>
                <a:cs typeface="微软雅黑" panose="020B0503020204020204" charset="-122"/>
              </a:rPr>
              <a:t>：复杂性腹腔感染</a:t>
            </a:r>
            <a:endParaRPr sz="650">
              <a:latin typeface="微软雅黑" panose="020B0503020204020204" charset="-122"/>
              <a:cs typeface="微软雅黑" panose="020B0503020204020204" charset="-122"/>
            </a:endParaRPr>
          </a:p>
          <a:p>
            <a:pPr marL="12700">
              <a:lnSpc>
                <a:spcPts val="735"/>
              </a:lnSpc>
            </a:pPr>
            <a:r>
              <a:rPr sz="650" spc="-20" dirty="0">
                <a:solidFill>
                  <a:srgbClr val="404040"/>
                </a:solidFill>
                <a:latin typeface="Arial MT"/>
                <a:cs typeface="Arial MT"/>
              </a:rPr>
              <a:t>cUTI</a:t>
            </a:r>
            <a:r>
              <a:rPr sz="650" spc="-25" dirty="0">
                <a:solidFill>
                  <a:srgbClr val="404040"/>
                </a:solidFill>
                <a:latin typeface="微软雅黑" panose="020B0503020204020204" charset="-122"/>
                <a:cs typeface="微软雅黑" panose="020B0503020204020204" charset="-122"/>
              </a:rPr>
              <a:t>：复杂性尿路感染</a:t>
            </a:r>
            <a:endParaRPr sz="650">
              <a:latin typeface="微软雅黑" panose="020B0503020204020204" charset="-122"/>
              <a:cs typeface="微软雅黑" panose="020B0503020204020204" charset="-122"/>
            </a:endParaRPr>
          </a:p>
          <a:p>
            <a:pPr marL="12700" marR="307340">
              <a:lnSpc>
                <a:spcPts val="770"/>
              </a:lnSpc>
              <a:spcBef>
                <a:spcPts val="30"/>
              </a:spcBef>
            </a:pPr>
            <a:r>
              <a:rPr sz="650" spc="-20" dirty="0">
                <a:solidFill>
                  <a:srgbClr val="404040"/>
                </a:solidFill>
                <a:latin typeface="Arial MT"/>
                <a:cs typeface="Arial MT"/>
              </a:rPr>
              <a:t>HAP</a:t>
            </a:r>
            <a:r>
              <a:rPr sz="650" spc="-25" dirty="0">
                <a:solidFill>
                  <a:srgbClr val="404040"/>
                </a:solidFill>
                <a:latin typeface="微软雅黑" panose="020B0503020204020204" charset="-122"/>
                <a:cs typeface="微软雅黑" panose="020B0503020204020204" charset="-122"/>
              </a:rPr>
              <a:t>：医院获得性肺炎</a:t>
            </a:r>
            <a:r>
              <a:rPr sz="650" spc="500" dirty="0">
                <a:solidFill>
                  <a:srgbClr val="404040"/>
                </a:solidFill>
                <a:latin typeface="微软雅黑" panose="020B0503020204020204" charset="-122"/>
                <a:cs typeface="微软雅黑" panose="020B0503020204020204" charset="-122"/>
              </a:rPr>
              <a:t> </a:t>
            </a:r>
            <a:r>
              <a:rPr sz="650" spc="-20" dirty="0">
                <a:solidFill>
                  <a:srgbClr val="404040"/>
                </a:solidFill>
                <a:latin typeface="Arial MT"/>
                <a:cs typeface="Arial MT"/>
              </a:rPr>
              <a:t>VAP</a:t>
            </a:r>
            <a:r>
              <a:rPr sz="650" spc="-25" dirty="0">
                <a:solidFill>
                  <a:srgbClr val="404040"/>
                </a:solidFill>
                <a:latin typeface="微软雅黑" panose="020B0503020204020204" charset="-122"/>
                <a:cs typeface="微软雅黑" panose="020B0503020204020204" charset="-122"/>
              </a:rPr>
              <a:t>：呼吸机相关性肺炎</a:t>
            </a:r>
            <a:endParaRPr sz="650">
              <a:latin typeface="微软雅黑" panose="020B0503020204020204" charset="-122"/>
              <a:cs typeface="微软雅黑" panose="020B0503020204020204" charset="-122"/>
            </a:endParaRPr>
          </a:p>
        </p:txBody>
      </p:sp>
      <p:sp>
        <p:nvSpPr>
          <p:cNvPr id="72" name="object 72"/>
          <p:cNvSpPr/>
          <p:nvPr/>
        </p:nvSpPr>
        <p:spPr>
          <a:xfrm>
            <a:off x="114300" y="126365"/>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75" name="object 75"/>
          <p:cNvSpPr txBox="1"/>
          <p:nvPr/>
        </p:nvSpPr>
        <p:spPr>
          <a:xfrm>
            <a:off x="3716390" y="3003018"/>
            <a:ext cx="826769" cy="277495"/>
          </a:xfrm>
          <a:prstGeom prst="rect">
            <a:avLst/>
          </a:prstGeom>
        </p:spPr>
        <p:txBody>
          <a:bodyPr vert="horz" wrap="square" lIns="0" tIns="41910" rIns="0" bIns="0" rtlCol="0">
            <a:spAutoFit/>
          </a:bodyPr>
          <a:lstStyle/>
          <a:p>
            <a:pPr marL="38100">
              <a:lnSpc>
                <a:spcPct val="100000"/>
              </a:lnSpc>
              <a:spcBef>
                <a:spcPts val="330"/>
              </a:spcBef>
            </a:pPr>
            <a:r>
              <a:rPr sz="850" spc="-20" dirty="0">
                <a:latin typeface="微软雅黑" panose="020B0503020204020204" charset="-122"/>
                <a:cs typeface="微软雅黑" panose="020B0503020204020204" charset="-122"/>
              </a:rPr>
              <a:t>头孢菌素</a:t>
            </a:r>
            <a:r>
              <a:rPr sz="850" dirty="0">
                <a:latin typeface="Arial MT"/>
                <a:cs typeface="Arial MT"/>
              </a:rPr>
              <a:t>+BLI</a:t>
            </a:r>
            <a:r>
              <a:rPr sz="850" spc="204" dirty="0">
                <a:latin typeface="Arial MT"/>
                <a:cs typeface="Arial MT"/>
              </a:rPr>
              <a:t> </a:t>
            </a:r>
            <a:r>
              <a:rPr sz="900" spc="-75" baseline="-28000" dirty="0">
                <a:solidFill>
                  <a:srgbClr val="FF0000"/>
                </a:solidFill>
                <a:latin typeface="Arial MT"/>
                <a:cs typeface="Arial MT"/>
              </a:rPr>
              <a:t>2</a:t>
            </a:r>
            <a:endParaRPr sz="900" baseline="-28000">
              <a:latin typeface="Arial MT"/>
              <a:cs typeface="Arial MT"/>
            </a:endParaRPr>
          </a:p>
          <a:p>
            <a:pPr marL="38100">
              <a:lnSpc>
                <a:spcPct val="100000"/>
              </a:lnSpc>
              <a:spcBef>
                <a:spcPts val="160"/>
              </a:spcBef>
            </a:pPr>
            <a:endParaRPr sz="550">
              <a:latin typeface="Arial MT"/>
              <a:cs typeface="Arial MT"/>
            </a:endParaRPr>
          </a:p>
        </p:txBody>
      </p:sp>
      <p:sp>
        <p:nvSpPr>
          <p:cNvPr id="76" name="object 76"/>
          <p:cNvSpPr txBox="1"/>
          <p:nvPr/>
        </p:nvSpPr>
        <p:spPr>
          <a:xfrm>
            <a:off x="3321121" y="3776320"/>
            <a:ext cx="826769" cy="277495"/>
          </a:xfrm>
          <a:prstGeom prst="rect">
            <a:avLst/>
          </a:prstGeom>
        </p:spPr>
        <p:txBody>
          <a:bodyPr vert="horz" wrap="square" lIns="0" tIns="41910" rIns="0" bIns="0" rtlCol="0">
            <a:spAutoFit/>
          </a:bodyPr>
          <a:lstStyle/>
          <a:p>
            <a:pPr marL="38100">
              <a:lnSpc>
                <a:spcPct val="100000"/>
              </a:lnSpc>
              <a:spcBef>
                <a:spcPts val="330"/>
              </a:spcBef>
            </a:pPr>
            <a:r>
              <a:rPr sz="850" spc="25" dirty="0">
                <a:latin typeface="微软雅黑" panose="020B0503020204020204" charset="-122"/>
                <a:cs typeface="微软雅黑" panose="020B0503020204020204" charset="-122"/>
              </a:rPr>
              <a:t>甘氨酰环素类 </a:t>
            </a:r>
            <a:r>
              <a:rPr sz="900" spc="-75" baseline="-28000" dirty="0">
                <a:solidFill>
                  <a:srgbClr val="FF0000"/>
                </a:solidFill>
                <a:latin typeface="Arial MT"/>
                <a:cs typeface="Arial MT"/>
              </a:rPr>
              <a:t>3</a:t>
            </a:r>
            <a:endParaRPr sz="900" baseline="-28000">
              <a:latin typeface="Arial MT"/>
              <a:cs typeface="Arial MT"/>
            </a:endParaRPr>
          </a:p>
          <a:p>
            <a:pPr marL="38100">
              <a:lnSpc>
                <a:spcPct val="100000"/>
              </a:lnSpc>
              <a:spcBef>
                <a:spcPts val="160"/>
              </a:spcBef>
            </a:pPr>
            <a:endParaRPr sz="550">
              <a:latin typeface="Arial MT"/>
              <a:cs typeface="Arial MT"/>
            </a:endParaRPr>
          </a:p>
        </p:txBody>
      </p:sp>
      <p:sp>
        <p:nvSpPr>
          <p:cNvPr id="99" name="object 99"/>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4</a:t>
            </a:fld>
            <a:r>
              <a:rPr spc="-10" dirty="0"/>
              <a:t> </a:t>
            </a:r>
            <a:r>
              <a:rPr spc="-50" dirty="0"/>
              <a:t>-</a:t>
            </a:r>
          </a:p>
        </p:txBody>
      </p:sp>
      <p:sp>
        <p:nvSpPr>
          <p:cNvPr id="100" name="文本框 99"/>
          <p:cNvSpPr txBox="1"/>
          <p:nvPr/>
        </p:nvSpPr>
        <p:spPr>
          <a:xfrm>
            <a:off x="1012825" y="5342255"/>
            <a:ext cx="1016635" cy="168275"/>
          </a:xfrm>
          <a:prstGeom prst="rect">
            <a:avLst/>
          </a:prstGeom>
          <a:noFill/>
        </p:spPr>
        <p:txBody>
          <a:bodyPr wrap="none" rtlCol="0">
            <a:spAutoFit/>
          </a:bodyPr>
          <a:lstStyle/>
          <a:p>
            <a:r>
              <a:rPr lang="zh-CN" altLang="en-US" sz="500" b="1" u="none" strike="noStrike" kern="0" cap="none" spc="0" normalizeH="0">
                <a:ea typeface="宋体" panose="02010600030101010101" pitchFamily="2" charset="-122"/>
              </a:rPr>
              <a:t>以上信息均来自各产品说明书</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66182" y="3636023"/>
            <a:ext cx="3266501" cy="1295410"/>
          </a:xfrm>
          <a:prstGeom prst="rect">
            <a:avLst/>
          </a:prstGeom>
        </p:spPr>
      </p:pic>
      <p:sp>
        <p:nvSpPr>
          <p:cNvPr id="3" name="object 3"/>
          <p:cNvSpPr txBox="1">
            <a:spLocks noGrp="1"/>
          </p:cNvSpPr>
          <p:nvPr>
            <p:ph type="title"/>
          </p:nvPr>
        </p:nvSpPr>
        <p:spPr>
          <a:prstGeom prst="rect">
            <a:avLst/>
          </a:prstGeom>
        </p:spPr>
        <p:txBody>
          <a:bodyPr vert="horz" wrap="square" lIns="0" tIns="17145" rIns="0" bIns="0" rtlCol="0">
            <a:spAutoFit/>
          </a:bodyPr>
          <a:lstStyle/>
          <a:p>
            <a:pPr marL="45720">
              <a:lnSpc>
                <a:spcPct val="100000"/>
              </a:lnSpc>
              <a:spcBef>
                <a:spcPts val="135"/>
              </a:spcBef>
            </a:pPr>
            <a:r>
              <a:rPr dirty="0"/>
              <a:t>头孢洛扎</a:t>
            </a:r>
            <a:r>
              <a:rPr spc="-10" dirty="0">
                <a:latin typeface="Arial" panose="020B0604020202020204"/>
                <a:cs typeface="Arial" panose="020B0604020202020204"/>
              </a:rPr>
              <a:t>-</a:t>
            </a:r>
            <a:r>
              <a:rPr spc="30" dirty="0"/>
              <a:t>他唑巴坦 </a:t>
            </a:r>
            <a:r>
              <a:rPr spc="-10" dirty="0">
                <a:latin typeface="Arial" panose="020B0604020202020204"/>
                <a:cs typeface="Arial" panose="020B0604020202020204"/>
              </a:rPr>
              <a:t>(2014)</a:t>
            </a:r>
          </a:p>
        </p:txBody>
      </p:sp>
      <p:grpSp>
        <p:nvGrpSpPr>
          <p:cNvPr id="4" name="object 4"/>
          <p:cNvGrpSpPr/>
          <p:nvPr/>
        </p:nvGrpSpPr>
        <p:grpSpPr>
          <a:xfrm>
            <a:off x="893479" y="1142593"/>
            <a:ext cx="8148320" cy="1430020"/>
            <a:chOff x="893479" y="1142593"/>
            <a:chExt cx="8148320" cy="1430020"/>
          </a:xfrm>
        </p:grpSpPr>
        <p:pic>
          <p:nvPicPr>
            <p:cNvPr id="5" name="object 5"/>
            <p:cNvPicPr/>
            <p:nvPr/>
          </p:nvPicPr>
          <p:blipFill>
            <a:blip r:embed="rId3" cstate="print"/>
            <a:stretch>
              <a:fillRect/>
            </a:stretch>
          </p:blipFill>
          <p:spPr>
            <a:xfrm>
              <a:off x="893479" y="1149908"/>
              <a:ext cx="3414153" cy="173126"/>
            </a:xfrm>
            <a:prstGeom prst="rect">
              <a:avLst/>
            </a:prstGeom>
          </p:spPr>
        </p:pic>
        <p:pic>
          <p:nvPicPr>
            <p:cNvPr id="6" name="object 6"/>
            <p:cNvPicPr/>
            <p:nvPr/>
          </p:nvPicPr>
          <p:blipFill>
            <a:blip r:embed="rId4" cstate="print"/>
            <a:stretch>
              <a:fillRect/>
            </a:stretch>
          </p:blipFill>
          <p:spPr>
            <a:xfrm>
              <a:off x="4554773" y="1881428"/>
              <a:ext cx="609943" cy="690879"/>
            </a:xfrm>
            <a:prstGeom prst="rect">
              <a:avLst/>
            </a:prstGeom>
          </p:spPr>
        </p:pic>
        <p:pic>
          <p:nvPicPr>
            <p:cNvPr id="7" name="object 7"/>
            <p:cNvPicPr/>
            <p:nvPr/>
          </p:nvPicPr>
          <p:blipFill>
            <a:blip r:embed="rId3" cstate="print"/>
            <a:stretch>
              <a:fillRect/>
            </a:stretch>
          </p:blipFill>
          <p:spPr>
            <a:xfrm>
              <a:off x="5627633" y="1142593"/>
              <a:ext cx="3414153" cy="173126"/>
            </a:xfrm>
            <a:prstGeom prst="rect">
              <a:avLst/>
            </a:prstGeom>
          </p:spPr>
        </p:pic>
      </p:grpSp>
      <p:sp>
        <p:nvSpPr>
          <p:cNvPr id="8" name="object 8"/>
          <p:cNvSpPr txBox="1"/>
          <p:nvPr/>
        </p:nvSpPr>
        <p:spPr>
          <a:xfrm>
            <a:off x="872611" y="941608"/>
            <a:ext cx="3342640" cy="2459355"/>
          </a:xfrm>
          <a:prstGeom prst="rect">
            <a:avLst/>
          </a:prstGeom>
        </p:spPr>
        <p:txBody>
          <a:bodyPr vert="horz" wrap="square" lIns="0" tIns="11430" rIns="0" bIns="0" rtlCol="0">
            <a:spAutoFit/>
          </a:bodyPr>
          <a:lstStyle/>
          <a:p>
            <a:pPr marL="1348740">
              <a:lnSpc>
                <a:spcPct val="100000"/>
              </a:lnSpc>
              <a:spcBef>
                <a:spcPts val="90"/>
              </a:spcBef>
            </a:pPr>
            <a:r>
              <a:rPr sz="1450" b="1" spc="5" dirty="0">
                <a:solidFill>
                  <a:srgbClr val="224D73"/>
                </a:solidFill>
                <a:latin typeface="微软雅黑" panose="020B0503020204020204" charset="-122"/>
                <a:cs typeface="微软雅黑" panose="020B0503020204020204" charset="-122"/>
              </a:rPr>
              <a:t>头孢洛扎 </a:t>
            </a:r>
            <a:r>
              <a:rPr sz="1450" b="1" dirty="0">
                <a:solidFill>
                  <a:srgbClr val="224D73"/>
                </a:solidFill>
                <a:latin typeface="Segoe Print" panose="02000600000000000000"/>
                <a:cs typeface="Segoe Print" panose="02000600000000000000"/>
              </a:rPr>
              <a:t>1.0</a:t>
            </a:r>
            <a:r>
              <a:rPr sz="1450" b="1" spc="-30" dirty="0">
                <a:solidFill>
                  <a:srgbClr val="224D73"/>
                </a:solidFill>
                <a:latin typeface="Segoe Print" panose="02000600000000000000"/>
                <a:cs typeface="Segoe Print" panose="02000600000000000000"/>
              </a:rPr>
              <a:t> </a:t>
            </a:r>
            <a:r>
              <a:rPr sz="1450" b="1" spc="-50" dirty="0">
                <a:solidFill>
                  <a:srgbClr val="224D73"/>
                </a:solidFill>
                <a:latin typeface="Segoe Print" panose="02000600000000000000"/>
                <a:cs typeface="Segoe Print" panose="02000600000000000000"/>
              </a:rPr>
              <a:t>g</a:t>
            </a:r>
            <a:endParaRPr sz="1450">
              <a:latin typeface="Segoe Print" panose="02000600000000000000"/>
              <a:cs typeface="Segoe Print" panose="02000600000000000000"/>
            </a:endParaRPr>
          </a:p>
          <a:p>
            <a:pPr marL="241300" marR="5080" indent="-228600">
              <a:lnSpc>
                <a:spcPct val="154000"/>
              </a:lnSpc>
              <a:spcBef>
                <a:spcPts val="1300"/>
              </a:spcBef>
              <a:buFont typeface="Arial MT"/>
              <a:buChar char="•"/>
              <a:tabLst>
                <a:tab pos="241300" algn="l"/>
              </a:tabLst>
            </a:pPr>
            <a:r>
              <a:rPr sz="1250" spc="-5" dirty="0">
                <a:solidFill>
                  <a:srgbClr val="224D73"/>
                </a:solidFill>
                <a:latin typeface="微软雅黑" panose="020B0503020204020204" charset="-122"/>
                <a:cs typeface="微软雅黑" panose="020B0503020204020204" charset="-122"/>
              </a:rPr>
              <a:t>第五代头孢菌素类，通过与青霉素结合蛋白</a:t>
            </a:r>
            <a:r>
              <a:rPr sz="1250" spc="-50" dirty="0">
                <a:solidFill>
                  <a:srgbClr val="224D73"/>
                </a:solidFill>
                <a:latin typeface="微软雅黑" panose="020B0503020204020204" charset="-122"/>
                <a:cs typeface="微软雅黑" panose="020B0503020204020204" charset="-122"/>
              </a:rPr>
              <a:t> </a:t>
            </a:r>
            <a:r>
              <a:rPr sz="1250" dirty="0">
                <a:solidFill>
                  <a:srgbClr val="224D73"/>
                </a:solidFill>
                <a:latin typeface="Segoe Print" panose="02000600000000000000"/>
                <a:cs typeface="Segoe Print" panose="02000600000000000000"/>
              </a:rPr>
              <a:t>(PBP</a:t>
            </a:r>
            <a:r>
              <a:rPr sz="1250" spc="204" dirty="0">
                <a:solidFill>
                  <a:srgbClr val="224D73"/>
                </a:solidFill>
                <a:latin typeface="Segoe Print" panose="02000600000000000000"/>
                <a:cs typeface="Segoe Print" panose="02000600000000000000"/>
              </a:rPr>
              <a:t>) </a:t>
            </a:r>
            <a:r>
              <a:rPr sz="1250" spc="-5" dirty="0">
                <a:solidFill>
                  <a:srgbClr val="224D73"/>
                </a:solidFill>
                <a:latin typeface="微软雅黑" panose="020B0503020204020204" charset="-122"/>
                <a:cs typeface="微软雅黑" panose="020B0503020204020204" charset="-122"/>
              </a:rPr>
              <a:t>结合来抑制细菌细胞壁的合成从而</a:t>
            </a:r>
            <a:r>
              <a:rPr sz="1250" spc="-10" dirty="0">
                <a:solidFill>
                  <a:srgbClr val="224D73"/>
                </a:solidFill>
                <a:latin typeface="微软雅黑" panose="020B0503020204020204" charset="-122"/>
                <a:cs typeface="微软雅黑" panose="020B0503020204020204" charset="-122"/>
              </a:rPr>
              <a:t>实现杀菌作用</a:t>
            </a:r>
            <a:endParaRPr sz="1250">
              <a:latin typeface="微软雅黑" panose="020B0503020204020204" charset="-122"/>
              <a:cs typeface="微软雅黑" panose="020B0503020204020204" charset="-122"/>
            </a:endParaRPr>
          </a:p>
          <a:p>
            <a:pPr marL="241300" marR="483235" indent="-228600" algn="just">
              <a:lnSpc>
                <a:spcPct val="154000"/>
              </a:lnSpc>
              <a:buFont typeface="Arial MT"/>
              <a:buChar char="•"/>
              <a:tabLst>
                <a:tab pos="241300" algn="l"/>
              </a:tabLst>
            </a:pPr>
            <a:r>
              <a:rPr sz="1250" dirty="0">
                <a:solidFill>
                  <a:srgbClr val="224D73"/>
                </a:solidFill>
                <a:latin typeface="微软雅黑" panose="020B0503020204020204" charset="-122"/>
                <a:cs typeface="微软雅黑" panose="020B0503020204020204" charset="-122"/>
              </a:rPr>
              <a:t>主要是铜绿假单胞菌（</a:t>
            </a:r>
            <a:r>
              <a:rPr sz="1250" spc="240" dirty="0">
                <a:solidFill>
                  <a:srgbClr val="224D73"/>
                </a:solidFill>
                <a:latin typeface="微软雅黑" panose="020B0503020204020204" charset="-122"/>
                <a:cs typeface="微软雅黑" panose="020B0503020204020204" charset="-122"/>
              </a:rPr>
              <a:t>如 </a:t>
            </a:r>
            <a:r>
              <a:rPr sz="1250" dirty="0">
                <a:solidFill>
                  <a:srgbClr val="224D73"/>
                </a:solidFill>
                <a:latin typeface="Segoe Print" panose="02000600000000000000"/>
                <a:cs typeface="Segoe Print" panose="02000600000000000000"/>
              </a:rPr>
              <a:t>PBP1b</a:t>
            </a:r>
            <a:r>
              <a:rPr sz="1250" spc="-50" dirty="0">
                <a:solidFill>
                  <a:srgbClr val="224D73"/>
                </a:solidFill>
                <a:latin typeface="微软雅黑" panose="020B0503020204020204" charset="-122"/>
                <a:cs typeface="微软雅黑" panose="020B0503020204020204" charset="-122"/>
              </a:rPr>
              <a:t>、 </a:t>
            </a:r>
            <a:r>
              <a:rPr sz="1250" dirty="0">
                <a:solidFill>
                  <a:srgbClr val="224D73"/>
                </a:solidFill>
                <a:latin typeface="Segoe Print" panose="02000600000000000000"/>
                <a:cs typeface="Segoe Print" panose="02000600000000000000"/>
              </a:rPr>
              <a:t>PBP1c</a:t>
            </a:r>
            <a:r>
              <a:rPr sz="1250" spc="165" dirty="0">
                <a:solidFill>
                  <a:srgbClr val="224D73"/>
                </a:solidFill>
                <a:latin typeface="Segoe Print" panose="02000600000000000000"/>
                <a:cs typeface="Segoe Print" panose="02000600000000000000"/>
              </a:rPr>
              <a:t> </a:t>
            </a:r>
            <a:r>
              <a:rPr sz="1250" spc="150" dirty="0">
                <a:solidFill>
                  <a:srgbClr val="224D73"/>
                </a:solidFill>
                <a:latin typeface="微软雅黑" panose="020B0503020204020204" charset="-122"/>
                <a:cs typeface="微软雅黑" panose="020B0503020204020204" charset="-122"/>
              </a:rPr>
              <a:t>和 </a:t>
            </a:r>
            <a:r>
              <a:rPr sz="1250" dirty="0">
                <a:solidFill>
                  <a:srgbClr val="224D73"/>
                </a:solidFill>
                <a:latin typeface="Segoe Print" panose="02000600000000000000"/>
                <a:cs typeface="Segoe Print" panose="02000600000000000000"/>
              </a:rPr>
              <a:t>PBP3</a:t>
            </a:r>
            <a:r>
              <a:rPr sz="1250" dirty="0">
                <a:solidFill>
                  <a:srgbClr val="224D73"/>
                </a:solidFill>
                <a:latin typeface="微软雅黑" panose="020B0503020204020204" charset="-122"/>
                <a:cs typeface="微软雅黑" panose="020B0503020204020204" charset="-122"/>
              </a:rPr>
              <a:t>）和大肠杆菌（</a:t>
            </a:r>
            <a:r>
              <a:rPr sz="1250" spc="-50" dirty="0">
                <a:solidFill>
                  <a:srgbClr val="224D73"/>
                </a:solidFill>
                <a:latin typeface="微软雅黑" panose="020B0503020204020204" charset="-122"/>
                <a:cs typeface="微软雅黑" panose="020B0503020204020204" charset="-122"/>
              </a:rPr>
              <a:t>如 </a:t>
            </a:r>
            <a:r>
              <a:rPr sz="1250" dirty="0">
                <a:solidFill>
                  <a:srgbClr val="224D73"/>
                </a:solidFill>
                <a:latin typeface="Segoe Print" panose="02000600000000000000"/>
                <a:cs typeface="Segoe Print" panose="02000600000000000000"/>
              </a:rPr>
              <a:t>PBP3</a:t>
            </a:r>
            <a:r>
              <a:rPr sz="1250" dirty="0">
                <a:solidFill>
                  <a:srgbClr val="224D73"/>
                </a:solidFill>
                <a:latin typeface="微软雅黑" panose="020B0503020204020204" charset="-122"/>
                <a:cs typeface="微软雅黑" panose="020B0503020204020204" charset="-122"/>
              </a:rPr>
              <a:t>）</a:t>
            </a:r>
            <a:r>
              <a:rPr sz="1250" spc="125" dirty="0">
                <a:solidFill>
                  <a:srgbClr val="224D73"/>
                </a:solidFill>
                <a:latin typeface="微软雅黑" panose="020B0503020204020204" charset="-122"/>
                <a:cs typeface="微软雅黑" panose="020B0503020204020204" charset="-122"/>
              </a:rPr>
              <a:t>的 </a:t>
            </a:r>
            <a:r>
              <a:rPr sz="1250" dirty="0">
                <a:solidFill>
                  <a:srgbClr val="224D73"/>
                </a:solidFill>
                <a:latin typeface="Segoe Print" panose="02000600000000000000"/>
                <a:cs typeface="Segoe Print" panose="02000600000000000000"/>
              </a:rPr>
              <a:t>PBP</a:t>
            </a:r>
            <a:r>
              <a:rPr sz="1250" spc="120" dirty="0">
                <a:solidFill>
                  <a:srgbClr val="224D73"/>
                </a:solidFill>
                <a:latin typeface="Segoe Print" panose="02000600000000000000"/>
                <a:cs typeface="Segoe Print" panose="02000600000000000000"/>
              </a:rPr>
              <a:t> </a:t>
            </a:r>
            <a:r>
              <a:rPr sz="1250" spc="-15" dirty="0">
                <a:solidFill>
                  <a:srgbClr val="224D73"/>
                </a:solidFill>
                <a:latin typeface="微软雅黑" panose="020B0503020204020204" charset="-122"/>
                <a:cs typeface="微软雅黑" panose="020B0503020204020204" charset="-122"/>
              </a:rPr>
              <a:t>抑制剂。</a:t>
            </a:r>
            <a:endParaRPr sz="1250">
              <a:latin typeface="微软雅黑" panose="020B0503020204020204" charset="-122"/>
              <a:cs typeface="微软雅黑" panose="020B0503020204020204" charset="-122"/>
            </a:endParaRPr>
          </a:p>
          <a:p>
            <a:pPr marL="240665" indent="-227965">
              <a:lnSpc>
                <a:spcPct val="100000"/>
              </a:lnSpc>
              <a:spcBef>
                <a:spcPts val="800"/>
              </a:spcBef>
              <a:buFont typeface="Arial MT"/>
              <a:buChar char="•"/>
              <a:tabLst>
                <a:tab pos="240665" algn="l"/>
              </a:tabLst>
            </a:pPr>
            <a:r>
              <a:rPr sz="1250" dirty="0">
                <a:solidFill>
                  <a:srgbClr val="224D73"/>
                </a:solidFill>
                <a:latin typeface="微软雅黑" panose="020B0503020204020204" charset="-122"/>
                <a:cs typeface="微软雅黑" panose="020B0503020204020204" charset="-122"/>
              </a:rPr>
              <a:t>对革兰阳肝菌（如厌氧杆菌和球菌）</a:t>
            </a:r>
            <a:r>
              <a:rPr sz="1250" spc="-20" dirty="0">
                <a:solidFill>
                  <a:srgbClr val="224D73"/>
                </a:solidFill>
                <a:latin typeface="微软雅黑" panose="020B0503020204020204" charset="-122"/>
                <a:cs typeface="微软雅黑" panose="020B0503020204020204" charset="-122"/>
              </a:rPr>
              <a:t>活性低</a:t>
            </a:r>
            <a:endParaRPr sz="1250">
              <a:latin typeface="微软雅黑" panose="020B0503020204020204" charset="-122"/>
              <a:cs typeface="微软雅黑" panose="020B0503020204020204" charset="-122"/>
            </a:endParaRPr>
          </a:p>
        </p:txBody>
      </p:sp>
      <p:sp>
        <p:nvSpPr>
          <p:cNvPr id="9" name="object 9"/>
          <p:cNvSpPr txBox="1"/>
          <p:nvPr/>
        </p:nvSpPr>
        <p:spPr>
          <a:xfrm>
            <a:off x="5429483" y="953241"/>
            <a:ext cx="4082415" cy="3542665"/>
          </a:xfrm>
          <a:prstGeom prst="rect">
            <a:avLst/>
          </a:prstGeom>
        </p:spPr>
        <p:txBody>
          <a:bodyPr vert="horz" wrap="square" lIns="0" tIns="11430" rIns="0" bIns="0" rtlCol="0">
            <a:spAutoFit/>
          </a:bodyPr>
          <a:lstStyle/>
          <a:p>
            <a:pPr marL="1509395" algn="just">
              <a:lnSpc>
                <a:spcPct val="100000"/>
              </a:lnSpc>
              <a:spcBef>
                <a:spcPts val="90"/>
              </a:spcBef>
            </a:pPr>
            <a:r>
              <a:rPr sz="1450" b="1" spc="35" dirty="0">
                <a:solidFill>
                  <a:srgbClr val="224D73"/>
                </a:solidFill>
                <a:latin typeface="微软雅黑" panose="020B0503020204020204" charset="-122"/>
                <a:cs typeface="微软雅黑" panose="020B0503020204020204" charset="-122"/>
              </a:rPr>
              <a:t>他唑巴坦  </a:t>
            </a:r>
            <a:r>
              <a:rPr sz="1450" b="1" spc="-20" dirty="0">
                <a:solidFill>
                  <a:srgbClr val="224D73"/>
                </a:solidFill>
                <a:latin typeface="Segoe Print" panose="02000600000000000000"/>
                <a:cs typeface="Segoe Print" panose="02000600000000000000"/>
              </a:rPr>
              <a:t>0.5g</a:t>
            </a:r>
            <a:endParaRPr sz="1450">
              <a:latin typeface="Segoe Print" panose="02000600000000000000"/>
              <a:cs typeface="Segoe Print" panose="02000600000000000000"/>
            </a:endParaRPr>
          </a:p>
          <a:p>
            <a:pPr marL="241300" marR="60325" indent="-228600" algn="just">
              <a:lnSpc>
                <a:spcPct val="154000"/>
              </a:lnSpc>
              <a:spcBef>
                <a:spcPts val="610"/>
              </a:spcBef>
              <a:buFont typeface="Arial MT"/>
              <a:buChar char="•"/>
              <a:tabLst>
                <a:tab pos="241300" algn="l"/>
              </a:tabLst>
            </a:pPr>
            <a:r>
              <a:rPr sz="1250" dirty="0">
                <a:solidFill>
                  <a:srgbClr val="224D73"/>
                </a:solidFill>
                <a:latin typeface="微软雅黑" panose="020B0503020204020204" charset="-122"/>
                <a:cs typeface="微软雅黑" panose="020B0503020204020204" charset="-122"/>
              </a:rPr>
              <a:t>β</a:t>
            </a:r>
            <a:r>
              <a:rPr sz="1250" dirty="0">
                <a:solidFill>
                  <a:srgbClr val="224D73"/>
                </a:solidFill>
                <a:latin typeface="Arial MT"/>
                <a:cs typeface="Arial MT"/>
              </a:rPr>
              <a:t>-</a:t>
            </a:r>
            <a:r>
              <a:rPr sz="1250" dirty="0">
                <a:solidFill>
                  <a:srgbClr val="224D73"/>
                </a:solidFill>
                <a:latin typeface="微软雅黑" panose="020B0503020204020204" charset="-122"/>
                <a:cs typeface="微软雅黑" panose="020B0503020204020204" charset="-122"/>
              </a:rPr>
              <a:t>内酰胺酶（例如某些青霉素酶和头孢菌素酶）</a:t>
            </a:r>
            <a:r>
              <a:rPr sz="1250" spc="-25" dirty="0">
                <a:solidFill>
                  <a:srgbClr val="224D73"/>
                </a:solidFill>
                <a:latin typeface="微软雅黑" panose="020B0503020204020204" charset="-122"/>
                <a:cs typeface="微软雅黑" panose="020B0503020204020204" charset="-122"/>
              </a:rPr>
              <a:t>的不</a:t>
            </a:r>
            <a:r>
              <a:rPr sz="1250" dirty="0">
                <a:solidFill>
                  <a:srgbClr val="224D73"/>
                </a:solidFill>
                <a:latin typeface="微软雅黑" panose="020B0503020204020204" charset="-122"/>
                <a:cs typeface="微软雅黑" panose="020B0503020204020204" charset="-122"/>
              </a:rPr>
              <a:t>可逆抑制剂，并与一些染色体和质粒介导的细菌 β</a:t>
            </a:r>
            <a:r>
              <a:rPr sz="1250" dirty="0">
                <a:solidFill>
                  <a:srgbClr val="224D73"/>
                </a:solidFill>
                <a:latin typeface="Arial MT"/>
                <a:cs typeface="Arial MT"/>
              </a:rPr>
              <a:t>-</a:t>
            </a:r>
            <a:r>
              <a:rPr sz="1250" spc="-50" dirty="0">
                <a:solidFill>
                  <a:srgbClr val="224D73"/>
                </a:solidFill>
                <a:latin typeface="微软雅黑" panose="020B0503020204020204" charset="-122"/>
                <a:cs typeface="微软雅黑" panose="020B0503020204020204" charset="-122"/>
              </a:rPr>
              <a:t>内</a:t>
            </a:r>
            <a:r>
              <a:rPr sz="1250" spc="-10" dirty="0">
                <a:solidFill>
                  <a:srgbClr val="224D73"/>
                </a:solidFill>
                <a:latin typeface="微软雅黑" panose="020B0503020204020204" charset="-122"/>
                <a:cs typeface="微软雅黑" panose="020B0503020204020204" charset="-122"/>
              </a:rPr>
              <a:t>酰胺酶共价结合</a:t>
            </a:r>
            <a:endParaRPr sz="1250">
              <a:latin typeface="微软雅黑" panose="020B0503020204020204" charset="-122"/>
              <a:cs typeface="微软雅黑" panose="020B0503020204020204" charset="-122"/>
            </a:endParaRPr>
          </a:p>
          <a:p>
            <a:pPr marL="241935" indent="-229235" algn="just">
              <a:lnSpc>
                <a:spcPct val="100000"/>
              </a:lnSpc>
              <a:spcBef>
                <a:spcPts val="805"/>
              </a:spcBef>
              <a:buFont typeface="Arial MT"/>
              <a:buChar char="•"/>
              <a:tabLst>
                <a:tab pos="241935" algn="l"/>
              </a:tabLst>
            </a:pPr>
            <a:r>
              <a:rPr sz="1250" spc="-5" dirty="0">
                <a:solidFill>
                  <a:srgbClr val="224D73"/>
                </a:solidFill>
                <a:latin typeface="微软雅黑" panose="020B0503020204020204" charset="-122"/>
                <a:cs typeface="微软雅黑" panose="020B0503020204020204" charset="-122"/>
              </a:rPr>
              <a:t>青霉素结合蛋白的亲和力较低，本身不具抗菌活性</a:t>
            </a:r>
            <a:endParaRPr sz="1250">
              <a:latin typeface="微软雅黑" panose="020B0503020204020204" charset="-122"/>
              <a:cs typeface="微软雅黑" panose="020B0503020204020204" charset="-122"/>
            </a:endParaRPr>
          </a:p>
          <a:p>
            <a:pPr marL="241300" marR="105410" indent="-228600" algn="just">
              <a:lnSpc>
                <a:spcPct val="154000"/>
              </a:lnSpc>
              <a:buFont typeface="Arial MT"/>
              <a:buChar char="•"/>
              <a:tabLst>
                <a:tab pos="241300" algn="l"/>
              </a:tabLst>
            </a:pPr>
            <a:r>
              <a:rPr sz="1250" dirty="0">
                <a:solidFill>
                  <a:srgbClr val="224D73"/>
                </a:solidFill>
                <a:latin typeface="微软雅黑" panose="020B0503020204020204" charset="-122"/>
                <a:cs typeface="微软雅黑" panose="020B0503020204020204" charset="-122"/>
              </a:rPr>
              <a:t>有效抑制部分</a:t>
            </a:r>
            <a:r>
              <a:rPr sz="1250" dirty="0">
                <a:solidFill>
                  <a:srgbClr val="224D73"/>
                </a:solidFill>
                <a:latin typeface="Segoe Print" panose="02000600000000000000"/>
                <a:cs typeface="Segoe Print" panose="02000600000000000000"/>
              </a:rPr>
              <a:t>class A </a:t>
            </a:r>
            <a:r>
              <a:rPr sz="1250" dirty="0">
                <a:solidFill>
                  <a:srgbClr val="224D73"/>
                </a:solidFill>
                <a:latin typeface="微软雅黑" panose="020B0503020204020204" charset="-122"/>
                <a:cs typeface="微软雅黑" panose="020B0503020204020204" charset="-122"/>
              </a:rPr>
              <a:t>及产</a:t>
            </a:r>
            <a:r>
              <a:rPr sz="1250" dirty="0">
                <a:solidFill>
                  <a:srgbClr val="224D73"/>
                </a:solidFill>
                <a:latin typeface="Segoe Print" panose="02000600000000000000"/>
                <a:cs typeface="Segoe Print" panose="02000600000000000000"/>
              </a:rPr>
              <a:t>AmpC</a:t>
            </a:r>
            <a:r>
              <a:rPr sz="1250" dirty="0">
                <a:solidFill>
                  <a:srgbClr val="224D73"/>
                </a:solidFill>
                <a:latin typeface="微软雅黑" panose="020B0503020204020204" charset="-122"/>
                <a:cs typeface="微软雅黑" panose="020B0503020204020204" charset="-122"/>
              </a:rPr>
              <a:t>的</a:t>
            </a:r>
            <a:r>
              <a:rPr sz="1250" dirty="0">
                <a:solidFill>
                  <a:srgbClr val="224D73"/>
                </a:solidFill>
                <a:latin typeface="Segoe Print" panose="02000600000000000000"/>
                <a:cs typeface="Segoe Print" panose="02000600000000000000"/>
              </a:rPr>
              <a:t>class C </a:t>
            </a:r>
            <a:r>
              <a:rPr sz="1250" dirty="0">
                <a:solidFill>
                  <a:srgbClr val="224D73"/>
                </a:solidFill>
                <a:latin typeface="微软雅黑" panose="020B0503020204020204" charset="-122"/>
                <a:cs typeface="微软雅黑" panose="020B0503020204020204" charset="-122"/>
              </a:rPr>
              <a:t>的β</a:t>
            </a:r>
            <a:r>
              <a:rPr sz="1250" dirty="0">
                <a:solidFill>
                  <a:srgbClr val="224D73"/>
                </a:solidFill>
                <a:latin typeface="Segoe Print" panose="02000600000000000000"/>
                <a:cs typeface="Segoe Print" panose="02000600000000000000"/>
              </a:rPr>
              <a:t>-</a:t>
            </a:r>
            <a:r>
              <a:rPr sz="1250" spc="-50" dirty="0">
                <a:solidFill>
                  <a:srgbClr val="224D73"/>
                </a:solidFill>
                <a:latin typeface="微软雅黑" panose="020B0503020204020204" charset="-122"/>
                <a:cs typeface="微软雅黑" panose="020B0503020204020204" charset="-122"/>
              </a:rPr>
              <a:t>内</a:t>
            </a:r>
            <a:r>
              <a:rPr sz="1250" spc="-20" dirty="0">
                <a:solidFill>
                  <a:srgbClr val="224D73"/>
                </a:solidFill>
                <a:latin typeface="微软雅黑" panose="020B0503020204020204" charset="-122"/>
                <a:cs typeface="微软雅黑" panose="020B0503020204020204" charset="-122"/>
              </a:rPr>
              <a:t>酰胺酶</a:t>
            </a:r>
            <a:endParaRPr sz="1250">
              <a:latin typeface="微软雅黑" panose="020B0503020204020204" charset="-122"/>
              <a:cs typeface="微软雅黑" panose="020B0503020204020204" charset="-122"/>
            </a:endParaRPr>
          </a:p>
          <a:p>
            <a:pPr marL="241935" indent="-229235" algn="just">
              <a:lnSpc>
                <a:spcPct val="100000"/>
              </a:lnSpc>
              <a:spcBef>
                <a:spcPts val="800"/>
              </a:spcBef>
              <a:buFont typeface="Arial MT"/>
              <a:buChar char="•"/>
              <a:tabLst>
                <a:tab pos="241935" algn="l"/>
              </a:tabLst>
            </a:pPr>
            <a:r>
              <a:rPr sz="1250" dirty="0">
                <a:solidFill>
                  <a:srgbClr val="224D73"/>
                </a:solidFill>
                <a:latin typeface="微软雅黑" panose="020B0503020204020204" charset="-122"/>
                <a:cs typeface="微软雅黑" panose="020B0503020204020204" charset="-122"/>
              </a:rPr>
              <a:t>对</a:t>
            </a:r>
            <a:r>
              <a:rPr sz="1250" dirty="0">
                <a:solidFill>
                  <a:srgbClr val="224D73"/>
                </a:solidFill>
                <a:latin typeface="Segoe Print" panose="02000600000000000000"/>
                <a:cs typeface="Segoe Print" panose="02000600000000000000"/>
              </a:rPr>
              <a:t>AmpC</a:t>
            </a:r>
            <a:r>
              <a:rPr sz="1250" dirty="0">
                <a:solidFill>
                  <a:srgbClr val="224D73"/>
                </a:solidFill>
                <a:latin typeface="微软雅黑" panose="020B0503020204020204" charset="-122"/>
                <a:cs typeface="微软雅黑" panose="020B0503020204020204" charset="-122"/>
              </a:rPr>
              <a:t>酶（肠杆菌产），</a:t>
            </a:r>
            <a:r>
              <a:rPr sz="1250" spc="-10" dirty="0">
                <a:solidFill>
                  <a:srgbClr val="224D73"/>
                </a:solidFill>
                <a:latin typeface="微软雅黑" panose="020B0503020204020204" charset="-122"/>
                <a:cs typeface="微软雅黑" panose="020B0503020204020204" charset="-122"/>
              </a:rPr>
              <a:t>丝氨酸类碳青霉烯酶</a:t>
            </a:r>
            <a:endParaRPr sz="1250">
              <a:latin typeface="微软雅黑" panose="020B0503020204020204" charset="-122"/>
              <a:cs typeface="微软雅黑" panose="020B0503020204020204" charset="-122"/>
            </a:endParaRPr>
          </a:p>
          <a:p>
            <a:pPr marL="241300">
              <a:lnSpc>
                <a:spcPct val="100000"/>
              </a:lnSpc>
              <a:spcBef>
                <a:spcPts val="805"/>
              </a:spcBef>
            </a:pPr>
            <a:r>
              <a:rPr sz="1250" dirty="0">
                <a:solidFill>
                  <a:srgbClr val="224D73"/>
                </a:solidFill>
                <a:latin typeface="微软雅黑" panose="020B0503020204020204" charset="-122"/>
                <a:cs typeface="微软雅黑" panose="020B0503020204020204" charset="-122"/>
              </a:rPr>
              <a:t>（</a:t>
            </a:r>
            <a:r>
              <a:rPr sz="1250" dirty="0">
                <a:solidFill>
                  <a:srgbClr val="224D73"/>
                </a:solidFill>
                <a:latin typeface="Segoe Print" panose="02000600000000000000"/>
                <a:cs typeface="Segoe Print" panose="02000600000000000000"/>
              </a:rPr>
              <a:t>KPC</a:t>
            </a:r>
            <a:r>
              <a:rPr sz="1250" dirty="0">
                <a:solidFill>
                  <a:srgbClr val="224D73"/>
                </a:solidFill>
                <a:latin typeface="微软雅黑" panose="020B0503020204020204" charset="-122"/>
                <a:cs typeface="微软雅黑" panose="020B0503020204020204" charset="-122"/>
              </a:rPr>
              <a:t>），金属β</a:t>
            </a:r>
            <a:r>
              <a:rPr sz="1250" dirty="0">
                <a:solidFill>
                  <a:srgbClr val="224D73"/>
                </a:solidFill>
                <a:latin typeface="Segoe Print" panose="02000600000000000000"/>
                <a:cs typeface="Segoe Print" panose="02000600000000000000"/>
              </a:rPr>
              <a:t>-</a:t>
            </a:r>
            <a:r>
              <a:rPr sz="1250" dirty="0">
                <a:solidFill>
                  <a:srgbClr val="224D73"/>
                </a:solidFill>
                <a:latin typeface="微软雅黑" panose="020B0503020204020204" charset="-122"/>
                <a:cs typeface="微软雅黑" panose="020B0503020204020204" charset="-122"/>
              </a:rPr>
              <a:t>内酰胺酶（</a:t>
            </a:r>
            <a:r>
              <a:rPr sz="1250" dirty="0">
                <a:solidFill>
                  <a:srgbClr val="224D73"/>
                </a:solidFill>
                <a:latin typeface="Segoe Print" panose="02000600000000000000"/>
                <a:cs typeface="Segoe Print" panose="02000600000000000000"/>
              </a:rPr>
              <a:t>NDM</a:t>
            </a:r>
            <a:r>
              <a:rPr sz="1250" dirty="0">
                <a:solidFill>
                  <a:srgbClr val="224D73"/>
                </a:solidFill>
                <a:latin typeface="微软雅黑" panose="020B0503020204020204" charset="-122"/>
                <a:cs typeface="微软雅黑" panose="020B0503020204020204" charset="-122"/>
              </a:rPr>
              <a:t>），</a:t>
            </a:r>
            <a:r>
              <a:rPr sz="1250" dirty="0">
                <a:solidFill>
                  <a:srgbClr val="224D73"/>
                </a:solidFill>
                <a:latin typeface="Segoe Print" panose="02000600000000000000"/>
                <a:cs typeface="Segoe Print" panose="02000600000000000000"/>
              </a:rPr>
              <a:t>Ambler</a:t>
            </a:r>
            <a:r>
              <a:rPr sz="1250" spc="475" dirty="0">
                <a:solidFill>
                  <a:srgbClr val="224D73"/>
                </a:solidFill>
                <a:latin typeface="Segoe Print" panose="02000600000000000000"/>
                <a:cs typeface="Segoe Print" panose="02000600000000000000"/>
              </a:rPr>
              <a:t> </a:t>
            </a:r>
            <a:r>
              <a:rPr sz="1250" spc="-50" dirty="0">
                <a:solidFill>
                  <a:srgbClr val="224D73"/>
                </a:solidFill>
                <a:latin typeface="Segoe Print" panose="02000600000000000000"/>
                <a:cs typeface="Segoe Print" panose="02000600000000000000"/>
              </a:rPr>
              <a:t>D</a:t>
            </a:r>
            <a:endParaRPr sz="1250">
              <a:latin typeface="Segoe Print" panose="02000600000000000000"/>
              <a:cs typeface="Segoe Print" panose="02000600000000000000"/>
            </a:endParaRPr>
          </a:p>
          <a:p>
            <a:pPr marL="241300">
              <a:lnSpc>
                <a:spcPct val="100000"/>
              </a:lnSpc>
              <a:spcBef>
                <a:spcPts val="805"/>
              </a:spcBef>
            </a:pPr>
            <a:r>
              <a:rPr sz="1250" spc="80" dirty="0">
                <a:solidFill>
                  <a:srgbClr val="224D73"/>
                </a:solidFill>
                <a:latin typeface="微软雅黑" panose="020B0503020204020204" charset="-122"/>
                <a:cs typeface="微软雅黑" panose="020B0503020204020204" charset="-122"/>
              </a:rPr>
              <a:t>类  </a:t>
            </a:r>
            <a:r>
              <a:rPr sz="1250" dirty="0">
                <a:solidFill>
                  <a:srgbClr val="224D73"/>
                </a:solidFill>
                <a:latin typeface="微软雅黑" panose="020B0503020204020204" charset="-122"/>
                <a:cs typeface="微软雅黑" panose="020B0503020204020204" charset="-122"/>
              </a:rPr>
              <a:t>β</a:t>
            </a:r>
            <a:r>
              <a:rPr sz="1250" dirty="0">
                <a:solidFill>
                  <a:srgbClr val="224D73"/>
                </a:solidFill>
                <a:latin typeface="Segoe Print" panose="02000600000000000000"/>
                <a:cs typeface="Segoe Print" panose="02000600000000000000"/>
              </a:rPr>
              <a:t>-</a:t>
            </a:r>
            <a:r>
              <a:rPr sz="1250" dirty="0">
                <a:solidFill>
                  <a:srgbClr val="224D73"/>
                </a:solidFill>
                <a:latin typeface="微软雅黑" panose="020B0503020204020204" charset="-122"/>
                <a:cs typeface="微软雅黑" panose="020B0503020204020204" charset="-122"/>
              </a:rPr>
              <a:t>内酰胺酶（</a:t>
            </a:r>
            <a:r>
              <a:rPr sz="1250" dirty="0">
                <a:solidFill>
                  <a:srgbClr val="224D73"/>
                </a:solidFill>
                <a:latin typeface="Segoe Print" panose="02000600000000000000"/>
                <a:cs typeface="Segoe Print" panose="02000600000000000000"/>
              </a:rPr>
              <a:t>OXA</a:t>
            </a:r>
            <a:r>
              <a:rPr sz="1250" dirty="0">
                <a:solidFill>
                  <a:srgbClr val="224D73"/>
                </a:solidFill>
                <a:latin typeface="微软雅黑" panose="020B0503020204020204" charset="-122"/>
                <a:cs typeface="微软雅黑" panose="020B0503020204020204" charset="-122"/>
              </a:rPr>
              <a:t>）β</a:t>
            </a:r>
            <a:r>
              <a:rPr sz="1250" dirty="0">
                <a:solidFill>
                  <a:srgbClr val="224D73"/>
                </a:solidFill>
                <a:latin typeface="Segoe Print" panose="02000600000000000000"/>
                <a:cs typeface="Segoe Print" panose="02000600000000000000"/>
              </a:rPr>
              <a:t>-</a:t>
            </a:r>
            <a:r>
              <a:rPr sz="1250" spc="-10" dirty="0">
                <a:solidFill>
                  <a:srgbClr val="224D73"/>
                </a:solidFill>
                <a:latin typeface="微软雅黑" panose="020B0503020204020204" charset="-122"/>
                <a:cs typeface="微软雅黑" panose="020B0503020204020204" charset="-122"/>
              </a:rPr>
              <a:t>内酰胺酶无抑制作用</a:t>
            </a:r>
            <a:endParaRPr sz="1250">
              <a:latin typeface="微软雅黑" panose="020B0503020204020204" charset="-122"/>
              <a:cs typeface="微软雅黑" panose="020B0503020204020204" charset="-122"/>
            </a:endParaRPr>
          </a:p>
          <a:p>
            <a:pPr marL="241300" marR="5080" indent="-228600" algn="just">
              <a:lnSpc>
                <a:spcPct val="154000"/>
              </a:lnSpc>
              <a:buFont typeface="Arial MT"/>
              <a:buChar char="•"/>
              <a:tabLst>
                <a:tab pos="241300" algn="l"/>
              </a:tabLst>
            </a:pPr>
            <a:r>
              <a:rPr sz="1250" dirty="0">
                <a:solidFill>
                  <a:srgbClr val="224D73"/>
                </a:solidFill>
                <a:latin typeface="微软雅黑" panose="020B0503020204020204" charset="-122"/>
                <a:cs typeface="微软雅黑" panose="020B0503020204020204" charset="-122"/>
              </a:rPr>
              <a:t>联合使用可增强托孢洛扎对产</a:t>
            </a:r>
            <a:r>
              <a:rPr sz="1250" dirty="0">
                <a:solidFill>
                  <a:srgbClr val="224D73"/>
                </a:solidFill>
                <a:latin typeface="Arial MT"/>
                <a:cs typeface="Arial MT"/>
              </a:rPr>
              <a:t>ESBL</a:t>
            </a:r>
            <a:r>
              <a:rPr sz="1250" spc="-10" dirty="0">
                <a:solidFill>
                  <a:srgbClr val="224D73"/>
                </a:solidFill>
                <a:latin typeface="微软雅黑" panose="020B0503020204020204" charset="-122"/>
                <a:cs typeface="微软雅黑" panose="020B0503020204020204" charset="-122"/>
              </a:rPr>
              <a:t>菌株的抗菌效果和</a:t>
            </a:r>
            <a:r>
              <a:rPr sz="1250" spc="-15" dirty="0">
                <a:solidFill>
                  <a:srgbClr val="224D73"/>
                </a:solidFill>
                <a:latin typeface="微软雅黑" panose="020B0503020204020204" charset="-122"/>
                <a:cs typeface="微软雅黑" panose="020B0503020204020204" charset="-122"/>
              </a:rPr>
              <a:t>增强其抗</a:t>
            </a:r>
            <a:endParaRPr sz="1250">
              <a:latin typeface="微软雅黑" panose="020B0503020204020204" charset="-122"/>
              <a:cs typeface="微软雅黑" panose="020B0503020204020204" charset="-122"/>
            </a:endParaRPr>
          </a:p>
        </p:txBody>
      </p:sp>
      <p:sp>
        <p:nvSpPr>
          <p:cNvPr id="10" name="object 10"/>
          <p:cNvSpPr txBox="1"/>
          <p:nvPr/>
        </p:nvSpPr>
        <p:spPr>
          <a:xfrm>
            <a:off x="6321023" y="4278713"/>
            <a:ext cx="1116330" cy="213995"/>
          </a:xfrm>
          <a:prstGeom prst="rect">
            <a:avLst/>
          </a:prstGeom>
        </p:spPr>
        <p:txBody>
          <a:bodyPr vert="horz" wrap="square" lIns="0" tIns="12700" rIns="0" bIns="0" rtlCol="0">
            <a:spAutoFit/>
          </a:bodyPr>
          <a:lstStyle/>
          <a:p>
            <a:pPr>
              <a:lnSpc>
                <a:spcPct val="100000"/>
              </a:lnSpc>
              <a:spcBef>
                <a:spcPts val="100"/>
              </a:spcBef>
            </a:pPr>
            <a:r>
              <a:rPr sz="1250" dirty="0">
                <a:solidFill>
                  <a:srgbClr val="224D73"/>
                </a:solidFill>
                <a:latin typeface="Arial MT"/>
                <a:cs typeface="Arial MT"/>
              </a:rPr>
              <a:t>MDR-</a:t>
            </a:r>
            <a:r>
              <a:rPr sz="1250" spc="-50" dirty="0">
                <a:solidFill>
                  <a:srgbClr val="224D73"/>
                </a:solidFill>
                <a:latin typeface="Arial MT"/>
                <a:cs typeface="Arial MT"/>
              </a:rPr>
              <a:t>PA</a:t>
            </a:r>
            <a:r>
              <a:rPr sz="1250" spc="-20" dirty="0">
                <a:solidFill>
                  <a:srgbClr val="224D73"/>
                </a:solidFill>
                <a:latin typeface="微软雅黑" panose="020B0503020204020204" charset="-122"/>
                <a:cs typeface="微软雅黑" panose="020B0503020204020204" charset="-122"/>
              </a:rPr>
              <a:t>的效力</a:t>
            </a:r>
            <a:endParaRPr sz="1250">
              <a:latin typeface="微软雅黑" panose="020B0503020204020204" charset="-122"/>
              <a:cs typeface="微软雅黑" panose="020B0503020204020204" charset="-122"/>
            </a:endParaRPr>
          </a:p>
        </p:txBody>
      </p:sp>
      <p:grpSp>
        <p:nvGrpSpPr>
          <p:cNvPr id="11" name="object 11"/>
          <p:cNvGrpSpPr/>
          <p:nvPr/>
        </p:nvGrpSpPr>
        <p:grpSpPr>
          <a:xfrm>
            <a:off x="121920" y="121919"/>
            <a:ext cx="9763760" cy="5496560"/>
            <a:chOff x="121920" y="121919"/>
            <a:chExt cx="9763760" cy="5496560"/>
          </a:xfrm>
        </p:grpSpPr>
        <p:pic>
          <p:nvPicPr>
            <p:cNvPr id="12" name="object 12"/>
            <p:cNvPicPr/>
            <p:nvPr/>
          </p:nvPicPr>
          <p:blipFill>
            <a:blip r:embed="rId5" cstate="print"/>
            <a:stretch>
              <a:fillRect/>
            </a:stretch>
          </p:blipFill>
          <p:spPr>
            <a:xfrm>
              <a:off x="6526365" y="4334402"/>
              <a:ext cx="1734294" cy="1034398"/>
            </a:xfrm>
            <a:prstGeom prst="rect">
              <a:avLst/>
            </a:prstGeom>
          </p:spPr>
        </p:pic>
        <p:pic>
          <p:nvPicPr>
            <p:cNvPr id="13" name="object 13"/>
            <p:cNvPicPr/>
            <p:nvPr/>
          </p:nvPicPr>
          <p:blipFill>
            <a:blip r:embed="rId6" cstate="print"/>
            <a:stretch>
              <a:fillRect/>
            </a:stretch>
          </p:blipFill>
          <p:spPr>
            <a:xfrm>
              <a:off x="618581" y="3476874"/>
              <a:ext cx="2720665" cy="1600200"/>
            </a:xfrm>
            <a:prstGeom prst="rect">
              <a:avLst/>
            </a:prstGeom>
          </p:spPr>
        </p:pic>
        <p:sp>
          <p:nvSpPr>
            <p:cNvPr id="14" name="object 14"/>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grpSp>
      <p:sp>
        <p:nvSpPr>
          <p:cNvPr id="15" name="object 15"/>
          <p:cNvSpPr txBox="1"/>
          <p:nvPr/>
        </p:nvSpPr>
        <p:spPr>
          <a:xfrm>
            <a:off x="114300" y="5424444"/>
            <a:ext cx="4515485" cy="369570"/>
          </a:xfrm>
          <a:prstGeom prst="rect">
            <a:avLst/>
          </a:prstGeom>
        </p:spPr>
        <p:txBody>
          <a:bodyPr vert="horz" wrap="square" lIns="0" tIns="11430" rIns="0" bIns="0" rtlCol="0">
            <a:spAutoFit/>
          </a:bodyPr>
          <a:lstStyle/>
          <a:p>
            <a:pPr marL="137795">
              <a:lnSpc>
                <a:spcPct val="100000"/>
              </a:lnSpc>
              <a:spcBef>
                <a:spcPts val="90"/>
              </a:spcBef>
            </a:pPr>
            <a:r>
              <a:rPr sz="650" dirty="0">
                <a:solidFill>
                  <a:srgbClr val="3895DE"/>
                </a:solidFill>
                <a:latin typeface="微软雅黑" panose="020B0503020204020204" charset="-122"/>
                <a:cs typeface="微软雅黑" panose="020B0503020204020204" charset="-122"/>
              </a:rPr>
              <a:t>1.</a:t>
            </a:r>
            <a:r>
              <a:rPr sz="650" spc="-20"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FDA,</a:t>
            </a:r>
            <a:r>
              <a:rPr sz="650" spc="-20" dirty="0">
                <a:solidFill>
                  <a:srgbClr val="3895DE"/>
                </a:solidFill>
                <a:latin typeface="微软雅黑" panose="020B0503020204020204" charset="-122"/>
                <a:cs typeface="微软雅黑" panose="020B0503020204020204" charset="-122"/>
              </a:rPr>
              <a:t> ZERBAXA®</a:t>
            </a:r>
            <a:r>
              <a:rPr sz="650" spc="-2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label</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(2014).</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2.</a:t>
            </a:r>
            <a:r>
              <a:rPr sz="650" spc="-20"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Skaare</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D,</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et</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al.</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Clin</a:t>
            </a:r>
            <a:r>
              <a:rPr sz="650" spc="-2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Ther.</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2015</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3.</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Cluck</a:t>
            </a:r>
            <a:r>
              <a:rPr sz="650" spc="-2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D,</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et</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al.</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Am</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J</a:t>
            </a:r>
            <a:r>
              <a:rPr sz="650" spc="-2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Health</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Syst</a:t>
            </a:r>
            <a:r>
              <a:rPr sz="650" spc="-20"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Pharm.</a:t>
            </a:r>
            <a:r>
              <a:rPr sz="650" spc="-20" dirty="0">
                <a:solidFill>
                  <a:srgbClr val="3895DE"/>
                </a:solidFill>
                <a:latin typeface="微软雅黑" panose="020B0503020204020204" charset="-122"/>
                <a:cs typeface="微软雅黑" panose="020B0503020204020204" charset="-122"/>
              </a:rPr>
              <a:t> 2015</a:t>
            </a:r>
            <a:endParaRPr sz="650">
              <a:latin typeface="微软雅黑" panose="020B0503020204020204" charset="-122"/>
              <a:cs typeface="微软雅黑" panose="020B0503020204020204" charset="-122"/>
            </a:endParaRPr>
          </a:p>
          <a:p>
            <a:pPr>
              <a:lnSpc>
                <a:spcPct val="100000"/>
              </a:lnSpc>
              <a:spcBef>
                <a:spcPts val="15"/>
              </a:spcBef>
            </a:pPr>
            <a:endParaRPr sz="650">
              <a:latin typeface="微软雅黑" panose="020B0503020204020204" charset="-122"/>
              <a:cs typeface="微软雅黑" panose="020B0503020204020204" charset="-122"/>
            </a:endParaRPr>
          </a:p>
          <a:p>
            <a:pPr marL="12700">
              <a:lnSpc>
                <a:spcPct val="100000"/>
              </a:lnSpc>
              <a:spcBef>
                <a:spcPts val="5"/>
              </a:spcBef>
            </a:pPr>
            <a:r>
              <a:rPr sz="600" dirty="0">
                <a:solidFill>
                  <a:srgbClr val="7F7F7F"/>
                </a:solidFill>
                <a:latin typeface="Arial MT"/>
                <a:cs typeface="Arial MT"/>
              </a:rPr>
              <a:t>[</a:t>
            </a:r>
            <a:r>
              <a:rPr sz="600" dirty="0">
                <a:latin typeface="宋体" panose="02010600030101010101" pitchFamily="2" charset="-122"/>
                <a:cs typeface="宋体" panose="02010600030101010101" pitchFamily="2" charset="-122"/>
              </a:rPr>
              <a:t>此页面上无备注</a:t>
            </a:r>
            <a:r>
              <a:rPr sz="600" spc="-50" dirty="0">
                <a:solidFill>
                  <a:srgbClr val="7F7F7F"/>
                </a:solidFill>
                <a:latin typeface="Arial MT"/>
                <a:cs typeface="Arial MT"/>
              </a:rPr>
              <a:t>]</a:t>
            </a:r>
            <a:endParaRPr sz="600">
              <a:latin typeface="Arial MT"/>
              <a:cs typeface="Arial MT"/>
            </a:endParaRPr>
          </a:p>
        </p:txBody>
      </p:sp>
      <p:sp>
        <p:nvSpPr>
          <p:cNvPr id="16" name="object 16"/>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5</a:t>
            </a:fld>
            <a:r>
              <a:rPr spc="-10" dirty="0"/>
              <a:t> </a:t>
            </a:r>
            <a:r>
              <a:rPr spc="-5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1675" y="319674"/>
            <a:ext cx="4805680" cy="366395"/>
          </a:xfrm>
          <a:prstGeom prst="rect">
            <a:avLst/>
          </a:prstGeom>
        </p:spPr>
        <p:txBody>
          <a:bodyPr vert="horz" wrap="square" lIns="0" tIns="17145" rIns="0" bIns="0" rtlCol="0">
            <a:spAutoFit/>
          </a:bodyPr>
          <a:lstStyle/>
          <a:p>
            <a:pPr marL="12700">
              <a:lnSpc>
                <a:spcPct val="100000"/>
              </a:lnSpc>
              <a:spcBef>
                <a:spcPts val="135"/>
              </a:spcBef>
            </a:pPr>
            <a:r>
              <a:rPr dirty="0"/>
              <a:t>头孢洛扎</a:t>
            </a:r>
            <a:r>
              <a:rPr spc="-10" dirty="0">
                <a:latin typeface="Arial" panose="020B0604020202020204"/>
                <a:cs typeface="Arial" panose="020B0604020202020204"/>
              </a:rPr>
              <a:t>-</a:t>
            </a:r>
            <a:r>
              <a:rPr dirty="0"/>
              <a:t>他唑巴坦对</a:t>
            </a:r>
            <a:r>
              <a:rPr dirty="0">
                <a:latin typeface="Arial" panose="020B0604020202020204"/>
                <a:cs typeface="Arial" panose="020B0604020202020204"/>
              </a:rPr>
              <a:t>G+</a:t>
            </a:r>
            <a:r>
              <a:rPr dirty="0"/>
              <a:t>和</a:t>
            </a:r>
            <a:r>
              <a:rPr dirty="0">
                <a:latin typeface="Arial" panose="020B0604020202020204"/>
                <a:cs typeface="Arial" panose="020B0604020202020204"/>
              </a:rPr>
              <a:t>G-</a:t>
            </a:r>
            <a:r>
              <a:rPr spc="-15" dirty="0"/>
              <a:t>菌敏感性</a:t>
            </a:r>
          </a:p>
        </p:txBody>
      </p:sp>
      <p:grpSp>
        <p:nvGrpSpPr>
          <p:cNvPr id="3" name="object 3"/>
          <p:cNvGrpSpPr/>
          <p:nvPr/>
        </p:nvGrpSpPr>
        <p:grpSpPr>
          <a:xfrm>
            <a:off x="121920" y="121919"/>
            <a:ext cx="9763760" cy="5496560"/>
            <a:chOff x="121920" y="121919"/>
            <a:chExt cx="9763760" cy="5496560"/>
          </a:xfrm>
        </p:grpSpPr>
        <p:pic>
          <p:nvPicPr>
            <p:cNvPr id="4" name="object 4"/>
            <p:cNvPicPr/>
            <p:nvPr/>
          </p:nvPicPr>
          <p:blipFill>
            <a:blip r:embed="rId2" cstate="print"/>
            <a:stretch>
              <a:fillRect/>
            </a:stretch>
          </p:blipFill>
          <p:spPr>
            <a:xfrm>
              <a:off x="1003604" y="746444"/>
              <a:ext cx="7555781" cy="3620750"/>
            </a:xfrm>
            <a:prstGeom prst="rect">
              <a:avLst/>
            </a:prstGeom>
          </p:spPr>
        </p:pic>
        <p:sp>
          <p:nvSpPr>
            <p:cNvPr id="5" name="object 5"/>
            <p:cNvSpPr/>
            <p:nvPr/>
          </p:nvSpPr>
          <p:spPr>
            <a:xfrm>
              <a:off x="1123911" y="2123223"/>
              <a:ext cx="2345055" cy="2540000"/>
            </a:xfrm>
            <a:custGeom>
              <a:avLst/>
              <a:gdLst/>
              <a:ahLst/>
              <a:cxnLst/>
              <a:rect l="l" t="t" r="r" b="b"/>
              <a:pathLst>
                <a:path w="2345054" h="2540000">
                  <a:moveTo>
                    <a:pt x="1127366" y="31203"/>
                  </a:moveTo>
                  <a:lnTo>
                    <a:pt x="1123276" y="18516"/>
                  </a:lnTo>
                  <a:lnTo>
                    <a:pt x="1121905" y="16256"/>
                  </a:lnTo>
                  <a:lnTo>
                    <a:pt x="1098423" y="16256"/>
                  </a:lnTo>
                  <a:lnTo>
                    <a:pt x="1099502" y="16687"/>
                  </a:lnTo>
                  <a:lnTo>
                    <a:pt x="1100277" y="16979"/>
                  </a:lnTo>
                  <a:lnTo>
                    <a:pt x="1101305" y="17513"/>
                  </a:lnTo>
                  <a:lnTo>
                    <a:pt x="1102042" y="17868"/>
                  </a:lnTo>
                  <a:lnTo>
                    <a:pt x="1103033" y="18516"/>
                  </a:lnTo>
                  <a:lnTo>
                    <a:pt x="1103337" y="18669"/>
                  </a:lnTo>
                  <a:lnTo>
                    <a:pt x="1103718" y="18923"/>
                  </a:lnTo>
                  <a:lnTo>
                    <a:pt x="1104646" y="19672"/>
                  </a:lnTo>
                  <a:lnTo>
                    <a:pt x="1105268" y="20142"/>
                  </a:lnTo>
                  <a:lnTo>
                    <a:pt x="1106703" y="21475"/>
                  </a:lnTo>
                  <a:lnTo>
                    <a:pt x="1106944" y="21805"/>
                  </a:lnTo>
                  <a:lnTo>
                    <a:pt x="1107998" y="22961"/>
                  </a:lnTo>
                  <a:lnTo>
                    <a:pt x="1108697" y="23952"/>
                  </a:lnTo>
                  <a:lnTo>
                    <a:pt x="1109154" y="24561"/>
                  </a:lnTo>
                  <a:lnTo>
                    <a:pt x="1109433" y="25095"/>
                  </a:lnTo>
                  <a:lnTo>
                    <a:pt x="1110157" y="26276"/>
                  </a:lnTo>
                  <a:lnTo>
                    <a:pt x="1110653" y="27393"/>
                  </a:lnTo>
                  <a:lnTo>
                    <a:pt x="1110983" y="28079"/>
                  </a:lnTo>
                  <a:lnTo>
                    <a:pt x="1111110" y="28524"/>
                  </a:lnTo>
                  <a:lnTo>
                    <a:pt x="1111643" y="29972"/>
                  </a:lnTo>
                  <a:lnTo>
                    <a:pt x="1111910" y="31203"/>
                  </a:lnTo>
                  <a:lnTo>
                    <a:pt x="1112100" y="31940"/>
                  </a:lnTo>
                  <a:lnTo>
                    <a:pt x="1112266" y="33223"/>
                  </a:lnTo>
                  <a:lnTo>
                    <a:pt x="1112304" y="150571"/>
                  </a:lnTo>
                  <a:lnTo>
                    <a:pt x="1112062" y="151853"/>
                  </a:lnTo>
                  <a:lnTo>
                    <a:pt x="1111948" y="152590"/>
                  </a:lnTo>
                  <a:lnTo>
                    <a:pt x="1111592" y="153822"/>
                  </a:lnTo>
                  <a:lnTo>
                    <a:pt x="1111415" y="154546"/>
                  </a:lnTo>
                  <a:lnTo>
                    <a:pt x="1111110" y="155270"/>
                  </a:lnTo>
                  <a:lnTo>
                    <a:pt x="1110691" y="156400"/>
                  </a:lnTo>
                  <a:lnTo>
                    <a:pt x="1110107" y="157518"/>
                  </a:lnTo>
                  <a:lnTo>
                    <a:pt x="1109802" y="158165"/>
                  </a:lnTo>
                  <a:lnTo>
                    <a:pt x="1109433" y="158699"/>
                  </a:lnTo>
                  <a:lnTo>
                    <a:pt x="1108748" y="159842"/>
                  </a:lnTo>
                  <a:lnTo>
                    <a:pt x="1107528" y="161391"/>
                  </a:lnTo>
                  <a:lnTo>
                    <a:pt x="1106944" y="161988"/>
                  </a:lnTo>
                  <a:lnTo>
                    <a:pt x="1106195" y="162826"/>
                  </a:lnTo>
                  <a:lnTo>
                    <a:pt x="1105217" y="163652"/>
                  </a:lnTo>
                  <a:lnTo>
                    <a:pt x="1104709" y="164122"/>
                  </a:lnTo>
                  <a:lnTo>
                    <a:pt x="1103642" y="164871"/>
                  </a:lnTo>
                  <a:lnTo>
                    <a:pt x="1103350" y="165112"/>
                  </a:lnTo>
                  <a:lnTo>
                    <a:pt x="1096391" y="168059"/>
                  </a:lnTo>
                  <a:lnTo>
                    <a:pt x="1096568" y="168059"/>
                  </a:lnTo>
                  <a:lnTo>
                    <a:pt x="1096441" y="168084"/>
                  </a:lnTo>
                  <a:lnTo>
                    <a:pt x="1096060" y="168148"/>
                  </a:lnTo>
                  <a:lnTo>
                    <a:pt x="1094155" y="168427"/>
                  </a:lnTo>
                  <a:lnTo>
                    <a:pt x="33337" y="168427"/>
                  </a:lnTo>
                  <a:lnTo>
                    <a:pt x="32042" y="168224"/>
                  </a:lnTo>
                  <a:lnTo>
                    <a:pt x="31381" y="168135"/>
                  </a:lnTo>
                  <a:lnTo>
                    <a:pt x="31038" y="168084"/>
                  </a:lnTo>
                  <a:lnTo>
                    <a:pt x="30899" y="168059"/>
                  </a:lnTo>
                  <a:lnTo>
                    <a:pt x="31102" y="168059"/>
                  </a:lnTo>
                  <a:lnTo>
                    <a:pt x="29972" y="167767"/>
                  </a:lnTo>
                  <a:lnTo>
                    <a:pt x="29159" y="167525"/>
                  </a:lnTo>
                  <a:lnTo>
                    <a:pt x="29806" y="167767"/>
                  </a:lnTo>
                  <a:lnTo>
                    <a:pt x="23850" y="164871"/>
                  </a:lnTo>
                  <a:lnTo>
                    <a:pt x="22796" y="164122"/>
                  </a:lnTo>
                  <a:lnTo>
                    <a:pt x="22275" y="163652"/>
                  </a:lnTo>
                  <a:lnTo>
                    <a:pt x="21310" y="162826"/>
                  </a:lnTo>
                  <a:lnTo>
                    <a:pt x="20548" y="161988"/>
                  </a:lnTo>
                  <a:lnTo>
                    <a:pt x="19964" y="161391"/>
                  </a:lnTo>
                  <a:lnTo>
                    <a:pt x="18757" y="159842"/>
                  </a:lnTo>
                  <a:lnTo>
                    <a:pt x="18059" y="158699"/>
                  </a:lnTo>
                  <a:lnTo>
                    <a:pt x="17703" y="158165"/>
                  </a:lnTo>
                  <a:lnTo>
                    <a:pt x="17386" y="157518"/>
                  </a:lnTo>
                  <a:lnTo>
                    <a:pt x="16802" y="156400"/>
                  </a:lnTo>
                  <a:lnTo>
                    <a:pt x="16395" y="155270"/>
                  </a:lnTo>
                  <a:lnTo>
                    <a:pt x="16090" y="154546"/>
                  </a:lnTo>
                  <a:lnTo>
                    <a:pt x="15900" y="153822"/>
                  </a:lnTo>
                  <a:lnTo>
                    <a:pt x="15544" y="152590"/>
                  </a:lnTo>
                  <a:lnTo>
                    <a:pt x="15430" y="151853"/>
                  </a:lnTo>
                  <a:lnTo>
                    <a:pt x="15417" y="151714"/>
                  </a:lnTo>
                  <a:lnTo>
                    <a:pt x="15201" y="150571"/>
                  </a:lnTo>
                  <a:lnTo>
                    <a:pt x="15240" y="33223"/>
                  </a:lnTo>
                  <a:lnTo>
                    <a:pt x="15392" y="31940"/>
                  </a:lnTo>
                  <a:lnTo>
                    <a:pt x="15582" y="31203"/>
                  </a:lnTo>
                  <a:lnTo>
                    <a:pt x="15862" y="29972"/>
                  </a:lnTo>
                  <a:lnTo>
                    <a:pt x="16395" y="28524"/>
                  </a:lnTo>
                  <a:lnTo>
                    <a:pt x="16510" y="28079"/>
                  </a:lnTo>
                  <a:lnTo>
                    <a:pt x="16840" y="27393"/>
                  </a:lnTo>
                  <a:lnTo>
                    <a:pt x="17348" y="26276"/>
                  </a:lnTo>
                  <a:lnTo>
                    <a:pt x="18059" y="25095"/>
                  </a:lnTo>
                  <a:lnTo>
                    <a:pt x="18338" y="24561"/>
                  </a:lnTo>
                  <a:lnTo>
                    <a:pt x="18796" y="23952"/>
                  </a:lnTo>
                  <a:lnTo>
                    <a:pt x="19494" y="22961"/>
                  </a:lnTo>
                  <a:lnTo>
                    <a:pt x="20548" y="21805"/>
                  </a:lnTo>
                  <a:lnTo>
                    <a:pt x="20802" y="21475"/>
                  </a:lnTo>
                  <a:lnTo>
                    <a:pt x="22237" y="20142"/>
                  </a:lnTo>
                  <a:lnTo>
                    <a:pt x="22847" y="19672"/>
                  </a:lnTo>
                  <a:lnTo>
                    <a:pt x="23787" y="18923"/>
                  </a:lnTo>
                  <a:lnTo>
                    <a:pt x="24155" y="18669"/>
                  </a:lnTo>
                  <a:lnTo>
                    <a:pt x="24472" y="18516"/>
                  </a:lnTo>
                  <a:lnTo>
                    <a:pt x="25450" y="17868"/>
                  </a:lnTo>
                  <a:lnTo>
                    <a:pt x="26200" y="17513"/>
                  </a:lnTo>
                  <a:lnTo>
                    <a:pt x="27216" y="16979"/>
                  </a:lnTo>
                  <a:lnTo>
                    <a:pt x="27990" y="16687"/>
                  </a:lnTo>
                  <a:lnTo>
                    <a:pt x="29083" y="16256"/>
                  </a:lnTo>
                  <a:lnTo>
                    <a:pt x="29946" y="16027"/>
                  </a:lnTo>
                  <a:lnTo>
                    <a:pt x="31178" y="15722"/>
                  </a:lnTo>
                  <a:lnTo>
                    <a:pt x="31026" y="15722"/>
                  </a:lnTo>
                  <a:lnTo>
                    <a:pt x="31394" y="15671"/>
                  </a:lnTo>
                  <a:lnTo>
                    <a:pt x="32029" y="15570"/>
                  </a:lnTo>
                  <a:lnTo>
                    <a:pt x="34213" y="15227"/>
                  </a:lnTo>
                  <a:lnTo>
                    <a:pt x="1093292" y="15227"/>
                  </a:lnTo>
                  <a:lnTo>
                    <a:pt x="1095476" y="15570"/>
                  </a:lnTo>
                  <a:lnTo>
                    <a:pt x="1095730" y="15570"/>
                  </a:lnTo>
                  <a:lnTo>
                    <a:pt x="1096111" y="15671"/>
                  </a:lnTo>
                  <a:lnTo>
                    <a:pt x="1097546" y="16027"/>
                  </a:lnTo>
                  <a:lnTo>
                    <a:pt x="1097699" y="16027"/>
                  </a:lnTo>
                  <a:lnTo>
                    <a:pt x="1121765" y="16027"/>
                  </a:lnTo>
                  <a:lnTo>
                    <a:pt x="1121575" y="15722"/>
                  </a:lnTo>
                  <a:lnTo>
                    <a:pt x="1121460" y="15570"/>
                  </a:lnTo>
                  <a:lnTo>
                    <a:pt x="1121206" y="15227"/>
                  </a:lnTo>
                  <a:lnTo>
                    <a:pt x="1092149" y="0"/>
                  </a:lnTo>
                  <a:lnTo>
                    <a:pt x="35344" y="0"/>
                  </a:lnTo>
                  <a:lnTo>
                    <a:pt x="2628" y="21805"/>
                  </a:lnTo>
                  <a:lnTo>
                    <a:pt x="431" y="29248"/>
                  </a:lnTo>
                  <a:lnTo>
                    <a:pt x="317" y="29972"/>
                  </a:lnTo>
                  <a:lnTo>
                    <a:pt x="127" y="31203"/>
                  </a:lnTo>
                  <a:lnTo>
                    <a:pt x="139" y="152590"/>
                  </a:lnTo>
                  <a:lnTo>
                    <a:pt x="546" y="155270"/>
                  </a:lnTo>
                  <a:lnTo>
                    <a:pt x="4229" y="165277"/>
                  </a:lnTo>
                  <a:lnTo>
                    <a:pt x="5918" y="168059"/>
                  </a:lnTo>
                  <a:lnTo>
                    <a:pt x="35344" y="183794"/>
                  </a:lnTo>
                  <a:lnTo>
                    <a:pt x="1092149" y="183794"/>
                  </a:lnTo>
                  <a:lnTo>
                    <a:pt x="1121308" y="168427"/>
                  </a:lnTo>
                  <a:lnTo>
                    <a:pt x="1121460" y="168224"/>
                  </a:lnTo>
                  <a:lnTo>
                    <a:pt x="1121587" y="168059"/>
                  </a:lnTo>
                  <a:lnTo>
                    <a:pt x="1121765" y="167767"/>
                  </a:lnTo>
                  <a:lnTo>
                    <a:pt x="1123378" y="165112"/>
                  </a:lnTo>
                  <a:lnTo>
                    <a:pt x="1123492" y="164871"/>
                  </a:lnTo>
                  <a:lnTo>
                    <a:pt x="1124877" y="161988"/>
                  </a:lnTo>
                  <a:lnTo>
                    <a:pt x="1126070" y="158699"/>
                  </a:lnTo>
                  <a:lnTo>
                    <a:pt x="1126959" y="155270"/>
                  </a:lnTo>
                  <a:lnTo>
                    <a:pt x="1127074" y="154546"/>
                  </a:lnTo>
                  <a:lnTo>
                    <a:pt x="1127175" y="153822"/>
                  </a:lnTo>
                  <a:lnTo>
                    <a:pt x="1127366" y="152590"/>
                  </a:lnTo>
                  <a:lnTo>
                    <a:pt x="1127366" y="31203"/>
                  </a:lnTo>
                  <a:close/>
                </a:path>
                <a:path w="2345054" h="2540000">
                  <a:moveTo>
                    <a:pt x="1315923" y="1670418"/>
                  </a:moveTo>
                  <a:lnTo>
                    <a:pt x="1315910" y="1550644"/>
                  </a:lnTo>
                  <a:lnTo>
                    <a:pt x="1315796" y="1549882"/>
                  </a:lnTo>
                  <a:lnTo>
                    <a:pt x="1315389" y="1547202"/>
                  </a:lnTo>
                  <a:lnTo>
                    <a:pt x="1315275" y="1546771"/>
                  </a:lnTo>
                  <a:lnTo>
                    <a:pt x="1314500" y="1543786"/>
                  </a:lnTo>
                  <a:lnTo>
                    <a:pt x="1313294" y="1540484"/>
                  </a:lnTo>
                  <a:lnTo>
                    <a:pt x="1311795" y="1537373"/>
                  </a:lnTo>
                  <a:lnTo>
                    <a:pt x="1311694" y="1537208"/>
                  </a:lnTo>
                  <a:lnTo>
                    <a:pt x="1310322" y="1534947"/>
                  </a:lnTo>
                  <a:lnTo>
                    <a:pt x="1286840" y="1534947"/>
                  </a:lnTo>
                  <a:lnTo>
                    <a:pt x="1288694" y="1535658"/>
                  </a:lnTo>
                  <a:lnTo>
                    <a:pt x="1289748" y="1536217"/>
                  </a:lnTo>
                  <a:lnTo>
                    <a:pt x="1290459" y="1536560"/>
                  </a:lnTo>
                  <a:lnTo>
                    <a:pt x="1291463" y="1537208"/>
                  </a:lnTo>
                  <a:lnTo>
                    <a:pt x="1291767" y="1537373"/>
                  </a:lnTo>
                  <a:lnTo>
                    <a:pt x="1292136" y="1537614"/>
                  </a:lnTo>
                  <a:lnTo>
                    <a:pt x="1293063" y="1538351"/>
                  </a:lnTo>
                  <a:lnTo>
                    <a:pt x="1293698" y="1538820"/>
                  </a:lnTo>
                  <a:lnTo>
                    <a:pt x="1294561" y="1539659"/>
                  </a:lnTo>
                  <a:lnTo>
                    <a:pt x="1295133" y="1540179"/>
                  </a:lnTo>
                  <a:lnTo>
                    <a:pt x="1295361" y="1540484"/>
                  </a:lnTo>
                  <a:lnTo>
                    <a:pt x="1296428" y="1541653"/>
                  </a:lnTo>
                  <a:lnTo>
                    <a:pt x="1297114" y="1542643"/>
                  </a:lnTo>
                  <a:lnTo>
                    <a:pt x="1297571" y="1543253"/>
                  </a:lnTo>
                  <a:lnTo>
                    <a:pt x="1297863" y="1543786"/>
                  </a:lnTo>
                  <a:lnTo>
                    <a:pt x="1298575" y="1544955"/>
                  </a:lnTo>
                  <a:lnTo>
                    <a:pt x="1299400" y="1546771"/>
                  </a:lnTo>
                  <a:lnTo>
                    <a:pt x="1299514" y="1547202"/>
                  </a:lnTo>
                  <a:lnTo>
                    <a:pt x="1300060" y="1548663"/>
                  </a:lnTo>
                  <a:lnTo>
                    <a:pt x="1300327" y="1549882"/>
                  </a:lnTo>
                  <a:lnTo>
                    <a:pt x="1300518" y="1550644"/>
                  </a:lnTo>
                  <a:lnTo>
                    <a:pt x="1300683" y="1551914"/>
                  </a:lnTo>
                  <a:lnTo>
                    <a:pt x="1300721" y="1669262"/>
                  </a:lnTo>
                  <a:lnTo>
                    <a:pt x="1300327" y="1671281"/>
                  </a:lnTo>
                  <a:lnTo>
                    <a:pt x="1299832" y="1673225"/>
                  </a:lnTo>
                  <a:lnTo>
                    <a:pt x="1299527" y="1673961"/>
                  </a:lnTo>
                  <a:lnTo>
                    <a:pt x="1299108" y="1675091"/>
                  </a:lnTo>
                  <a:lnTo>
                    <a:pt x="1298232" y="1676857"/>
                  </a:lnTo>
                  <a:lnTo>
                    <a:pt x="1297863" y="1677390"/>
                  </a:lnTo>
                  <a:lnTo>
                    <a:pt x="1297165" y="1678520"/>
                  </a:lnTo>
                  <a:lnTo>
                    <a:pt x="1296377" y="1679524"/>
                  </a:lnTo>
                  <a:lnTo>
                    <a:pt x="1295958" y="1680083"/>
                  </a:lnTo>
                  <a:lnTo>
                    <a:pt x="1295374" y="1680679"/>
                  </a:lnTo>
                  <a:lnTo>
                    <a:pt x="1294612" y="1681505"/>
                  </a:lnTo>
                  <a:lnTo>
                    <a:pt x="1293126" y="1682813"/>
                  </a:lnTo>
                  <a:lnTo>
                    <a:pt x="1291526" y="1683969"/>
                  </a:lnTo>
                  <a:lnTo>
                    <a:pt x="1290408" y="1684604"/>
                  </a:lnTo>
                  <a:lnTo>
                    <a:pt x="1289824" y="1684959"/>
                  </a:lnTo>
                  <a:lnTo>
                    <a:pt x="1288605" y="1685505"/>
                  </a:lnTo>
                  <a:lnTo>
                    <a:pt x="1288021" y="1685785"/>
                  </a:lnTo>
                  <a:lnTo>
                    <a:pt x="1286446" y="1686331"/>
                  </a:lnTo>
                  <a:lnTo>
                    <a:pt x="1284795" y="1686750"/>
                  </a:lnTo>
                  <a:lnTo>
                    <a:pt x="1284947" y="1686750"/>
                  </a:lnTo>
                  <a:lnTo>
                    <a:pt x="1284541" y="1686814"/>
                  </a:lnTo>
                  <a:lnTo>
                    <a:pt x="1282636" y="1687106"/>
                  </a:lnTo>
                  <a:lnTo>
                    <a:pt x="33286" y="1687106"/>
                  </a:lnTo>
                  <a:lnTo>
                    <a:pt x="32029" y="1686915"/>
                  </a:lnTo>
                  <a:lnTo>
                    <a:pt x="31394" y="1686826"/>
                  </a:lnTo>
                  <a:lnTo>
                    <a:pt x="31013" y="1686763"/>
                  </a:lnTo>
                  <a:lnTo>
                    <a:pt x="31140" y="1686750"/>
                  </a:lnTo>
                  <a:lnTo>
                    <a:pt x="29946" y="1686445"/>
                  </a:lnTo>
                  <a:lnTo>
                    <a:pt x="29197" y="1686242"/>
                  </a:lnTo>
                  <a:lnTo>
                    <a:pt x="27914" y="1685785"/>
                  </a:lnTo>
                  <a:lnTo>
                    <a:pt x="27317" y="1685505"/>
                  </a:lnTo>
                  <a:lnTo>
                    <a:pt x="26098" y="1684959"/>
                  </a:lnTo>
                  <a:lnTo>
                    <a:pt x="25514" y="1684604"/>
                  </a:lnTo>
                  <a:lnTo>
                    <a:pt x="24396" y="1683969"/>
                  </a:lnTo>
                  <a:lnTo>
                    <a:pt x="24155" y="1683804"/>
                  </a:lnTo>
                  <a:lnTo>
                    <a:pt x="23837" y="1683550"/>
                  </a:lnTo>
                  <a:lnTo>
                    <a:pt x="22796" y="1682813"/>
                  </a:lnTo>
                  <a:lnTo>
                    <a:pt x="21310" y="1681505"/>
                  </a:lnTo>
                  <a:lnTo>
                    <a:pt x="20548" y="1680679"/>
                  </a:lnTo>
                  <a:lnTo>
                    <a:pt x="19964" y="1680083"/>
                  </a:lnTo>
                  <a:lnTo>
                    <a:pt x="18757" y="1678520"/>
                  </a:lnTo>
                  <a:lnTo>
                    <a:pt x="18059" y="1677390"/>
                  </a:lnTo>
                  <a:lnTo>
                    <a:pt x="17703" y="1676857"/>
                  </a:lnTo>
                  <a:lnTo>
                    <a:pt x="17386" y="1676209"/>
                  </a:lnTo>
                  <a:lnTo>
                    <a:pt x="16802" y="1675091"/>
                  </a:lnTo>
                  <a:lnTo>
                    <a:pt x="16395" y="1673961"/>
                  </a:lnTo>
                  <a:lnTo>
                    <a:pt x="16090" y="1673225"/>
                  </a:lnTo>
                  <a:lnTo>
                    <a:pt x="15582" y="1671281"/>
                  </a:lnTo>
                  <a:lnTo>
                    <a:pt x="15201" y="1669262"/>
                  </a:lnTo>
                  <a:lnTo>
                    <a:pt x="15240" y="1551914"/>
                  </a:lnTo>
                  <a:lnTo>
                    <a:pt x="15392" y="1550644"/>
                  </a:lnTo>
                  <a:lnTo>
                    <a:pt x="15582" y="1549882"/>
                  </a:lnTo>
                  <a:lnTo>
                    <a:pt x="15862" y="1548663"/>
                  </a:lnTo>
                  <a:lnTo>
                    <a:pt x="16395" y="1547202"/>
                  </a:lnTo>
                  <a:lnTo>
                    <a:pt x="16510" y="1546771"/>
                  </a:lnTo>
                  <a:lnTo>
                    <a:pt x="16840" y="1546072"/>
                  </a:lnTo>
                  <a:lnTo>
                    <a:pt x="17348" y="1544955"/>
                  </a:lnTo>
                  <a:lnTo>
                    <a:pt x="18059" y="1543786"/>
                  </a:lnTo>
                  <a:lnTo>
                    <a:pt x="18338" y="1543253"/>
                  </a:lnTo>
                  <a:lnTo>
                    <a:pt x="19494" y="1541653"/>
                  </a:lnTo>
                  <a:lnTo>
                    <a:pt x="20548" y="1540484"/>
                  </a:lnTo>
                  <a:lnTo>
                    <a:pt x="20802" y="1540179"/>
                  </a:lnTo>
                  <a:lnTo>
                    <a:pt x="22237" y="1538820"/>
                  </a:lnTo>
                  <a:lnTo>
                    <a:pt x="22860" y="1538351"/>
                  </a:lnTo>
                  <a:lnTo>
                    <a:pt x="23787" y="1537614"/>
                  </a:lnTo>
                  <a:lnTo>
                    <a:pt x="24155" y="1537373"/>
                  </a:lnTo>
                  <a:lnTo>
                    <a:pt x="24460" y="1537208"/>
                  </a:lnTo>
                  <a:lnTo>
                    <a:pt x="25450" y="1536560"/>
                  </a:lnTo>
                  <a:lnTo>
                    <a:pt x="26174" y="1536217"/>
                  </a:lnTo>
                  <a:lnTo>
                    <a:pt x="27216" y="1535658"/>
                  </a:lnTo>
                  <a:lnTo>
                    <a:pt x="29083" y="1534947"/>
                  </a:lnTo>
                  <a:lnTo>
                    <a:pt x="29972" y="1534718"/>
                  </a:lnTo>
                  <a:lnTo>
                    <a:pt x="31191" y="1534401"/>
                  </a:lnTo>
                  <a:lnTo>
                    <a:pt x="31026" y="1534401"/>
                  </a:lnTo>
                  <a:lnTo>
                    <a:pt x="31407" y="1534350"/>
                  </a:lnTo>
                  <a:lnTo>
                    <a:pt x="32042" y="1534248"/>
                  </a:lnTo>
                  <a:lnTo>
                    <a:pt x="34290" y="1533918"/>
                  </a:lnTo>
                  <a:lnTo>
                    <a:pt x="1281620" y="1533918"/>
                  </a:lnTo>
                  <a:lnTo>
                    <a:pt x="1284503" y="1534350"/>
                  </a:lnTo>
                  <a:lnTo>
                    <a:pt x="1283868" y="1534248"/>
                  </a:lnTo>
                  <a:lnTo>
                    <a:pt x="1284147" y="1534248"/>
                  </a:lnTo>
                  <a:lnTo>
                    <a:pt x="1284503" y="1534350"/>
                  </a:lnTo>
                  <a:lnTo>
                    <a:pt x="1285938" y="1534718"/>
                  </a:lnTo>
                  <a:lnTo>
                    <a:pt x="1286116" y="1534718"/>
                  </a:lnTo>
                  <a:lnTo>
                    <a:pt x="1310182" y="1534718"/>
                  </a:lnTo>
                  <a:lnTo>
                    <a:pt x="1309992" y="1534401"/>
                  </a:lnTo>
                  <a:lnTo>
                    <a:pt x="1309878" y="1534248"/>
                  </a:lnTo>
                  <a:lnTo>
                    <a:pt x="1309624" y="1533918"/>
                  </a:lnTo>
                  <a:lnTo>
                    <a:pt x="1307947" y="1531670"/>
                  </a:lnTo>
                  <a:lnTo>
                    <a:pt x="1280579" y="1518691"/>
                  </a:lnTo>
                  <a:lnTo>
                    <a:pt x="35344" y="1518691"/>
                  </a:lnTo>
                  <a:lnTo>
                    <a:pt x="4013" y="1537614"/>
                  </a:lnTo>
                  <a:lnTo>
                    <a:pt x="2628" y="1540484"/>
                  </a:lnTo>
                  <a:lnTo>
                    <a:pt x="1422" y="1543786"/>
                  </a:lnTo>
                  <a:lnTo>
                    <a:pt x="546" y="1547202"/>
                  </a:lnTo>
                  <a:lnTo>
                    <a:pt x="431" y="1547952"/>
                  </a:lnTo>
                  <a:lnTo>
                    <a:pt x="317" y="1548663"/>
                  </a:lnTo>
                  <a:lnTo>
                    <a:pt x="25" y="1550644"/>
                  </a:lnTo>
                  <a:lnTo>
                    <a:pt x="0" y="1670418"/>
                  </a:lnTo>
                  <a:lnTo>
                    <a:pt x="546" y="1673961"/>
                  </a:lnTo>
                  <a:lnTo>
                    <a:pt x="4229" y="1683969"/>
                  </a:lnTo>
                  <a:lnTo>
                    <a:pt x="5918" y="1686750"/>
                  </a:lnTo>
                  <a:lnTo>
                    <a:pt x="35344" y="1702485"/>
                  </a:lnTo>
                  <a:lnTo>
                    <a:pt x="1280579" y="1702485"/>
                  </a:lnTo>
                  <a:lnTo>
                    <a:pt x="1309878" y="1686915"/>
                  </a:lnTo>
                  <a:lnTo>
                    <a:pt x="1310005" y="1686750"/>
                  </a:lnTo>
                  <a:lnTo>
                    <a:pt x="1310182" y="1686445"/>
                  </a:lnTo>
                  <a:lnTo>
                    <a:pt x="1311795" y="1683804"/>
                  </a:lnTo>
                  <a:lnTo>
                    <a:pt x="1311910" y="1683550"/>
                  </a:lnTo>
                  <a:lnTo>
                    <a:pt x="1313294" y="1680679"/>
                  </a:lnTo>
                  <a:lnTo>
                    <a:pt x="1314500" y="1677390"/>
                  </a:lnTo>
                  <a:lnTo>
                    <a:pt x="1315389" y="1673961"/>
                  </a:lnTo>
                  <a:lnTo>
                    <a:pt x="1315491" y="1673225"/>
                  </a:lnTo>
                  <a:lnTo>
                    <a:pt x="1315605" y="1672513"/>
                  </a:lnTo>
                  <a:lnTo>
                    <a:pt x="1315923" y="1670418"/>
                  </a:lnTo>
                  <a:close/>
                </a:path>
                <a:path w="2345054" h="2540000">
                  <a:moveTo>
                    <a:pt x="1315923" y="337667"/>
                  </a:moveTo>
                  <a:lnTo>
                    <a:pt x="1315910" y="217893"/>
                  </a:lnTo>
                  <a:lnTo>
                    <a:pt x="1315796" y="217144"/>
                  </a:lnTo>
                  <a:lnTo>
                    <a:pt x="1315389" y="214464"/>
                  </a:lnTo>
                  <a:lnTo>
                    <a:pt x="1311694" y="204457"/>
                  </a:lnTo>
                  <a:lnTo>
                    <a:pt x="1310322" y="202209"/>
                  </a:lnTo>
                  <a:lnTo>
                    <a:pt x="1286840" y="202209"/>
                  </a:lnTo>
                  <a:lnTo>
                    <a:pt x="1287894" y="202628"/>
                  </a:lnTo>
                  <a:lnTo>
                    <a:pt x="1288694" y="202920"/>
                  </a:lnTo>
                  <a:lnTo>
                    <a:pt x="1289735" y="203466"/>
                  </a:lnTo>
                  <a:lnTo>
                    <a:pt x="1290459" y="203822"/>
                  </a:lnTo>
                  <a:lnTo>
                    <a:pt x="1291463" y="204457"/>
                  </a:lnTo>
                  <a:lnTo>
                    <a:pt x="1291767" y="204622"/>
                  </a:lnTo>
                  <a:lnTo>
                    <a:pt x="1292136" y="204863"/>
                  </a:lnTo>
                  <a:lnTo>
                    <a:pt x="1293075" y="205613"/>
                  </a:lnTo>
                  <a:lnTo>
                    <a:pt x="1293698" y="206070"/>
                  </a:lnTo>
                  <a:lnTo>
                    <a:pt x="1294549" y="206908"/>
                  </a:lnTo>
                  <a:lnTo>
                    <a:pt x="1295133" y="207429"/>
                  </a:lnTo>
                  <a:lnTo>
                    <a:pt x="1295374" y="207746"/>
                  </a:lnTo>
                  <a:lnTo>
                    <a:pt x="1296428" y="208915"/>
                  </a:lnTo>
                  <a:lnTo>
                    <a:pt x="1297127" y="209905"/>
                  </a:lnTo>
                  <a:lnTo>
                    <a:pt x="1297571" y="210502"/>
                  </a:lnTo>
                  <a:lnTo>
                    <a:pt x="1297851" y="211035"/>
                  </a:lnTo>
                  <a:lnTo>
                    <a:pt x="1298575" y="212217"/>
                  </a:lnTo>
                  <a:lnTo>
                    <a:pt x="1299400" y="214020"/>
                  </a:lnTo>
                  <a:lnTo>
                    <a:pt x="1299527" y="214464"/>
                  </a:lnTo>
                  <a:lnTo>
                    <a:pt x="1300060" y="215925"/>
                  </a:lnTo>
                  <a:lnTo>
                    <a:pt x="1300327" y="217144"/>
                  </a:lnTo>
                  <a:lnTo>
                    <a:pt x="1300518" y="217893"/>
                  </a:lnTo>
                  <a:lnTo>
                    <a:pt x="1300683" y="219163"/>
                  </a:lnTo>
                  <a:lnTo>
                    <a:pt x="1300721" y="336524"/>
                  </a:lnTo>
                  <a:lnTo>
                    <a:pt x="1300327" y="338543"/>
                  </a:lnTo>
                  <a:lnTo>
                    <a:pt x="1299832" y="340487"/>
                  </a:lnTo>
                  <a:lnTo>
                    <a:pt x="1299527" y="341210"/>
                  </a:lnTo>
                  <a:lnTo>
                    <a:pt x="1299108" y="342341"/>
                  </a:lnTo>
                  <a:lnTo>
                    <a:pt x="1298232" y="344106"/>
                  </a:lnTo>
                  <a:lnTo>
                    <a:pt x="1297851" y="344652"/>
                  </a:lnTo>
                  <a:lnTo>
                    <a:pt x="1297165" y="345770"/>
                  </a:lnTo>
                  <a:lnTo>
                    <a:pt x="1296377" y="346773"/>
                  </a:lnTo>
                  <a:lnTo>
                    <a:pt x="1295958" y="347332"/>
                  </a:lnTo>
                  <a:lnTo>
                    <a:pt x="1295374" y="347929"/>
                  </a:lnTo>
                  <a:lnTo>
                    <a:pt x="1294612" y="348767"/>
                  </a:lnTo>
                  <a:lnTo>
                    <a:pt x="1293126" y="350062"/>
                  </a:lnTo>
                  <a:lnTo>
                    <a:pt x="1292072" y="350812"/>
                  </a:lnTo>
                  <a:lnTo>
                    <a:pt x="1291767" y="351053"/>
                  </a:lnTo>
                  <a:lnTo>
                    <a:pt x="1291526" y="351218"/>
                  </a:lnTo>
                  <a:lnTo>
                    <a:pt x="1289824" y="352221"/>
                  </a:lnTo>
                  <a:lnTo>
                    <a:pt x="1288618" y="352755"/>
                  </a:lnTo>
                  <a:lnTo>
                    <a:pt x="1288021" y="353047"/>
                  </a:lnTo>
                  <a:lnTo>
                    <a:pt x="1286725" y="353479"/>
                  </a:lnTo>
                  <a:lnTo>
                    <a:pt x="1286421" y="353593"/>
                  </a:lnTo>
                  <a:lnTo>
                    <a:pt x="1284795" y="353999"/>
                  </a:lnTo>
                  <a:lnTo>
                    <a:pt x="1284947" y="353999"/>
                  </a:lnTo>
                  <a:lnTo>
                    <a:pt x="1284541" y="354063"/>
                  </a:lnTo>
                  <a:lnTo>
                    <a:pt x="1282636" y="354355"/>
                  </a:lnTo>
                  <a:lnTo>
                    <a:pt x="33286" y="354355"/>
                  </a:lnTo>
                  <a:lnTo>
                    <a:pt x="32029" y="354164"/>
                  </a:lnTo>
                  <a:lnTo>
                    <a:pt x="31394" y="354076"/>
                  </a:lnTo>
                  <a:lnTo>
                    <a:pt x="31013" y="354012"/>
                  </a:lnTo>
                  <a:lnTo>
                    <a:pt x="31140" y="353999"/>
                  </a:lnTo>
                  <a:lnTo>
                    <a:pt x="23850" y="350812"/>
                  </a:lnTo>
                  <a:lnTo>
                    <a:pt x="22796" y="350062"/>
                  </a:lnTo>
                  <a:lnTo>
                    <a:pt x="21310" y="348767"/>
                  </a:lnTo>
                  <a:lnTo>
                    <a:pt x="20548" y="347929"/>
                  </a:lnTo>
                  <a:lnTo>
                    <a:pt x="19964" y="347332"/>
                  </a:lnTo>
                  <a:lnTo>
                    <a:pt x="18757" y="345770"/>
                  </a:lnTo>
                  <a:lnTo>
                    <a:pt x="18072" y="344652"/>
                  </a:lnTo>
                  <a:lnTo>
                    <a:pt x="17703" y="344106"/>
                  </a:lnTo>
                  <a:lnTo>
                    <a:pt x="17386" y="343458"/>
                  </a:lnTo>
                  <a:lnTo>
                    <a:pt x="16802" y="342341"/>
                  </a:lnTo>
                  <a:lnTo>
                    <a:pt x="16395" y="341210"/>
                  </a:lnTo>
                  <a:lnTo>
                    <a:pt x="16090" y="340487"/>
                  </a:lnTo>
                  <a:lnTo>
                    <a:pt x="15582" y="338543"/>
                  </a:lnTo>
                  <a:lnTo>
                    <a:pt x="15201" y="336524"/>
                  </a:lnTo>
                  <a:lnTo>
                    <a:pt x="15240" y="219163"/>
                  </a:lnTo>
                  <a:lnTo>
                    <a:pt x="15392" y="217893"/>
                  </a:lnTo>
                  <a:lnTo>
                    <a:pt x="15582" y="217144"/>
                  </a:lnTo>
                  <a:lnTo>
                    <a:pt x="15862" y="215925"/>
                  </a:lnTo>
                  <a:lnTo>
                    <a:pt x="16395" y="214464"/>
                  </a:lnTo>
                  <a:lnTo>
                    <a:pt x="16510" y="214020"/>
                  </a:lnTo>
                  <a:lnTo>
                    <a:pt x="16840" y="213334"/>
                  </a:lnTo>
                  <a:lnTo>
                    <a:pt x="17348" y="212217"/>
                  </a:lnTo>
                  <a:lnTo>
                    <a:pt x="18072" y="211035"/>
                  </a:lnTo>
                  <a:lnTo>
                    <a:pt x="18338" y="210502"/>
                  </a:lnTo>
                  <a:lnTo>
                    <a:pt x="18796" y="209905"/>
                  </a:lnTo>
                  <a:lnTo>
                    <a:pt x="19494" y="208915"/>
                  </a:lnTo>
                  <a:lnTo>
                    <a:pt x="20548" y="207746"/>
                  </a:lnTo>
                  <a:lnTo>
                    <a:pt x="20802" y="207429"/>
                  </a:lnTo>
                  <a:lnTo>
                    <a:pt x="21374" y="206908"/>
                  </a:lnTo>
                  <a:lnTo>
                    <a:pt x="22237" y="206070"/>
                  </a:lnTo>
                  <a:lnTo>
                    <a:pt x="22847" y="205613"/>
                  </a:lnTo>
                  <a:lnTo>
                    <a:pt x="23787" y="204863"/>
                  </a:lnTo>
                  <a:lnTo>
                    <a:pt x="24155" y="204622"/>
                  </a:lnTo>
                  <a:lnTo>
                    <a:pt x="24460" y="204457"/>
                  </a:lnTo>
                  <a:lnTo>
                    <a:pt x="25450" y="203822"/>
                  </a:lnTo>
                  <a:lnTo>
                    <a:pt x="26187" y="203466"/>
                  </a:lnTo>
                  <a:lnTo>
                    <a:pt x="27216" y="202920"/>
                  </a:lnTo>
                  <a:lnTo>
                    <a:pt x="28028" y="202628"/>
                  </a:lnTo>
                  <a:lnTo>
                    <a:pt x="29083" y="202209"/>
                  </a:lnTo>
                  <a:lnTo>
                    <a:pt x="29946" y="201980"/>
                  </a:lnTo>
                  <a:lnTo>
                    <a:pt x="31178" y="201663"/>
                  </a:lnTo>
                  <a:lnTo>
                    <a:pt x="31026" y="201663"/>
                  </a:lnTo>
                  <a:lnTo>
                    <a:pt x="31394" y="201612"/>
                  </a:lnTo>
                  <a:lnTo>
                    <a:pt x="32029" y="201510"/>
                  </a:lnTo>
                  <a:lnTo>
                    <a:pt x="34277" y="201168"/>
                  </a:lnTo>
                  <a:lnTo>
                    <a:pt x="1281633" y="201168"/>
                  </a:lnTo>
                  <a:lnTo>
                    <a:pt x="1284503" y="201612"/>
                  </a:lnTo>
                  <a:lnTo>
                    <a:pt x="1283893" y="201510"/>
                  </a:lnTo>
                  <a:lnTo>
                    <a:pt x="1284147" y="201510"/>
                  </a:lnTo>
                  <a:lnTo>
                    <a:pt x="1284503" y="201612"/>
                  </a:lnTo>
                  <a:lnTo>
                    <a:pt x="1285963" y="201980"/>
                  </a:lnTo>
                  <a:lnTo>
                    <a:pt x="1286116" y="201980"/>
                  </a:lnTo>
                  <a:lnTo>
                    <a:pt x="1310182" y="201980"/>
                  </a:lnTo>
                  <a:lnTo>
                    <a:pt x="1309992" y="201663"/>
                  </a:lnTo>
                  <a:lnTo>
                    <a:pt x="1309878" y="201510"/>
                  </a:lnTo>
                  <a:lnTo>
                    <a:pt x="1309624" y="201168"/>
                  </a:lnTo>
                  <a:lnTo>
                    <a:pt x="1307947" y="198932"/>
                  </a:lnTo>
                  <a:lnTo>
                    <a:pt x="1280579" y="185940"/>
                  </a:lnTo>
                  <a:lnTo>
                    <a:pt x="35344" y="185940"/>
                  </a:lnTo>
                  <a:lnTo>
                    <a:pt x="4013" y="204863"/>
                  </a:lnTo>
                  <a:lnTo>
                    <a:pt x="2628" y="207746"/>
                  </a:lnTo>
                  <a:lnTo>
                    <a:pt x="1422" y="211035"/>
                  </a:lnTo>
                  <a:lnTo>
                    <a:pt x="546" y="214464"/>
                  </a:lnTo>
                  <a:lnTo>
                    <a:pt x="431" y="215201"/>
                  </a:lnTo>
                  <a:lnTo>
                    <a:pt x="317" y="215925"/>
                  </a:lnTo>
                  <a:lnTo>
                    <a:pt x="25" y="217893"/>
                  </a:lnTo>
                  <a:lnTo>
                    <a:pt x="0" y="337667"/>
                  </a:lnTo>
                  <a:lnTo>
                    <a:pt x="546" y="341210"/>
                  </a:lnTo>
                  <a:lnTo>
                    <a:pt x="4229" y="351218"/>
                  </a:lnTo>
                  <a:lnTo>
                    <a:pt x="5918" y="353999"/>
                  </a:lnTo>
                  <a:lnTo>
                    <a:pt x="35344" y="369747"/>
                  </a:lnTo>
                  <a:lnTo>
                    <a:pt x="1280579" y="369747"/>
                  </a:lnTo>
                  <a:lnTo>
                    <a:pt x="1309878" y="354164"/>
                  </a:lnTo>
                  <a:lnTo>
                    <a:pt x="1310005" y="353999"/>
                  </a:lnTo>
                  <a:lnTo>
                    <a:pt x="1310182" y="353695"/>
                  </a:lnTo>
                  <a:lnTo>
                    <a:pt x="1311795" y="351053"/>
                  </a:lnTo>
                  <a:lnTo>
                    <a:pt x="1311910" y="350812"/>
                  </a:lnTo>
                  <a:lnTo>
                    <a:pt x="1313294" y="347929"/>
                  </a:lnTo>
                  <a:lnTo>
                    <a:pt x="1314500" y="344652"/>
                  </a:lnTo>
                  <a:lnTo>
                    <a:pt x="1315389" y="341210"/>
                  </a:lnTo>
                  <a:lnTo>
                    <a:pt x="1315491" y="340487"/>
                  </a:lnTo>
                  <a:lnTo>
                    <a:pt x="1315605" y="339763"/>
                  </a:lnTo>
                  <a:lnTo>
                    <a:pt x="1315923" y="337667"/>
                  </a:lnTo>
                  <a:close/>
                </a:path>
                <a:path w="2345054" h="2540000">
                  <a:moveTo>
                    <a:pt x="1493253" y="2007539"/>
                  </a:moveTo>
                  <a:lnTo>
                    <a:pt x="1493240" y="1887753"/>
                  </a:lnTo>
                  <a:lnTo>
                    <a:pt x="1493126" y="1887004"/>
                  </a:lnTo>
                  <a:lnTo>
                    <a:pt x="1492719" y="1884337"/>
                  </a:lnTo>
                  <a:lnTo>
                    <a:pt x="1489036" y="1874329"/>
                  </a:lnTo>
                  <a:lnTo>
                    <a:pt x="1487665" y="1872068"/>
                  </a:lnTo>
                  <a:lnTo>
                    <a:pt x="1464183" y="1872068"/>
                  </a:lnTo>
                  <a:lnTo>
                    <a:pt x="1465237" y="1872500"/>
                  </a:lnTo>
                  <a:lnTo>
                    <a:pt x="1466037" y="1872792"/>
                  </a:lnTo>
                  <a:lnTo>
                    <a:pt x="1467065" y="1873326"/>
                  </a:lnTo>
                  <a:lnTo>
                    <a:pt x="1467802" y="1873681"/>
                  </a:lnTo>
                  <a:lnTo>
                    <a:pt x="1468805" y="1874329"/>
                  </a:lnTo>
                  <a:lnTo>
                    <a:pt x="1469110" y="1874494"/>
                  </a:lnTo>
                  <a:lnTo>
                    <a:pt x="1469478" y="1874735"/>
                  </a:lnTo>
                  <a:lnTo>
                    <a:pt x="1470418" y="1875485"/>
                  </a:lnTo>
                  <a:lnTo>
                    <a:pt x="1471028" y="1875942"/>
                  </a:lnTo>
                  <a:lnTo>
                    <a:pt x="1471891" y="1876780"/>
                  </a:lnTo>
                  <a:lnTo>
                    <a:pt x="1472463" y="1877288"/>
                  </a:lnTo>
                  <a:lnTo>
                    <a:pt x="1472717" y="1877618"/>
                  </a:lnTo>
                  <a:lnTo>
                    <a:pt x="1473758" y="1878774"/>
                  </a:lnTo>
                  <a:lnTo>
                    <a:pt x="1474914" y="1880374"/>
                  </a:lnTo>
                  <a:lnTo>
                    <a:pt x="1475193" y="1880895"/>
                  </a:lnTo>
                  <a:lnTo>
                    <a:pt x="1475917" y="1882089"/>
                  </a:lnTo>
                  <a:lnTo>
                    <a:pt x="1476413" y="1883206"/>
                  </a:lnTo>
                  <a:lnTo>
                    <a:pt x="1476743" y="1883892"/>
                  </a:lnTo>
                  <a:lnTo>
                    <a:pt x="1476870" y="1884337"/>
                  </a:lnTo>
                  <a:lnTo>
                    <a:pt x="1477403" y="1885784"/>
                  </a:lnTo>
                  <a:lnTo>
                    <a:pt x="1477670" y="1887004"/>
                  </a:lnTo>
                  <a:lnTo>
                    <a:pt x="1477860" y="1887753"/>
                  </a:lnTo>
                  <a:lnTo>
                    <a:pt x="1478026" y="1889023"/>
                  </a:lnTo>
                  <a:lnTo>
                    <a:pt x="1478064" y="2006384"/>
                  </a:lnTo>
                  <a:lnTo>
                    <a:pt x="1477670" y="2008403"/>
                  </a:lnTo>
                  <a:lnTo>
                    <a:pt x="1477175" y="2010346"/>
                  </a:lnTo>
                  <a:lnTo>
                    <a:pt x="1476870" y="2011083"/>
                  </a:lnTo>
                  <a:lnTo>
                    <a:pt x="1476451" y="2012213"/>
                  </a:lnTo>
                  <a:lnTo>
                    <a:pt x="1475867" y="2013331"/>
                  </a:lnTo>
                  <a:lnTo>
                    <a:pt x="1475562" y="2013978"/>
                  </a:lnTo>
                  <a:lnTo>
                    <a:pt x="1475193" y="2014512"/>
                  </a:lnTo>
                  <a:lnTo>
                    <a:pt x="1474508" y="2015642"/>
                  </a:lnTo>
                  <a:lnTo>
                    <a:pt x="1473301" y="2017191"/>
                  </a:lnTo>
                  <a:lnTo>
                    <a:pt x="1472704" y="2017801"/>
                  </a:lnTo>
                  <a:lnTo>
                    <a:pt x="1471955" y="2018626"/>
                  </a:lnTo>
                  <a:lnTo>
                    <a:pt x="1470469" y="2019935"/>
                  </a:lnTo>
                  <a:lnTo>
                    <a:pt x="1469402" y="2020684"/>
                  </a:lnTo>
                  <a:lnTo>
                    <a:pt x="1469110" y="2020925"/>
                  </a:lnTo>
                  <a:lnTo>
                    <a:pt x="1468869" y="2021090"/>
                  </a:lnTo>
                  <a:lnTo>
                    <a:pt x="1467154" y="2022081"/>
                  </a:lnTo>
                  <a:lnTo>
                    <a:pt x="1465351" y="2022919"/>
                  </a:lnTo>
                  <a:lnTo>
                    <a:pt x="1464068" y="2023338"/>
                  </a:lnTo>
                  <a:lnTo>
                    <a:pt x="1463802" y="2023440"/>
                  </a:lnTo>
                  <a:lnTo>
                    <a:pt x="1462125" y="2023872"/>
                  </a:lnTo>
                  <a:lnTo>
                    <a:pt x="1462290" y="2023872"/>
                  </a:lnTo>
                  <a:lnTo>
                    <a:pt x="1461871" y="2023948"/>
                  </a:lnTo>
                  <a:lnTo>
                    <a:pt x="1459979" y="2024227"/>
                  </a:lnTo>
                  <a:lnTo>
                    <a:pt x="33286" y="2024227"/>
                  </a:lnTo>
                  <a:lnTo>
                    <a:pt x="32016" y="2024037"/>
                  </a:lnTo>
                  <a:lnTo>
                    <a:pt x="31419" y="2023948"/>
                  </a:lnTo>
                  <a:lnTo>
                    <a:pt x="31051" y="2023897"/>
                  </a:lnTo>
                  <a:lnTo>
                    <a:pt x="23850" y="2020684"/>
                  </a:lnTo>
                  <a:lnTo>
                    <a:pt x="22796" y="2019935"/>
                  </a:lnTo>
                  <a:lnTo>
                    <a:pt x="21310" y="2018626"/>
                  </a:lnTo>
                  <a:lnTo>
                    <a:pt x="20548" y="2017801"/>
                  </a:lnTo>
                  <a:lnTo>
                    <a:pt x="19951" y="2017191"/>
                  </a:lnTo>
                  <a:lnTo>
                    <a:pt x="18757" y="2015642"/>
                  </a:lnTo>
                  <a:lnTo>
                    <a:pt x="18072" y="2014512"/>
                  </a:lnTo>
                  <a:lnTo>
                    <a:pt x="17703" y="2013978"/>
                  </a:lnTo>
                  <a:lnTo>
                    <a:pt x="17386" y="2013331"/>
                  </a:lnTo>
                  <a:lnTo>
                    <a:pt x="16802" y="2012213"/>
                  </a:lnTo>
                  <a:lnTo>
                    <a:pt x="16395" y="2011083"/>
                  </a:lnTo>
                  <a:lnTo>
                    <a:pt x="16090" y="2010346"/>
                  </a:lnTo>
                  <a:lnTo>
                    <a:pt x="15582" y="2008403"/>
                  </a:lnTo>
                  <a:lnTo>
                    <a:pt x="15201" y="2006384"/>
                  </a:lnTo>
                  <a:lnTo>
                    <a:pt x="15240" y="1889023"/>
                  </a:lnTo>
                  <a:lnTo>
                    <a:pt x="15392" y="1887753"/>
                  </a:lnTo>
                  <a:lnTo>
                    <a:pt x="15582" y="1887004"/>
                  </a:lnTo>
                  <a:lnTo>
                    <a:pt x="15862" y="1885784"/>
                  </a:lnTo>
                  <a:lnTo>
                    <a:pt x="16395" y="1884337"/>
                  </a:lnTo>
                  <a:lnTo>
                    <a:pt x="16510" y="1883892"/>
                  </a:lnTo>
                  <a:lnTo>
                    <a:pt x="16840" y="1883206"/>
                  </a:lnTo>
                  <a:lnTo>
                    <a:pt x="17348" y="1882089"/>
                  </a:lnTo>
                  <a:lnTo>
                    <a:pt x="18072" y="1880895"/>
                  </a:lnTo>
                  <a:lnTo>
                    <a:pt x="18338" y="1880374"/>
                  </a:lnTo>
                  <a:lnTo>
                    <a:pt x="19494" y="1878774"/>
                  </a:lnTo>
                  <a:lnTo>
                    <a:pt x="20548" y="1877618"/>
                  </a:lnTo>
                  <a:lnTo>
                    <a:pt x="20802" y="1877288"/>
                  </a:lnTo>
                  <a:lnTo>
                    <a:pt x="21374" y="1876780"/>
                  </a:lnTo>
                  <a:lnTo>
                    <a:pt x="22237" y="1875942"/>
                  </a:lnTo>
                  <a:lnTo>
                    <a:pt x="22847" y="1875485"/>
                  </a:lnTo>
                  <a:lnTo>
                    <a:pt x="23787" y="1874735"/>
                  </a:lnTo>
                  <a:lnTo>
                    <a:pt x="24155" y="1874494"/>
                  </a:lnTo>
                  <a:lnTo>
                    <a:pt x="24460" y="1874329"/>
                  </a:lnTo>
                  <a:lnTo>
                    <a:pt x="25450" y="1873681"/>
                  </a:lnTo>
                  <a:lnTo>
                    <a:pt x="26187" y="1873326"/>
                  </a:lnTo>
                  <a:lnTo>
                    <a:pt x="27216" y="1872792"/>
                  </a:lnTo>
                  <a:lnTo>
                    <a:pt x="28028" y="1872500"/>
                  </a:lnTo>
                  <a:lnTo>
                    <a:pt x="29083" y="1872068"/>
                  </a:lnTo>
                  <a:lnTo>
                    <a:pt x="29946" y="1871853"/>
                  </a:lnTo>
                  <a:lnTo>
                    <a:pt x="31178" y="1871535"/>
                  </a:lnTo>
                  <a:lnTo>
                    <a:pt x="31026" y="1871535"/>
                  </a:lnTo>
                  <a:lnTo>
                    <a:pt x="31407" y="1871484"/>
                  </a:lnTo>
                  <a:lnTo>
                    <a:pt x="32016" y="1871383"/>
                  </a:lnTo>
                  <a:lnTo>
                    <a:pt x="34277" y="1871040"/>
                  </a:lnTo>
                  <a:lnTo>
                    <a:pt x="1458976" y="1871040"/>
                  </a:lnTo>
                  <a:lnTo>
                    <a:pt x="1461846" y="1871484"/>
                  </a:lnTo>
                  <a:lnTo>
                    <a:pt x="1461236" y="1871383"/>
                  </a:lnTo>
                  <a:lnTo>
                    <a:pt x="1461490" y="1871383"/>
                  </a:lnTo>
                  <a:lnTo>
                    <a:pt x="1461846" y="1871484"/>
                  </a:lnTo>
                  <a:lnTo>
                    <a:pt x="1463306" y="1871853"/>
                  </a:lnTo>
                  <a:lnTo>
                    <a:pt x="1463459" y="1871853"/>
                  </a:lnTo>
                  <a:lnTo>
                    <a:pt x="1487525" y="1871853"/>
                  </a:lnTo>
                  <a:lnTo>
                    <a:pt x="1487335" y="1871535"/>
                  </a:lnTo>
                  <a:lnTo>
                    <a:pt x="1487220" y="1871383"/>
                  </a:lnTo>
                  <a:lnTo>
                    <a:pt x="1486966" y="1871040"/>
                  </a:lnTo>
                  <a:lnTo>
                    <a:pt x="1485277" y="1868805"/>
                  </a:lnTo>
                  <a:lnTo>
                    <a:pt x="1457909" y="1855800"/>
                  </a:lnTo>
                  <a:lnTo>
                    <a:pt x="35344" y="1855800"/>
                  </a:lnTo>
                  <a:lnTo>
                    <a:pt x="4013" y="1874735"/>
                  </a:lnTo>
                  <a:lnTo>
                    <a:pt x="2628" y="1877618"/>
                  </a:lnTo>
                  <a:lnTo>
                    <a:pt x="1422" y="1880895"/>
                  </a:lnTo>
                  <a:lnTo>
                    <a:pt x="546" y="1884337"/>
                  </a:lnTo>
                  <a:lnTo>
                    <a:pt x="431" y="1885061"/>
                  </a:lnTo>
                  <a:lnTo>
                    <a:pt x="317" y="1885784"/>
                  </a:lnTo>
                  <a:lnTo>
                    <a:pt x="25" y="1887753"/>
                  </a:lnTo>
                  <a:lnTo>
                    <a:pt x="0" y="2007539"/>
                  </a:lnTo>
                  <a:lnTo>
                    <a:pt x="546" y="2011083"/>
                  </a:lnTo>
                  <a:lnTo>
                    <a:pt x="4229" y="2021090"/>
                  </a:lnTo>
                  <a:lnTo>
                    <a:pt x="5918" y="2023872"/>
                  </a:lnTo>
                  <a:lnTo>
                    <a:pt x="15062" y="2033143"/>
                  </a:lnTo>
                  <a:lnTo>
                    <a:pt x="12814" y="2034819"/>
                  </a:lnTo>
                  <a:lnTo>
                    <a:pt x="4013" y="2045601"/>
                  </a:lnTo>
                  <a:lnTo>
                    <a:pt x="2628" y="2048484"/>
                  </a:lnTo>
                  <a:lnTo>
                    <a:pt x="1422" y="2051773"/>
                  </a:lnTo>
                  <a:lnTo>
                    <a:pt x="546" y="2055190"/>
                  </a:lnTo>
                  <a:lnTo>
                    <a:pt x="431" y="2055926"/>
                  </a:lnTo>
                  <a:lnTo>
                    <a:pt x="317" y="2056650"/>
                  </a:lnTo>
                  <a:lnTo>
                    <a:pt x="25" y="2058619"/>
                  </a:lnTo>
                  <a:lnTo>
                    <a:pt x="0" y="2178405"/>
                  </a:lnTo>
                  <a:lnTo>
                    <a:pt x="546" y="2181949"/>
                  </a:lnTo>
                  <a:lnTo>
                    <a:pt x="28346" y="2209762"/>
                  </a:lnTo>
                  <a:lnTo>
                    <a:pt x="35344" y="2210473"/>
                  </a:lnTo>
                  <a:lnTo>
                    <a:pt x="1280579" y="2210473"/>
                  </a:lnTo>
                  <a:lnTo>
                    <a:pt x="1309878" y="2194903"/>
                  </a:lnTo>
                  <a:lnTo>
                    <a:pt x="1310005" y="2194737"/>
                  </a:lnTo>
                  <a:lnTo>
                    <a:pt x="1310182" y="2194433"/>
                  </a:lnTo>
                  <a:lnTo>
                    <a:pt x="1311795" y="2191791"/>
                  </a:lnTo>
                  <a:lnTo>
                    <a:pt x="1311910" y="2191537"/>
                  </a:lnTo>
                  <a:lnTo>
                    <a:pt x="1313294" y="2188667"/>
                  </a:lnTo>
                  <a:lnTo>
                    <a:pt x="1314500" y="2185378"/>
                  </a:lnTo>
                  <a:lnTo>
                    <a:pt x="1315389" y="2181949"/>
                  </a:lnTo>
                  <a:lnTo>
                    <a:pt x="1315491" y="2181225"/>
                  </a:lnTo>
                  <a:lnTo>
                    <a:pt x="1315605" y="2180501"/>
                  </a:lnTo>
                  <a:lnTo>
                    <a:pt x="1315923" y="2178405"/>
                  </a:lnTo>
                  <a:lnTo>
                    <a:pt x="1315910" y="2058619"/>
                  </a:lnTo>
                  <a:lnTo>
                    <a:pt x="1315796" y="2057882"/>
                  </a:lnTo>
                  <a:lnTo>
                    <a:pt x="1315389" y="2055190"/>
                  </a:lnTo>
                  <a:lnTo>
                    <a:pt x="1315275" y="2054758"/>
                  </a:lnTo>
                  <a:lnTo>
                    <a:pt x="1314500" y="2051773"/>
                  </a:lnTo>
                  <a:lnTo>
                    <a:pt x="1313294" y="2048484"/>
                  </a:lnTo>
                  <a:lnTo>
                    <a:pt x="1311795" y="2045360"/>
                  </a:lnTo>
                  <a:lnTo>
                    <a:pt x="1311694" y="2045195"/>
                  </a:lnTo>
                  <a:lnTo>
                    <a:pt x="1310309" y="2042934"/>
                  </a:lnTo>
                  <a:lnTo>
                    <a:pt x="1286840" y="2042934"/>
                  </a:lnTo>
                  <a:lnTo>
                    <a:pt x="1287919" y="2043366"/>
                  </a:lnTo>
                  <a:lnTo>
                    <a:pt x="1288694" y="2043658"/>
                  </a:lnTo>
                  <a:lnTo>
                    <a:pt x="1289723" y="2044192"/>
                  </a:lnTo>
                  <a:lnTo>
                    <a:pt x="1290459" y="2044547"/>
                  </a:lnTo>
                  <a:lnTo>
                    <a:pt x="1291463" y="2045195"/>
                  </a:lnTo>
                  <a:lnTo>
                    <a:pt x="1291767" y="2045360"/>
                  </a:lnTo>
                  <a:lnTo>
                    <a:pt x="1292136" y="2045601"/>
                  </a:lnTo>
                  <a:lnTo>
                    <a:pt x="1293063" y="2046351"/>
                  </a:lnTo>
                  <a:lnTo>
                    <a:pt x="1293698" y="2046808"/>
                  </a:lnTo>
                  <a:lnTo>
                    <a:pt x="1294561" y="2047646"/>
                  </a:lnTo>
                  <a:lnTo>
                    <a:pt x="1295133" y="2048167"/>
                  </a:lnTo>
                  <a:lnTo>
                    <a:pt x="1295374" y="2048484"/>
                  </a:lnTo>
                  <a:lnTo>
                    <a:pt x="1296428" y="2049640"/>
                  </a:lnTo>
                  <a:lnTo>
                    <a:pt x="1297114" y="2050630"/>
                  </a:lnTo>
                  <a:lnTo>
                    <a:pt x="1297571" y="2051240"/>
                  </a:lnTo>
                  <a:lnTo>
                    <a:pt x="1297863" y="2051773"/>
                  </a:lnTo>
                  <a:lnTo>
                    <a:pt x="1298575" y="2052955"/>
                  </a:lnTo>
                  <a:lnTo>
                    <a:pt x="1299400" y="2054758"/>
                  </a:lnTo>
                  <a:lnTo>
                    <a:pt x="1299527" y="2055190"/>
                  </a:lnTo>
                  <a:lnTo>
                    <a:pt x="1300060" y="2056650"/>
                  </a:lnTo>
                  <a:lnTo>
                    <a:pt x="1300327" y="2057882"/>
                  </a:lnTo>
                  <a:lnTo>
                    <a:pt x="1300518" y="2058619"/>
                  </a:lnTo>
                  <a:lnTo>
                    <a:pt x="1300505" y="2058746"/>
                  </a:lnTo>
                  <a:lnTo>
                    <a:pt x="1300683" y="2059901"/>
                  </a:lnTo>
                  <a:lnTo>
                    <a:pt x="1300721" y="2177250"/>
                  </a:lnTo>
                  <a:lnTo>
                    <a:pt x="1300327" y="2179269"/>
                  </a:lnTo>
                  <a:lnTo>
                    <a:pt x="1299832" y="2181225"/>
                  </a:lnTo>
                  <a:lnTo>
                    <a:pt x="1299527" y="2181949"/>
                  </a:lnTo>
                  <a:lnTo>
                    <a:pt x="1299108" y="2183079"/>
                  </a:lnTo>
                  <a:lnTo>
                    <a:pt x="1298232" y="2184844"/>
                  </a:lnTo>
                  <a:lnTo>
                    <a:pt x="1297863" y="2185378"/>
                  </a:lnTo>
                  <a:lnTo>
                    <a:pt x="1297165" y="2186508"/>
                  </a:lnTo>
                  <a:lnTo>
                    <a:pt x="1296377" y="2187511"/>
                  </a:lnTo>
                  <a:lnTo>
                    <a:pt x="1295958" y="2188070"/>
                  </a:lnTo>
                  <a:lnTo>
                    <a:pt x="1295374" y="2188667"/>
                  </a:lnTo>
                  <a:lnTo>
                    <a:pt x="1288605" y="2193493"/>
                  </a:lnTo>
                  <a:lnTo>
                    <a:pt x="1288021" y="2193772"/>
                  </a:lnTo>
                  <a:lnTo>
                    <a:pt x="1286446" y="2194318"/>
                  </a:lnTo>
                  <a:lnTo>
                    <a:pt x="1284795" y="2194737"/>
                  </a:lnTo>
                  <a:lnTo>
                    <a:pt x="1284947" y="2194737"/>
                  </a:lnTo>
                  <a:lnTo>
                    <a:pt x="1284541" y="2194801"/>
                  </a:lnTo>
                  <a:lnTo>
                    <a:pt x="1282636" y="2195093"/>
                  </a:lnTo>
                  <a:lnTo>
                    <a:pt x="33286" y="2195093"/>
                  </a:lnTo>
                  <a:lnTo>
                    <a:pt x="32029" y="2194903"/>
                  </a:lnTo>
                  <a:lnTo>
                    <a:pt x="31394" y="2194814"/>
                  </a:lnTo>
                  <a:lnTo>
                    <a:pt x="31013" y="2194750"/>
                  </a:lnTo>
                  <a:lnTo>
                    <a:pt x="31140" y="2194737"/>
                  </a:lnTo>
                  <a:lnTo>
                    <a:pt x="29946" y="2194433"/>
                  </a:lnTo>
                  <a:lnTo>
                    <a:pt x="29197" y="2194229"/>
                  </a:lnTo>
                  <a:lnTo>
                    <a:pt x="27914" y="2193772"/>
                  </a:lnTo>
                  <a:lnTo>
                    <a:pt x="27317" y="2193493"/>
                  </a:lnTo>
                  <a:lnTo>
                    <a:pt x="26098" y="2192959"/>
                  </a:lnTo>
                  <a:lnTo>
                    <a:pt x="24396" y="2191943"/>
                  </a:lnTo>
                  <a:lnTo>
                    <a:pt x="24168" y="2191791"/>
                  </a:lnTo>
                  <a:lnTo>
                    <a:pt x="23850" y="2191537"/>
                  </a:lnTo>
                  <a:lnTo>
                    <a:pt x="22796" y="2190800"/>
                  </a:lnTo>
                  <a:lnTo>
                    <a:pt x="22275" y="2190331"/>
                  </a:lnTo>
                  <a:lnTo>
                    <a:pt x="21310" y="2189505"/>
                  </a:lnTo>
                  <a:lnTo>
                    <a:pt x="20548" y="2188667"/>
                  </a:lnTo>
                  <a:lnTo>
                    <a:pt x="19964" y="2188070"/>
                  </a:lnTo>
                  <a:lnTo>
                    <a:pt x="18757" y="2186508"/>
                  </a:lnTo>
                  <a:lnTo>
                    <a:pt x="18059" y="2185378"/>
                  </a:lnTo>
                  <a:lnTo>
                    <a:pt x="17703" y="2184844"/>
                  </a:lnTo>
                  <a:lnTo>
                    <a:pt x="17386" y="2184196"/>
                  </a:lnTo>
                  <a:lnTo>
                    <a:pt x="16802" y="2183079"/>
                  </a:lnTo>
                  <a:lnTo>
                    <a:pt x="16395" y="2181949"/>
                  </a:lnTo>
                  <a:lnTo>
                    <a:pt x="16090" y="2181225"/>
                  </a:lnTo>
                  <a:lnTo>
                    <a:pt x="15582" y="2179269"/>
                  </a:lnTo>
                  <a:lnTo>
                    <a:pt x="15201" y="2177250"/>
                  </a:lnTo>
                  <a:lnTo>
                    <a:pt x="15240" y="2059901"/>
                  </a:lnTo>
                  <a:lnTo>
                    <a:pt x="15417" y="2058746"/>
                  </a:lnTo>
                  <a:lnTo>
                    <a:pt x="15392" y="2058619"/>
                  </a:lnTo>
                  <a:lnTo>
                    <a:pt x="15582" y="2057882"/>
                  </a:lnTo>
                  <a:lnTo>
                    <a:pt x="15862" y="2056650"/>
                  </a:lnTo>
                  <a:lnTo>
                    <a:pt x="16395" y="2055190"/>
                  </a:lnTo>
                  <a:lnTo>
                    <a:pt x="16510" y="2054758"/>
                  </a:lnTo>
                  <a:lnTo>
                    <a:pt x="16840" y="2054072"/>
                  </a:lnTo>
                  <a:lnTo>
                    <a:pt x="17348" y="2052955"/>
                  </a:lnTo>
                  <a:lnTo>
                    <a:pt x="18059" y="2051773"/>
                  </a:lnTo>
                  <a:lnTo>
                    <a:pt x="18338" y="2051240"/>
                  </a:lnTo>
                  <a:lnTo>
                    <a:pt x="18796" y="2050630"/>
                  </a:lnTo>
                  <a:lnTo>
                    <a:pt x="19494" y="2049640"/>
                  </a:lnTo>
                  <a:lnTo>
                    <a:pt x="20548" y="2048484"/>
                  </a:lnTo>
                  <a:lnTo>
                    <a:pt x="20802" y="2048167"/>
                  </a:lnTo>
                  <a:lnTo>
                    <a:pt x="22237" y="2046808"/>
                  </a:lnTo>
                  <a:lnTo>
                    <a:pt x="22860" y="2046351"/>
                  </a:lnTo>
                  <a:lnTo>
                    <a:pt x="23787" y="2045601"/>
                  </a:lnTo>
                  <a:lnTo>
                    <a:pt x="24155" y="2045360"/>
                  </a:lnTo>
                  <a:lnTo>
                    <a:pt x="24447" y="2045195"/>
                  </a:lnTo>
                  <a:lnTo>
                    <a:pt x="25450" y="2044547"/>
                  </a:lnTo>
                  <a:lnTo>
                    <a:pt x="26200" y="2044192"/>
                  </a:lnTo>
                  <a:lnTo>
                    <a:pt x="27216" y="2043658"/>
                  </a:lnTo>
                  <a:lnTo>
                    <a:pt x="27990" y="2043366"/>
                  </a:lnTo>
                  <a:lnTo>
                    <a:pt x="29083" y="2042934"/>
                  </a:lnTo>
                  <a:lnTo>
                    <a:pt x="29946" y="2042706"/>
                  </a:lnTo>
                  <a:lnTo>
                    <a:pt x="31178" y="2042388"/>
                  </a:lnTo>
                  <a:lnTo>
                    <a:pt x="31026" y="2042388"/>
                  </a:lnTo>
                  <a:lnTo>
                    <a:pt x="31394" y="2042337"/>
                  </a:lnTo>
                  <a:lnTo>
                    <a:pt x="32029" y="2042236"/>
                  </a:lnTo>
                  <a:lnTo>
                    <a:pt x="34213" y="2041906"/>
                  </a:lnTo>
                  <a:lnTo>
                    <a:pt x="1281696" y="2041906"/>
                  </a:lnTo>
                  <a:lnTo>
                    <a:pt x="1284503" y="2042337"/>
                  </a:lnTo>
                  <a:lnTo>
                    <a:pt x="1283893" y="2042236"/>
                  </a:lnTo>
                  <a:lnTo>
                    <a:pt x="1284147" y="2042236"/>
                  </a:lnTo>
                  <a:lnTo>
                    <a:pt x="1284503" y="2042337"/>
                  </a:lnTo>
                  <a:lnTo>
                    <a:pt x="1285963" y="2042706"/>
                  </a:lnTo>
                  <a:lnTo>
                    <a:pt x="1286116" y="2042706"/>
                  </a:lnTo>
                  <a:lnTo>
                    <a:pt x="1310182" y="2042706"/>
                  </a:lnTo>
                  <a:lnTo>
                    <a:pt x="1309992" y="2042388"/>
                  </a:lnTo>
                  <a:lnTo>
                    <a:pt x="1309878" y="2042236"/>
                  </a:lnTo>
                  <a:lnTo>
                    <a:pt x="1309624" y="2041906"/>
                  </a:lnTo>
                  <a:lnTo>
                    <a:pt x="1307947" y="2039658"/>
                  </a:lnTo>
                  <a:lnTo>
                    <a:pt x="1457909" y="2039607"/>
                  </a:lnTo>
                  <a:lnTo>
                    <a:pt x="1461363" y="2039442"/>
                  </a:lnTo>
                  <a:lnTo>
                    <a:pt x="1487220" y="2024037"/>
                  </a:lnTo>
                  <a:lnTo>
                    <a:pt x="1487347" y="2023872"/>
                  </a:lnTo>
                  <a:lnTo>
                    <a:pt x="1487525" y="2023567"/>
                  </a:lnTo>
                  <a:lnTo>
                    <a:pt x="1489138" y="2020925"/>
                  </a:lnTo>
                  <a:lnTo>
                    <a:pt x="1489252" y="2020684"/>
                  </a:lnTo>
                  <a:lnTo>
                    <a:pt x="1492935" y="2009622"/>
                  </a:lnTo>
                  <a:lnTo>
                    <a:pt x="1493253" y="2007539"/>
                  </a:lnTo>
                  <a:close/>
                </a:path>
                <a:path w="2345054" h="2540000">
                  <a:moveTo>
                    <a:pt x="2344813" y="2315349"/>
                  </a:moveTo>
                  <a:lnTo>
                    <a:pt x="2344064" y="2310485"/>
                  </a:lnTo>
                  <a:lnTo>
                    <a:pt x="2343975" y="2310155"/>
                  </a:lnTo>
                  <a:lnTo>
                    <a:pt x="2343912" y="2309863"/>
                  </a:lnTo>
                  <a:lnTo>
                    <a:pt x="2329637" y="2284488"/>
                  </a:lnTo>
                  <a:lnTo>
                    <a:pt x="2329637" y="2493530"/>
                  </a:lnTo>
                  <a:lnTo>
                    <a:pt x="2329396" y="2494965"/>
                  </a:lnTo>
                  <a:lnTo>
                    <a:pt x="2329065" y="2497150"/>
                  </a:lnTo>
                  <a:lnTo>
                    <a:pt x="2328354" y="2499741"/>
                  </a:lnTo>
                  <a:lnTo>
                    <a:pt x="2328291" y="2500084"/>
                  </a:lnTo>
                  <a:lnTo>
                    <a:pt x="2328164" y="2500465"/>
                  </a:lnTo>
                  <a:lnTo>
                    <a:pt x="2327211" y="2502941"/>
                  </a:lnTo>
                  <a:lnTo>
                    <a:pt x="2327084" y="2503335"/>
                  </a:lnTo>
                  <a:lnTo>
                    <a:pt x="2326970" y="2503627"/>
                  </a:lnTo>
                  <a:lnTo>
                    <a:pt x="2326449" y="2504617"/>
                  </a:lnTo>
                  <a:lnTo>
                    <a:pt x="2325801" y="2505989"/>
                  </a:lnTo>
                  <a:lnTo>
                    <a:pt x="2325687" y="2506256"/>
                  </a:lnTo>
                  <a:lnTo>
                    <a:pt x="2325484" y="2506649"/>
                  </a:lnTo>
                  <a:lnTo>
                    <a:pt x="2324087" y="2508872"/>
                  </a:lnTo>
                  <a:lnTo>
                    <a:pt x="2323884" y="2509228"/>
                  </a:lnTo>
                  <a:lnTo>
                    <a:pt x="2315641" y="2517711"/>
                  </a:lnTo>
                  <a:lnTo>
                    <a:pt x="2314791" y="2518346"/>
                  </a:lnTo>
                  <a:lnTo>
                    <a:pt x="2314587" y="2518524"/>
                  </a:lnTo>
                  <a:lnTo>
                    <a:pt x="2314232" y="2518765"/>
                  </a:lnTo>
                  <a:lnTo>
                    <a:pt x="2311933" y="2520111"/>
                  </a:lnTo>
                  <a:lnTo>
                    <a:pt x="2311717" y="2520277"/>
                  </a:lnTo>
                  <a:lnTo>
                    <a:pt x="2302357" y="2523706"/>
                  </a:lnTo>
                  <a:lnTo>
                    <a:pt x="2302522" y="2523706"/>
                  </a:lnTo>
                  <a:lnTo>
                    <a:pt x="2298789" y="2524277"/>
                  </a:lnTo>
                  <a:lnTo>
                    <a:pt x="1424419" y="2524277"/>
                  </a:lnTo>
                  <a:lnTo>
                    <a:pt x="1420672" y="2523706"/>
                  </a:lnTo>
                  <a:lnTo>
                    <a:pt x="1420837" y="2523706"/>
                  </a:lnTo>
                  <a:lnTo>
                    <a:pt x="1417485" y="2522804"/>
                  </a:lnTo>
                  <a:lnTo>
                    <a:pt x="1411262" y="2520111"/>
                  </a:lnTo>
                  <a:lnTo>
                    <a:pt x="1408963" y="2518765"/>
                  </a:lnTo>
                  <a:lnTo>
                    <a:pt x="1408607" y="2518524"/>
                  </a:lnTo>
                  <a:lnTo>
                    <a:pt x="1407553" y="2517711"/>
                  </a:lnTo>
                  <a:lnTo>
                    <a:pt x="1406271" y="2516797"/>
                  </a:lnTo>
                  <a:lnTo>
                    <a:pt x="1399108" y="2508872"/>
                  </a:lnTo>
                  <a:lnTo>
                    <a:pt x="1397711" y="2506649"/>
                  </a:lnTo>
                  <a:lnTo>
                    <a:pt x="1397508" y="2506256"/>
                  </a:lnTo>
                  <a:lnTo>
                    <a:pt x="1397393" y="2505989"/>
                  </a:lnTo>
                  <a:lnTo>
                    <a:pt x="1396746" y="2504617"/>
                  </a:lnTo>
                  <a:lnTo>
                    <a:pt x="1396225" y="2503627"/>
                  </a:lnTo>
                  <a:lnTo>
                    <a:pt x="1396111" y="2503335"/>
                  </a:lnTo>
                  <a:lnTo>
                    <a:pt x="1395984" y="2502941"/>
                  </a:lnTo>
                  <a:lnTo>
                    <a:pt x="1395031" y="2500465"/>
                  </a:lnTo>
                  <a:lnTo>
                    <a:pt x="1394917" y="2500084"/>
                  </a:lnTo>
                  <a:lnTo>
                    <a:pt x="1394841" y="2499741"/>
                  </a:lnTo>
                  <a:lnTo>
                    <a:pt x="1394142" y="2497150"/>
                  </a:lnTo>
                  <a:lnTo>
                    <a:pt x="1394028" y="2496413"/>
                  </a:lnTo>
                  <a:lnTo>
                    <a:pt x="1393571" y="2493530"/>
                  </a:lnTo>
                  <a:lnTo>
                    <a:pt x="1393583" y="2316797"/>
                  </a:lnTo>
                  <a:lnTo>
                    <a:pt x="1393799" y="2315349"/>
                  </a:lnTo>
                  <a:lnTo>
                    <a:pt x="1393990" y="2313914"/>
                  </a:lnTo>
                  <a:lnTo>
                    <a:pt x="1394053" y="2313559"/>
                  </a:lnTo>
                  <a:lnTo>
                    <a:pt x="1394180" y="2313165"/>
                  </a:lnTo>
                  <a:lnTo>
                    <a:pt x="1394841" y="2310485"/>
                  </a:lnTo>
                  <a:lnTo>
                    <a:pt x="1394942" y="2310155"/>
                  </a:lnTo>
                  <a:lnTo>
                    <a:pt x="1395069" y="2309863"/>
                  </a:lnTo>
                  <a:lnTo>
                    <a:pt x="1395933" y="2307386"/>
                  </a:lnTo>
                  <a:lnTo>
                    <a:pt x="1396085" y="2307018"/>
                  </a:lnTo>
                  <a:lnTo>
                    <a:pt x="1396263" y="2306701"/>
                  </a:lnTo>
                  <a:lnTo>
                    <a:pt x="1397368" y="2304338"/>
                  </a:lnTo>
                  <a:lnTo>
                    <a:pt x="1399070" y="2301456"/>
                  </a:lnTo>
                  <a:lnTo>
                    <a:pt x="1399298" y="2301113"/>
                  </a:lnTo>
                  <a:lnTo>
                    <a:pt x="1399527" y="2300846"/>
                  </a:lnTo>
                  <a:lnTo>
                    <a:pt x="1401051" y="2298763"/>
                  </a:lnTo>
                  <a:lnTo>
                    <a:pt x="1402880" y="2296744"/>
                  </a:lnTo>
                  <a:lnTo>
                    <a:pt x="1403261" y="2296261"/>
                  </a:lnTo>
                  <a:lnTo>
                    <a:pt x="1405712" y="2294001"/>
                  </a:lnTo>
                  <a:lnTo>
                    <a:pt x="1407553" y="2292616"/>
                  </a:lnTo>
                  <a:lnTo>
                    <a:pt x="1408366" y="2291969"/>
                  </a:lnTo>
                  <a:lnTo>
                    <a:pt x="1411198" y="2290203"/>
                  </a:lnTo>
                  <a:lnTo>
                    <a:pt x="1411478" y="2290051"/>
                  </a:lnTo>
                  <a:lnTo>
                    <a:pt x="1411935" y="2289848"/>
                  </a:lnTo>
                  <a:lnTo>
                    <a:pt x="1414208" y="2288717"/>
                  </a:lnTo>
                  <a:lnTo>
                    <a:pt x="1414564" y="2288565"/>
                  </a:lnTo>
                  <a:lnTo>
                    <a:pt x="1414983" y="2288425"/>
                  </a:lnTo>
                  <a:lnTo>
                    <a:pt x="1417675" y="2287422"/>
                  </a:lnTo>
                  <a:lnTo>
                    <a:pt x="1418094" y="2287295"/>
                  </a:lnTo>
                  <a:lnTo>
                    <a:pt x="1417739" y="2287422"/>
                  </a:lnTo>
                  <a:lnTo>
                    <a:pt x="1418247" y="2287295"/>
                  </a:lnTo>
                  <a:lnTo>
                    <a:pt x="1421422" y="2286482"/>
                  </a:lnTo>
                  <a:lnTo>
                    <a:pt x="1421676" y="2286482"/>
                  </a:lnTo>
                  <a:lnTo>
                    <a:pt x="1425778" y="2285847"/>
                  </a:lnTo>
                  <a:lnTo>
                    <a:pt x="2297417" y="2285847"/>
                  </a:lnTo>
                  <a:lnTo>
                    <a:pt x="2301519" y="2286482"/>
                  </a:lnTo>
                  <a:lnTo>
                    <a:pt x="2301773" y="2286482"/>
                  </a:lnTo>
                  <a:lnTo>
                    <a:pt x="2305456" y="2287422"/>
                  </a:lnTo>
                  <a:lnTo>
                    <a:pt x="2305100" y="2287295"/>
                  </a:lnTo>
                  <a:lnTo>
                    <a:pt x="2305520" y="2287422"/>
                  </a:lnTo>
                  <a:lnTo>
                    <a:pt x="2308212" y="2288425"/>
                  </a:lnTo>
                  <a:lnTo>
                    <a:pt x="2308631" y="2288565"/>
                  </a:lnTo>
                  <a:lnTo>
                    <a:pt x="2308999" y="2288717"/>
                  </a:lnTo>
                  <a:lnTo>
                    <a:pt x="2311260" y="2289848"/>
                  </a:lnTo>
                  <a:lnTo>
                    <a:pt x="2311717" y="2290051"/>
                  </a:lnTo>
                  <a:lnTo>
                    <a:pt x="2311997" y="2290203"/>
                  </a:lnTo>
                  <a:lnTo>
                    <a:pt x="2314841" y="2291969"/>
                  </a:lnTo>
                  <a:lnTo>
                    <a:pt x="2315641" y="2292616"/>
                  </a:lnTo>
                  <a:lnTo>
                    <a:pt x="2317483" y="2294001"/>
                  </a:lnTo>
                  <a:lnTo>
                    <a:pt x="2319934" y="2296261"/>
                  </a:lnTo>
                  <a:lnTo>
                    <a:pt x="2320315" y="2296744"/>
                  </a:lnTo>
                  <a:lnTo>
                    <a:pt x="2322157" y="2298763"/>
                  </a:lnTo>
                  <a:lnTo>
                    <a:pt x="2323668" y="2300846"/>
                  </a:lnTo>
                  <a:lnTo>
                    <a:pt x="2323896" y="2301113"/>
                  </a:lnTo>
                  <a:lnTo>
                    <a:pt x="2324125" y="2301456"/>
                  </a:lnTo>
                  <a:lnTo>
                    <a:pt x="2325827" y="2304338"/>
                  </a:lnTo>
                  <a:lnTo>
                    <a:pt x="2326932" y="2306701"/>
                  </a:lnTo>
                  <a:lnTo>
                    <a:pt x="2327110" y="2307018"/>
                  </a:lnTo>
                  <a:lnTo>
                    <a:pt x="2327262" y="2307386"/>
                  </a:lnTo>
                  <a:lnTo>
                    <a:pt x="2328138" y="2309863"/>
                  </a:lnTo>
                  <a:lnTo>
                    <a:pt x="2328253" y="2310155"/>
                  </a:lnTo>
                  <a:lnTo>
                    <a:pt x="2328367" y="2310485"/>
                  </a:lnTo>
                  <a:lnTo>
                    <a:pt x="2329015" y="2313165"/>
                  </a:lnTo>
                  <a:lnTo>
                    <a:pt x="2329142" y="2313559"/>
                  </a:lnTo>
                  <a:lnTo>
                    <a:pt x="2329218" y="2313914"/>
                  </a:lnTo>
                  <a:lnTo>
                    <a:pt x="2329396" y="2315349"/>
                  </a:lnTo>
                  <a:lnTo>
                    <a:pt x="2329611" y="2316797"/>
                  </a:lnTo>
                  <a:lnTo>
                    <a:pt x="2329637" y="2493530"/>
                  </a:lnTo>
                  <a:lnTo>
                    <a:pt x="2329637" y="2284488"/>
                  </a:lnTo>
                  <a:lnTo>
                    <a:pt x="2297709" y="2270683"/>
                  </a:lnTo>
                  <a:lnTo>
                    <a:pt x="1425486" y="2270683"/>
                  </a:lnTo>
                  <a:lnTo>
                    <a:pt x="1389583" y="2288717"/>
                  </a:lnTo>
                  <a:lnTo>
                    <a:pt x="1378394" y="2315349"/>
                  </a:lnTo>
                  <a:lnTo>
                    <a:pt x="1378394" y="2494965"/>
                  </a:lnTo>
                  <a:lnTo>
                    <a:pt x="1379118" y="2499741"/>
                  </a:lnTo>
                  <a:lnTo>
                    <a:pt x="1379194" y="2500084"/>
                  </a:lnTo>
                  <a:lnTo>
                    <a:pt x="1379296" y="2500465"/>
                  </a:lnTo>
                  <a:lnTo>
                    <a:pt x="1380363" y="2504617"/>
                  </a:lnTo>
                  <a:lnTo>
                    <a:pt x="1408620" y="2535796"/>
                  </a:lnTo>
                  <a:lnTo>
                    <a:pt x="1425486" y="2539657"/>
                  </a:lnTo>
                  <a:lnTo>
                    <a:pt x="2297709" y="2539657"/>
                  </a:lnTo>
                  <a:lnTo>
                    <a:pt x="2333675" y="2521547"/>
                  </a:lnTo>
                  <a:lnTo>
                    <a:pt x="2344813" y="2494965"/>
                  </a:lnTo>
                  <a:lnTo>
                    <a:pt x="2344813" y="2315349"/>
                  </a:lnTo>
                  <a:close/>
                </a:path>
              </a:pathLst>
            </a:custGeom>
            <a:solidFill>
              <a:srgbClr val="FF0000"/>
            </a:solidFill>
          </p:spPr>
          <p:txBody>
            <a:bodyPr wrap="square" lIns="0" tIns="0" rIns="0" bIns="0" rtlCol="0"/>
            <a:lstStyle/>
            <a:p>
              <a:endParaRPr/>
            </a:p>
          </p:txBody>
        </p:sp>
        <p:sp>
          <p:nvSpPr>
            <p:cNvPr id="6" name="object 6"/>
            <p:cNvSpPr/>
            <p:nvPr/>
          </p:nvSpPr>
          <p:spPr>
            <a:xfrm>
              <a:off x="1123861" y="2646286"/>
              <a:ext cx="1493520" cy="2595880"/>
            </a:xfrm>
            <a:custGeom>
              <a:avLst/>
              <a:gdLst/>
              <a:ahLst/>
              <a:cxnLst/>
              <a:rect l="l" t="t" r="r" b="b"/>
              <a:pathLst>
                <a:path w="1493520" h="2595879">
                  <a:moveTo>
                    <a:pt x="1043444" y="2375979"/>
                  </a:moveTo>
                  <a:lnTo>
                    <a:pt x="1042746" y="2371394"/>
                  </a:lnTo>
                  <a:lnTo>
                    <a:pt x="1042670" y="2371052"/>
                  </a:lnTo>
                  <a:lnTo>
                    <a:pt x="1042568" y="2370683"/>
                  </a:lnTo>
                  <a:lnTo>
                    <a:pt x="1041501" y="2366518"/>
                  </a:lnTo>
                  <a:lnTo>
                    <a:pt x="1031659" y="2348966"/>
                  </a:lnTo>
                  <a:lnTo>
                    <a:pt x="1005128" y="2348966"/>
                  </a:lnTo>
                  <a:lnTo>
                    <a:pt x="1008214" y="2350122"/>
                  </a:lnTo>
                  <a:lnTo>
                    <a:pt x="1011135" y="2351582"/>
                  </a:lnTo>
                  <a:lnTo>
                    <a:pt x="1013891" y="2353297"/>
                  </a:lnTo>
                  <a:lnTo>
                    <a:pt x="1014349" y="2353678"/>
                  </a:lnTo>
                  <a:lnTo>
                    <a:pt x="1016469" y="2355265"/>
                  </a:lnTo>
                  <a:lnTo>
                    <a:pt x="1018844" y="2357475"/>
                  </a:lnTo>
                  <a:lnTo>
                    <a:pt x="1019022" y="2357729"/>
                  </a:lnTo>
                  <a:lnTo>
                    <a:pt x="1021003" y="2359901"/>
                  </a:lnTo>
                  <a:lnTo>
                    <a:pt x="1022908" y="2362517"/>
                  </a:lnTo>
                  <a:lnTo>
                    <a:pt x="1024572" y="2365324"/>
                  </a:lnTo>
                  <a:lnTo>
                    <a:pt x="1025105" y="2366518"/>
                  </a:lnTo>
                  <a:lnTo>
                    <a:pt x="1025639" y="2367597"/>
                  </a:lnTo>
                  <a:lnTo>
                    <a:pt x="1025804" y="2367902"/>
                  </a:lnTo>
                  <a:lnTo>
                    <a:pt x="1025969" y="2368283"/>
                  </a:lnTo>
                  <a:lnTo>
                    <a:pt x="1026795" y="2370683"/>
                  </a:lnTo>
                  <a:lnTo>
                    <a:pt x="1026960" y="2371052"/>
                  </a:lnTo>
                  <a:lnTo>
                    <a:pt x="1027061" y="2371394"/>
                  </a:lnTo>
                  <a:lnTo>
                    <a:pt x="1027671" y="2373884"/>
                  </a:lnTo>
                  <a:lnTo>
                    <a:pt x="1027785" y="2374277"/>
                  </a:lnTo>
                  <a:lnTo>
                    <a:pt x="1027861" y="2374646"/>
                  </a:lnTo>
                  <a:lnTo>
                    <a:pt x="1028026" y="2375979"/>
                  </a:lnTo>
                  <a:lnTo>
                    <a:pt x="1028242" y="2377427"/>
                  </a:lnTo>
                  <a:lnTo>
                    <a:pt x="1028268" y="2550109"/>
                  </a:lnTo>
                  <a:lnTo>
                    <a:pt x="1027709" y="2553652"/>
                  </a:lnTo>
                  <a:lnTo>
                    <a:pt x="1027023" y="2556141"/>
                  </a:lnTo>
                  <a:lnTo>
                    <a:pt x="1026960" y="2556484"/>
                  </a:lnTo>
                  <a:lnTo>
                    <a:pt x="1026845" y="2556865"/>
                  </a:lnTo>
                  <a:lnTo>
                    <a:pt x="1025677" y="2559939"/>
                  </a:lnTo>
                  <a:lnTo>
                    <a:pt x="1025105" y="2561031"/>
                  </a:lnTo>
                  <a:lnTo>
                    <a:pt x="1024216" y="2562860"/>
                  </a:lnTo>
                  <a:lnTo>
                    <a:pt x="1014361" y="2573845"/>
                  </a:lnTo>
                  <a:lnTo>
                    <a:pt x="1013294" y="2574645"/>
                  </a:lnTo>
                  <a:lnTo>
                    <a:pt x="1010488" y="2576309"/>
                  </a:lnTo>
                  <a:lnTo>
                    <a:pt x="1007706" y="2577617"/>
                  </a:lnTo>
                  <a:lnTo>
                    <a:pt x="1004824" y="2578658"/>
                  </a:lnTo>
                  <a:lnTo>
                    <a:pt x="1001763" y="2579433"/>
                  </a:lnTo>
                  <a:lnTo>
                    <a:pt x="1001915" y="2579433"/>
                  </a:lnTo>
                  <a:lnTo>
                    <a:pt x="998207" y="2580005"/>
                  </a:lnTo>
                  <a:lnTo>
                    <a:pt x="126187" y="2580005"/>
                  </a:lnTo>
                  <a:lnTo>
                    <a:pt x="122478" y="2579433"/>
                  </a:lnTo>
                  <a:lnTo>
                    <a:pt x="122631" y="2579433"/>
                  </a:lnTo>
                  <a:lnTo>
                    <a:pt x="120129" y="2578798"/>
                  </a:lnTo>
                  <a:lnTo>
                    <a:pt x="119367" y="2578570"/>
                  </a:lnTo>
                  <a:lnTo>
                    <a:pt x="119976" y="2578798"/>
                  </a:lnTo>
                  <a:lnTo>
                    <a:pt x="116674" y="2577617"/>
                  </a:lnTo>
                  <a:lnTo>
                    <a:pt x="113906" y="2576309"/>
                  </a:lnTo>
                  <a:lnTo>
                    <a:pt x="111099" y="2574645"/>
                  </a:lnTo>
                  <a:lnTo>
                    <a:pt x="110032" y="2573845"/>
                  </a:lnTo>
                  <a:lnTo>
                    <a:pt x="108483" y="2572728"/>
                  </a:lnTo>
                  <a:lnTo>
                    <a:pt x="99275" y="2561031"/>
                  </a:lnTo>
                  <a:lnTo>
                    <a:pt x="98717" y="2559939"/>
                  </a:lnTo>
                  <a:lnTo>
                    <a:pt x="97548" y="2556865"/>
                  </a:lnTo>
                  <a:lnTo>
                    <a:pt x="97434" y="2556484"/>
                  </a:lnTo>
                  <a:lnTo>
                    <a:pt x="97358" y="2556141"/>
                  </a:lnTo>
                  <a:lnTo>
                    <a:pt x="96685" y="2553652"/>
                  </a:lnTo>
                  <a:lnTo>
                    <a:pt x="96570" y="2552903"/>
                  </a:lnTo>
                  <a:lnTo>
                    <a:pt x="96126" y="2550109"/>
                  </a:lnTo>
                  <a:lnTo>
                    <a:pt x="96139" y="2377427"/>
                  </a:lnTo>
                  <a:lnTo>
                    <a:pt x="96367" y="2375979"/>
                  </a:lnTo>
                  <a:lnTo>
                    <a:pt x="96532" y="2374646"/>
                  </a:lnTo>
                  <a:lnTo>
                    <a:pt x="96608" y="2374277"/>
                  </a:lnTo>
                  <a:lnTo>
                    <a:pt x="96723" y="2373884"/>
                  </a:lnTo>
                  <a:lnTo>
                    <a:pt x="97320" y="2371394"/>
                  </a:lnTo>
                  <a:lnTo>
                    <a:pt x="97434" y="2371052"/>
                  </a:lnTo>
                  <a:lnTo>
                    <a:pt x="97586" y="2370683"/>
                  </a:lnTo>
                  <a:lnTo>
                    <a:pt x="98425" y="2368283"/>
                  </a:lnTo>
                  <a:lnTo>
                    <a:pt x="98590" y="2367902"/>
                  </a:lnTo>
                  <a:lnTo>
                    <a:pt x="98755" y="2367597"/>
                  </a:lnTo>
                  <a:lnTo>
                    <a:pt x="99275" y="2366518"/>
                  </a:lnTo>
                  <a:lnTo>
                    <a:pt x="99809" y="2365324"/>
                  </a:lnTo>
                  <a:lnTo>
                    <a:pt x="101485" y="2362517"/>
                  </a:lnTo>
                  <a:lnTo>
                    <a:pt x="103390" y="2359901"/>
                  </a:lnTo>
                  <a:lnTo>
                    <a:pt x="105371" y="2357729"/>
                  </a:lnTo>
                  <a:lnTo>
                    <a:pt x="105549" y="2357475"/>
                  </a:lnTo>
                  <a:lnTo>
                    <a:pt x="107924" y="2355265"/>
                  </a:lnTo>
                  <a:lnTo>
                    <a:pt x="110045" y="2353678"/>
                  </a:lnTo>
                  <a:lnTo>
                    <a:pt x="110502" y="2353297"/>
                  </a:lnTo>
                  <a:lnTo>
                    <a:pt x="123228" y="2347938"/>
                  </a:lnTo>
                  <a:lnTo>
                    <a:pt x="123494" y="2347938"/>
                  </a:lnTo>
                  <a:lnTo>
                    <a:pt x="127457" y="2347341"/>
                  </a:lnTo>
                  <a:lnTo>
                    <a:pt x="996924" y="2347341"/>
                  </a:lnTo>
                  <a:lnTo>
                    <a:pt x="1000899" y="2347938"/>
                  </a:lnTo>
                  <a:lnTo>
                    <a:pt x="1001166" y="2347938"/>
                  </a:lnTo>
                  <a:lnTo>
                    <a:pt x="1004265" y="2348738"/>
                  </a:lnTo>
                  <a:lnTo>
                    <a:pt x="1004404" y="2348738"/>
                  </a:lnTo>
                  <a:lnTo>
                    <a:pt x="1031455" y="2348738"/>
                  </a:lnTo>
                  <a:lnTo>
                    <a:pt x="997242" y="2332164"/>
                  </a:lnTo>
                  <a:lnTo>
                    <a:pt x="127139" y="2332164"/>
                  </a:lnTo>
                  <a:lnTo>
                    <a:pt x="91935" y="2349843"/>
                  </a:lnTo>
                  <a:lnTo>
                    <a:pt x="80949" y="2375979"/>
                  </a:lnTo>
                  <a:lnTo>
                    <a:pt x="80949" y="2551557"/>
                  </a:lnTo>
                  <a:lnTo>
                    <a:pt x="102273" y="2587079"/>
                  </a:lnTo>
                  <a:lnTo>
                    <a:pt x="127139" y="2595372"/>
                  </a:lnTo>
                  <a:lnTo>
                    <a:pt x="997242" y="2595372"/>
                  </a:lnTo>
                  <a:lnTo>
                    <a:pt x="1030351" y="2580005"/>
                  </a:lnTo>
                  <a:lnTo>
                    <a:pt x="1031455" y="2578798"/>
                  </a:lnTo>
                  <a:lnTo>
                    <a:pt x="1043444" y="2551557"/>
                  </a:lnTo>
                  <a:lnTo>
                    <a:pt x="1043444" y="2375979"/>
                  </a:lnTo>
                  <a:close/>
                </a:path>
                <a:path w="1493520" h="2595879">
                  <a:moveTo>
                    <a:pt x="1051725" y="303085"/>
                  </a:moveTo>
                  <a:lnTo>
                    <a:pt x="1051699" y="183235"/>
                  </a:lnTo>
                  <a:lnTo>
                    <a:pt x="1051585" y="182486"/>
                  </a:lnTo>
                  <a:lnTo>
                    <a:pt x="1051191" y="179819"/>
                  </a:lnTo>
                  <a:lnTo>
                    <a:pt x="1051064" y="179374"/>
                  </a:lnTo>
                  <a:lnTo>
                    <a:pt x="1050302" y="176377"/>
                  </a:lnTo>
                  <a:lnTo>
                    <a:pt x="1049096" y="173088"/>
                  </a:lnTo>
                  <a:lnTo>
                    <a:pt x="1047584" y="169976"/>
                  </a:lnTo>
                  <a:lnTo>
                    <a:pt x="1047483" y="169799"/>
                  </a:lnTo>
                  <a:lnTo>
                    <a:pt x="1046111" y="167538"/>
                  </a:lnTo>
                  <a:lnTo>
                    <a:pt x="1022629" y="167538"/>
                  </a:lnTo>
                  <a:lnTo>
                    <a:pt x="1023683" y="167970"/>
                  </a:lnTo>
                  <a:lnTo>
                    <a:pt x="1024483" y="168262"/>
                  </a:lnTo>
                  <a:lnTo>
                    <a:pt x="1025525" y="168808"/>
                  </a:lnTo>
                  <a:lnTo>
                    <a:pt x="1026261" y="169164"/>
                  </a:lnTo>
                  <a:lnTo>
                    <a:pt x="1027252" y="169799"/>
                  </a:lnTo>
                  <a:lnTo>
                    <a:pt x="1027569" y="169976"/>
                  </a:lnTo>
                  <a:lnTo>
                    <a:pt x="1027925" y="170218"/>
                  </a:lnTo>
                  <a:lnTo>
                    <a:pt x="1029487" y="171411"/>
                  </a:lnTo>
                  <a:lnTo>
                    <a:pt x="1030351" y="172262"/>
                  </a:lnTo>
                  <a:lnTo>
                    <a:pt x="1030922" y="172770"/>
                  </a:lnTo>
                  <a:lnTo>
                    <a:pt x="1031163" y="173088"/>
                  </a:lnTo>
                  <a:lnTo>
                    <a:pt x="1032217" y="174244"/>
                  </a:lnTo>
                  <a:lnTo>
                    <a:pt x="1033373" y="175856"/>
                  </a:lnTo>
                  <a:lnTo>
                    <a:pt x="1033653" y="176377"/>
                  </a:lnTo>
                  <a:lnTo>
                    <a:pt x="1034376" y="177558"/>
                  </a:lnTo>
                  <a:lnTo>
                    <a:pt x="1034872" y="178689"/>
                  </a:lnTo>
                  <a:lnTo>
                    <a:pt x="1035202" y="179374"/>
                  </a:lnTo>
                  <a:lnTo>
                    <a:pt x="1035316" y="179819"/>
                  </a:lnTo>
                  <a:lnTo>
                    <a:pt x="1035850" y="181267"/>
                  </a:lnTo>
                  <a:lnTo>
                    <a:pt x="1036129" y="182486"/>
                  </a:lnTo>
                  <a:lnTo>
                    <a:pt x="1036320" y="183235"/>
                  </a:lnTo>
                  <a:lnTo>
                    <a:pt x="1036485" y="184518"/>
                  </a:lnTo>
                  <a:lnTo>
                    <a:pt x="1036523" y="301929"/>
                  </a:lnTo>
                  <a:lnTo>
                    <a:pt x="1036129" y="303961"/>
                  </a:lnTo>
                  <a:lnTo>
                    <a:pt x="1035634" y="305904"/>
                  </a:lnTo>
                  <a:lnTo>
                    <a:pt x="1035316" y="306628"/>
                  </a:lnTo>
                  <a:lnTo>
                    <a:pt x="1034910" y="307759"/>
                  </a:lnTo>
                  <a:lnTo>
                    <a:pt x="1034021" y="309537"/>
                  </a:lnTo>
                  <a:lnTo>
                    <a:pt x="1033653" y="310070"/>
                  </a:lnTo>
                  <a:lnTo>
                    <a:pt x="1032954" y="311200"/>
                  </a:lnTo>
                  <a:lnTo>
                    <a:pt x="1031760" y="312762"/>
                  </a:lnTo>
                  <a:lnTo>
                    <a:pt x="1031163" y="313359"/>
                  </a:lnTo>
                  <a:lnTo>
                    <a:pt x="1030414" y="314198"/>
                  </a:lnTo>
                  <a:lnTo>
                    <a:pt x="1028928" y="315493"/>
                  </a:lnTo>
                  <a:lnTo>
                    <a:pt x="1027861" y="316242"/>
                  </a:lnTo>
                  <a:lnTo>
                    <a:pt x="1027582" y="316484"/>
                  </a:lnTo>
                  <a:lnTo>
                    <a:pt x="1027315" y="316649"/>
                  </a:lnTo>
                  <a:lnTo>
                    <a:pt x="1025613" y="317652"/>
                  </a:lnTo>
                  <a:lnTo>
                    <a:pt x="1023810" y="318477"/>
                  </a:lnTo>
                  <a:lnTo>
                    <a:pt x="1022515" y="318909"/>
                  </a:lnTo>
                  <a:lnTo>
                    <a:pt x="1022210" y="319024"/>
                  </a:lnTo>
                  <a:lnTo>
                    <a:pt x="1020610" y="319430"/>
                  </a:lnTo>
                  <a:lnTo>
                    <a:pt x="1020787" y="319430"/>
                  </a:lnTo>
                  <a:lnTo>
                    <a:pt x="1020279" y="319519"/>
                  </a:lnTo>
                  <a:lnTo>
                    <a:pt x="1018362" y="319798"/>
                  </a:lnTo>
                  <a:lnTo>
                    <a:pt x="33362" y="319798"/>
                  </a:lnTo>
                  <a:lnTo>
                    <a:pt x="32042" y="319595"/>
                  </a:lnTo>
                  <a:lnTo>
                    <a:pt x="31407" y="319506"/>
                  </a:lnTo>
                  <a:lnTo>
                    <a:pt x="31013" y="319455"/>
                  </a:lnTo>
                  <a:lnTo>
                    <a:pt x="23863" y="316242"/>
                  </a:lnTo>
                  <a:lnTo>
                    <a:pt x="22796" y="315493"/>
                  </a:lnTo>
                  <a:lnTo>
                    <a:pt x="21323" y="314198"/>
                  </a:lnTo>
                  <a:lnTo>
                    <a:pt x="20561" y="313359"/>
                  </a:lnTo>
                  <a:lnTo>
                    <a:pt x="19964" y="312762"/>
                  </a:lnTo>
                  <a:lnTo>
                    <a:pt x="19545" y="312204"/>
                  </a:lnTo>
                  <a:lnTo>
                    <a:pt x="18757" y="311200"/>
                  </a:lnTo>
                  <a:lnTo>
                    <a:pt x="18072" y="310070"/>
                  </a:lnTo>
                  <a:lnTo>
                    <a:pt x="17716" y="309537"/>
                  </a:lnTo>
                  <a:lnTo>
                    <a:pt x="16814" y="307759"/>
                  </a:lnTo>
                  <a:lnTo>
                    <a:pt x="16408" y="306628"/>
                  </a:lnTo>
                  <a:lnTo>
                    <a:pt x="16090" y="305904"/>
                  </a:lnTo>
                  <a:lnTo>
                    <a:pt x="15595" y="303961"/>
                  </a:lnTo>
                  <a:lnTo>
                    <a:pt x="15201" y="301929"/>
                  </a:lnTo>
                  <a:lnTo>
                    <a:pt x="15240" y="184518"/>
                  </a:lnTo>
                  <a:lnTo>
                    <a:pt x="15405" y="183235"/>
                  </a:lnTo>
                  <a:lnTo>
                    <a:pt x="15595" y="182486"/>
                  </a:lnTo>
                  <a:lnTo>
                    <a:pt x="15875" y="181267"/>
                  </a:lnTo>
                  <a:lnTo>
                    <a:pt x="16408" y="179819"/>
                  </a:lnTo>
                  <a:lnTo>
                    <a:pt x="16522" y="179374"/>
                  </a:lnTo>
                  <a:lnTo>
                    <a:pt x="16852" y="178689"/>
                  </a:lnTo>
                  <a:lnTo>
                    <a:pt x="17360" y="177558"/>
                  </a:lnTo>
                  <a:lnTo>
                    <a:pt x="18072" y="176377"/>
                  </a:lnTo>
                  <a:lnTo>
                    <a:pt x="18351" y="175856"/>
                  </a:lnTo>
                  <a:lnTo>
                    <a:pt x="19507" y="174244"/>
                  </a:lnTo>
                  <a:lnTo>
                    <a:pt x="20561" y="173088"/>
                  </a:lnTo>
                  <a:lnTo>
                    <a:pt x="20815" y="172770"/>
                  </a:lnTo>
                  <a:lnTo>
                    <a:pt x="21374" y="172262"/>
                  </a:lnTo>
                  <a:lnTo>
                    <a:pt x="22237" y="171411"/>
                  </a:lnTo>
                  <a:lnTo>
                    <a:pt x="23799" y="170218"/>
                  </a:lnTo>
                  <a:lnTo>
                    <a:pt x="24155" y="169976"/>
                  </a:lnTo>
                  <a:lnTo>
                    <a:pt x="24485" y="169799"/>
                  </a:lnTo>
                  <a:lnTo>
                    <a:pt x="25463" y="169164"/>
                  </a:lnTo>
                  <a:lnTo>
                    <a:pt x="26200" y="168808"/>
                  </a:lnTo>
                  <a:lnTo>
                    <a:pt x="27241" y="168262"/>
                  </a:lnTo>
                  <a:lnTo>
                    <a:pt x="28041" y="167970"/>
                  </a:lnTo>
                  <a:lnTo>
                    <a:pt x="29095" y="167538"/>
                  </a:lnTo>
                  <a:lnTo>
                    <a:pt x="29972" y="167322"/>
                  </a:lnTo>
                  <a:lnTo>
                    <a:pt x="31203" y="167005"/>
                  </a:lnTo>
                  <a:lnTo>
                    <a:pt x="31038" y="167005"/>
                  </a:lnTo>
                  <a:lnTo>
                    <a:pt x="31432" y="166954"/>
                  </a:lnTo>
                  <a:lnTo>
                    <a:pt x="32042" y="166852"/>
                  </a:lnTo>
                  <a:lnTo>
                    <a:pt x="34302" y="166509"/>
                  </a:lnTo>
                  <a:lnTo>
                    <a:pt x="1017422" y="166509"/>
                  </a:lnTo>
                  <a:lnTo>
                    <a:pt x="1020292" y="166954"/>
                  </a:lnTo>
                  <a:lnTo>
                    <a:pt x="1019683" y="166852"/>
                  </a:lnTo>
                  <a:lnTo>
                    <a:pt x="1019937" y="166852"/>
                  </a:lnTo>
                  <a:lnTo>
                    <a:pt x="1020292" y="166954"/>
                  </a:lnTo>
                  <a:lnTo>
                    <a:pt x="1021753" y="167322"/>
                  </a:lnTo>
                  <a:lnTo>
                    <a:pt x="1021905" y="167322"/>
                  </a:lnTo>
                  <a:lnTo>
                    <a:pt x="1045984" y="167322"/>
                  </a:lnTo>
                  <a:lnTo>
                    <a:pt x="1045794" y="167005"/>
                  </a:lnTo>
                  <a:lnTo>
                    <a:pt x="1045667" y="166852"/>
                  </a:lnTo>
                  <a:lnTo>
                    <a:pt x="1045413" y="166509"/>
                  </a:lnTo>
                  <a:lnTo>
                    <a:pt x="1043736" y="164274"/>
                  </a:lnTo>
                  <a:lnTo>
                    <a:pt x="1016355" y="151282"/>
                  </a:lnTo>
                  <a:lnTo>
                    <a:pt x="949312" y="151282"/>
                  </a:lnTo>
                  <a:lnTo>
                    <a:pt x="949452" y="151053"/>
                  </a:lnTo>
                  <a:lnTo>
                    <a:pt x="949540" y="150901"/>
                  </a:lnTo>
                  <a:lnTo>
                    <a:pt x="949642" y="150749"/>
                  </a:lnTo>
                  <a:lnTo>
                    <a:pt x="949782" y="150507"/>
                  </a:lnTo>
                  <a:lnTo>
                    <a:pt x="950556" y="149250"/>
                  </a:lnTo>
                  <a:lnTo>
                    <a:pt x="951966" y="146291"/>
                  </a:lnTo>
                  <a:lnTo>
                    <a:pt x="953046" y="143357"/>
                  </a:lnTo>
                  <a:lnTo>
                    <a:pt x="953096" y="143129"/>
                  </a:lnTo>
                  <a:lnTo>
                    <a:pt x="953871" y="140106"/>
                  </a:lnTo>
                  <a:lnTo>
                    <a:pt x="954265" y="137528"/>
                  </a:lnTo>
                  <a:lnTo>
                    <a:pt x="954265" y="28892"/>
                  </a:lnTo>
                  <a:lnTo>
                    <a:pt x="949921" y="16129"/>
                  </a:lnTo>
                  <a:lnTo>
                    <a:pt x="927290" y="16129"/>
                  </a:lnTo>
                  <a:lnTo>
                    <a:pt x="928077" y="16459"/>
                  </a:lnTo>
                  <a:lnTo>
                    <a:pt x="928878" y="16764"/>
                  </a:lnTo>
                  <a:lnTo>
                    <a:pt x="930313" y="17526"/>
                  </a:lnTo>
                  <a:lnTo>
                    <a:pt x="931824" y="18440"/>
                  </a:lnTo>
                  <a:lnTo>
                    <a:pt x="932535" y="19011"/>
                  </a:lnTo>
                  <a:lnTo>
                    <a:pt x="933157" y="19469"/>
                  </a:lnTo>
                  <a:lnTo>
                    <a:pt x="934339" y="20637"/>
                  </a:lnTo>
                  <a:lnTo>
                    <a:pt x="935494" y="21907"/>
                  </a:lnTo>
                  <a:lnTo>
                    <a:pt x="936028" y="22682"/>
                  </a:lnTo>
                  <a:lnTo>
                    <a:pt x="936320" y="23063"/>
                  </a:lnTo>
                  <a:lnTo>
                    <a:pt x="936485" y="23291"/>
                  </a:lnTo>
                  <a:lnTo>
                    <a:pt x="936942" y="24117"/>
                  </a:lnTo>
                  <a:lnTo>
                    <a:pt x="937336" y="24765"/>
                  </a:lnTo>
                  <a:lnTo>
                    <a:pt x="937704" y="25628"/>
                  </a:lnTo>
                  <a:lnTo>
                    <a:pt x="937996" y="26212"/>
                  </a:lnTo>
                  <a:lnTo>
                    <a:pt x="938339" y="27228"/>
                  </a:lnTo>
                  <a:lnTo>
                    <a:pt x="938606" y="27940"/>
                  </a:lnTo>
                  <a:lnTo>
                    <a:pt x="938809" y="28892"/>
                  </a:lnTo>
                  <a:lnTo>
                    <a:pt x="938999" y="29629"/>
                  </a:lnTo>
                  <a:lnTo>
                    <a:pt x="939101" y="30632"/>
                  </a:lnTo>
                  <a:lnTo>
                    <a:pt x="939139" y="135788"/>
                  </a:lnTo>
                  <a:lnTo>
                    <a:pt x="938961" y="136779"/>
                  </a:lnTo>
                  <a:lnTo>
                    <a:pt x="938847" y="137528"/>
                  </a:lnTo>
                  <a:lnTo>
                    <a:pt x="938555" y="138480"/>
                  </a:lnTo>
                  <a:lnTo>
                    <a:pt x="938364" y="139192"/>
                  </a:lnTo>
                  <a:lnTo>
                    <a:pt x="938009" y="140106"/>
                  </a:lnTo>
                  <a:lnTo>
                    <a:pt x="937755" y="140792"/>
                  </a:lnTo>
                  <a:lnTo>
                    <a:pt x="937285" y="141655"/>
                  </a:lnTo>
                  <a:lnTo>
                    <a:pt x="936980" y="142303"/>
                  </a:lnTo>
                  <a:lnTo>
                    <a:pt x="936434" y="143129"/>
                  </a:lnTo>
                  <a:lnTo>
                    <a:pt x="936332" y="143357"/>
                  </a:lnTo>
                  <a:lnTo>
                    <a:pt x="936078" y="143725"/>
                  </a:lnTo>
                  <a:lnTo>
                    <a:pt x="935443" y="144500"/>
                  </a:lnTo>
                  <a:lnTo>
                    <a:pt x="935024" y="145059"/>
                  </a:lnTo>
                  <a:lnTo>
                    <a:pt x="933869" y="146291"/>
                  </a:lnTo>
                  <a:lnTo>
                    <a:pt x="932586" y="147408"/>
                  </a:lnTo>
                  <a:lnTo>
                    <a:pt x="931760" y="147980"/>
                  </a:lnTo>
                  <a:lnTo>
                    <a:pt x="931214" y="148386"/>
                  </a:lnTo>
                  <a:lnTo>
                    <a:pt x="930325" y="148894"/>
                  </a:lnTo>
                  <a:lnTo>
                    <a:pt x="929741" y="149250"/>
                  </a:lnTo>
                  <a:lnTo>
                    <a:pt x="928776" y="149656"/>
                  </a:lnTo>
                  <a:lnTo>
                    <a:pt x="928192" y="149948"/>
                  </a:lnTo>
                  <a:lnTo>
                    <a:pt x="927049" y="150342"/>
                  </a:lnTo>
                  <a:lnTo>
                    <a:pt x="925461" y="150749"/>
                  </a:lnTo>
                  <a:lnTo>
                    <a:pt x="925614" y="150749"/>
                  </a:lnTo>
                  <a:lnTo>
                    <a:pt x="925220" y="150812"/>
                  </a:lnTo>
                  <a:lnTo>
                    <a:pt x="923645" y="151053"/>
                  </a:lnTo>
                  <a:lnTo>
                    <a:pt x="30734" y="151053"/>
                  </a:lnTo>
                  <a:lnTo>
                    <a:pt x="29756" y="150901"/>
                  </a:lnTo>
                  <a:lnTo>
                    <a:pt x="29133" y="150812"/>
                  </a:lnTo>
                  <a:lnTo>
                    <a:pt x="28765" y="150749"/>
                  </a:lnTo>
                  <a:lnTo>
                    <a:pt x="28917" y="150749"/>
                  </a:lnTo>
                  <a:lnTo>
                    <a:pt x="27965" y="150507"/>
                  </a:lnTo>
                  <a:lnTo>
                    <a:pt x="27203" y="150279"/>
                  </a:lnTo>
                  <a:lnTo>
                    <a:pt x="27825" y="150507"/>
                  </a:lnTo>
                  <a:lnTo>
                    <a:pt x="26200" y="149948"/>
                  </a:lnTo>
                  <a:lnTo>
                    <a:pt x="25603" y="149656"/>
                  </a:lnTo>
                  <a:lnTo>
                    <a:pt x="24638" y="149250"/>
                  </a:lnTo>
                  <a:lnTo>
                    <a:pt x="24053" y="148894"/>
                  </a:lnTo>
                  <a:lnTo>
                    <a:pt x="23164" y="148386"/>
                  </a:lnTo>
                  <a:lnTo>
                    <a:pt x="22618" y="147980"/>
                  </a:lnTo>
                  <a:lnTo>
                    <a:pt x="21780" y="147408"/>
                  </a:lnTo>
                  <a:lnTo>
                    <a:pt x="20510" y="146291"/>
                  </a:lnTo>
                  <a:lnTo>
                    <a:pt x="20053" y="145783"/>
                  </a:lnTo>
                  <a:lnTo>
                    <a:pt x="19342" y="145059"/>
                  </a:lnTo>
                  <a:lnTo>
                    <a:pt x="18923" y="144500"/>
                  </a:lnTo>
                  <a:lnTo>
                    <a:pt x="18313" y="143725"/>
                  </a:lnTo>
                  <a:lnTo>
                    <a:pt x="18059" y="143357"/>
                  </a:lnTo>
                  <a:lnTo>
                    <a:pt x="17945" y="143129"/>
                  </a:lnTo>
                  <a:lnTo>
                    <a:pt x="17399" y="142303"/>
                  </a:lnTo>
                  <a:lnTo>
                    <a:pt x="17081" y="141655"/>
                  </a:lnTo>
                  <a:lnTo>
                    <a:pt x="16637" y="140792"/>
                  </a:lnTo>
                  <a:lnTo>
                    <a:pt x="16383" y="140106"/>
                  </a:lnTo>
                  <a:lnTo>
                    <a:pt x="16002" y="139192"/>
                  </a:lnTo>
                  <a:lnTo>
                    <a:pt x="15824" y="138480"/>
                  </a:lnTo>
                  <a:lnTo>
                    <a:pt x="15532" y="137528"/>
                  </a:lnTo>
                  <a:lnTo>
                    <a:pt x="15417" y="136779"/>
                  </a:lnTo>
                  <a:lnTo>
                    <a:pt x="15227" y="135788"/>
                  </a:lnTo>
                  <a:lnTo>
                    <a:pt x="15278" y="30632"/>
                  </a:lnTo>
                  <a:lnTo>
                    <a:pt x="15379" y="29629"/>
                  </a:lnTo>
                  <a:lnTo>
                    <a:pt x="15417" y="29464"/>
                  </a:lnTo>
                  <a:lnTo>
                    <a:pt x="15570" y="28892"/>
                  </a:lnTo>
                  <a:lnTo>
                    <a:pt x="15786" y="27940"/>
                  </a:lnTo>
                  <a:lnTo>
                    <a:pt x="16040" y="27228"/>
                  </a:lnTo>
                  <a:lnTo>
                    <a:pt x="16383" y="26212"/>
                  </a:lnTo>
                  <a:lnTo>
                    <a:pt x="16675" y="25628"/>
                  </a:lnTo>
                  <a:lnTo>
                    <a:pt x="17056" y="24765"/>
                  </a:lnTo>
                  <a:lnTo>
                    <a:pt x="17437" y="24117"/>
                  </a:lnTo>
                  <a:lnTo>
                    <a:pt x="17907" y="23291"/>
                  </a:lnTo>
                  <a:lnTo>
                    <a:pt x="18059" y="23063"/>
                  </a:lnTo>
                  <a:lnTo>
                    <a:pt x="18351" y="22682"/>
                  </a:lnTo>
                  <a:lnTo>
                    <a:pt x="18884" y="21907"/>
                  </a:lnTo>
                  <a:lnTo>
                    <a:pt x="20040" y="20637"/>
                  </a:lnTo>
                  <a:lnTo>
                    <a:pt x="21221" y="19469"/>
                  </a:lnTo>
                  <a:lnTo>
                    <a:pt x="21844" y="19011"/>
                  </a:lnTo>
                  <a:lnTo>
                    <a:pt x="22555" y="18440"/>
                  </a:lnTo>
                  <a:lnTo>
                    <a:pt x="24066" y="17526"/>
                  </a:lnTo>
                  <a:lnTo>
                    <a:pt x="25501" y="16764"/>
                  </a:lnTo>
                  <a:lnTo>
                    <a:pt x="26301" y="16459"/>
                  </a:lnTo>
                  <a:lnTo>
                    <a:pt x="27101" y="16129"/>
                  </a:lnTo>
                  <a:lnTo>
                    <a:pt x="27965" y="15900"/>
                  </a:lnTo>
                  <a:lnTo>
                    <a:pt x="28917" y="15659"/>
                  </a:lnTo>
                  <a:lnTo>
                    <a:pt x="28765" y="15659"/>
                  </a:lnTo>
                  <a:lnTo>
                    <a:pt x="29121" y="15608"/>
                  </a:lnTo>
                  <a:lnTo>
                    <a:pt x="29781" y="15506"/>
                  </a:lnTo>
                  <a:lnTo>
                    <a:pt x="31673" y="15227"/>
                  </a:lnTo>
                  <a:lnTo>
                    <a:pt x="922718" y="15227"/>
                  </a:lnTo>
                  <a:lnTo>
                    <a:pt x="925233" y="15608"/>
                  </a:lnTo>
                  <a:lnTo>
                    <a:pt x="924610" y="15506"/>
                  </a:lnTo>
                  <a:lnTo>
                    <a:pt x="924864" y="15506"/>
                  </a:lnTo>
                  <a:lnTo>
                    <a:pt x="925233" y="15608"/>
                  </a:lnTo>
                  <a:lnTo>
                    <a:pt x="926414" y="15900"/>
                  </a:lnTo>
                  <a:lnTo>
                    <a:pt x="926566" y="15900"/>
                  </a:lnTo>
                  <a:lnTo>
                    <a:pt x="949782" y="15900"/>
                  </a:lnTo>
                  <a:lnTo>
                    <a:pt x="949629" y="15659"/>
                  </a:lnTo>
                  <a:lnTo>
                    <a:pt x="949540" y="15506"/>
                  </a:lnTo>
                  <a:lnTo>
                    <a:pt x="949363" y="15227"/>
                  </a:lnTo>
                  <a:lnTo>
                    <a:pt x="921880" y="0"/>
                  </a:lnTo>
                  <a:lnTo>
                    <a:pt x="32499" y="0"/>
                  </a:lnTo>
                  <a:lnTo>
                    <a:pt x="1346" y="23063"/>
                  </a:lnTo>
                  <a:lnTo>
                    <a:pt x="114" y="28892"/>
                  </a:lnTo>
                  <a:lnTo>
                    <a:pt x="127" y="137528"/>
                  </a:lnTo>
                  <a:lnTo>
                    <a:pt x="12661" y="159575"/>
                  </a:lnTo>
                  <a:lnTo>
                    <a:pt x="10287" y="161734"/>
                  </a:lnTo>
                  <a:lnTo>
                    <a:pt x="431" y="180543"/>
                  </a:lnTo>
                  <a:lnTo>
                    <a:pt x="317" y="181267"/>
                  </a:lnTo>
                  <a:lnTo>
                    <a:pt x="25" y="183235"/>
                  </a:lnTo>
                  <a:lnTo>
                    <a:pt x="0" y="303085"/>
                  </a:lnTo>
                  <a:lnTo>
                    <a:pt x="546" y="306628"/>
                  </a:lnTo>
                  <a:lnTo>
                    <a:pt x="4241" y="316649"/>
                  </a:lnTo>
                  <a:lnTo>
                    <a:pt x="5930" y="319430"/>
                  </a:lnTo>
                  <a:lnTo>
                    <a:pt x="35369" y="335178"/>
                  </a:lnTo>
                  <a:lnTo>
                    <a:pt x="1016355" y="335178"/>
                  </a:lnTo>
                  <a:lnTo>
                    <a:pt x="1045514" y="319798"/>
                  </a:lnTo>
                  <a:lnTo>
                    <a:pt x="1045667" y="319595"/>
                  </a:lnTo>
                  <a:lnTo>
                    <a:pt x="1045806" y="319430"/>
                  </a:lnTo>
                  <a:lnTo>
                    <a:pt x="1045984" y="319125"/>
                  </a:lnTo>
                  <a:lnTo>
                    <a:pt x="1047584" y="316484"/>
                  </a:lnTo>
                  <a:lnTo>
                    <a:pt x="1047699" y="316242"/>
                  </a:lnTo>
                  <a:lnTo>
                    <a:pt x="1049096" y="313359"/>
                  </a:lnTo>
                  <a:lnTo>
                    <a:pt x="1050302" y="310070"/>
                  </a:lnTo>
                  <a:lnTo>
                    <a:pt x="1051191" y="306628"/>
                  </a:lnTo>
                  <a:lnTo>
                    <a:pt x="1051293" y="305904"/>
                  </a:lnTo>
                  <a:lnTo>
                    <a:pt x="1051407" y="305181"/>
                  </a:lnTo>
                  <a:lnTo>
                    <a:pt x="1051725" y="303085"/>
                  </a:lnTo>
                  <a:close/>
                </a:path>
                <a:path w="1493520" h="2595879">
                  <a:moveTo>
                    <a:pt x="1493177" y="695286"/>
                  </a:moveTo>
                  <a:lnTo>
                    <a:pt x="1489087" y="682599"/>
                  </a:lnTo>
                  <a:lnTo>
                    <a:pt x="1487716" y="680339"/>
                  </a:lnTo>
                  <a:lnTo>
                    <a:pt x="1464233" y="680339"/>
                  </a:lnTo>
                  <a:lnTo>
                    <a:pt x="1465313" y="680770"/>
                  </a:lnTo>
                  <a:lnTo>
                    <a:pt x="1466088" y="681062"/>
                  </a:lnTo>
                  <a:lnTo>
                    <a:pt x="1467116" y="681596"/>
                  </a:lnTo>
                  <a:lnTo>
                    <a:pt x="1467853" y="681951"/>
                  </a:lnTo>
                  <a:lnTo>
                    <a:pt x="1468843" y="682599"/>
                  </a:lnTo>
                  <a:lnTo>
                    <a:pt x="1469148" y="682752"/>
                  </a:lnTo>
                  <a:lnTo>
                    <a:pt x="1469529" y="683006"/>
                  </a:lnTo>
                  <a:lnTo>
                    <a:pt x="1470456" y="683755"/>
                  </a:lnTo>
                  <a:lnTo>
                    <a:pt x="1471079" y="684225"/>
                  </a:lnTo>
                  <a:lnTo>
                    <a:pt x="1472514" y="685571"/>
                  </a:lnTo>
                  <a:lnTo>
                    <a:pt x="1472755" y="685888"/>
                  </a:lnTo>
                  <a:lnTo>
                    <a:pt x="1473809" y="687044"/>
                  </a:lnTo>
                  <a:lnTo>
                    <a:pt x="1474965" y="688644"/>
                  </a:lnTo>
                  <a:lnTo>
                    <a:pt x="1475244" y="689178"/>
                  </a:lnTo>
                  <a:lnTo>
                    <a:pt x="1475968" y="690359"/>
                  </a:lnTo>
                  <a:lnTo>
                    <a:pt x="1476463" y="691476"/>
                  </a:lnTo>
                  <a:lnTo>
                    <a:pt x="1476794" y="692162"/>
                  </a:lnTo>
                  <a:lnTo>
                    <a:pt x="1476921" y="692607"/>
                  </a:lnTo>
                  <a:lnTo>
                    <a:pt x="1477454" y="694055"/>
                  </a:lnTo>
                  <a:lnTo>
                    <a:pt x="1477721" y="695286"/>
                  </a:lnTo>
                  <a:lnTo>
                    <a:pt x="1477911" y="696023"/>
                  </a:lnTo>
                  <a:lnTo>
                    <a:pt x="1478076" y="697306"/>
                  </a:lnTo>
                  <a:lnTo>
                    <a:pt x="1478114" y="814654"/>
                  </a:lnTo>
                  <a:lnTo>
                    <a:pt x="1477873" y="815936"/>
                  </a:lnTo>
                  <a:lnTo>
                    <a:pt x="1477759" y="816673"/>
                  </a:lnTo>
                  <a:lnTo>
                    <a:pt x="1477403" y="817905"/>
                  </a:lnTo>
                  <a:lnTo>
                    <a:pt x="1477225" y="818629"/>
                  </a:lnTo>
                  <a:lnTo>
                    <a:pt x="1476921" y="819353"/>
                  </a:lnTo>
                  <a:lnTo>
                    <a:pt x="1476502" y="820483"/>
                  </a:lnTo>
                  <a:lnTo>
                    <a:pt x="1475917" y="821601"/>
                  </a:lnTo>
                  <a:lnTo>
                    <a:pt x="1475613" y="822248"/>
                  </a:lnTo>
                  <a:lnTo>
                    <a:pt x="1475244" y="822782"/>
                  </a:lnTo>
                  <a:lnTo>
                    <a:pt x="1474558" y="823925"/>
                  </a:lnTo>
                  <a:lnTo>
                    <a:pt x="1473352" y="825474"/>
                  </a:lnTo>
                  <a:lnTo>
                    <a:pt x="1472755" y="826071"/>
                  </a:lnTo>
                  <a:lnTo>
                    <a:pt x="1472006" y="826909"/>
                  </a:lnTo>
                  <a:lnTo>
                    <a:pt x="1471028" y="827735"/>
                  </a:lnTo>
                  <a:lnTo>
                    <a:pt x="1470520" y="828205"/>
                  </a:lnTo>
                  <a:lnTo>
                    <a:pt x="1469453" y="828954"/>
                  </a:lnTo>
                  <a:lnTo>
                    <a:pt x="1469161" y="829195"/>
                  </a:lnTo>
                  <a:lnTo>
                    <a:pt x="1468920" y="829360"/>
                  </a:lnTo>
                  <a:lnTo>
                    <a:pt x="1467205" y="830364"/>
                  </a:lnTo>
                  <a:lnTo>
                    <a:pt x="1465986" y="830897"/>
                  </a:lnTo>
                  <a:lnTo>
                    <a:pt x="1465402" y="831189"/>
                  </a:lnTo>
                  <a:lnTo>
                    <a:pt x="1463967" y="831697"/>
                  </a:lnTo>
                  <a:lnTo>
                    <a:pt x="1462214" y="832142"/>
                  </a:lnTo>
                  <a:lnTo>
                    <a:pt x="1462392" y="832142"/>
                  </a:lnTo>
                  <a:lnTo>
                    <a:pt x="1461858" y="832231"/>
                  </a:lnTo>
                  <a:lnTo>
                    <a:pt x="1460030" y="832510"/>
                  </a:lnTo>
                  <a:lnTo>
                    <a:pt x="33337" y="832510"/>
                  </a:lnTo>
                  <a:lnTo>
                    <a:pt x="32067" y="832307"/>
                  </a:lnTo>
                  <a:lnTo>
                    <a:pt x="31470" y="832231"/>
                  </a:lnTo>
                  <a:lnTo>
                    <a:pt x="31089" y="832167"/>
                  </a:lnTo>
                  <a:lnTo>
                    <a:pt x="30937" y="832142"/>
                  </a:lnTo>
                  <a:lnTo>
                    <a:pt x="31153" y="832142"/>
                  </a:lnTo>
                  <a:lnTo>
                    <a:pt x="29997" y="831850"/>
                  </a:lnTo>
                  <a:lnTo>
                    <a:pt x="29235" y="831621"/>
                  </a:lnTo>
                  <a:lnTo>
                    <a:pt x="29857" y="831850"/>
                  </a:lnTo>
                  <a:lnTo>
                    <a:pt x="27965" y="831189"/>
                  </a:lnTo>
                  <a:lnTo>
                    <a:pt x="27368" y="830897"/>
                  </a:lnTo>
                  <a:lnTo>
                    <a:pt x="26149" y="830364"/>
                  </a:lnTo>
                  <a:lnTo>
                    <a:pt x="24447" y="829360"/>
                  </a:lnTo>
                  <a:lnTo>
                    <a:pt x="24206" y="829195"/>
                  </a:lnTo>
                  <a:lnTo>
                    <a:pt x="23901" y="828954"/>
                  </a:lnTo>
                  <a:lnTo>
                    <a:pt x="22847" y="828205"/>
                  </a:lnTo>
                  <a:lnTo>
                    <a:pt x="22326" y="827735"/>
                  </a:lnTo>
                  <a:lnTo>
                    <a:pt x="21361" y="826909"/>
                  </a:lnTo>
                  <a:lnTo>
                    <a:pt x="20599" y="826071"/>
                  </a:lnTo>
                  <a:lnTo>
                    <a:pt x="20002" y="825474"/>
                  </a:lnTo>
                  <a:lnTo>
                    <a:pt x="18808" y="823925"/>
                  </a:lnTo>
                  <a:lnTo>
                    <a:pt x="18110" y="822782"/>
                  </a:lnTo>
                  <a:lnTo>
                    <a:pt x="17754" y="822248"/>
                  </a:lnTo>
                  <a:lnTo>
                    <a:pt x="17437" y="821601"/>
                  </a:lnTo>
                  <a:lnTo>
                    <a:pt x="16852" y="820483"/>
                  </a:lnTo>
                  <a:lnTo>
                    <a:pt x="16446" y="819353"/>
                  </a:lnTo>
                  <a:lnTo>
                    <a:pt x="16141" y="818629"/>
                  </a:lnTo>
                  <a:lnTo>
                    <a:pt x="15951" y="817905"/>
                  </a:lnTo>
                  <a:lnTo>
                    <a:pt x="15595" y="816673"/>
                  </a:lnTo>
                  <a:lnTo>
                    <a:pt x="15481" y="815936"/>
                  </a:lnTo>
                  <a:lnTo>
                    <a:pt x="15468" y="815797"/>
                  </a:lnTo>
                  <a:lnTo>
                    <a:pt x="15252" y="814654"/>
                  </a:lnTo>
                  <a:lnTo>
                    <a:pt x="15290" y="697306"/>
                  </a:lnTo>
                  <a:lnTo>
                    <a:pt x="15443" y="696023"/>
                  </a:lnTo>
                  <a:lnTo>
                    <a:pt x="15633" y="695286"/>
                  </a:lnTo>
                  <a:lnTo>
                    <a:pt x="15913" y="694055"/>
                  </a:lnTo>
                  <a:lnTo>
                    <a:pt x="16446" y="692607"/>
                  </a:lnTo>
                  <a:lnTo>
                    <a:pt x="16560" y="692162"/>
                  </a:lnTo>
                  <a:lnTo>
                    <a:pt x="16891" y="691476"/>
                  </a:lnTo>
                  <a:lnTo>
                    <a:pt x="17399" y="690359"/>
                  </a:lnTo>
                  <a:lnTo>
                    <a:pt x="18110" y="689178"/>
                  </a:lnTo>
                  <a:lnTo>
                    <a:pt x="18389" y="688644"/>
                  </a:lnTo>
                  <a:lnTo>
                    <a:pt x="19545" y="687044"/>
                  </a:lnTo>
                  <a:lnTo>
                    <a:pt x="20599" y="685888"/>
                  </a:lnTo>
                  <a:lnTo>
                    <a:pt x="20853" y="685571"/>
                  </a:lnTo>
                  <a:lnTo>
                    <a:pt x="22288" y="684225"/>
                  </a:lnTo>
                  <a:lnTo>
                    <a:pt x="22898" y="683755"/>
                  </a:lnTo>
                  <a:lnTo>
                    <a:pt x="23837" y="683006"/>
                  </a:lnTo>
                  <a:lnTo>
                    <a:pt x="24206" y="682752"/>
                  </a:lnTo>
                  <a:lnTo>
                    <a:pt x="24523" y="682599"/>
                  </a:lnTo>
                  <a:lnTo>
                    <a:pt x="25501" y="681951"/>
                  </a:lnTo>
                  <a:lnTo>
                    <a:pt x="26250" y="681596"/>
                  </a:lnTo>
                  <a:lnTo>
                    <a:pt x="27266" y="681062"/>
                  </a:lnTo>
                  <a:lnTo>
                    <a:pt x="28041" y="680770"/>
                  </a:lnTo>
                  <a:lnTo>
                    <a:pt x="29133" y="680339"/>
                  </a:lnTo>
                  <a:lnTo>
                    <a:pt x="29997" y="680110"/>
                  </a:lnTo>
                  <a:lnTo>
                    <a:pt x="31229" y="679805"/>
                  </a:lnTo>
                  <a:lnTo>
                    <a:pt x="31076" y="679805"/>
                  </a:lnTo>
                  <a:lnTo>
                    <a:pt x="31457" y="679754"/>
                  </a:lnTo>
                  <a:lnTo>
                    <a:pt x="32067" y="679653"/>
                  </a:lnTo>
                  <a:lnTo>
                    <a:pt x="34264" y="679310"/>
                  </a:lnTo>
                  <a:lnTo>
                    <a:pt x="1459090" y="679310"/>
                  </a:lnTo>
                  <a:lnTo>
                    <a:pt x="1461287" y="679653"/>
                  </a:lnTo>
                  <a:lnTo>
                    <a:pt x="1461541" y="679653"/>
                  </a:lnTo>
                  <a:lnTo>
                    <a:pt x="1461909" y="679754"/>
                  </a:lnTo>
                  <a:lnTo>
                    <a:pt x="1463357" y="680110"/>
                  </a:lnTo>
                  <a:lnTo>
                    <a:pt x="1463509" y="680110"/>
                  </a:lnTo>
                  <a:lnTo>
                    <a:pt x="1487576" y="680110"/>
                  </a:lnTo>
                  <a:lnTo>
                    <a:pt x="1487385" y="679805"/>
                  </a:lnTo>
                  <a:lnTo>
                    <a:pt x="1487271" y="679653"/>
                  </a:lnTo>
                  <a:lnTo>
                    <a:pt x="1487017" y="679310"/>
                  </a:lnTo>
                  <a:lnTo>
                    <a:pt x="1457960" y="664083"/>
                  </a:lnTo>
                  <a:lnTo>
                    <a:pt x="35394" y="664083"/>
                  </a:lnTo>
                  <a:lnTo>
                    <a:pt x="2679" y="685888"/>
                  </a:lnTo>
                  <a:lnTo>
                    <a:pt x="482" y="693331"/>
                  </a:lnTo>
                  <a:lnTo>
                    <a:pt x="368" y="694055"/>
                  </a:lnTo>
                  <a:lnTo>
                    <a:pt x="177" y="695286"/>
                  </a:lnTo>
                  <a:lnTo>
                    <a:pt x="190" y="816673"/>
                  </a:lnTo>
                  <a:lnTo>
                    <a:pt x="596" y="819353"/>
                  </a:lnTo>
                  <a:lnTo>
                    <a:pt x="4279" y="829360"/>
                  </a:lnTo>
                  <a:lnTo>
                    <a:pt x="5969" y="832142"/>
                  </a:lnTo>
                  <a:lnTo>
                    <a:pt x="35394" y="847877"/>
                  </a:lnTo>
                  <a:lnTo>
                    <a:pt x="1457960" y="847877"/>
                  </a:lnTo>
                  <a:lnTo>
                    <a:pt x="1487119" y="832510"/>
                  </a:lnTo>
                  <a:lnTo>
                    <a:pt x="1487271" y="832307"/>
                  </a:lnTo>
                  <a:lnTo>
                    <a:pt x="1487398" y="832142"/>
                  </a:lnTo>
                  <a:lnTo>
                    <a:pt x="1487576" y="831850"/>
                  </a:lnTo>
                  <a:lnTo>
                    <a:pt x="1489189" y="829195"/>
                  </a:lnTo>
                  <a:lnTo>
                    <a:pt x="1489303" y="828954"/>
                  </a:lnTo>
                  <a:lnTo>
                    <a:pt x="1490687" y="826071"/>
                  </a:lnTo>
                  <a:lnTo>
                    <a:pt x="1491881" y="822782"/>
                  </a:lnTo>
                  <a:lnTo>
                    <a:pt x="1492770" y="819353"/>
                  </a:lnTo>
                  <a:lnTo>
                    <a:pt x="1492885" y="818629"/>
                  </a:lnTo>
                  <a:lnTo>
                    <a:pt x="1492986" y="817905"/>
                  </a:lnTo>
                  <a:lnTo>
                    <a:pt x="1493177" y="816673"/>
                  </a:lnTo>
                  <a:lnTo>
                    <a:pt x="1493177" y="695286"/>
                  </a:lnTo>
                  <a:close/>
                </a:path>
              </a:pathLst>
            </a:custGeom>
            <a:solidFill>
              <a:srgbClr val="00AFEF"/>
            </a:solidFill>
          </p:spPr>
          <p:txBody>
            <a:bodyPr wrap="square" lIns="0" tIns="0" rIns="0" bIns="0" rtlCol="0"/>
            <a:lstStyle/>
            <a:p>
              <a:endParaRPr/>
            </a:p>
          </p:txBody>
        </p:sp>
        <p:sp>
          <p:nvSpPr>
            <p:cNvPr id="7" name="object 7"/>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grpSp>
      <p:sp>
        <p:nvSpPr>
          <p:cNvPr id="8" name="object 8"/>
          <p:cNvSpPr txBox="1"/>
          <p:nvPr/>
        </p:nvSpPr>
        <p:spPr>
          <a:xfrm>
            <a:off x="100076" y="4327723"/>
            <a:ext cx="8899525" cy="1466215"/>
          </a:xfrm>
          <a:prstGeom prst="rect">
            <a:avLst/>
          </a:prstGeom>
        </p:spPr>
        <p:txBody>
          <a:bodyPr vert="horz" wrap="square" lIns="0" tIns="12065" rIns="0" bIns="0" rtlCol="0">
            <a:spAutoFit/>
          </a:bodyPr>
          <a:lstStyle/>
          <a:p>
            <a:pPr marL="921385" marR="5080" indent="-228600">
              <a:lnSpc>
                <a:spcPct val="154000"/>
              </a:lnSpc>
              <a:spcBef>
                <a:spcPts val="95"/>
              </a:spcBef>
              <a:buFont typeface="Wingdings" panose="05000000000000000000"/>
              <a:buChar char=""/>
              <a:tabLst>
                <a:tab pos="921385" algn="l"/>
              </a:tabLst>
            </a:pPr>
            <a:r>
              <a:rPr sz="1250" spc="25" dirty="0">
                <a:latin typeface="微软雅黑" panose="020B0503020204020204" charset="-122"/>
                <a:cs typeface="微软雅黑" panose="020B0503020204020204" charset="-122"/>
              </a:rPr>
              <a:t>头孢洛扎他唑巴坦对革兰阳性杆菌普遍活性低，对艰难梭菌，产气荚膜梭菌几乎无抑菌作用。对金黄色葡萄球菌和肺炎链球菌活性较弱，化脓性链球菌的体外活性相对较好。</a:t>
            </a:r>
            <a:endParaRPr sz="1250">
              <a:latin typeface="微软雅黑" panose="020B0503020204020204" charset="-122"/>
              <a:cs typeface="微软雅黑" panose="020B0503020204020204" charset="-122"/>
            </a:endParaRPr>
          </a:p>
          <a:p>
            <a:pPr marL="921385" marR="5080" indent="-228600">
              <a:lnSpc>
                <a:spcPct val="154000"/>
              </a:lnSpc>
              <a:buFont typeface="Wingdings" panose="05000000000000000000"/>
              <a:buChar char=""/>
              <a:tabLst>
                <a:tab pos="921385" algn="l"/>
              </a:tabLst>
            </a:pPr>
            <a:r>
              <a:rPr sz="1250" spc="25" dirty="0">
                <a:latin typeface="微软雅黑" panose="020B0503020204020204" charset="-122"/>
                <a:cs typeface="微软雅黑" panose="020B0503020204020204" charset="-122"/>
              </a:rPr>
              <a:t>对革兰阴性杆菌具有广谱抗菌活性，如大肠杆菌、奇异变形杆菌和产酸克雷伯菌高度敏感，对铜绿假单胞菌敏感性较好，</a:t>
            </a:r>
            <a:r>
              <a:rPr sz="1250" b="1" spc="25" dirty="0">
                <a:solidFill>
                  <a:srgbClr val="C00000"/>
                </a:solidFill>
                <a:latin typeface="微软雅黑" panose="020B0503020204020204" charset="-122"/>
                <a:cs typeface="微软雅黑" panose="020B0503020204020204" charset="-122"/>
              </a:rPr>
              <a:t>但对肺炎克雷伯菌、嗜麦芽窄食单胞菌活性较差。</a:t>
            </a:r>
            <a:endParaRPr sz="1250">
              <a:latin typeface="微软雅黑" panose="020B0503020204020204" charset="-122"/>
              <a:cs typeface="微软雅黑" panose="020B0503020204020204" charset="-122"/>
            </a:endParaRPr>
          </a:p>
          <a:p>
            <a:pPr marL="12700">
              <a:lnSpc>
                <a:spcPct val="100000"/>
              </a:lnSpc>
              <a:spcBef>
                <a:spcPts val="60"/>
              </a:spcBef>
            </a:pPr>
            <a:r>
              <a:rPr sz="650" dirty="0">
                <a:solidFill>
                  <a:srgbClr val="3895DE"/>
                </a:solidFill>
                <a:latin typeface="微软雅黑" panose="020B0503020204020204" charset="-122"/>
                <a:cs typeface="微软雅黑" panose="020B0503020204020204" charset="-122"/>
              </a:rPr>
              <a:t>1.</a:t>
            </a:r>
            <a:r>
              <a:rPr sz="650" spc="-2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Cluck</a:t>
            </a:r>
            <a:r>
              <a:rPr sz="650" spc="-2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D,</a:t>
            </a:r>
            <a:r>
              <a:rPr sz="650" spc="-2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et</a:t>
            </a:r>
            <a:r>
              <a:rPr sz="650" spc="-2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al.</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Am</a:t>
            </a:r>
            <a:r>
              <a:rPr sz="650" spc="-3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J</a:t>
            </a:r>
            <a:r>
              <a:rPr sz="650" spc="-2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Health</a:t>
            </a:r>
            <a:r>
              <a:rPr sz="650" spc="-2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Syst</a:t>
            </a:r>
            <a:r>
              <a:rPr sz="650" spc="-20"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Pharm.</a:t>
            </a:r>
            <a:r>
              <a:rPr sz="650" spc="-25" dirty="0">
                <a:solidFill>
                  <a:srgbClr val="3895DE"/>
                </a:solidFill>
                <a:latin typeface="微软雅黑" panose="020B0503020204020204" charset="-122"/>
                <a:cs typeface="微软雅黑" panose="020B0503020204020204" charset="-122"/>
              </a:rPr>
              <a:t> </a:t>
            </a:r>
            <a:r>
              <a:rPr sz="650" spc="-20" dirty="0">
                <a:solidFill>
                  <a:srgbClr val="3895DE"/>
                </a:solidFill>
                <a:latin typeface="微软雅黑" panose="020B0503020204020204" charset="-122"/>
                <a:cs typeface="微软雅黑" panose="020B0503020204020204" charset="-122"/>
              </a:rPr>
              <a:t>2015</a:t>
            </a:r>
            <a:endParaRPr sz="650">
              <a:latin typeface="微软雅黑" panose="020B0503020204020204" charset="-122"/>
              <a:cs typeface="微软雅黑" panose="020B0503020204020204" charset="-122"/>
            </a:endParaRPr>
          </a:p>
          <a:p>
            <a:pPr marL="26670">
              <a:lnSpc>
                <a:spcPct val="100000"/>
              </a:lnSpc>
              <a:spcBef>
                <a:spcPts val="570"/>
              </a:spcBef>
            </a:pPr>
            <a:r>
              <a:rPr sz="600" dirty="0">
                <a:solidFill>
                  <a:srgbClr val="7F7F7F"/>
                </a:solidFill>
                <a:latin typeface="Arial MT"/>
                <a:cs typeface="Arial MT"/>
              </a:rPr>
              <a:t>[</a:t>
            </a:r>
            <a:r>
              <a:rPr sz="600" dirty="0">
                <a:latin typeface="宋体" panose="02010600030101010101" pitchFamily="2" charset="-122"/>
                <a:cs typeface="宋体" panose="02010600030101010101" pitchFamily="2" charset="-122"/>
              </a:rPr>
              <a:t>此页面上无备注</a:t>
            </a:r>
            <a:r>
              <a:rPr sz="600" spc="-50" dirty="0">
                <a:solidFill>
                  <a:srgbClr val="7F7F7F"/>
                </a:solidFill>
                <a:latin typeface="Arial MT"/>
                <a:cs typeface="Arial MT"/>
              </a:rPr>
              <a:t>]</a:t>
            </a:r>
            <a:endParaRPr sz="600">
              <a:latin typeface="Arial MT"/>
              <a:cs typeface="Arial MT"/>
            </a:endParaRPr>
          </a:p>
        </p:txBody>
      </p:sp>
      <p:sp>
        <p:nvSpPr>
          <p:cNvPr id="9" name="object 9"/>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6</a:t>
            </a:fld>
            <a:r>
              <a:rPr spc="-10" dirty="0"/>
              <a:t> </a:t>
            </a:r>
            <a:r>
              <a:rPr spc="-50"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45720">
              <a:lnSpc>
                <a:spcPct val="100000"/>
              </a:lnSpc>
              <a:spcBef>
                <a:spcPts val="135"/>
              </a:spcBef>
            </a:pPr>
            <a:r>
              <a:rPr spc="15" dirty="0"/>
              <a:t>美罗培南韦博巴坦 </a:t>
            </a:r>
            <a:r>
              <a:rPr spc="-10" dirty="0"/>
              <a:t>（</a:t>
            </a:r>
            <a:r>
              <a:rPr spc="-10" dirty="0">
                <a:latin typeface="Arial" panose="020B0604020202020204"/>
                <a:cs typeface="Arial" panose="020B0604020202020204"/>
              </a:rPr>
              <a:t>2017</a:t>
            </a:r>
            <a:r>
              <a:rPr spc="-10" dirty="0"/>
              <a:t>）</a:t>
            </a:r>
          </a:p>
        </p:txBody>
      </p:sp>
      <p:grpSp>
        <p:nvGrpSpPr>
          <p:cNvPr id="3" name="object 3"/>
          <p:cNvGrpSpPr/>
          <p:nvPr/>
        </p:nvGrpSpPr>
        <p:grpSpPr>
          <a:xfrm>
            <a:off x="893479" y="1142593"/>
            <a:ext cx="8148320" cy="1497330"/>
            <a:chOff x="893479" y="1142593"/>
            <a:chExt cx="8148320" cy="1497330"/>
          </a:xfrm>
        </p:grpSpPr>
        <p:pic>
          <p:nvPicPr>
            <p:cNvPr id="4" name="object 4"/>
            <p:cNvPicPr/>
            <p:nvPr/>
          </p:nvPicPr>
          <p:blipFill>
            <a:blip r:embed="rId2" cstate="print"/>
            <a:stretch>
              <a:fillRect/>
            </a:stretch>
          </p:blipFill>
          <p:spPr>
            <a:xfrm>
              <a:off x="893479" y="1149908"/>
              <a:ext cx="3414153" cy="173126"/>
            </a:xfrm>
            <a:prstGeom prst="rect">
              <a:avLst/>
            </a:prstGeom>
          </p:spPr>
        </p:pic>
        <p:pic>
          <p:nvPicPr>
            <p:cNvPr id="5" name="object 5"/>
            <p:cNvPicPr/>
            <p:nvPr/>
          </p:nvPicPr>
          <p:blipFill>
            <a:blip r:embed="rId3" cstate="print"/>
            <a:stretch>
              <a:fillRect/>
            </a:stretch>
          </p:blipFill>
          <p:spPr>
            <a:xfrm>
              <a:off x="4554773" y="1948484"/>
              <a:ext cx="609943" cy="690879"/>
            </a:xfrm>
            <a:prstGeom prst="rect">
              <a:avLst/>
            </a:prstGeom>
          </p:spPr>
        </p:pic>
        <p:pic>
          <p:nvPicPr>
            <p:cNvPr id="6" name="object 6"/>
            <p:cNvPicPr/>
            <p:nvPr/>
          </p:nvPicPr>
          <p:blipFill>
            <a:blip r:embed="rId2" cstate="print"/>
            <a:stretch>
              <a:fillRect/>
            </a:stretch>
          </p:blipFill>
          <p:spPr>
            <a:xfrm>
              <a:off x="5627633" y="1142593"/>
              <a:ext cx="3414153" cy="173126"/>
            </a:xfrm>
            <a:prstGeom prst="rect">
              <a:avLst/>
            </a:prstGeom>
          </p:spPr>
        </p:pic>
      </p:grpSp>
      <p:sp>
        <p:nvSpPr>
          <p:cNvPr id="7" name="object 7"/>
          <p:cNvSpPr txBox="1"/>
          <p:nvPr/>
        </p:nvSpPr>
        <p:spPr>
          <a:xfrm>
            <a:off x="6926742" y="953241"/>
            <a:ext cx="1068070" cy="245110"/>
          </a:xfrm>
          <a:prstGeom prst="rect">
            <a:avLst/>
          </a:prstGeom>
        </p:spPr>
        <p:txBody>
          <a:bodyPr vert="horz" wrap="square" lIns="0" tIns="11430" rIns="0" bIns="0" rtlCol="0">
            <a:spAutoFit/>
          </a:bodyPr>
          <a:lstStyle/>
          <a:p>
            <a:pPr marL="12700">
              <a:lnSpc>
                <a:spcPct val="100000"/>
              </a:lnSpc>
              <a:spcBef>
                <a:spcPts val="90"/>
              </a:spcBef>
            </a:pPr>
            <a:r>
              <a:rPr sz="1450" b="1" spc="10" dirty="0">
                <a:solidFill>
                  <a:srgbClr val="224D73"/>
                </a:solidFill>
                <a:latin typeface="微软雅黑" panose="020B0503020204020204" charset="-122"/>
                <a:cs typeface="微软雅黑" panose="020B0503020204020204" charset="-122"/>
              </a:rPr>
              <a:t>韦博巴坦 </a:t>
            </a:r>
            <a:r>
              <a:rPr sz="1450" b="1" spc="-25" dirty="0">
                <a:solidFill>
                  <a:srgbClr val="224D73"/>
                </a:solidFill>
                <a:latin typeface="Segoe Print" panose="02000600000000000000"/>
                <a:cs typeface="Segoe Print" panose="02000600000000000000"/>
              </a:rPr>
              <a:t>2g</a:t>
            </a:r>
            <a:endParaRPr sz="1450">
              <a:latin typeface="Segoe Print" panose="02000600000000000000"/>
              <a:cs typeface="Segoe Print" panose="02000600000000000000"/>
            </a:endParaRPr>
          </a:p>
        </p:txBody>
      </p:sp>
      <p:sp>
        <p:nvSpPr>
          <p:cNvPr id="8" name="object 8"/>
          <p:cNvSpPr txBox="1"/>
          <p:nvPr/>
        </p:nvSpPr>
        <p:spPr>
          <a:xfrm>
            <a:off x="686562" y="941608"/>
            <a:ext cx="3568700" cy="2187575"/>
          </a:xfrm>
          <a:prstGeom prst="rect">
            <a:avLst/>
          </a:prstGeom>
        </p:spPr>
        <p:txBody>
          <a:bodyPr vert="horz" wrap="square" lIns="0" tIns="11430" rIns="0" bIns="0" rtlCol="0">
            <a:spAutoFit/>
          </a:bodyPr>
          <a:lstStyle/>
          <a:p>
            <a:pPr marL="1534160">
              <a:lnSpc>
                <a:spcPct val="100000"/>
              </a:lnSpc>
              <a:spcBef>
                <a:spcPts val="90"/>
              </a:spcBef>
            </a:pPr>
            <a:r>
              <a:rPr sz="1450" b="1" spc="10" dirty="0">
                <a:solidFill>
                  <a:srgbClr val="224D73"/>
                </a:solidFill>
                <a:latin typeface="微软雅黑" panose="020B0503020204020204" charset="-122"/>
                <a:cs typeface="微软雅黑" panose="020B0503020204020204" charset="-122"/>
              </a:rPr>
              <a:t>美罗培南 </a:t>
            </a:r>
            <a:r>
              <a:rPr sz="1450" b="1" spc="-25" dirty="0">
                <a:solidFill>
                  <a:srgbClr val="224D73"/>
                </a:solidFill>
                <a:latin typeface="Segoe Print" panose="02000600000000000000"/>
                <a:cs typeface="Segoe Print" panose="02000600000000000000"/>
              </a:rPr>
              <a:t>2g</a:t>
            </a:r>
            <a:endParaRPr sz="1450">
              <a:latin typeface="Segoe Print" panose="02000600000000000000"/>
              <a:cs typeface="Segoe Print" panose="02000600000000000000"/>
            </a:endParaRPr>
          </a:p>
          <a:p>
            <a:pPr marL="241300" marR="68580" indent="-228600">
              <a:lnSpc>
                <a:spcPct val="154000"/>
              </a:lnSpc>
              <a:spcBef>
                <a:spcPts val="1460"/>
              </a:spcBef>
              <a:buFont typeface="Arial MT"/>
              <a:buChar char="•"/>
              <a:tabLst>
                <a:tab pos="241300" algn="l"/>
              </a:tabLst>
            </a:pPr>
            <a:r>
              <a:rPr sz="1250" spc="-5" dirty="0">
                <a:solidFill>
                  <a:srgbClr val="224D73"/>
                </a:solidFill>
                <a:latin typeface="微软雅黑" panose="020B0503020204020204" charset="-122"/>
                <a:cs typeface="微软雅黑" panose="020B0503020204020204" charset="-122"/>
              </a:rPr>
              <a:t>广谱碳青霉烯类抗生素，可穿透大多数革兰氏阳性菌和革兰氏阴性菌的细胞</a:t>
            </a:r>
            <a:endParaRPr sz="1250">
              <a:latin typeface="微软雅黑" panose="020B0503020204020204" charset="-122"/>
              <a:cs typeface="微软雅黑" panose="020B0503020204020204" charset="-122"/>
            </a:endParaRPr>
          </a:p>
          <a:p>
            <a:pPr marL="240665" indent="-227965">
              <a:lnSpc>
                <a:spcPct val="100000"/>
              </a:lnSpc>
              <a:spcBef>
                <a:spcPts val="805"/>
              </a:spcBef>
              <a:buFont typeface="Arial MT"/>
              <a:buChar char="•"/>
              <a:tabLst>
                <a:tab pos="240665" algn="l"/>
              </a:tabLst>
            </a:pPr>
            <a:r>
              <a:rPr sz="1250" spc="10" dirty="0">
                <a:solidFill>
                  <a:srgbClr val="224D73"/>
                </a:solidFill>
                <a:latin typeface="微软雅黑" panose="020B0503020204020204" charset="-122"/>
                <a:cs typeface="微软雅黑" panose="020B0503020204020204" charset="-122"/>
              </a:rPr>
              <a:t>与青霉素结合蛋白 (</a:t>
            </a:r>
            <a:r>
              <a:rPr sz="1250" dirty="0">
                <a:solidFill>
                  <a:srgbClr val="224D73"/>
                </a:solidFill>
                <a:latin typeface="微软雅黑" panose="020B0503020204020204" charset="-122"/>
                <a:cs typeface="微软雅黑" panose="020B0503020204020204" charset="-122"/>
              </a:rPr>
              <a:t>PBP</a:t>
            </a:r>
            <a:r>
              <a:rPr sz="1250" spc="20" dirty="0">
                <a:solidFill>
                  <a:srgbClr val="224D73"/>
                </a:solidFill>
                <a:latin typeface="微软雅黑" panose="020B0503020204020204" charset="-122"/>
                <a:cs typeface="微软雅黑" panose="020B0503020204020204" charset="-122"/>
              </a:rPr>
              <a:t>) 靶标结合</a:t>
            </a:r>
            <a:endParaRPr sz="1250">
              <a:latin typeface="微软雅黑" panose="020B0503020204020204" charset="-122"/>
              <a:cs typeface="微软雅黑" panose="020B0503020204020204" charset="-122"/>
            </a:endParaRPr>
          </a:p>
          <a:p>
            <a:pPr marL="240665" indent="-227965">
              <a:lnSpc>
                <a:spcPct val="100000"/>
              </a:lnSpc>
              <a:spcBef>
                <a:spcPts val="805"/>
              </a:spcBef>
              <a:buFont typeface="Arial MT"/>
              <a:buChar char="•"/>
              <a:tabLst>
                <a:tab pos="240665" algn="l"/>
              </a:tabLst>
            </a:pPr>
            <a:r>
              <a:rPr sz="1250" spc="-5" dirty="0">
                <a:solidFill>
                  <a:srgbClr val="224D73"/>
                </a:solidFill>
                <a:latin typeface="微软雅黑" panose="020B0503020204020204" charset="-122"/>
                <a:cs typeface="微软雅黑" panose="020B0503020204020204" charset="-122"/>
              </a:rPr>
              <a:t>引发细菌细胞壁破裂和破坏</a:t>
            </a:r>
            <a:endParaRPr sz="1250">
              <a:latin typeface="微软雅黑" panose="020B0503020204020204" charset="-122"/>
              <a:cs typeface="微软雅黑" panose="020B0503020204020204" charset="-122"/>
            </a:endParaRPr>
          </a:p>
          <a:p>
            <a:pPr marL="241300" marR="5080" indent="-228600">
              <a:lnSpc>
                <a:spcPct val="154000"/>
              </a:lnSpc>
              <a:buFont typeface="Arial MT"/>
              <a:buChar char="•"/>
              <a:tabLst>
                <a:tab pos="241300" algn="l"/>
              </a:tabLst>
            </a:pPr>
            <a:r>
              <a:rPr sz="1250" dirty="0">
                <a:solidFill>
                  <a:srgbClr val="224D73"/>
                </a:solidFill>
                <a:latin typeface="微软雅黑" panose="020B0503020204020204" charset="-122"/>
                <a:cs typeface="微软雅黑" panose="020B0503020204020204" charset="-122"/>
              </a:rPr>
              <a:t>稳定不易被大多数β</a:t>
            </a:r>
            <a:r>
              <a:rPr sz="1250" dirty="0">
                <a:solidFill>
                  <a:srgbClr val="224D73"/>
                </a:solidFill>
                <a:latin typeface="Segoe Print" panose="02000600000000000000"/>
                <a:cs typeface="Segoe Print" panose="02000600000000000000"/>
              </a:rPr>
              <a:t>-</a:t>
            </a:r>
            <a:r>
              <a:rPr sz="1250" dirty="0">
                <a:solidFill>
                  <a:srgbClr val="224D73"/>
                </a:solidFill>
                <a:latin typeface="微软雅黑" panose="020B0503020204020204" charset="-122"/>
                <a:cs typeface="微软雅黑" panose="020B0503020204020204" charset="-122"/>
              </a:rPr>
              <a:t>内酰胺酶水解，但对</a:t>
            </a:r>
            <a:r>
              <a:rPr sz="1250" spc="-25" dirty="0">
                <a:solidFill>
                  <a:srgbClr val="224D73"/>
                </a:solidFill>
                <a:latin typeface="Segoe Print" panose="02000600000000000000"/>
                <a:cs typeface="Segoe Print" panose="02000600000000000000"/>
              </a:rPr>
              <a:t>KPC</a:t>
            </a:r>
            <a:r>
              <a:rPr sz="1250" spc="-10" dirty="0">
                <a:solidFill>
                  <a:srgbClr val="224D73"/>
                </a:solidFill>
                <a:latin typeface="微软雅黑" panose="020B0503020204020204" charset="-122"/>
                <a:cs typeface="微软雅黑" panose="020B0503020204020204" charset="-122"/>
              </a:rPr>
              <a:t>类酶仍可被水解</a:t>
            </a:r>
            <a:endParaRPr sz="1250">
              <a:latin typeface="微软雅黑" panose="020B0503020204020204" charset="-122"/>
              <a:cs typeface="微软雅黑" panose="020B0503020204020204" charset="-122"/>
            </a:endParaRPr>
          </a:p>
        </p:txBody>
      </p:sp>
      <p:sp>
        <p:nvSpPr>
          <p:cNvPr id="9" name="object 9"/>
          <p:cNvSpPr txBox="1"/>
          <p:nvPr/>
        </p:nvSpPr>
        <p:spPr>
          <a:xfrm>
            <a:off x="5437825" y="1347683"/>
            <a:ext cx="3900170" cy="2073910"/>
          </a:xfrm>
          <a:prstGeom prst="rect">
            <a:avLst/>
          </a:prstGeom>
        </p:spPr>
        <p:txBody>
          <a:bodyPr vert="horz" wrap="square" lIns="0" tIns="113664" rIns="0" bIns="0" rtlCol="0">
            <a:spAutoFit/>
          </a:bodyPr>
          <a:lstStyle/>
          <a:p>
            <a:pPr marL="240665" indent="-227965">
              <a:lnSpc>
                <a:spcPct val="100000"/>
              </a:lnSpc>
              <a:spcBef>
                <a:spcPts val="895"/>
              </a:spcBef>
              <a:buFont typeface="Arial MT"/>
              <a:buChar char="•"/>
              <a:tabLst>
                <a:tab pos="240665" algn="l"/>
              </a:tabLst>
            </a:pPr>
            <a:r>
              <a:rPr sz="1250" dirty="0">
                <a:solidFill>
                  <a:srgbClr val="224D73"/>
                </a:solidFill>
                <a:latin typeface="微软雅黑" panose="020B0503020204020204" charset="-122"/>
                <a:cs typeface="微软雅黑" panose="020B0503020204020204" charset="-122"/>
              </a:rPr>
              <a:t>新型β</a:t>
            </a:r>
            <a:r>
              <a:rPr sz="1250" dirty="0">
                <a:solidFill>
                  <a:srgbClr val="224D73"/>
                </a:solidFill>
                <a:latin typeface="Segoe Print" panose="02000600000000000000"/>
                <a:cs typeface="Segoe Print" panose="02000600000000000000"/>
              </a:rPr>
              <a:t>-</a:t>
            </a:r>
            <a:r>
              <a:rPr sz="1250" spc="-5" dirty="0">
                <a:solidFill>
                  <a:srgbClr val="224D73"/>
                </a:solidFill>
                <a:latin typeface="微软雅黑" panose="020B0503020204020204" charset="-122"/>
                <a:cs typeface="微软雅黑" panose="020B0503020204020204" charset="-122"/>
              </a:rPr>
              <a:t>内酰胺酶抑制剂，本身不具有任何抗菌活性</a:t>
            </a:r>
            <a:endParaRPr sz="1250">
              <a:latin typeface="微软雅黑" panose="020B0503020204020204" charset="-122"/>
              <a:cs typeface="微软雅黑" panose="020B0503020204020204" charset="-122"/>
            </a:endParaRPr>
          </a:p>
          <a:p>
            <a:pPr marL="240665" indent="-227965">
              <a:lnSpc>
                <a:spcPct val="100000"/>
              </a:lnSpc>
              <a:spcBef>
                <a:spcPts val="805"/>
              </a:spcBef>
              <a:buFont typeface="Arial MT"/>
              <a:buChar char="•"/>
              <a:tabLst>
                <a:tab pos="240665" algn="l"/>
              </a:tabLst>
            </a:pPr>
            <a:r>
              <a:rPr sz="1250" dirty="0">
                <a:solidFill>
                  <a:srgbClr val="224D73"/>
                </a:solidFill>
                <a:latin typeface="微软雅黑" panose="020B0503020204020204" charset="-122"/>
                <a:cs typeface="微软雅黑" panose="020B0503020204020204" charset="-122"/>
              </a:rPr>
              <a:t>主要抑制</a:t>
            </a:r>
            <a:r>
              <a:rPr sz="1250" dirty="0">
                <a:solidFill>
                  <a:srgbClr val="224D73"/>
                </a:solidFill>
                <a:latin typeface="Arial MT"/>
                <a:cs typeface="Arial MT"/>
              </a:rPr>
              <a:t>KPC</a:t>
            </a:r>
            <a:r>
              <a:rPr sz="1250" dirty="0">
                <a:solidFill>
                  <a:srgbClr val="224D73"/>
                </a:solidFill>
                <a:latin typeface="微软雅黑" panose="020B0503020204020204" charset="-122"/>
                <a:cs typeface="微软雅黑" panose="020B0503020204020204" charset="-122"/>
              </a:rPr>
              <a:t>类（</a:t>
            </a:r>
            <a:r>
              <a:rPr sz="1250" dirty="0">
                <a:solidFill>
                  <a:srgbClr val="224D73"/>
                </a:solidFill>
                <a:latin typeface="Arial MT"/>
                <a:cs typeface="Arial MT"/>
              </a:rPr>
              <a:t>Class</a:t>
            </a:r>
            <a:r>
              <a:rPr sz="1250" spc="385" dirty="0">
                <a:solidFill>
                  <a:srgbClr val="224D73"/>
                </a:solidFill>
                <a:latin typeface="Arial MT"/>
                <a:cs typeface="Arial MT"/>
              </a:rPr>
              <a:t> </a:t>
            </a:r>
            <a:r>
              <a:rPr sz="1250" dirty="0">
                <a:solidFill>
                  <a:srgbClr val="224D73"/>
                </a:solidFill>
                <a:latin typeface="Arial MT"/>
                <a:cs typeface="Arial MT"/>
              </a:rPr>
              <a:t>A</a:t>
            </a:r>
            <a:r>
              <a:rPr sz="1250" dirty="0">
                <a:solidFill>
                  <a:srgbClr val="224D73"/>
                </a:solidFill>
                <a:latin typeface="微软雅黑" panose="020B0503020204020204" charset="-122"/>
                <a:cs typeface="微软雅黑" panose="020B0503020204020204" charset="-122"/>
              </a:rPr>
              <a:t>）β</a:t>
            </a:r>
            <a:r>
              <a:rPr sz="1250" dirty="0">
                <a:solidFill>
                  <a:srgbClr val="224D73"/>
                </a:solidFill>
                <a:latin typeface="Arial MT"/>
                <a:cs typeface="Arial MT"/>
              </a:rPr>
              <a:t>-</a:t>
            </a:r>
            <a:r>
              <a:rPr sz="1250" dirty="0">
                <a:solidFill>
                  <a:srgbClr val="224D73"/>
                </a:solidFill>
                <a:latin typeface="微软雅黑" panose="020B0503020204020204" charset="-122"/>
                <a:cs typeface="微软雅黑" panose="020B0503020204020204" charset="-122"/>
              </a:rPr>
              <a:t>内酰胺酶，对</a:t>
            </a:r>
            <a:r>
              <a:rPr sz="1250" spc="-10" dirty="0">
                <a:solidFill>
                  <a:srgbClr val="224D73"/>
                </a:solidFill>
                <a:latin typeface="Arial MT"/>
                <a:cs typeface="Arial MT"/>
              </a:rPr>
              <a:t>ESBLs</a:t>
            </a:r>
            <a:endParaRPr sz="1250">
              <a:latin typeface="Arial MT"/>
              <a:cs typeface="Arial MT"/>
            </a:endParaRPr>
          </a:p>
          <a:p>
            <a:pPr marL="241300">
              <a:lnSpc>
                <a:spcPct val="100000"/>
              </a:lnSpc>
              <a:spcBef>
                <a:spcPts val="805"/>
              </a:spcBef>
            </a:pPr>
            <a:r>
              <a:rPr sz="1250" spc="90" dirty="0">
                <a:solidFill>
                  <a:srgbClr val="224D73"/>
                </a:solidFill>
                <a:latin typeface="微软雅黑" panose="020B0503020204020204" charset="-122"/>
                <a:cs typeface="微软雅黑" panose="020B0503020204020204" charset="-122"/>
              </a:rPr>
              <a:t>和 </a:t>
            </a:r>
            <a:r>
              <a:rPr sz="1250" dirty="0">
                <a:solidFill>
                  <a:srgbClr val="224D73"/>
                </a:solidFill>
                <a:latin typeface="Arial MT"/>
                <a:cs typeface="Arial MT"/>
              </a:rPr>
              <a:t>Class</a:t>
            </a:r>
            <a:r>
              <a:rPr sz="1250" spc="204" dirty="0">
                <a:solidFill>
                  <a:srgbClr val="224D73"/>
                </a:solidFill>
                <a:latin typeface="Arial MT"/>
                <a:cs typeface="Arial MT"/>
              </a:rPr>
              <a:t> </a:t>
            </a:r>
            <a:r>
              <a:rPr sz="1250" dirty="0">
                <a:solidFill>
                  <a:srgbClr val="224D73"/>
                </a:solidFill>
                <a:latin typeface="Arial MT"/>
                <a:cs typeface="Arial MT"/>
              </a:rPr>
              <a:t>C</a:t>
            </a:r>
            <a:r>
              <a:rPr sz="1250" dirty="0">
                <a:solidFill>
                  <a:srgbClr val="224D73"/>
                </a:solidFill>
                <a:latin typeface="微软雅黑" panose="020B0503020204020204" charset="-122"/>
                <a:cs typeface="微软雅黑" panose="020B0503020204020204" charset="-122"/>
              </a:rPr>
              <a:t>（</a:t>
            </a:r>
            <a:r>
              <a:rPr sz="1250" dirty="0">
                <a:solidFill>
                  <a:srgbClr val="224D73"/>
                </a:solidFill>
                <a:latin typeface="Arial MT"/>
                <a:cs typeface="Arial MT"/>
              </a:rPr>
              <a:t>AmpC</a:t>
            </a:r>
            <a:r>
              <a:rPr sz="1250" dirty="0">
                <a:solidFill>
                  <a:srgbClr val="224D73"/>
                </a:solidFill>
                <a:latin typeface="微软雅黑" panose="020B0503020204020204" charset="-122"/>
                <a:cs typeface="微软雅黑" panose="020B0503020204020204" charset="-122"/>
              </a:rPr>
              <a:t>）</a:t>
            </a:r>
            <a:r>
              <a:rPr sz="1250" spc="-10" dirty="0">
                <a:solidFill>
                  <a:srgbClr val="224D73"/>
                </a:solidFill>
                <a:latin typeface="微软雅黑" panose="020B0503020204020204" charset="-122"/>
                <a:cs typeface="微软雅黑" panose="020B0503020204020204" charset="-122"/>
              </a:rPr>
              <a:t>也有一定抑制作用</a:t>
            </a:r>
            <a:endParaRPr sz="1250">
              <a:latin typeface="微软雅黑" panose="020B0503020204020204" charset="-122"/>
              <a:cs typeface="微软雅黑" panose="020B0503020204020204" charset="-122"/>
            </a:endParaRPr>
          </a:p>
          <a:p>
            <a:pPr marL="240665" indent="-227965">
              <a:lnSpc>
                <a:spcPct val="100000"/>
              </a:lnSpc>
              <a:spcBef>
                <a:spcPts val="805"/>
              </a:spcBef>
              <a:buFont typeface="Arial MT"/>
              <a:buChar char="•"/>
              <a:tabLst>
                <a:tab pos="240665" algn="l"/>
              </a:tabLst>
            </a:pPr>
            <a:r>
              <a:rPr sz="1250" dirty="0">
                <a:solidFill>
                  <a:srgbClr val="224D73"/>
                </a:solidFill>
                <a:latin typeface="微软雅黑" panose="020B0503020204020204" charset="-122"/>
                <a:cs typeface="微软雅黑" panose="020B0503020204020204" charset="-122"/>
              </a:rPr>
              <a:t>不抑制</a:t>
            </a:r>
            <a:r>
              <a:rPr sz="1250" dirty="0">
                <a:solidFill>
                  <a:srgbClr val="224D73"/>
                </a:solidFill>
                <a:latin typeface="Arial MT"/>
                <a:cs typeface="Arial MT"/>
              </a:rPr>
              <a:t>Class</a:t>
            </a:r>
            <a:r>
              <a:rPr sz="1250" spc="225" dirty="0">
                <a:solidFill>
                  <a:srgbClr val="224D73"/>
                </a:solidFill>
                <a:latin typeface="Arial MT"/>
                <a:cs typeface="Arial MT"/>
              </a:rPr>
              <a:t> </a:t>
            </a:r>
            <a:r>
              <a:rPr sz="1250" dirty="0">
                <a:solidFill>
                  <a:srgbClr val="224D73"/>
                </a:solidFill>
                <a:latin typeface="Arial MT"/>
                <a:cs typeface="Arial MT"/>
              </a:rPr>
              <a:t>B</a:t>
            </a:r>
            <a:r>
              <a:rPr sz="1250" dirty="0">
                <a:solidFill>
                  <a:srgbClr val="224D73"/>
                </a:solidFill>
                <a:latin typeface="微软雅黑" panose="020B0503020204020204" charset="-122"/>
                <a:cs typeface="微软雅黑" panose="020B0503020204020204" charset="-122"/>
              </a:rPr>
              <a:t>（</a:t>
            </a:r>
            <a:r>
              <a:rPr sz="1250" dirty="0">
                <a:solidFill>
                  <a:srgbClr val="224D73"/>
                </a:solidFill>
                <a:latin typeface="Arial MT"/>
                <a:cs typeface="Arial MT"/>
              </a:rPr>
              <a:t>MBL</a:t>
            </a:r>
            <a:r>
              <a:rPr sz="1250" dirty="0">
                <a:solidFill>
                  <a:srgbClr val="224D73"/>
                </a:solidFill>
                <a:latin typeface="微软雅黑" panose="020B0503020204020204" charset="-122"/>
                <a:cs typeface="微软雅黑" panose="020B0503020204020204" charset="-122"/>
              </a:rPr>
              <a:t>）和</a:t>
            </a:r>
            <a:r>
              <a:rPr sz="1250" dirty="0">
                <a:solidFill>
                  <a:srgbClr val="224D73"/>
                </a:solidFill>
                <a:latin typeface="Arial MT"/>
                <a:cs typeface="Arial MT"/>
              </a:rPr>
              <a:t>Class</a:t>
            </a:r>
            <a:r>
              <a:rPr sz="1250" spc="229" dirty="0">
                <a:solidFill>
                  <a:srgbClr val="224D73"/>
                </a:solidFill>
                <a:latin typeface="Arial MT"/>
                <a:cs typeface="Arial MT"/>
              </a:rPr>
              <a:t> </a:t>
            </a:r>
            <a:r>
              <a:rPr sz="1250" dirty="0">
                <a:solidFill>
                  <a:srgbClr val="224D73"/>
                </a:solidFill>
                <a:latin typeface="Arial MT"/>
                <a:cs typeface="Arial MT"/>
              </a:rPr>
              <a:t>D</a:t>
            </a:r>
            <a:r>
              <a:rPr sz="1250" dirty="0">
                <a:solidFill>
                  <a:srgbClr val="224D73"/>
                </a:solidFill>
                <a:latin typeface="微软雅黑" panose="020B0503020204020204" charset="-122"/>
                <a:cs typeface="微软雅黑" panose="020B0503020204020204" charset="-122"/>
              </a:rPr>
              <a:t>（如</a:t>
            </a:r>
            <a:r>
              <a:rPr sz="1250" dirty="0">
                <a:solidFill>
                  <a:srgbClr val="224D73"/>
                </a:solidFill>
                <a:latin typeface="Arial MT"/>
                <a:cs typeface="Arial MT"/>
              </a:rPr>
              <a:t>OXA</a:t>
            </a:r>
            <a:r>
              <a:rPr sz="1250" dirty="0">
                <a:solidFill>
                  <a:srgbClr val="224D73"/>
                </a:solidFill>
                <a:latin typeface="微软雅黑" panose="020B0503020204020204" charset="-122"/>
                <a:cs typeface="微软雅黑" panose="020B0503020204020204" charset="-122"/>
              </a:rPr>
              <a:t>类</a:t>
            </a:r>
            <a:r>
              <a:rPr sz="1250" spc="-25" dirty="0">
                <a:solidFill>
                  <a:srgbClr val="224D73"/>
                </a:solidFill>
                <a:latin typeface="微软雅黑" panose="020B0503020204020204" charset="-122"/>
                <a:cs typeface="微软雅黑" panose="020B0503020204020204" charset="-122"/>
              </a:rPr>
              <a:t>）β</a:t>
            </a:r>
            <a:r>
              <a:rPr sz="1250" spc="-25" dirty="0">
                <a:solidFill>
                  <a:srgbClr val="224D73"/>
                </a:solidFill>
                <a:latin typeface="Arial MT"/>
                <a:cs typeface="Arial MT"/>
              </a:rPr>
              <a:t>-</a:t>
            </a:r>
            <a:endParaRPr sz="1250">
              <a:latin typeface="Arial MT"/>
              <a:cs typeface="Arial MT"/>
            </a:endParaRPr>
          </a:p>
          <a:p>
            <a:pPr marL="241300">
              <a:lnSpc>
                <a:spcPct val="100000"/>
              </a:lnSpc>
              <a:spcBef>
                <a:spcPts val="805"/>
              </a:spcBef>
            </a:pPr>
            <a:r>
              <a:rPr sz="1250" spc="-15" dirty="0">
                <a:solidFill>
                  <a:srgbClr val="224D73"/>
                </a:solidFill>
                <a:latin typeface="微软雅黑" panose="020B0503020204020204" charset="-122"/>
                <a:cs typeface="微软雅黑" panose="020B0503020204020204" charset="-122"/>
              </a:rPr>
              <a:t>内酰胺酶</a:t>
            </a:r>
            <a:endParaRPr sz="1250">
              <a:latin typeface="微软雅黑" panose="020B0503020204020204" charset="-122"/>
              <a:cs typeface="微软雅黑" panose="020B0503020204020204" charset="-122"/>
            </a:endParaRPr>
          </a:p>
          <a:p>
            <a:pPr marL="241300" marR="48260" indent="-228600">
              <a:lnSpc>
                <a:spcPct val="154000"/>
              </a:lnSpc>
              <a:buFont typeface="Arial MT"/>
              <a:buChar char="•"/>
              <a:tabLst>
                <a:tab pos="241300" algn="l"/>
              </a:tabLst>
            </a:pPr>
            <a:r>
              <a:rPr sz="1250" dirty="0">
                <a:solidFill>
                  <a:srgbClr val="224D73"/>
                </a:solidFill>
                <a:latin typeface="微软雅黑" panose="020B0503020204020204" charset="-122"/>
                <a:cs typeface="微软雅黑" panose="020B0503020204020204" charset="-122"/>
              </a:rPr>
              <a:t>可增强美罗培南对</a:t>
            </a:r>
            <a:r>
              <a:rPr sz="1250" dirty="0">
                <a:solidFill>
                  <a:srgbClr val="224D73"/>
                </a:solidFill>
                <a:latin typeface="Arial MT"/>
                <a:cs typeface="Arial MT"/>
              </a:rPr>
              <a:t>CRE</a:t>
            </a:r>
            <a:r>
              <a:rPr sz="1250" dirty="0">
                <a:solidFill>
                  <a:srgbClr val="224D73"/>
                </a:solidFill>
                <a:latin typeface="微软雅黑" panose="020B0503020204020204" charset="-122"/>
                <a:cs typeface="微软雅黑" panose="020B0503020204020204" charset="-122"/>
              </a:rPr>
              <a:t>（尤其是产</a:t>
            </a:r>
            <a:r>
              <a:rPr sz="1250" dirty="0">
                <a:solidFill>
                  <a:srgbClr val="224D73"/>
                </a:solidFill>
                <a:latin typeface="Arial MT"/>
                <a:cs typeface="Arial MT"/>
              </a:rPr>
              <a:t>KPC</a:t>
            </a:r>
            <a:r>
              <a:rPr sz="1250" spc="-10" dirty="0">
                <a:solidFill>
                  <a:srgbClr val="224D73"/>
                </a:solidFill>
                <a:latin typeface="微软雅黑" panose="020B0503020204020204" charset="-122"/>
                <a:cs typeface="微软雅黑" panose="020B0503020204020204" charset="-122"/>
              </a:rPr>
              <a:t>的肠杆菌科</a:t>
            </a:r>
            <a:r>
              <a:rPr sz="1250" dirty="0">
                <a:solidFill>
                  <a:srgbClr val="224D73"/>
                </a:solidFill>
                <a:latin typeface="微软雅黑" panose="020B0503020204020204" charset="-122"/>
                <a:cs typeface="微软雅黑" panose="020B0503020204020204" charset="-122"/>
              </a:rPr>
              <a:t>细菌）</a:t>
            </a:r>
            <a:r>
              <a:rPr sz="1250" spc="-10" dirty="0">
                <a:solidFill>
                  <a:srgbClr val="224D73"/>
                </a:solidFill>
                <a:latin typeface="微软雅黑" panose="020B0503020204020204" charset="-122"/>
                <a:cs typeface="微软雅黑" panose="020B0503020204020204" charset="-122"/>
              </a:rPr>
              <a:t>的抗菌活性</a:t>
            </a:r>
            <a:endParaRPr sz="1250">
              <a:latin typeface="微软雅黑" panose="020B0503020204020204" charset="-122"/>
              <a:cs typeface="微软雅黑" panose="020B0503020204020204" charset="-122"/>
            </a:endParaRPr>
          </a:p>
        </p:txBody>
      </p:sp>
      <p:grpSp>
        <p:nvGrpSpPr>
          <p:cNvPr id="10" name="object 10"/>
          <p:cNvGrpSpPr/>
          <p:nvPr/>
        </p:nvGrpSpPr>
        <p:grpSpPr>
          <a:xfrm>
            <a:off x="121920" y="121919"/>
            <a:ext cx="9763760" cy="5496560"/>
            <a:chOff x="121920" y="121919"/>
            <a:chExt cx="9763760" cy="5496560"/>
          </a:xfrm>
        </p:grpSpPr>
        <p:pic>
          <p:nvPicPr>
            <p:cNvPr id="11" name="object 11"/>
            <p:cNvPicPr/>
            <p:nvPr/>
          </p:nvPicPr>
          <p:blipFill>
            <a:blip r:embed="rId4" cstate="print"/>
            <a:stretch>
              <a:fillRect/>
            </a:stretch>
          </p:blipFill>
          <p:spPr>
            <a:xfrm>
              <a:off x="1187703" y="3392857"/>
              <a:ext cx="2885440" cy="1056986"/>
            </a:xfrm>
            <a:prstGeom prst="rect">
              <a:avLst/>
            </a:prstGeom>
          </p:spPr>
        </p:pic>
        <p:pic>
          <p:nvPicPr>
            <p:cNvPr id="12" name="object 12"/>
            <p:cNvPicPr/>
            <p:nvPr/>
          </p:nvPicPr>
          <p:blipFill>
            <a:blip r:embed="rId5" cstate="print"/>
            <a:stretch>
              <a:fillRect/>
            </a:stretch>
          </p:blipFill>
          <p:spPr>
            <a:xfrm>
              <a:off x="6165866" y="3578555"/>
              <a:ext cx="2392783" cy="768889"/>
            </a:xfrm>
            <a:prstGeom prst="rect">
              <a:avLst/>
            </a:prstGeom>
          </p:spPr>
        </p:pic>
        <p:sp>
          <p:nvSpPr>
            <p:cNvPr id="13" name="object 13"/>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grpSp>
      <p:sp>
        <p:nvSpPr>
          <p:cNvPr id="14" name="object 14"/>
          <p:cNvSpPr txBox="1"/>
          <p:nvPr/>
        </p:nvSpPr>
        <p:spPr>
          <a:xfrm>
            <a:off x="114300" y="5424444"/>
            <a:ext cx="5137785" cy="369570"/>
          </a:xfrm>
          <a:prstGeom prst="rect">
            <a:avLst/>
          </a:prstGeom>
        </p:spPr>
        <p:txBody>
          <a:bodyPr vert="horz" wrap="square" lIns="0" tIns="11430" rIns="0" bIns="0" rtlCol="0">
            <a:spAutoFit/>
          </a:bodyPr>
          <a:lstStyle/>
          <a:p>
            <a:pPr marL="137795">
              <a:lnSpc>
                <a:spcPct val="100000"/>
              </a:lnSpc>
              <a:spcBef>
                <a:spcPts val="90"/>
              </a:spcBef>
            </a:pPr>
            <a:r>
              <a:rPr sz="650" dirty="0">
                <a:solidFill>
                  <a:srgbClr val="3895DE"/>
                </a:solidFill>
                <a:latin typeface="微软雅黑" panose="020B0503020204020204" charset="-122"/>
                <a:cs typeface="微软雅黑" panose="020B0503020204020204" charset="-122"/>
              </a:rPr>
              <a:t>.</a:t>
            </a:r>
            <a:r>
              <a:rPr sz="650" spc="-1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1.</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Griffith</a:t>
            </a:r>
            <a:r>
              <a:rPr sz="650" spc="-1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DC,</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AAC</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2019;</a:t>
            </a:r>
            <a:r>
              <a:rPr sz="650" spc="15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2.</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Melinta</a:t>
            </a:r>
            <a:r>
              <a:rPr sz="650" spc="-20"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Vabomere®</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website;</a:t>
            </a:r>
            <a:r>
              <a:rPr sz="650" spc="15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3.</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Wenzler</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E,</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Infect</a:t>
            </a:r>
            <a:r>
              <a:rPr sz="650" spc="-1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Dis</a:t>
            </a:r>
            <a:r>
              <a:rPr sz="650" spc="-20"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Ther</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2020</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a:t>
            </a:r>
            <a:r>
              <a:rPr sz="650" spc="-1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4.</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FDA,</a:t>
            </a:r>
            <a:r>
              <a:rPr sz="650" spc="-15" dirty="0">
                <a:solidFill>
                  <a:srgbClr val="3895DE"/>
                </a:solidFill>
                <a:latin typeface="微软雅黑" panose="020B0503020204020204" charset="-122"/>
                <a:cs typeface="微软雅黑" panose="020B0503020204020204" charset="-122"/>
              </a:rPr>
              <a:t> </a:t>
            </a:r>
            <a:r>
              <a:rPr sz="650" spc="-20" dirty="0">
                <a:solidFill>
                  <a:srgbClr val="3895DE"/>
                </a:solidFill>
                <a:latin typeface="微软雅黑" panose="020B0503020204020204" charset="-122"/>
                <a:cs typeface="微软雅黑" panose="020B0503020204020204" charset="-122"/>
              </a:rPr>
              <a:t>VABOMERE™ </a:t>
            </a:r>
            <a:r>
              <a:rPr sz="650" spc="-10" dirty="0">
                <a:solidFill>
                  <a:srgbClr val="3895DE"/>
                </a:solidFill>
                <a:latin typeface="微软雅黑" panose="020B0503020204020204" charset="-122"/>
                <a:cs typeface="微软雅黑" panose="020B0503020204020204" charset="-122"/>
              </a:rPr>
              <a:t>label</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(2017)</a:t>
            </a:r>
            <a:endParaRPr sz="650">
              <a:latin typeface="微软雅黑" panose="020B0503020204020204" charset="-122"/>
              <a:cs typeface="微软雅黑" panose="020B0503020204020204" charset="-122"/>
            </a:endParaRPr>
          </a:p>
          <a:p>
            <a:pPr>
              <a:lnSpc>
                <a:spcPct val="100000"/>
              </a:lnSpc>
              <a:spcBef>
                <a:spcPts val="15"/>
              </a:spcBef>
            </a:pPr>
            <a:endParaRPr sz="650">
              <a:latin typeface="微软雅黑" panose="020B0503020204020204" charset="-122"/>
              <a:cs typeface="微软雅黑" panose="020B0503020204020204" charset="-122"/>
            </a:endParaRPr>
          </a:p>
          <a:p>
            <a:pPr marL="12700">
              <a:lnSpc>
                <a:spcPct val="100000"/>
              </a:lnSpc>
              <a:spcBef>
                <a:spcPts val="5"/>
              </a:spcBef>
            </a:pPr>
            <a:r>
              <a:rPr sz="600" dirty="0">
                <a:solidFill>
                  <a:srgbClr val="7F7F7F"/>
                </a:solidFill>
                <a:latin typeface="Arial MT"/>
                <a:cs typeface="Arial MT"/>
              </a:rPr>
              <a:t>[</a:t>
            </a:r>
            <a:r>
              <a:rPr sz="600" dirty="0">
                <a:latin typeface="宋体" panose="02010600030101010101" pitchFamily="2" charset="-122"/>
                <a:cs typeface="宋体" panose="02010600030101010101" pitchFamily="2" charset="-122"/>
              </a:rPr>
              <a:t>此页面上无备注</a:t>
            </a:r>
            <a:r>
              <a:rPr sz="600" spc="-50" dirty="0">
                <a:solidFill>
                  <a:srgbClr val="7F7F7F"/>
                </a:solidFill>
                <a:latin typeface="Arial MT"/>
                <a:cs typeface="Arial MT"/>
              </a:rPr>
              <a:t>]</a:t>
            </a:r>
            <a:endParaRPr sz="600">
              <a:latin typeface="Arial MT"/>
              <a:cs typeface="Arial MT"/>
            </a:endParaRPr>
          </a:p>
        </p:txBody>
      </p:sp>
      <p:sp>
        <p:nvSpPr>
          <p:cNvPr id="15" name="object 15"/>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7</a:t>
            </a:fld>
            <a:r>
              <a:rPr spc="-10" dirty="0"/>
              <a:t> </a:t>
            </a:r>
            <a:r>
              <a:rPr spc="-50"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054219" y="3422497"/>
            <a:ext cx="2590071" cy="1107033"/>
          </a:xfrm>
          <a:prstGeom prst="rect">
            <a:avLst/>
          </a:prstGeom>
        </p:spPr>
      </p:pic>
      <p:sp>
        <p:nvSpPr>
          <p:cNvPr id="3" name="object 3"/>
          <p:cNvSpPr txBox="1">
            <a:spLocks noGrp="1"/>
          </p:cNvSpPr>
          <p:nvPr>
            <p:ph type="title"/>
          </p:nvPr>
        </p:nvSpPr>
        <p:spPr>
          <a:prstGeom prst="rect">
            <a:avLst/>
          </a:prstGeom>
        </p:spPr>
        <p:txBody>
          <a:bodyPr vert="horz" wrap="square" lIns="0" tIns="17145" rIns="0" bIns="0" rtlCol="0">
            <a:spAutoFit/>
          </a:bodyPr>
          <a:lstStyle/>
          <a:p>
            <a:pPr marL="45720">
              <a:lnSpc>
                <a:spcPct val="100000"/>
              </a:lnSpc>
              <a:spcBef>
                <a:spcPts val="135"/>
              </a:spcBef>
            </a:pPr>
            <a:r>
              <a:rPr dirty="0"/>
              <a:t>亚胺培南西司他丁雷利巴坦</a:t>
            </a:r>
            <a:r>
              <a:rPr spc="-10" dirty="0"/>
              <a:t>（2019）</a:t>
            </a:r>
          </a:p>
        </p:txBody>
      </p:sp>
      <p:grpSp>
        <p:nvGrpSpPr>
          <p:cNvPr id="4" name="object 4"/>
          <p:cNvGrpSpPr/>
          <p:nvPr/>
        </p:nvGrpSpPr>
        <p:grpSpPr>
          <a:xfrm>
            <a:off x="2999658" y="1076756"/>
            <a:ext cx="3100070" cy="1475740"/>
            <a:chOff x="2999658" y="1076756"/>
            <a:chExt cx="3100070" cy="1475740"/>
          </a:xfrm>
        </p:grpSpPr>
        <p:pic>
          <p:nvPicPr>
            <p:cNvPr id="5" name="object 5"/>
            <p:cNvPicPr/>
            <p:nvPr/>
          </p:nvPicPr>
          <p:blipFill>
            <a:blip r:embed="rId3" cstate="print"/>
            <a:stretch>
              <a:fillRect/>
            </a:stretch>
          </p:blipFill>
          <p:spPr>
            <a:xfrm>
              <a:off x="2999658" y="2083815"/>
              <a:ext cx="413154" cy="468596"/>
            </a:xfrm>
            <a:prstGeom prst="rect">
              <a:avLst/>
            </a:prstGeom>
          </p:spPr>
        </p:pic>
        <p:pic>
          <p:nvPicPr>
            <p:cNvPr id="6" name="object 6"/>
            <p:cNvPicPr/>
            <p:nvPr/>
          </p:nvPicPr>
          <p:blipFill>
            <a:blip r:embed="rId4" cstate="print"/>
            <a:stretch>
              <a:fillRect/>
            </a:stretch>
          </p:blipFill>
          <p:spPr>
            <a:xfrm>
              <a:off x="3315650" y="1076756"/>
              <a:ext cx="2783739" cy="141427"/>
            </a:xfrm>
            <a:prstGeom prst="rect">
              <a:avLst/>
            </a:prstGeom>
          </p:spPr>
        </p:pic>
      </p:grpSp>
      <p:sp>
        <p:nvSpPr>
          <p:cNvPr id="7" name="object 7"/>
          <p:cNvSpPr txBox="1"/>
          <p:nvPr/>
        </p:nvSpPr>
        <p:spPr>
          <a:xfrm>
            <a:off x="899667" y="858144"/>
            <a:ext cx="4449445" cy="245110"/>
          </a:xfrm>
          <a:prstGeom prst="rect">
            <a:avLst/>
          </a:prstGeom>
        </p:spPr>
        <p:txBody>
          <a:bodyPr vert="horz" wrap="square" lIns="0" tIns="11430" rIns="0" bIns="0" rtlCol="0">
            <a:spAutoFit/>
          </a:bodyPr>
          <a:lstStyle/>
          <a:p>
            <a:pPr marL="12700">
              <a:lnSpc>
                <a:spcPct val="100000"/>
              </a:lnSpc>
              <a:spcBef>
                <a:spcPts val="90"/>
              </a:spcBef>
              <a:tabLst>
                <a:tab pos="3338195" algn="l"/>
              </a:tabLst>
            </a:pPr>
            <a:r>
              <a:rPr sz="2175" b="1" spc="-30" baseline="2000" dirty="0">
                <a:solidFill>
                  <a:srgbClr val="224D73"/>
                </a:solidFill>
                <a:latin typeface="微软雅黑" panose="020B0503020204020204" charset="-122"/>
                <a:cs typeface="微软雅黑" panose="020B0503020204020204" charset="-122"/>
              </a:rPr>
              <a:t>亚胺培</a:t>
            </a:r>
            <a:r>
              <a:rPr sz="2175" b="1" baseline="2000" dirty="0">
                <a:solidFill>
                  <a:srgbClr val="224D73"/>
                </a:solidFill>
                <a:latin typeface="微软雅黑" panose="020B0503020204020204" charset="-122"/>
                <a:cs typeface="微软雅黑" panose="020B0503020204020204" charset="-122"/>
              </a:rPr>
              <a:t>南</a:t>
            </a:r>
            <a:r>
              <a:rPr sz="2175" b="1" spc="-112" baseline="2000" dirty="0">
                <a:solidFill>
                  <a:srgbClr val="224D73"/>
                </a:solidFill>
                <a:latin typeface="微软雅黑" panose="020B0503020204020204" charset="-122"/>
                <a:cs typeface="微软雅黑" panose="020B0503020204020204" charset="-122"/>
              </a:rPr>
              <a:t> </a:t>
            </a:r>
            <a:r>
              <a:rPr sz="2175" b="1" spc="-30" baseline="2000" dirty="0">
                <a:solidFill>
                  <a:srgbClr val="224D73"/>
                </a:solidFill>
                <a:latin typeface="Times New Roman" panose="02020603050405020304"/>
                <a:cs typeface="Times New Roman" panose="02020603050405020304"/>
              </a:rPr>
              <a:t>0.5g</a:t>
            </a:r>
            <a:r>
              <a:rPr sz="2175" b="1" baseline="2000" dirty="0">
                <a:solidFill>
                  <a:srgbClr val="224D73"/>
                </a:solidFill>
                <a:latin typeface="Times New Roman" panose="02020603050405020304"/>
                <a:cs typeface="Times New Roman" panose="02020603050405020304"/>
              </a:rPr>
              <a:t>	</a:t>
            </a:r>
            <a:r>
              <a:rPr sz="1450" b="1" spc="-20" dirty="0">
                <a:solidFill>
                  <a:srgbClr val="224D73"/>
                </a:solidFill>
                <a:latin typeface="微软雅黑" panose="020B0503020204020204" charset="-122"/>
                <a:cs typeface="微软雅黑" panose="020B0503020204020204" charset="-122"/>
              </a:rPr>
              <a:t>西司他</a:t>
            </a:r>
            <a:r>
              <a:rPr sz="1450" b="1" dirty="0">
                <a:solidFill>
                  <a:srgbClr val="224D73"/>
                </a:solidFill>
                <a:latin typeface="微软雅黑" panose="020B0503020204020204" charset="-122"/>
                <a:cs typeface="微软雅黑" panose="020B0503020204020204" charset="-122"/>
              </a:rPr>
              <a:t>丁</a:t>
            </a:r>
            <a:r>
              <a:rPr sz="1450" b="1" spc="-75" dirty="0">
                <a:solidFill>
                  <a:srgbClr val="224D73"/>
                </a:solidFill>
                <a:latin typeface="微软雅黑" panose="020B0503020204020204" charset="-122"/>
                <a:cs typeface="微软雅黑" panose="020B0503020204020204" charset="-122"/>
              </a:rPr>
              <a:t> </a:t>
            </a:r>
            <a:r>
              <a:rPr sz="1450" b="1" spc="-20" dirty="0">
                <a:solidFill>
                  <a:srgbClr val="224D73"/>
                </a:solidFill>
                <a:latin typeface="Times New Roman" panose="02020603050405020304"/>
                <a:cs typeface="Times New Roman" panose="02020603050405020304"/>
              </a:rPr>
              <a:t>0.5g</a:t>
            </a:r>
            <a:endParaRPr sz="1450">
              <a:latin typeface="Times New Roman" panose="02020603050405020304"/>
              <a:cs typeface="Times New Roman" panose="02020603050405020304"/>
            </a:endParaRPr>
          </a:p>
        </p:txBody>
      </p:sp>
      <p:sp>
        <p:nvSpPr>
          <p:cNvPr id="8" name="object 8"/>
          <p:cNvSpPr txBox="1"/>
          <p:nvPr/>
        </p:nvSpPr>
        <p:spPr>
          <a:xfrm>
            <a:off x="391302" y="1244224"/>
            <a:ext cx="2421255" cy="2073910"/>
          </a:xfrm>
          <a:prstGeom prst="rect">
            <a:avLst/>
          </a:prstGeom>
        </p:spPr>
        <p:txBody>
          <a:bodyPr vert="horz" wrap="square" lIns="0" tIns="113664" rIns="0" bIns="0" rtlCol="0">
            <a:spAutoFit/>
          </a:bodyPr>
          <a:lstStyle/>
          <a:p>
            <a:pPr marL="240665" indent="-227965">
              <a:lnSpc>
                <a:spcPct val="100000"/>
              </a:lnSpc>
              <a:spcBef>
                <a:spcPts val="895"/>
              </a:spcBef>
              <a:buFont typeface="Arial MT"/>
              <a:buChar char="•"/>
              <a:tabLst>
                <a:tab pos="240665" algn="l"/>
              </a:tabLst>
            </a:pPr>
            <a:r>
              <a:rPr sz="1250" spc="-5" dirty="0">
                <a:solidFill>
                  <a:srgbClr val="224D73"/>
                </a:solidFill>
                <a:latin typeface="微软雅黑" panose="020B0503020204020204" charset="-122"/>
                <a:cs typeface="微软雅黑" panose="020B0503020204020204" charset="-122"/>
              </a:rPr>
              <a:t>广谱碳青霉烯类抗生素</a:t>
            </a:r>
            <a:endParaRPr sz="1250">
              <a:latin typeface="微软雅黑" panose="020B0503020204020204" charset="-122"/>
              <a:cs typeface="微软雅黑" panose="020B0503020204020204" charset="-122"/>
            </a:endParaRPr>
          </a:p>
          <a:p>
            <a:pPr marL="241300" marR="117475" indent="-228600">
              <a:lnSpc>
                <a:spcPct val="154000"/>
              </a:lnSpc>
              <a:buFont typeface="Arial MT"/>
              <a:buChar char="•"/>
              <a:tabLst>
                <a:tab pos="241300" algn="l"/>
              </a:tabLst>
            </a:pPr>
            <a:r>
              <a:rPr sz="1250" spc="-5" dirty="0">
                <a:solidFill>
                  <a:srgbClr val="224D73"/>
                </a:solidFill>
                <a:latin typeface="微软雅黑" panose="020B0503020204020204" charset="-122"/>
                <a:cs typeface="微软雅黑" panose="020B0503020204020204" charset="-122"/>
              </a:rPr>
              <a:t>与肠杆菌科和铜绿假单胞菌</a:t>
            </a:r>
            <a:r>
              <a:rPr sz="1250" spc="-10" dirty="0">
                <a:solidFill>
                  <a:srgbClr val="224D73"/>
                </a:solidFill>
                <a:latin typeface="微软雅黑" panose="020B0503020204020204" charset="-122"/>
                <a:cs typeface="微软雅黑" panose="020B0503020204020204" charset="-122"/>
              </a:rPr>
              <a:t>中的 </a:t>
            </a:r>
            <a:r>
              <a:rPr sz="1250" dirty="0">
                <a:solidFill>
                  <a:srgbClr val="224D73"/>
                </a:solidFill>
                <a:latin typeface="Times New Roman" panose="02020603050405020304"/>
                <a:cs typeface="Times New Roman" panose="02020603050405020304"/>
              </a:rPr>
              <a:t>PBP</a:t>
            </a:r>
            <a:r>
              <a:rPr sz="1250" spc="-20" dirty="0">
                <a:solidFill>
                  <a:srgbClr val="224D73"/>
                </a:solidFill>
                <a:latin typeface="Times New Roman" panose="02020603050405020304"/>
                <a:cs typeface="Times New Roman" panose="02020603050405020304"/>
              </a:rPr>
              <a:t> </a:t>
            </a:r>
            <a:r>
              <a:rPr sz="1250" dirty="0">
                <a:solidFill>
                  <a:srgbClr val="224D73"/>
                </a:solidFill>
                <a:latin typeface="Times New Roman" panose="02020603050405020304"/>
                <a:cs typeface="Times New Roman" panose="02020603050405020304"/>
              </a:rPr>
              <a:t>2 </a:t>
            </a:r>
            <a:r>
              <a:rPr sz="1250" spc="-15" dirty="0">
                <a:solidFill>
                  <a:srgbClr val="224D73"/>
                </a:solidFill>
                <a:latin typeface="微软雅黑" panose="020B0503020204020204" charset="-122"/>
                <a:cs typeface="微软雅黑" panose="020B0503020204020204" charset="-122"/>
              </a:rPr>
              <a:t>和 </a:t>
            </a:r>
            <a:r>
              <a:rPr sz="1250" dirty="0">
                <a:solidFill>
                  <a:srgbClr val="224D73"/>
                </a:solidFill>
                <a:latin typeface="Times New Roman" panose="02020603050405020304"/>
                <a:cs typeface="Times New Roman" panose="02020603050405020304"/>
              </a:rPr>
              <a:t>PBP</a:t>
            </a:r>
            <a:r>
              <a:rPr sz="1250" spc="-20" dirty="0">
                <a:solidFill>
                  <a:srgbClr val="224D73"/>
                </a:solidFill>
                <a:latin typeface="Times New Roman" panose="02020603050405020304"/>
                <a:cs typeface="Times New Roman" panose="02020603050405020304"/>
              </a:rPr>
              <a:t> </a:t>
            </a:r>
            <a:r>
              <a:rPr sz="1250" dirty="0">
                <a:solidFill>
                  <a:srgbClr val="224D73"/>
                </a:solidFill>
                <a:latin typeface="Times New Roman" panose="02020603050405020304"/>
                <a:cs typeface="Times New Roman" panose="02020603050405020304"/>
              </a:rPr>
              <a:t>1B </a:t>
            </a:r>
            <a:r>
              <a:rPr sz="1250" spc="-20" dirty="0">
                <a:solidFill>
                  <a:srgbClr val="224D73"/>
                </a:solidFill>
                <a:latin typeface="微软雅黑" panose="020B0503020204020204" charset="-122"/>
                <a:cs typeface="微软雅黑" panose="020B0503020204020204" charset="-122"/>
              </a:rPr>
              <a:t>结合，</a:t>
            </a:r>
            <a:r>
              <a:rPr sz="1250" spc="-5" dirty="0">
                <a:solidFill>
                  <a:srgbClr val="224D73"/>
                </a:solidFill>
                <a:latin typeface="微软雅黑" panose="020B0503020204020204" charset="-122"/>
                <a:cs typeface="微软雅黑" panose="020B0503020204020204" charset="-122"/>
              </a:rPr>
              <a:t>随后抑制青霉素结合蛋白，导致细菌细胞壁合成中断。</a:t>
            </a:r>
            <a:endParaRPr sz="1250">
              <a:latin typeface="微软雅黑" panose="020B0503020204020204" charset="-122"/>
              <a:cs typeface="微软雅黑" panose="020B0503020204020204" charset="-122"/>
            </a:endParaRPr>
          </a:p>
          <a:p>
            <a:pPr marL="241300" marR="5080" indent="-228600">
              <a:lnSpc>
                <a:spcPct val="154000"/>
              </a:lnSpc>
              <a:buFont typeface="Arial MT"/>
              <a:buChar char="•"/>
              <a:tabLst>
                <a:tab pos="241300" algn="l"/>
              </a:tabLst>
            </a:pPr>
            <a:r>
              <a:rPr sz="1250" dirty="0">
                <a:solidFill>
                  <a:srgbClr val="224D73"/>
                </a:solidFill>
                <a:latin typeface="微软雅黑" panose="020B0503020204020204" charset="-122"/>
                <a:cs typeface="微软雅黑" panose="020B0503020204020204" charset="-122"/>
              </a:rPr>
              <a:t>易在肾脏中经脱氢肽酶</a:t>
            </a:r>
            <a:r>
              <a:rPr sz="1250" dirty="0">
                <a:solidFill>
                  <a:srgbClr val="224D73"/>
                </a:solidFill>
                <a:latin typeface="Times New Roman" panose="02020603050405020304"/>
                <a:cs typeface="Times New Roman" panose="02020603050405020304"/>
              </a:rPr>
              <a:t>I</a:t>
            </a:r>
            <a:r>
              <a:rPr sz="1250" spc="-20" dirty="0">
                <a:solidFill>
                  <a:srgbClr val="224D73"/>
                </a:solidFill>
                <a:latin typeface="微软雅黑" panose="020B0503020204020204" charset="-122"/>
                <a:cs typeface="微软雅黑" panose="020B0503020204020204" charset="-122"/>
              </a:rPr>
              <a:t>代谢，</a:t>
            </a:r>
            <a:r>
              <a:rPr sz="1250" spc="-10" dirty="0">
                <a:solidFill>
                  <a:srgbClr val="224D73"/>
                </a:solidFill>
                <a:latin typeface="微软雅黑" panose="020B0503020204020204" charset="-122"/>
                <a:cs typeface="微软雅黑" panose="020B0503020204020204" charset="-122"/>
              </a:rPr>
              <a:t>单独使用活性不稳定</a:t>
            </a:r>
            <a:endParaRPr sz="1250">
              <a:latin typeface="微软雅黑" panose="020B0503020204020204" charset="-122"/>
              <a:cs typeface="微软雅黑" panose="020B0503020204020204" charset="-122"/>
            </a:endParaRPr>
          </a:p>
        </p:txBody>
      </p:sp>
      <p:sp>
        <p:nvSpPr>
          <p:cNvPr id="9" name="object 9"/>
          <p:cNvSpPr txBox="1"/>
          <p:nvPr/>
        </p:nvSpPr>
        <p:spPr>
          <a:xfrm>
            <a:off x="3571940" y="1299677"/>
            <a:ext cx="2204720" cy="1196340"/>
          </a:xfrm>
          <a:prstGeom prst="rect">
            <a:avLst/>
          </a:prstGeom>
        </p:spPr>
        <p:txBody>
          <a:bodyPr vert="horz" wrap="square" lIns="0" tIns="113664" rIns="0" bIns="0" rtlCol="0">
            <a:spAutoFit/>
          </a:bodyPr>
          <a:lstStyle/>
          <a:p>
            <a:pPr marL="240665" indent="-227965">
              <a:lnSpc>
                <a:spcPct val="100000"/>
              </a:lnSpc>
              <a:spcBef>
                <a:spcPts val="895"/>
              </a:spcBef>
              <a:buFont typeface="Arial MT"/>
              <a:buChar char="•"/>
              <a:tabLst>
                <a:tab pos="240665" algn="l"/>
              </a:tabLst>
            </a:pPr>
            <a:r>
              <a:rPr sz="1250" spc="-5" dirty="0">
                <a:solidFill>
                  <a:srgbClr val="224D73"/>
                </a:solidFill>
                <a:latin typeface="微软雅黑" panose="020B0503020204020204" charset="-122"/>
                <a:cs typeface="微软雅黑" panose="020B0503020204020204" charset="-122"/>
              </a:rPr>
              <a:t>肾脏脱氢肽酶抑制剂。</a:t>
            </a:r>
            <a:endParaRPr sz="1250">
              <a:latin typeface="微软雅黑" panose="020B0503020204020204" charset="-122"/>
              <a:cs typeface="微软雅黑" panose="020B0503020204020204" charset="-122"/>
            </a:endParaRPr>
          </a:p>
          <a:p>
            <a:pPr marL="240665" indent="-227965">
              <a:lnSpc>
                <a:spcPct val="100000"/>
              </a:lnSpc>
              <a:spcBef>
                <a:spcPts val="805"/>
              </a:spcBef>
              <a:buFont typeface="Arial MT"/>
              <a:buChar char="•"/>
              <a:tabLst>
                <a:tab pos="240665" algn="l"/>
              </a:tabLst>
            </a:pPr>
            <a:r>
              <a:rPr sz="1250" spc="-10" dirty="0">
                <a:solidFill>
                  <a:srgbClr val="224D73"/>
                </a:solidFill>
                <a:latin typeface="微软雅黑" panose="020B0503020204020204" charset="-122"/>
                <a:cs typeface="微软雅黑" panose="020B0503020204020204" charset="-122"/>
              </a:rPr>
              <a:t>本身无抗菌活性</a:t>
            </a:r>
            <a:endParaRPr sz="1250">
              <a:latin typeface="微软雅黑" panose="020B0503020204020204" charset="-122"/>
              <a:cs typeface="微软雅黑" panose="020B0503020204020204" charset="-122"/>
            </a:endParaRPr>
          </a:p>
          <a:p>
            <a:pPr marL="241300" marR="5080" indent="-228600">
              <a:lnSpc>
                <a:spcPct val="154000"/>
              </a:lnSpc>
              <a:buFont typeface="Arial MT"/>
              <a:buChar char="•"/>
              <a:tabLst>
                <a:tab pos="241300" algn="l"/>
              </a:tabLst>
            </a:pPr>
            <a:r>
              <a:rPr sz="1250" spc="-5" dirty="0">
                <a:solidFill>
                  <a:srgbClr val="224D73"/>
                </a:solidFill>
                <a:latin typeface="微软雅黑" panose="020B0503020204020204" charset="-122"/>
                <a:cs typeface="微软雅黑" panose="020B0503020204020204" charset="-122"/>
              </a:rPr>
              <a:t>可限制亚胺培南的肾脏代谢</a:t>
            </a:r>
            <a:r>
              <a:rPr sz="1250" spc="-20" dirty="0">
                <a:solidFill>
                  <a:srgbClr val="224D73"/>
                </a:solidFill>
                <a:latin typeface="微软雅黑" panose="020B0503020204020204" charset="-122"/>
                <a:cs typeface="微软雅黑" panose="020B0503020204020204" charset="-122"/>
              </a:rPr>
              <a:t>和分解</a:t>
            </a:r>
            <a:endParaRPr sz="1250">
              <a:latin typeface="微软雅黑" panose="020B0503020204020204" charset="-122"/>
              <a:cs typeface="微软雅黑" panose="020B0503020204020204" charset="-122"/>
            </a:endParaRPr>
          </a:p>
        </p:txBody>
      </p:sp>
      <p:grpSp>
        <p:nvGrpSpPr>
          <p:cNvPr id="10" name="object 10"/>
          <p:cNvGrpSpPr/>
          <p:nvPr/>
        </p:nvGrpSpPr>
        <p:grpSpPr>
          <a:xfrm>
            <a:off x="140411" y="1075537"/>
            <a:ext cx="9640570" cy="147955"/>
            <a:chOff x="140411" y="1075537"/>
            <a:chExt cx="9640570" cy="147955"/>
          </a:xfrm>
        </p:grpSpPr>
        <p:pic>
          <p:nvPicPr>
            <p:cNvPr id="11" name="object 11"/>
            <p:cNvPicPr/>
            <p:nvPr/>
          </p:nvPicPr>
          <p:blipFill>
            <a:blip r:embed="rId4" cstate="print"/>
            <a:stretch>
              <a:fillRect/>
            </a:stretch>
          </p:blipFill>
          <p:spPr>
            <a:xfrm>
              <a:off x="6763017" y="1081633"/>
              <a:ext cx="3017488" cy="141427"/>
            </a:xfrm>
            <a:prstGeom prst="rect">
              <a:avLst/>
            </a:prstGeom>
          </p:spPr>
        </p:pic>
        <p:pic>
          <p:nvPicPr>
            <p:cNvPr id="12" name="object 12"/>
            <p:cNvPicPr/>
            <p:nvPr/>
          </p:nvPicPr>
          <p:blipFill>
            <a:blip r:embed="rId5" cstate="print"/>
            <a:stretch>
              <a:fillRect/>
            </a:stretch>
          </p:blipFill>
          <p:spPr>
            <a:xfrm>
              <a:off x="140411" y="1075537"/>
              <a:ext cx="2874873" cy="141427"/>
            </a:xfrm>
            <a:prstGeom prst="rect">
              <a:avLst/>
            </a:prstGeom>
          </p:spPr>
        </p:pic>
      </p:grpSp>
      <p:sp>
        <p:nvSpPr>
          <p:cNvPr id="13" name="object 13"/>
          <p:cNvSpPr txBox="1"/>
          <p:nvPr/>
        </p:nvSpPr>
        <p:spPr>
          <a:xfrm>
            <a:off x="7692999" y="855461"/>
            <a:ext cx="1214120" cy="245110"/>
          </a:xfrm>
          <a:prstGeom prst="rect">
            <a:avLst/>
          </a:prstGeom>
        </p:spPr>
        <p:txBody>
          <a:bodyPr vert="horz" wrap="square" lIns="0" tIns="11430" rIns="0" bIns="0" rtlCol="0">
            <a:spAutoFit/>
          </a:bodyPr>
          <a:lstStyle/>
          <a:p>
            <a:pPr marL="12700">
              <a:lnSpc>
                <a:spcPct val="100000"/>
              </a:lnSpc>
              <a:spcBef>
                <a:spcPts val="90"/>
              </a:spcBef>
            </a:pPr>
            <a:r>
              <a:rPr sz="1450" b="1" spc="-35" dirty="0">
                <a:solidFill>
                  <a:srgbClr val="224D73"/>
                </a:solidFill>
                <a:latin typeface="微软雅黑" panose="020B0503020204020204" charset="-122"/>
                <a:cs typeface="微软雅黑" panose="020B0503020204020204" charset="-122"/>
              </a:rPr>
              <a:t>雷利巴坦 </a:t>
            </a:r>
            <a:r>
              <a:rPr sz="1450" b="1" spc="-10" dirty="0">
                <a:solidFill>
                  <a:srgbClr val="224D73"/>
                </a:solidFill>
                <a:latin typeface="Times New Roman" panose="02020603050405020304"/>
                <a:cs typeface="Times New Roman" panose="02020603050405020304"/>
              </a:rPr>
              <a:t>0.25g</a:t>
            </a:r>
            <a:endParaRPr sz="1450">
              <a:latin typeface="Times New Roman" panose="02020603050405020304"/>
              <a:cs typeface="Times New Roman" panose="02020603050405020304"/>
            </a:endParaRPr>
          </a:p>
        </p:txBody>
      </p:sp>
      <p:pic>
        <p:nvPicPr>
          <p:cNvPr id="14" name="object 14"/>
          <p:cNvPicPr/>
          <p:nvPr/>
        </p:nvPicPr>
        <p:blipFill>
          <a:blip r:embed="rId3" cstate="print"/>
          <a:stretch>
            <a:fillRect/>
          </a:stretch>
        </p:blipFill>
        <p:spPr>
          <a:xfrm>
            <a:off x="6067165" y="2059432"/>
            <a:ext cx="413154" cy="468596"/>
          </a:xfrm>
          <a:prstGeom prst="rect">
            <a:avLst/>
          </a:prstGeom>
        </p:spPr>
      </p:pic>
      <p:sp>
        <p:nvSpPr>
          <p:cNvPr id="15" name="object 15"/>
          <p:cNvSpPr txBox="1"/>
          <p:nvPr/>
        </p:nvSpPr>
        <p:spPr>
          <a:xfrm>
            <a:off x="6630060" y="1240119"/>
            <a:ext cx="3169285" cy="2073910"/>
          </a:xfrm>
          <a:prstGeom prst="rect">
            <a:avLst/>
          </a:prstGeom>
        </p:spPr>
        <p:txBody>
          <a:bodyPr vert="horz" wrap="square" lIns="0" tIns="113664" rIns="0" bIns="0" rtlCol="0">
            <a:spAutoFit/>
          </a:bodyPr>
          <a:lstStyle/>
          <a:p>
            <a:pPr marL="240665" indent="-227965">
              <a:lnSpc>
                <a:spcPct val="100000"/>
              </a:lnSpc>
              <a:spcBef>
                <a:spcPts val="895"/>
              </a:spcBef>
              <a:buFont typeface="Arial MT"/>
              <a:buChar char="•"/>
              <a:tabLst>
                <a:tab pos="240665" algn="l"/>
              </a:tabLst>
            </a:pPr>
            <a:r>
              <a:rPr sz="1250" dirty="0">
                <a:solidFill>
                  <a:srgbClr val="224D73"/>
                </a:solidFill>
                <a:latin typeface="微软雅黑" panose="020B0503020204020204" charset="-122"/>
                <a:cs typeface="微软雅黑" panose="020B0503020204020204" charset="-122"/>
              </a:rPr>
              <a:t>β</a:t>
            </a:r>
            <a:r>
              <a:rPr sz="1250" dirty="0">
                <a:solidFill>
                  <a:srgbClr val="224D73"/>
                </a:solidFill>
                <a:latin typeface="Times New Roman" panose="02020603050405020304"/>
                <a:cs typeface="Times New Roman" panose="02020603050405020304"/>
              </a:rPr>
              <a:t>-</a:t>
            </a:r>
            <a:r>
              <a:rPr sz="1250" spc="-5" dirty="0">
                <a:solidFill>
                  <a:srgbClr val="224D73"/>
                </a:solidFill>
                <a:latin typeface="微软雅黑" panose="020B0503020204020204" charset="-122"/>
                <a:cs typeface="微软雅黑" panose="020B0503020204020204" charset="-122"/>
              </a:rPr>
              <a:t>内酰胺酶抑制剂，但本身无抗菌活性。</a:t>
            </a:r>
            <a:endParaRPr sz="1250">
              <a:latin typeface="微软雅黑" panose="020B0503020204020204" charset="-122"/>
              <a:cs typeface="微软雅黑" panose="020B0503020204020204" charset="-122"/>
            </a:endParaRPr>
          </a:p>
          <a:p>
            <a:pPr marL="241300" marR="5080" indent="-228600">
              <a:lnSpc>
                <a:spcPct val="154000"/>
              </a:lnSpc>
              <a:buFont typeface="Arial MT"/>
              <a:buChar char="•"/>
              <a:tabLst>
                <a:tab pos="241300" algn="l"/>
              </a:tabLst>
            </a:pPr>
            <a:r>
              <a:rPr sz="1250" dirty="0">
                <a:solidFill>
                  <a:srgbClr val="224D73"/>
                </a:solidFill>
                <a:latin typeface="微软雅黑" panose="020B0503020204020204" charset="-122"/>
                <a:cs typeface="微软雅黑" panose="020B0503020204020204" charset="-122"/>
              </a:rPr>
              <a:t>保护亚胺培南免受某些丝氨酸β</a:t>
            </a:r>
            <a:r>
              <a:rPr sz="1250" dirty="0">
                <a:solidFill>
                  <a:srgbClr val="224D73"/>
                </a:solidFill>
                <a:latin typeface="Times New Roman" panose="02020603050405020304"/>
                <a:cs typeface="Times New Roman" panose="02020603050405020304"/>
              </a:rPr>
              <a:t>-</a:t>
            </a:r>
            <a:r>
              <a:rPr sz="1250" spc="-15" dirty="0">
                <a:solidFill>
                  <a:srgbClr val="224D73"/>
                </a:solidFill>
                <a:latin typeface="微软雅黑" panose="020B0503020204020204" charset="-122"/>
                <a:cs typeface="微软雅黑" panose="020B0503020204020204" charset="-122"/>
              </a:rPr>
              <a:t>内酰胺酶</a:t>
            </a:r>
            <a:r>
              <a:rPr sz="1250" spc="-50" dirty="0">
                <a:solidFill>
                  <a:srgbClr val="224D73"/>
                </a:solidFill>
                <a:latin typeface="微软雅黑" panose="020B0503020204020204" charset="-122"/>
                <a:cs typeface="微软雅黑" panose="020B0503020204020204" charset="-122"/>
              </a:rPr>
              <a:t> </a:t>
            </a:r>
            <a:r>
              <a:rPr sz="1250" dirty="0">
                <a:solidFill>
                  <a:srgbClr val="224D73"/>
                </a:solidFill>
                <a:latin typeface="Times New Roman" panose="02020603050405020304"/>
                <a:cs typeface="Times New Roman" panose="02020603050405020304"/>
              </a:rPr>
              <a:t>(</a:t>
            </a:r>
            <a:r>
              <a:rPr sz="1250" dirty="0">
                <a:solidFill>
                  <a:srgbClr val="224D73"/>
                </a:solidFill>
                <a:latin typeface="微软雅黑" panose="020B0503020204020204" charset="-122"/>
                <a:cs typeface="微软雅黑" panose="020B0503020204020204" charset="-122"/>
              </a:rPr>
              <a:t>例如，</a:t>
            </a:r>
            <a:r>
              <a:rPr sz="1250" dirty="0">
                <a:solidFill>
                  <a:srgbClr val="224D73"/>
                </a:solidFill>
                <a:latin typeface="Times New Roman" panose="02020603050405020304"/>
                <a:cs typeface="Times New Roman" panose="02020603050405020304"/>
              </a:rPr>
              <a:t>SHV</a:t>
            </a:r>
            <a:r>
              <a:rPr sz="1250" dirty="0">
                <a:solidFill>
                  <a:srgbClr val="224D73"/>
                </a:solidFill>
                <a:latin typeface="微软雅黑" panose="020B0503020204020204" charset="-122"/>
                <a:cs typeface="微软雅黑" panose="020B0503020204020204" charset="-122"/>
              </a:rPr>
              <a:t>、</a:t>
            </a:r>
            <a:r>
              <a:rPr sz="1250" dirty="0">
                <a:solidFill>
                  <a:srgbClr val="224D73"/>
                </a:solidFill>
                <a:latin typeface="Times New Roman" panose="02020603050405020304"/>
                <a:cs typeface="Times New Roman" panose="02020603050405020304"/>
              </a:rPr>
              <a:t>TEM</a:t>
            </a:r>
            <a:r>
              <a:rPr sz="1250" dirty="0">
                <a:solidFill>
                  <a:srgbClr val="224D73"/>
                </a:solidFill>
                <a:latin typeface="微软雅黑" panose="020B0503020204020204" charset="-122"/>
                <a:cs typeface="微软雅黑" panose="020B0503020204020204" charset="-122"/>
              </a:rPr>
              <a:t>、</a:t>
            </a:r>
            <a:r>
              <a:rPr sz="1250" dirty="0">
                <a:solidFill>
                  <a:srgbClr val="224D73"/>
                </a:solidFill>
                <a:latin typeface="Times New Roman" panose="02020603050405020304"/>
                <a:cs typeface="Times New Roman" panose="02020603050405020304"/>
              </a:rPr>
              <a:t>CTX-M</a:t>
            </a:r>
            <a:r>
              <a:rPr sz="1250" spc="-10" dirty="0">
                <a:solidFill>
                  <a:srgbClr val="224D73"/>
                </a:solidFill>
                <a:latin typeface="微软雅黑" panose="020B0503020204020204" charset="-122"/>
                <a:cs typeface="微软雅黑" panose="020B0503020204020204" charset="-122"/>
              </a:rPr>
              <a:t>、阴沟肠杆</a:t>
            </a:r>
            <a:r>
              <a:rPr sz="1250" dirty="0">
                <a:solidFill>
                  <a:srgbClr val="224D73"/>
                </a:solidFill>
                <a:latin typeface="微软雅黑" panose="020B0503020204020204" charset="-122"/>
                <a:cs typeface="微软雅黑" panose="020B0503020204020204" charset="-122"/>
              </a:rPr>
              <a:t>菌</a:t>
            </a:r>
            <a:r>
              <a:rPr sz="1250" dirty="0">
                <a:solidFill>
                  <a:srgbClr val="224D73"/>
                </a:solidFill>
                <a:latin typeface="Times New Roman" panose="02020603050405020304"/>
                <a:cs typeface="Times New Roman" panose="02020603050405020304"/>
              </a:rPr>
              <a:t>P99</a:t>
            </a:r>
            <a:r>
              <a:rPr sz="1250" dirty="0">
                <a:solidFill>
                  <a:srgbClr val="224D73"/>
                </a:solidFill>
                <a:latin typeface="微软雅黑" panose="020B0503020204020204" charset="-122"/>
                <a:cs typeface="微软雅黑" panose="020B0503020204020204" charset="-122"/>
              </a:rPr>
              <a:t>酶、</a:t>
            </a:r>
            <a:r>
              <a:rPr sz="1250" dirty="0">
                <a:solidFill>
                  <a:srgbClr val="224D73"/>
                </a:solidFill>
                <a:latin typeface="Times New Roman" panose="02020603050405020304"/>
                <a:cs typeface="Times New Roman" panose="02020603050405020304"/>
              </a:rPr>
              <a:t>PDC</a:t>
            </a:r>
            <a:r>
              <a:rPr sz="1250" dirty="0">
                <a:solidFill>
                  <a:srgbClr val="224D73"/>
                </a:solidFill>
                <a:latin typeface="微软雅黑" panose="020B0503020204020204" charset="-122"/>
                <a:cs typeface="微软雅黑" panose="020B0503020204020204" charset="-122"/>
              </a:rPr>
              <a:t>，</a:t>
            </a:r>
            <a:r>
              <a:rPr sz="1250" dirty="0">
                <a:solidFill>
                  <a:srgbClr val="224D73"/>
                </a:solidFill>
                <a:latin typeface="Times New Roman" panose="02020603050405020304"/>
                <a:cs typeface="Times New Roman" panose="02020603050405020304"/>
              </a:rPr>
              <a:t>Class</a:t>
            </a:r>
            <a:r>
              <a:rPr sz="1250" spc="120" dirty="0">
                <a:solidFill>
                  <a:srgbClr val="224D73"/>
                </a:solidFill>
                <a:latin typeface="Times New Roman" panose="02020603050405020304"/>
                <a:cs typeface="Times New Roman" panose="02020603050405020304"/>
              </a:rPr>
              <a:t> </a:t>
            </a:r>
            <a:r>
              <a:rPr sz="1250" dirty="0">
                <a:solidFill>
                  <a:srgbClr val="224D73"/>
                </a:solidFill>
                <a:latin typeface="Times New Roman" panose="02020603050405020304"/>
                <a:cs typeface="Times New Roman" panose="02020603050405020304"/>
              </a:rPr>
              <a:t>A(KPC</a:t>
            </a:r>
            <a:r>
              <a:rPr sz="1250" spc="60" dirty="0">
                <a:solidFill>
                  <a:srgbClr val="224D73"/>
                </a:solidFill>
                <a:latin typeface="Times New Roman" panose="02020603050405020304"/>
                <a:cs typeface="Times New Roman" panose="02020603050405020304"/>
              </a:rPr>
              <a:t>) </a:t>
            </a:r>
            <a:r>
              <a:rPr sz="1250" dirty="0">
                <a:solidFill>
                  <a:srgbClr val="224D73"/>
                </a:solidFill>
                <a:latin typeface="微软雅黑" panose="020B0503020204020204" charset="-122"/>
                <a:cs typeface="微软雅黑" panose="020B0503020204020204" charset="-122"/>
              </a:rPr>
              <a:t>和</a:t>
            </a:r>
            <a:r>
              <a:rPr sz="1250" dirty="0">
                <a:solidFill>
                  <a:srgbClr val="224D73"/>
                </a:solidFill>
                <a:latin typeface="Times New Roman" panose="02020603050405020304"/>
                <a:cs typeface="Times New Roman" panose="02020603050405020304"/>
              </a:rPr>
              <a:t>Class</a:t>
            </a:r>
            <a:r>
              <a:rPr sz="1250" spc="120" dirty="0">
                <a:solidFill>
                  <a:srgbClr val="224D73"/>
                </a:solidFill>
                <a:latin typeface="Times New Roman" panose="02020603050405020304"/>
                <a:cs typeface="Times New Roman" panose="02020603050405020304"/>
              </a:rPr>
              <a:t> </a:t>
            </a:r>
            <a:r>
              <a:rPr sz="1250" spc="-50" dirty="0">
                <a:solidFill>
                  <a:srgbClr val="224D73"/>
                </a:solidFill>
                <a:latin typeface="Times New Roman" panose="02020603050405020304"/>
                <a:cs typeface="Times New Roman" panose="02020603050405020304"/>
              </a:rPr>
              <a:t>C </a:t>
            </a:r>
            <a:r>
              <a:rPr sz="1250" dirty="0">
                <a:solidFill>
                  <a:srgbClr val="224D73"/>
                </a:solidFill>
                <a:latin typeface="Times New Roman" panose="02020603050405020304"/>
                <a:cs typeface="Times New Roman" panose="02020603050405020304"/>
              </a:rPr>
              <a:t>(AmpC</a:t>
            </a:r>
            <a:r>
              <a:rPr sz="1250" spc="65" dirty="0">
                <a:solidFill>
                  <a:srgbClr val="224D73"/>
                </a:solidFill>
                <a:latin typeface="Times New Roman" panose="02020603050405020304"/>
                <a:cs typeface="Times New Roman" panose="02020603050405020304"/>
              </a:rPr>
              <a:t>) </a:t>
            </a:r>
            <a:r>
              <a:rPr sz="1250" spc="-20" dirty="0">
                <a:solidFill>
                  <a:srgbClr val="224D73"/>
                </a:solidFill>
                <a:latin typeface="微软雅黑" panose="020B0503020204020204" charset="-122"/>
                <a:cs typeface="微软雅黑" panose="020B0503020204020204" charset="-122"/>
              </a:rPr>
              <a:t>的降解</a:t>
            </a:r>
            <a:endParaRPr sz="1250">
              <a:latin typeface="微软雅黑" panose="020B0503020204020204" charset="-122"/>
              <a:cs typeface="微软雅黑" panose="020B0503020204020204" charset="-122"/>
            </a:endParaRPr>
          </a:p>
          <a:p>
            <a:pPr marL="241300" marR="119380" indent="-228600">
              <a:lnSpc>
                <a:spcPct val="154000"/>
              </a:lnSpc>
              <a:buFont typeface="Arial MT"/>
              <a:buChar char="•"/>
              <a:tabLst>
                <a:tab pos="241300" algn="l"/>
              </a:tabLst>
            </a:pPr>
            <a:r>
              <a:rPr sz="1250" dirty="0">
                <a:solidFill>
                  <a:srgbClr val="224D73"/>
                </a:solidFill>
                <a:latin typeface="微软雅黑" panose="020B0503020204020204" charset="-122"/>
                <a:cs typeface="微软雅黑" panose="020B0503020204020204" charset="-122"/>
              </a:rPr>
              <a:t>对</a:t>
            </a:r>
            <a:r>
              <a:rPr sz="1250" dirty="0">
                <a:solidFill>
                  <a:srgbClr val="224D73"/>
                </a:solidFill>
                <a:latin typeface="Times New Roman" panose="02020603050405020304"/>
                <a:cs typeface="Times New Roman" panose="02020603050405020304"/>
              </a:rPr>
              <a:t>Class B(MBL)</a:t>
            </a:r>
            <a:r>
              <a:rPr sz="1250" dirty="0">
                <a:solidFill>
                  <a:srgbClr val="224D73"/>
                </a:solidFill>
                <a:latin typeface="微软雅黑" panose="020B0503020204020204" charset="-122"/>
                <a:cs typeface="微软雅黑" panose="020B0503020204020204" charset="-122"/>
              </a:rPr>
              <a:t>、</a:t>
            </a:r>
            <a:r>
              <a:rPr sz="1250" dirty="0">
                <a:solidFill>
                  <a:srgbClr val="224D73"/>
                </a:solidFill>
                <a:latin typeface="Times New Roman" panose="02020603050405020304"/>
                <a:cs typeface="Times New Roman" panose="02020603050405020304"/>
              </a:rPr>
              <a:t>Class D(OXA-48)</a:t>
            </a:r>
            <a:r>
              <a:rPr sz="1250" spc="-25" dirty="0">
                <a:solidFill>
                  <a:srgbClr val="224D73"/>
                </a:solidFill>
                <a:latin typeface="微软雅黑" panose="020B0503020204020204" charset="-122"/>
                <a:cs typeface="微软雅黑" panose="020B0503020204020204" charset="-122"/>
              </a:rPr>
              <a:t>的肠</a:t>
            </a:r>
            <a:r>
              <a:rPr sz="1250" dirty="0">
                <a:solidFill>
                  <a:srgbClr val="224D73"/>
                </a:solidFill>
                <a:latin typeface="微软雅黑" panose="020B0503020204020204" charset="-122"/>
                <a:cs typeface="微软雅黑" panose="020B0503020204020204" charset="-122"/>
              </a:rPr>
              <a:t>杆菌科细菌和</a:t>
            </a:r>
            <a:r>
              <a:rPr sz="1250" dirty="0">
                <a:solidFill>
                  <a:srgbClr val="224D73"/>
                </a:solidFill>
                <a:latin typeface="Times New Roman" panose="02020603050405020304"/>
                <a:cs typeface="Times New Roman" panose="02020603050405020304"/>
              </a:rPr>
              <a:t>CRAB</a:t>
            </a:r>
            <a:r>
              <a:rPr sz="1250" spc="-25" dirty="0">
                <a:solidFill>
                  <a:srgbClr val="224D73"/>
                </a:solidFill>
                <a:latin typeface="微软雅黑" panose="020B0503020204020204" charset="-122"/>
                <a:cs typeface="微软雅黑" panose="020B0503020204020204" charset="-122"/>
              </a:rPr>
              <a:t>无效</a:t>
            </a:r>
            <a:endParaRPr sz="1250">
              <a:latin typeface="微软雅黑" panose="020B0503020204020204" charset="-122"/>
              <a:cs typeface="微软雅黑" panose="020B0503020204020204" charset="-122"/>
            </a:endParaRPr>
          </a:p>
        </p:txBody>
      </p:sp>
      <p:grpSp>
        <p:nvGrpSpPr>
          <p:cNvPr id="16" name="object 16"/>
          <p:cNvGrpSpPr/>
          <p:nvPr/>
        </p:nvGrpSpPr>
        <p:grpSpPr>
          <a:xfrm>
            <a:off x="121920" y="121919"/>
            <a:ext cx="9763760" cy="5496560"/>
            <a:chOff x="121920" y="121919"/>
            <a:chExt cx="9763760" cy="5496560"/>
          </a:xfrm>
        </p:grpSpPr>
        <p:pic>
          <p:nvPicPr>
            <p:cNvPr id="17" name="object 17"/>
            <p:cNvPicPr/>
            <p:nvPr/>
          </p:nvPicPr>
          <p:blipFill>
            <a:blip r:embed="rId6" cstate="print"/>
            <a:stretch>
              <a:fillRect/>
            </a:stretch>
          </p:blipFill>
          <p:spPr>
            <a:xfrm>
              <a:off x="359456" y="3637076"/>
              <a:ext cx="3017953" cy="901020"/>
            </a:xfrm>
            <a:prstGeom prst="rect">
              <a:avLst/>
            </a:prstGeom>
          </p:spPr>
        </p:pic>
        <p:pic>
          <p:nvPicPr>
            <p:cNvPr id="18" name="object 18"/>
            <p:cNvPicPr/>
            <p:nvPr/>
          </p:nvPicPr>
          <p:blipFill>
            <a:blip r:embed="rId7" cstate="print"/>
            <a:stretch>
              <a:fillRect/>
            </a:stretch>
          </p:blipFill>
          <p:spPr>
            <a:xfrm>
              <a:off x="3779006" y="3514274"/>
              <a:ext cx="2342296" cy="1023511"/>
            </a:xfrm>
            <a:prstGeom prst="rect">
              <a:avLst/>
            </a:prstGeom>
          </p:spPr>
        </p:pic>
        <p:sp>
          <p:nvSpPr>
            <p:cNvPr id="19" name="object 19"/>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grpSp>
      <p:sp>
        <p:nvSpPr>
          <p:cNvPr id="20" name="object 20"/>
          <p:cNvSpPr txBox="1"/>
          <p:nvPr/>
        </p:nvSpPr>
        <p:spPr>
          <a:xfrm>
            <a:off x="114300" y="5424444"/>
            <a:ext cx="2642870" cy="369570"/>
          </a:xfrm>
          <a:prstGeom prst="rect">
            <a:avLst/>
          </a:prstGeom>
        </p:spPr>
        <p:txBody>
          <a:bodyPr vert="horz" wrap="square" lIns="0" tIns="11430" rIns="0" bIns="0" rtlCol="0">
            <a:spAutoFit/>
          </a:bodyPr>
          <a:lstStyle/>
          <a:p>
            <a:pPr marL="137795">
              <a:lnSpc>
                <a:spcPct val="100000"/>
              </a:lnSpc>
              <a:spcBef>
                <a:spcPts val="90"/>
              </a:spcBef>
            </a:pPr>
            <a:r>
              <a:rPr sz="650" dirty="0">
                <a:solidFill>
                  <a:srgbClr val="3895DE"/>
                </a:solidFill>
                <a:latin typeface="微软雅黑" panose="020B0503020204020204" charset="-122"/>
                <a:cs typeface="微软雅黑" panose="020B0503020204020204" charset="-122"/>
              </a:rPr>
              <a:t>1.</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FDA, </a:t>
            </a:r>
            <a:r>
              <a:rPr sz="650" spc="-20" dirty="0">
                <a:solidFill>
                  <a:srgbClr val="3895DE"/>
                </a:solidFill>
                <a:latin typeface="微软雅黑" panose="020B0503020204020204" charset="-122"/>
                <a:cs typeface="微软雅黑" panose="020B0503020204020204" charset="-122"/>
              </a:rPr>
              <a:t>RECARBRIO™ </a:t>
            </a:r>
            <a:r>
              <a:rPr sz="650" spc="-10" dirty="0">
                <a:solidFill>
                  <a:srgbClr val="3895DE"/>
                </a:solidFill>
                <a:latin typeface="微软雅黑" panose="020B0503020204020204" charset="-122"/>
                <a:cs typeface="微软雅黑" panose="020B0503020204020204" charset="-122"/>
              </a:rPr>
              <a:t>label </a:t>
            </a:r>
            <a:r>
              <a:rPr sz="650" dirty="0">
                <a:solidFill>
                  <a:srgbClr val="3895DE"/>
                </a:solidFill>
                <a:latin typeface="微软雅黑" panose="020B0503020204020204" charset="-122"/>
                <a:cs typeface="微软雅黑" panose="020B0503020204020204" charset="-122"/>
              </a:rPr>
              <a:t>(2019).</a:t>
            </a:r>
            <a:r>
              <a:rPr sz="650" spc="-1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2.</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Mansour</a:t>
            </a:r>
            <a:r>
              <a:rPr sz="650" spc="-1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et</a:t>
            </a:r>
            <a:r>
              <a:rPr sz="650" spc="-1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al.,</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AJHP, </a:t>
            </a:r>
            <a:r>
              <a:rPr sz="650" spc="-20" dirty="0">
                <a:solidFill>
                  <a:srgbClr val="3895DE"/>
                </a:solidFill>
                <a:latin typeface="微软雅黑" panose="020B0503020204020204" charset="-122"/>
                <a:cs typeface="微软雅黑" panose="020B0503020204020204" charset="-122"/>
              </a:rPr>
              <a:t>2021.</a:t>
            </a:r>
            <a:endParaRPr sz="650">
              <a:latin typeface="微软雅黑" panose="020B0503020204020204" charset="-122"/>
              <a:cs typeface="微软雅黑" panose="020B0503020204020204" charset="-122"/>
            </a:endParaRPr>
          </a:p>
          <a:p>
            <a:pPr>
              <a:lnSpc>
                <a:spcPct val="100000"/>
              </a:lnSpc>
              <a:spcBef>
                <a:spcPts val="15"/>
              </a:spcBef>
            </a:pPr>
            <a:endParaRPr sz="650">
              <a:latin typeface="微软雅黑" panose="020B0503020204020204" charset="-122"/>
              <a:cs typeface="微软雅黑" panose="020B0503020204020204" charset="-122"/>
            </a:endParaRPr>
          </a:p>
          <a:p>
            <a:pPr marL="12700">
              <a:lnSpc>
                <a:spcPct val="100000"/>
              </a:lnSpc>
              <a:spcBef>
                <a:spcPts val="5"/>
              </a:spcBef>
            </a:pPr>
            <a:r>
              <a:rPr sz="600" dirty="0">
                <a:solidFill>
                  <a:srgbClr val="7F7F7F"/>
                </a:solidFill>
                <a:latin typeface="Arial MT"/>
                <a:cs typeface="Arial MT"/>
              </a:rPr>
              <a:t>[</a:t>
            </a:r>
            <a:r>
              <a:rPr sz="600" dirty="0">
                <a:latin typeface="宋体" panose="02010600030101010101" pitchFamily="2" charset="-122"/>
                <a:cs typeface="宋体" panose="02010600030101010101" pitchFamily="2" charset="-122"/>
              </a:rPr>
              <a:t>此页面上无备注</a:t>
            </a:r>
            <a:r>
              <a:rPr sz="600" spc="-50" dirty="0">
                <a:solidFill>
                  <a:srgbClr val="7F7F7F"/>
                </a:solidFill>
                <a:latin typeface="Arial MT"/>
                <a:cs typeface="Arial MT"/>
              </a:rPr>
              <a:t>]</a:t>
            </a:r>
            <a:endParaRPr sz="600">
              <a:latin typeface="Arial MT"/>
              <a:cs typeface="Arial MT"/>
            </a:endParaRPr>
          </a:p>
        </p:txBody>
      </p:sp>
      <p:sp>
        <p:nvSpPr>
          <p:cNvPr id="21" name="object 21"/>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8</a:t>
            </a:fld>
            <a:r>
              <a:rPr spc="-10" dirty="0"/>
              <a:t> </a:t>
            </a:r>
            <a:r>
              <a:rPr spc="-50"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34487" y="3623419"/>
            <a:ext cx="6549241" cy="1353013"/>
          </a:xfrm>
          <a:prstGeom prst="rect">
            <a:avLst/>
          </a:prstGeom>
        </p:spPr>
      </p:pic>
      <p:sp>
        <p:nvSpPr>
          <p:cNvPr id="3" name="object 3"/>
          <p:cNvSpPr txBox="1">
            <a:spLocks noGrp="1"/>
          </p:cNvSpPr>
          <p:nvPr>
            <p:ph type="title"/>
          </p:nvPr>
        </p:nvSpPr>
        <p:spPr>
          <a:xfrm>
            <a:off x="647557" y="365394"/>
            <a:ext cx="1163320" cy="366395"/>
          </a:xfrm>
          <a:prstGeom prst="rect">
            <a:avLst/>
          </a:prstGeom>
        </p:spPr>
        <p:txBody>
          <a:bodyPr vert="horz" wrap="square" lIns="0" tIns="17145" rIns="0" bIns="0" rtlCol="0">
            <a:spAutoFit/>
          </a:bodyPr>
          <a:lstStyle/>
          <a:p>
            <a:pPr marL="12700">
              <a:lnSpc>
                <a:spcPct val="100000"/>
              </a:lnSpc>
              <a:spcBef>
                <a:spcPts val="135"/>
              </a:spcBef>
            </a:pPr>
            <a:r>
              <a:rPr spc="-15" dirty="0"/>
              <a:t>头孢地尔</a:t>
            </a:r>
          </a:p>
        </p:txBody>
      </p:sp>
      <p:sp>
        <p:nvSpPr>
          <p:cNvPr id="4" name="object 4"/>
          <p:cNvSpPr txBox="1"/>
          <p:nvPr/>
        </p:nvSpPr>
        <p:spPr>
          <a:xfrm>
            <a:off x="2114204" y="797661"/>
            <a:ext cx="5358765" cy="2525395"/>
          </a:xfrm>
          <a:prstGeom prst="rect">
            <a:avLst/>
          </a:prstGeom>
        </p:spPr>
        <p:txBody>
          <a:bodyPr vert="horz" wrap="square" lIns="0" tIns="11430" rIns="0" bIns="0" rtlCol="0">
            <a:spAutoFit/>
          </a:bodyPr>
          <a:lstStyle/>
          <a:p>
            <a:pPr marR="1905" algn="ctr">
              <a:lnSpc>
                <a:spcPct val="100000"/>
              </a:lnSpc>
              <a:spcBef>
                <a:spcPts val="90"/>
              </a:spcBef>
            </a:pPr>
            <a:r>
              <a:rPr sz="1450" b="1" spc="-30" dirty="0">
                <a:solidFill>
                  <a:srgbClr val="224D73"/>
                </a:solidFill>
                <a:latin typeface="微软雅黑" panose="020B0503020204020204" charset="-122"/>
                <a:cs typeface="微软雅黑" panose="020B0503020204020204" charset="-122"/>
              </a:rPr>
              <a:t>头孢地尔</a:t>
            </a:r>
            <a:endParaRPr sz="1450">
              <a:latin typeface="微软雅黑" panose="020B0503020204020204" charset="-122"/>
              <a:cs typeface="微软雅黑" panose="020B0503020204020204" charset="-122"/>
            </a:endParaRPr>
          </a:p>
          <a:p>
            <a:pPr marL="241300" marR="193675" indent="-228600" algn="just">
              <a:lnSpc>
                <a:spcPct val="154000"/>
              </a:lnSpc>
              <a:spcBef>
                <a:spcPts val="1820"/>
              </a:spcBef>
              <a:buFont typeface="Arial MT"/>
              <a:buChar char="•"/>
              <a:tabLst>
                <a:tab pos="241300" algn="l"/>
              </a:tabLst>
            </a:pPr>
            <a:r>
              <a:rPr sz="1250" spc="-5" dirty="0">
                <a:solidFill>
                  <a:srgbClr val="224D73"/>
                </a:solidFill>
                <a:latin typeface="微软雅黑" panose="020B0503020204020204" charset="-122"/>
                <a:cs typeface="微软雅黑" panose="020B0503020204020204" charset="-122"/>
              </a:rPr>
              <a:t>独特的铁载体头孢菌素，通过与细胞外游离三价铁形成复合物，利用</a:t>
            </a:r>
            <a:r>
              <a:rPr sz="1250" spc="-50" dirty="0">
                <a:solidFill>
                  <a:srgbClr val="224D73"/>
                </a:solidFill>
                <a:latin typeface="微软雅黑" panose="020B0503020204020204" charset="-122"/>
                <a:cs typeface="微软雅黑" panose="020B0503020204020204" charset="-122"/>
              </a:rPr>
              <a:t> </a:t>
            </a:r>
            <a:r>
              <a:rPr sz="1250" dirty="0">
                <a:solidFill>
                  <a:srgbClr val="224D73"/>
                </a:solidFill>
                <a:latin typeface="Times New Roman" panose="02020603050405020304"/>
                <a:cs typeface="Times New Roman" panose="02020603050405020304"/>
              </a:rPr>
              <a:t>G-</a:t>
            </a:r>
            <a:r>
              <a:rPr sz="1250" dirty="0">
                <a:solidFill>
                  <a:srgbClr val="224D73"/>
                </a:solidFill>
                <a:latin typeface="微软雅黑" panose="020B0503020204020204" charset="-122"/>
                <a:cs typeface="微软雅黑" panose="020B0503020204020204" charset="-122"/>
              </a:rPr>
              <a:t>菌自身铁转运系统穿透细胞壁，从而跨细胞外膜运输避免被β </a:t>
            </a:r>
            <a:r>
              <a:rPr sz="1250" dirty="0">
                <a:solidFill>
                  <a:srgbClr val="224D73"/>
                </a:solidFill>
                <a:latin typeface="Times New Roman" panose="02020603050405020304"/>
                <a:cs typeface="Times New Roman" panose="02020603050405020304"/>
              </a:rPr>
              <a:t>-</a:t>
            </a:r>
            <a:r>
              <a:rPr sz="1250" spc="-25" dirty="0">
                <a:solidFill>
                  <a:srgbClr val="224D73"/>
                </a:solidFill>
                <a:latin typeface="微软雅黑" panose="020B0503020204020204" charset="-122"/>
                <a:cs typeface="微软雅黑" panose="020B0503020204020204" charset="-122"/>
              </a:rPr>
              <a:t>内酰</a:t>
            </a:r>
            <a:r>
              <a:rPr sz="1250" spc="-10" dirty="0">
                <a:solidFill>
                  <a:srgbClr val="224D73"/>
                </a:solidFill>
                <a:latin typeface="微软雅黑" panose="020B0503020204020204" charset="-122"/>
                <a:cs typeface="微软雅黑" panose="020B0503020204020204" charset="-122"/>
              </a:rPr>
              <a:t>胺酶水解。</a:t>
            </a:r>
            <a:endParaRPr sz="1250">
              <a:latin typeface="微软雅黑" panose="020B0503020204020204" charset="-122"/>
              <a:cs typeface="微软雅黑" panose="020B0503020204020204" charset="-122"/>
            </a:endParaRPr>
          </a:p>
          <a:p>
            <a:pPr marL="241935" indent="-229235" algn="just">
              <a:lnSpc>
                <a:spcPct val="100000"/>
              </a:lnSpc>
              <a:spcBef>
                <a:spcPts val="805"/>
              </a:spcBef>
              <a:buFont typeface="Arial MT"/>
              <a:buChar char="•"/>
              <a:tabLst>
                <a:tab pos="241935" algn="l"/>
              </a:tabLst>
            </a:pPr>
            <a:r>
              <a:rPr sz="1250" dirty="0">
                <a:solidFill>
                  <a:srgbClr val="224D73"/>
                </a:solidFill>
                <a:latin typeface="微软雅黑" panose="020B0503020204020204" charset="-122"/>
                <a:cs typeface="微软雅黑" panose="020B0503020204020204" charset="-122"/>
              </a:rPr>
              <a:t>通过抑制细菌细胞壁合成中的青霉素结合蛋白（</a:t>
            </a:r>
            <a:r>
              <a:rPr sz="1250" dirty="0">
                <a:solidFill>
                  <a:srgbClr val="224D73"/>
                </a:solidFill>
                <a:latin typeface="Times New Roman" panose="02020603050405020304"/>
                <a:cs typeface="Times New Roman" panose="02020603050405020304"/>
              </a:rPr>
              <a:t>PBPs</a:t>
            </a:r>
            <a:r>
              <a:rPr sz="1250" dirty="0">
                <a:solidFill>
                  <a:srgbClr val="224D73"/>
                </a:solidFill>
                <a:latin typeface="微软雅黑" panose="020B0503020204020204" charset="-122"/>
                <a:cs typeface="微软雅黑" panose="020B0503020204020204" charset="-122"/>
              </a:rPr>
              <a:t>）</a:t>
            </a:r>
            <a:r>
              <a:rPr sz="1250" spc="-10" dirty="0">
                <a:solidFill>
                  <a:srgbClr val="224D73"/>
                </a:solidFill>
                <a:latin typeface="微软雅黑" panose="020B0503020204020204" charset="-122"/>
                <a:cs typeface="微软雅黑" panose="020B0503020204020204" charset="-122"/>
              </a:rPr>
              <a:t>实现杀菌作用</a:t>
            </a:r>
            <a:endParaRPr sz="1250">
              <a:latin typeface="微软雅黑" panose="020B0503020204020204" charset="-122"/>
              <a:cs typeface="微软雅黑" panose="020B0503020204020204" charset="-122"/>
            </a:endParaRPr>
          </a:p>
          <a:p>
            <a:pPr marL="241300" marR="5080" indent="-228600" algn="just">
              <a:lnSpc>
                <a:spcPct val="154000"/>
              </a:lnSpc>
              <a:buFont typeface="Arial MT"/>
              <a:buChar char="•"/>
              <a:tabLst>
                <a:tab pos="241300" algn="l"/>
              </a:tabLst>
            </a:pPr>
            <a:r>
              <a:rPr sz="1250" dirty="0">
                <a:solidFill>
                  <a:srgbClr val="224D73"/>
                </a:solidFill>
                <a:latin typeface="微软雅黑" panose="020B0503020204020204" charset="-122"/>
                <a:cs typeface="微软雅黑" panose="020B0503020204020204" charset="-122"/>
              </a:rPr>
              <a:t>对</a:t>
            </a:r>
            <a:r>
              <a:rPr sz="1250" dirty="0">
                <a:solidFill>
                  <a:srgbClr val="224D73"/>
                </a:solidFill>
                <a:latin typeface="Times New Roman" panose="02020603050405020304"/>
                <a:cs typeface="Times New Roman" panose="02020603050405020304"/>
              </a:rPr>
              <a:t>MDR</a:t>
            </a:r>
            <a:r>
              <a:rPr sz="1250" spc="260" dirty="0">
                <a:solidFill>
                  <a:srgbClr val="224D73"/>
                </a:solidFill>
                <a:latin typeface="Times New Roman" panose="02020603050405020304"/>
                <a:cs typeface="Times New Roman" panose="02020603050405020304"/>
              </a:rPr>
              <a:t> </a:t>
            </a:r>
            <a:r>
              <a:rPr sz="1250" dirty="0">
                <a:solidFill>
                  <a:srgbClr val="224D73"/>
                </a:solidFill>
                <a:latin typeface="微软雅黑" panose="020B0503020204020204" charset="-122"/>
                <a:cs typeface="微软雅黑" panose="020B0503020204020204" charset="-122"/>
              </a:rPr>
              <a:t>革兰氏阴性病原体具有强效抗菌活性（</a:t>
            </a:r>
            <a:r>
              <a:rPr sz="1250" spc="105" dirty="0">
                <a:solidFill>
                  <a:srgbClr val="224D73"/>
                </a:solidFill>
                <a:latin typeface="微软雅黑" panose="020B0503020204020204" charset="-122"/>
                <a:cs typeface="微软雅黑" panose="020B0503020204020204" charset="-122"/>
              </a:rPr>
              <a:t>如 </a:t>
            </a:r>
            <a:r>
              <a:rPr sz="1250" spc="-10" dirty="0">
                <a:solidFill>
                  <a:srgbClr val="224D73"/>
                </a:solidFill>
                <a:latin typeface="Times New Roman" panose="02020603050405020304"/>
                <a:cs typeface="Times New Roman" panose="02020603050405020304"/>
              </a:rPr>
              <a:t>Esbls</a:t>
            </a:r>
            <a:r>
              <a:rPr sz="1250" spc="-10" dirty="0">
                <a:solidFill>
                  <a:srgbClr val="224D73"/>
                </a:solidFill>
                <a:latin typeface="微软雅黑" panose="020B0503020204020204" charset="-122"/>
                <a:cs typeface="微软雅黑" panose="020B0503020204020204" charset="-122"/>
              </a:rPr>
              <a:t>，</a:t>
            </a:r>
            <a:r>
              <a:rPr sz="1250" spc="-10" dirty="0">
                <a:solidFill>
                  <a:srgbClr val="224D73"/>
                </a:solidFill>
                <a:latin typeface="Times New Roman" panose="02020603050405020304"/>
                <a:cs typeface="Times New Roman" panose="02020603050405020304"/>
              </a:rPr>
              <a:t>CRE</a:t>
            </a:r>
            <a:r>
              <a:rPr sz="1250" spc="-10" dirty="0">
                <a:solidFill>
                  <a:srgbClr val="224D73"/>
                </a:solidFill>
                <a:latin typeface="微软雅黑" panose="020B0503020204020204" charset="-122"/>
                <a:cs typeface="微软雅黑" panose="020B0503020204020204" charset="-122"/>
              </a:rPr>
              <a:t>，</a:t>
            </a:r>
            <a:r>
              <a:rPr sz="1250" spc="-10" dirty="0">
                <a:solidFill>
                  <a:srgbClr val="224D73"/>
                </a:solidFill>
                <a:latin typeface="Times New Roman" panose="02020603050405020304"/>
                <a:cs typeface="Times New Roman" panose="02020603050405020304"/>
              </a:rPr>
              <a:t>CRPA</a:t>
            </a:r>
            <a:r>
              <a:rPr sz="1250" spc="-10" dirty="0">
                <a:solidFill>
                  <a:srgbClr val="224D73"/>
                </a:solidFill>
                <a:latin typeface="微软雅黑" panose="020B0503020204020204" charset="-122"/>
                <a:cs typeface="微软雅黑" panose="020B0503020204020204" charset="-122"/>
              </a:rPr>
              <a:t>， </a:t>
            </a:r>
            <a:r>
              <a:rPr sz="1250" spc="-10" dirty="0">
                <a:solidFill>
                  <a:srgbClr val="224D73"/>
                </a:solidFill>
                <a:latin typeface="Times New Roman" panose="02020603050405020304"/>
                <a:cs typeface="Times New Roman" panose="02020603050405020304"/>
              </a:rPr>
              <a:t>CRAB</a:t>
            </a:r>
            <a:r>
              <a:rPr sz="1250" spc="-10" dirty="0">
                <a:solidFill>
                  <a:srgbClr val="224D73"/>
                </a:solidFill>
                <a:latin typeface="微软雅黑" panose="020B0503020204020204" charset="-122"/>
                <a:cs typeface="微软雅黑" panose="020B0503020204020204" charset="-122"/>
              </a:rPr>
              <a:t>，</a:t>
            </a:r>
            <a:r>
              <a:rPr sz="1250" spc="-10" dirty="0">
                <a:solidFill>
                  <a:srgbClr val="224D73"/>
                </a:solidFill>
                <a:latin typeface="Times New Roman" panose="02020603050405020304"/>
                <a:cs typeface="Times New Roman" panose="02020603050405020304"/>
              </a:rPr>
              <a:t>SM</a:t>
            </a:r>
            <a:r>
              <a:rPr sz="1250" spc="-10" dirty="0">
                <a:solidFill>
                  <a:srgbClr val="224D73"/>
                </a:solidFill>
                <a:latin typeface="微软雅黑" panose="020B0503020204020204" charset="-122"/>
                <a:cs typeface="微软雅黑" panose="020B0503020204020204" charset="-122"/>
              </a:rPr>
              <a:t>）</a:t>
            </a:r>
            <a:endParaRPr sz="1250">
              <a:latin typeface="微软雅黑" panose="020B0503020204020204" charset="-122"/>
              <a:cs typeface="微软雅黑" panose="020B0503020204020204" charset="-122"/>
            </a:endParaRPr>
          </a:p>
          <a:p>
            <a:pPr marL="241935" indent="-229235" algn="just">
              <a:lnSpc>
                <a:spcPct val="100000"/>
              </a:lnSpc>
              <a:spcBef>
                <a:spcPts val="800"/>
              </a:spcBef>
              <a:buFont typeface="Arial MT"/>
              <a:buChar char="•"/>
              <a:tabLst>
                <a:tab pos="241935" algn="l"/>
              </a:tabLst>
            </a:pPr>
            <a:r>
              <a:rPr sz="1250" dirty="0">
                <a:solidFill>
                  <a:srgbClr val="224D73"/>
                </a:solidFill>
                <a:latin typeface="微软雅黑" panose="020B0503020204020204" charset="-122"/>
                <a:cs typeface="微软雅黑" panose="020B0503020204020204" charset="-122"/>
              </a:rPr>
              <a:t>对大多数</a:t>
            </a:r>
            <a:r>
              <a:rPr sz="1250" dirty="0">
                <a:solidFill>
                  <a:srgbClr val="224D73"/>
                </a:solidFill>
                <a:latin typeface="Times New Roman" panose="02020603050405020304"/>
                <a:cs typeface="Times New Roman" panose="02020603050405020304"/>
              </a:rPr>
              <a:t>G+</a:t>
            </a:r>
            <a:r>
              <a:rPr sz="1250" spc="-5" dirty="0">
                <a:solidFill>
                  <a:srgbClr val="224D73"/>
                </a:solidFill>
                <a:latin typeface="微软雅黑" panose="020B0503020204020204" charset="-122"/>
                <a:cs typeface="微软雅黑" panose="020B0503020204020204" charset="-122"/>
              </a:rPr>
              <a:t>和厌氧菌无临床相关的体外活性。</a:t>
            </a:r>
            <a:endParaRPr sz="1250">
              <a:latin typeface="微软雅黑" panose="020B0503020204020204" charset="-122"/>
              <a:cs typeface="微软雅黑" panose="020B0503020204020204" charset="-122"/>
            </a:endParaRPr>
          </a:p>
        </p:txBody>
      </p:sp>
      <p:grpSp>
        <p:nvGrpSpPr>
          <p:cNvPr id="5" name="object 5"/>
          <p:cNvGrpSpPr/>
          <p:nvPr/>
        </p:nvGrpSpPr>
        <p:grpSpPr>
          <a:xfrm>
            <a:off x="121920" y="121919"/>
            <a:ext cx="9763760" cy="5496560"/>
            <a:chOff x="121920" y="121919"/>
            <a:chExt cx="9763760" cy="5496560"/>
          </a:xfrm>
        </p:grpSpPr>
        <p:pic>
          <p:nvPicPr>
            <p:cNvPr id="6" name="object 6"/>
            <p:cNvPicPr/>
            <p:nvPr/>
          </p:nvPicPr>
          <p:blipFill>
            <a:blip r:embed="rId3" cstate="print"/>
            <a:stretch>
              <a:fillRect/>
            </a:stretch>
          </p:blipFill>
          <p:spPr>
            <a:xfrm>
              <a:off x="2701536" y="1043838"/>
              <a:ext cx="4185522" cy="152400"/>
            </a:xfrm>
            <a:prstGeom prst="rect">
              <a:avLst/>
            </a:prstGeom>
          </p:spPr>
        </p:pic>
        <p:pic>
          <p:nvPicPr>
            <p:cNvPr id="7" name="object 7"/>
            <p:cNvPicPr/>
            <p:nvPr/>
          </p:nvPicPr>
          <p:blipFill>
            <a:blip r:embed="rId4" cstate="print"/>
            <a:stretch>
              <a:fillRect/>
            </a:stretch>
          </p:blipFill>
          <p:spPr>
            <a:xfrm>
              <a:off x="1512844" y="3572408"/>
              <a:ext cx="2705973" cy="1524000"/>
            </a:xfrm>
            <a:prstGeom prst="rect">
              <a:avLst/>
            </a:prstGeom>
          </p:spPr>
        </p:pic>
        <p:sp>
          <p:nvSpPr>
            <p:cNvPr id="8" name="object 8"/>
            <p:cNvSpPr/>
            <p:nvPr/>
          </p:nvSpPr>
          <p:spPr>
            <a:xfrm>
              <a:off x="4465370" y="3572347"/>
              <a:ext cx="1033780" cy="843280"/>
            </a:xfrm>
            <a:custGeom>
              <a:avLst/>
              <a:gdLst/>
              <a:ahLst/>
              <a:cxnLst/>
              <a:rect l="l" t="t" r="r" b="b"/>
              <a:pathLst>
                <a:path w="1033779" h="843279">
                  <a:moveTo>
                    <a:pt x="895553" y="843280"/>
                  </a:moveTo>
                  <a:lnTo>
                    <a:pt x="138176" y="843280"/>
                  </a:lnTo>
                  <a:lnTo>
                    <a:pt x="102351" y="836930"/>
                  </a:lnTo>
                  <a:lnTo>
                    <a:pt x="88960" y="831850"/>
                  </a:lnTo>
                  <a:lnTo>
                    <a:pt x="82509" y="828040"/>
                  </a:lnTo>
                  <a:lnTo>
                    <a:pt x="79369" y="826770"/>
                  </a:lnTo>
                  <a:lnTo>
                    <a:pt x="53004" y="808990"/>
                  </a:lnTo>
                  <a:lnTo>
                    <a:pt x="47721" y="805180"/>
                  </a:lnTo>
                  <a:lnTo>
                    <a:pt x="21092" y="772160"/>
                  </a:lnTo>
                  <a:lnTo>
                    <a:pt x="17586" y="767080"/>
                  </a:lnTo>
                  <a:lnTo>
                    <a:pt x="14366" y="760730"/>
                  </a:lnTo>
                  <a:lnTo>
                    <a:pt x="11450" y="754380"/>
                  </a:lnTo>
                  <a:lnTo>
                    <a:pt x="8839" y="746760"/>
                  </a:lnTo>
                  <a:lnTo>
                    <a:pt x="6553" y="740410"/>
                  </a:lnTo>
                  <a:lnTo>
                    <a:pt x="0" y="697230"/>
                  </a:lnTo>
                  <a:lnTo>
                    <a:pt x="0" y="144780"/>
                  </a:lnTo>
                  <a:lnTo>
                    <a:pt x="6553" y="101600"/>
                  </a:lnTo>
                  <a:lnTo>
                    <a:pt x="11450" y="88900"/>
                  </a:lnTo>
                  <a:lnTo>
                    <a:pt x="14366" y="81280"/>
                  </a:lnTo>
                  <a:lnTo>
                    <a:pt x="17586" y="76200"/>
                  </a:lnTo>
                  <a:lnTo>
                    <a:pt x="21092" y="69850"/>
                  </a:lnTo>
                  <a:lnTo>
                    <a:pt x="24881" y="63500"/>
                  </a:lnTo>
                  <a:lnTo>
                    <a:pt x="28945" y="58420"/>
                  </a:lnTo>
                  <a:lnTo>
                    <a:pt x="33263" y="52070"/>
                  </a:lnTo>
                  <a:lnTo>
                    <a:pt x="37846" y="46990"/>
                  </a:lnTo>
                  <a:lnTo>
                    <a:pt x="42661" y="41910"/>
                  </a:lnTo>
                  <a:lnTo>
                    <a:pt x="47721" y="36830"/>
                  </a:lnTo>
                  <a:lnTo>
                    <a:pt x="53130" y="32904"/>
                  </a:lnTo>
                  <a:lnTo>
                    <a:pt x="58511" y="27940"/>
                  </a:lnTo>
                  <a:lnTo>
                    <a:pt x="88960" y="11430"/>
                  </a:lnTo>
                  <a:lnTo>
                    <a:pt x="95585" y="7620"/>
                  </a:lnTo>
                  <a:lnTo>
                    <a:pt x="102351" y="6350"/>
                  </a:lnTo>
                  <a:lnTo>
                    <a:pt x="109270" y="3810"/>
                  </a:lnTo>
                  <a:lnTo>
                    <a:pt x="130779" y="0"/>
                  </a:lnTo>
                  <a:lnTo>
                    <a:pt x="902949" y="0"/>
                  </a:lnTo>
                  <a:lnTo>
                    <a:pt x="924458" y="3810"/>
                  </a:lnTo>
                  <a:lnTo>
                    <a:pt x="931377" y="6350"/>
                  </a:lnTo>
                  <a:lnTo>
                    <a:pt x="938143" y="7620"/>
                  </a:lnTo>
                  <a:lnTo>
                    <a:pt x="944768" y="11430"/>
                  </a:lnTo>
                  <a:lnTo>
                    <a:pt x="951219" y="13970"/>
                  </a:lnTo>
                  <a:lnTo>
                    <a:pt x="145856" y="13970"/>
                  </a:lnTo>
                  <a:lnTo>
                    <a:pt x="138755" y="15240"/>
                  </a:lnTo>
                  <a:lnTo>
                    <a:pt x="132516" y="15240"/>
                  </a:lnTo>
                  <a:lnTo>
                    <a:pt x="125608" y="16510"/>
                  </a:lnTo>
                  <a:lnTo>
                    <a:pt x="125984" y="16510"/>
                  </a:lnTo>
                  <a:lnTo>
                    <a:pt x="119186" y="17780"/>
                  </a:lnTo>
                  <a:lnTo>
                    <a:pt x="119562" y="17780"/>
                  </a:lnTo>
                  <a:lnTo>
                    <a:pt x="112877" y="19050"/>
                  </a:lnTo>
                  <a:lnTo>
                    <a:pt x="113253" y="19050"/>
                  </a:lnTo>
                  <a:lnTo>
                    <a:pt x="107398" y="20184"/>
                  </a:lnTo>
                  <a:lnTo>
                    <a:pt x="100644" y="22860"/>
                  </a:lnTo>
                  <a:lnTo>
                    <a:pt x="101000" y="22860"/>
                  </a:lnTo>
                  <a:lnTo>
                    <a:pt x="94731" y="25400"/>
                  </a:lnTo>
                  <a:lnTo>
                    <a:pt x="95077" y="25400"/>
                  </a:lnTo>
                  <a:lnTo>
                    <a:pt x="88960" y="27940"/>
                  </a:lnTo>
                  <a:lnTo>
                    <a:pt x="89296" y="27940"/>
                  </a:lnTo>
                  <a:lnTo>
                    <a:pt x="83342" y="30480"/>
                  </a:lnTo>
                  <a:lnTo>
                    <a:pt x="83667" y="30480"/>
                  </a:lnTo>
                  <a:lnTo>
                    <a:pt x="78150" y="32904"/>
                  </a:lnTo>
                  <a:lnTo>
                    <a:pt x="78372" y="32904"/>
                  </a:lnTo>
                  <a:lnTo>
                    <a:pt x="72593" y="36830"/>
                  </a:lnTo>
                  <a:lnTo>
                    <a:pt x="72898" y="36830"/>
                  </a:lnTo>
                  <a:lnTo>
                    <a:pt x="67492" y="40640"/>
                  </a:lnTo>
                  <a:lnTo>
                    <a:pt x="67777" y="40640"/>
                  </a:lnTo>
                  <a:lnTo>
                    <a:pt x="62565" y="44450"/>
                  </a:lnTo>
                  <a:lnTo>
                    <a:pt x="62849" y="44450"/>
                  </a:lnTo>
                  <a:lnTo>
                    <a:pt x="57840" y="48260"/>
                  </a:lnTo>
                  <a:lnTo>
                    <a:pt x="58105" y="48260"/>
                  </a:lnTo>
                  <a:lnTo>
                    <a:pt x="54508" y="52070"/>
                  </a:lnTo>
                  <a:lnTo>
                    <a:pt x="53573" y="52070"/>
                  </a:lnTo>
                  <a:lnTo>
                    <a:pt x="49001" y="57150"/>
                  </a:lnTo>
                  <a:lnTo>
                    <a:pt x="49245" y="57150"/>
                  </a:lnTo>
                  <a:lnTo>
                    <a:pt x="44907" y="62230"/>
                  </a:lnTo>
                  <a:lnTo>
                    <a:pt x="45140" y="62230"/>
                  </a:lnTo>
                  <a:lnTo>
                    <a:pt x="41036" y="67310"/>
                  </a:lnTo>
                  <a:lnTo>
                    <a:pt x="41259" y="67310"/>
                  </a:lnTo>
                  <a:lnTo>
                    <a:pt x="37409" y="72390"/>
                  </a:lnTo>
                  <a:lnTo>
                    <a:pt x="37612" y="72390"/>
                  </a:lnTo>
                  <a:lnTo>
                    <a:pt x="34025" y="77470"/>
                  </a:lnTo>
                  <a:lnTo>
                    <a:pt x="34208" y="77470"/>
                  </a:lnTo>
                  <a:lnTo>
                    <a:pt x="30938" y="82470"/>
                  </a:lnTo>
                  <a:lnTo>
                    <a:pt x="31107" y="82470"/>
                  </a:lnTo>
                  <a:lnTo>
                    <a:pt x="26839" y="91363"/>
                  </a:lnTo>
                  <a:lnTo>
                    <a:pt x="25445" y="93916"/>
                  </a:lnTo>
                  <a:lnTo>
                    <a:pt x="25573" y="93916"/>
                  </a:lnTo>
                  <a:lnTo>
                    <a:pt x="24164" y="97394"/>
                  </a:lnTo>
                  <a:lnTo>
                    <a:pt x="21163" y="106680"/>
                  </a:lnTo>
                  <a:lnTo>
                    <a:pt x="19667" y="111760"/>
                  </a:lnTo>
                  <a:lnTo>
                    <a:pt x="19395" y="111760"/>
                  </a:lnTo>
                  <a:lnTo>
                    <a:pt x="18108" y="118110"/>
                  </a:lnTo>
                  <a:lnTo>
                    <a:pt x="17932" y="118110"/>
                  </a:lnTo>
                  <a:lnTo>
                    <a:pt x="16916" y="124460"/>
                  </a:lnTo>
                  <a:lnTo>
                    <a:pt x="16774" y="124460"/>
                  </a:lnTo>
                  <a:lnTo>
                    <a:pt x="15930" y="132080"/>
                  </a:lnTo>
                  <a:lnTo>
                    <a:pt x="15524" y="137160"/>
                  </a:lnTo>
                  <a:lnTo>
                    <a:pt x="15422" y="138430"/>
                  </a:lnTo>
                  <a:lnTo>
                    <a:pt x="15240" y="144780"/>
                  </a:lnTo>
                  <a:lnTo>
                    <a:pt x="15240" y="697230"/>
                  </a:lnTo>
                  <a:lnTo>
                    <a:pt x="15402" y="703580"/>
                  </a:lnTo>
                  <a:lnTo>
                    <a:pt x="15772" y="708914"/>
                  </a:lnTo>
                  <a:lnTo>
                    <a:pt x="16774" y="717550"/>
                  </a:lnTo>
                  <a:lnTo>
                    <a:pt x="16902" y="717550"/>
                  </a:lnTo>
                  <a:lnTo>
                    <a:pt x="17851" y="723900"/>
                  </a:lnTo>
                  <a:lnTo>
                    <a:pt x="19293" y="730250"/>
                  </a:lnTo>
                  <a:lnTo>
                    <a:pt x="21163" y="736600"/>
                  </a:lnTo>
                  <a:lnTo>
                    <a:pt x="21484" y="736600"/>
                  </a:lnTo>
                  <a:lnTo>
                    <a:pt x="23201" y="741639"/>
                  </a:lnTo>
                  <a:lnTo>
                    <a:pt x="23067" y="741639"/>
                  </a:lnTo>
                  <a:lnTo>
                    <a:pt x="25562" y="748030"/>
                  </a:lnTo>
                  <a:lnTo>
                    <a:pt x="25410" y="748030"/>
                  </a:lnTo>
                  <a:lnTo>
                    <a:pt x="28183" y="754380"/>
                  </a:lnTo>
                  <a:lnTo>
                    <a:pt x="28630" y="754380"/>
                  </a:lnTo>
                  <a:lnTo>
                    <a:pt x="31069" y="759460"/>
                  </a:lnTo>
                  <a:lnTo>
                    <a:pt x="30886" y="759460"/>
                  </a:lnTo>
                  <a:lnTo>
                    <a:pt x="34208" y="764540"/>
                  </a:lnTo>
                  <a:lnTo>
                    <a:pt x="34025" y="764540"/>
                  </a:lnTo>
                  <a:lnTo>
                    <a:pt x="37612" y="770890"/>
                  </a:lnTo>
                  <a:lnTo>
                    <a:pt x="38179" y="770890"/>
                  </a:lnTo>
                  <a:lnTo>
                    <a:pt x="41259" y="775970"/>
                  </a:lnTo>
                  <a:lnTo>
                    <a:pt x="42062" y="775970"/>
                  </a:lnTo>
                  <a:lnTo>
                    <a:pt x="45140" y="779780"/>
                  </a:lnTo>
                  <a:lnTo>
                    <a:pt x="44907" y="779780"/>
                  </a:lnTo>
                  <a:lnTo>
                    <a:pt x="49245" y="784860"/>
                  </a:lnTo>
                  <a:lnTo>
                    <a:pt x="49001" y="784860"/>
                  </a:lnTo>
                  <a:lnTo>
                    <a:pt x="53573" y="789940"/>
                  </a:lnTo>
                  <a:lnTo>
                    <a:pt x="54508" y="789940"/>
                  </a:lnTo>
                  <a:lnTo>
                    <a:pt x="58105" y="793750"/>
                  </a:lnTo>
                  <a:lnTo>
                    <a:pt x="57840" y="793750"/>
                  </a:lnTo>
                  <a:lnTo>
                    <a:pt x="62849" y="797560"/>
                  </a:lnTo>
                  <a:lnTo>
                    <a:pt x="62565" y="797560"/>
                  </a:lnTo>
                  <a:lnTo>
                    <a:pt x="67777" y="801370"/>
                  </a:lnTo>
                  <a:lnTo>
                    <a:pt x="67492" y="801370"/>
                  </a:lnTo>
                  <a:lnTo>
                    <a:pt x="72898" y="805180"/>
                  </a:lnTo>
                  <a:lnTo>
                    <a:pt x="72593" y="805180"/>
                  </a:lnTo>
                  <a:lnTo>
                    <a:pt x="78201" y="808990"/>
                  </a:lnTo>
                  <a:lnTo>
                    <a:pt x="77886" y="808990"/>
                  </a:lnTo>
                  <a:lnTo>
                    <a:pt x="82630" y="811074"/>
                  </a:lnTo>
                  <a:lnTo>
                    <a:pt x="89296" y="815340"/>
                  </a:lnTo>
                  <a:lnTo>
                    <a:pt x="90999" y="815340"/>
                  </a:lnTo>
                  <a:lnTo>
                    <a:pt x="95077" y="817880"/>
                  </a:lnTo>
                  <a:lnTo>
                    <a:pt x="94731" y="817880"/>
                  </a:lnTo>
                  <a:lnTo>
                    <a:pt x="100272" y="819002"/>
                  </a:lnTo>
                  <a:lnTo>
                    <a:pt x="106739" y="821568"/>
                  </a:lnTo>
                  <a:lnTo>
                    <a:pt x="106047" y="821568"/>
                  </a:lnTo>
                  <a:lnTo>
                    <a:pt x="112393" y="822775"/>
                  </a:lnTo>
                  <a:lnTo>
                    <a:pt x="119225" y="825375"/>
                  </a:lnTo>
                  <a:lnTo>
                    <a:pt x="118518" y="825375"/>
                  </a:lnTo>
                  <a:lnTo>
                    <a:pt x="125984" y="826770"/>
                  </a:lnTo>
                  <a:lnTo>
                    <a:pt x="132130" y="826770"/>
                  </a:lnTo>
                  <a:lnTo>
                    <a:pt x="139141" y="828040"/>
                  </a:lnTo>
                  <a:lnTo>
                    <a:pt x="951219" y="828040"/>
                  </a:lnTo>
                  <a:lnTo>
                    <a:pt x="944768" y="831850"/>
                  </a:lnTo>
                  <a:lnTo>
                    <a:pt x="931377" y="836930"/>
                  </a:lnTo>
                  <a:lnTo>
                    <a:pt x="895553" y="843280"/>
                  </a:lnTo>
                  <a:close/>
                </a:path>
                <a:path w="1033779" h="843279">
                  <a:moveTo>
                    <a:pt x="888065" y="15240"/>
                  </a:moveTo>
                  <a:lnTo>
                    <a:pt x="145663" y="15240"/>
                  </a:lnTo>
                  <a:lnTo>
                    <a:pt x="145856" y="13970"/>
                  </a:lnTo>
                  <a:lnTo>
                    <a:pt x="887872" y="13970"/>
                  </a:lnTo>
                  <a:lnTo>
                    <a:pt x="888065" y="15240"/>
                  </a:lnTo>
                  <a:close/>
                </a:path>
                <a:path w="1033779" h="843279">
                  <a:moveTo>
                    <a:pt x="980599" y="32904"/>
                  </a:moveTo>
                  <a:lnTo>
                    <a:pt x="955578" y="32904"/>
                  </a:lnTo>
                  <a:lnTo>
                    <a:pt x="950061" y="30480"/>
                  </a:lnTo>
                  <a:lnTo>
                    <a:pt x="950386" y="30480"/>
                  </a:lnTo>
                  <a:lnTo>
                    <a:pt x="944432" y="27940"/>
                  </a:lnTo>
                  <a:lnTo>
                    <a:pt x="944768" y="27940"/>
                  </a:lnTo>
                  <a:lnTo>
                    <a:pt x="938662" y="25400"/>
                  </a:lnTo>
                  <a:lnTo>
                    <a:pt x="938997" y="25400"/>
                  </a:lnTo>
                  <a:lnTo>
                    <a:pt x="932728" y="22860"/>
                  </a:lnTo>
                  <a:lnTo>
                    <a:pt x="933084" y="22860"/>
                  </a:lnTo>
                  <a:lnTo>
                    <a:pt x="926331" y="20184"/>
                  </a:lnTo>
                  <a:lnTo>
                    <a:pt x="920485" y="19050"/>
                  </a:lnTo>
                  <a:lnTo>
                    <a:pt x="920851" y="19050"/>
                  </a:lnTo>
                  <a:lnTo>
                    <a:pt x="914166" y="17780"/>
                  </a:lnTo>
                  <a:lnTo>
                    <a:pt x="914542" y="17780"/>
                  </a:lnTo>
                  <a:lnTo>
                    <a:pt x="907745" y="16510"/>
                  </a:lnTo>
                  <a:lnTo>
                    <a:pt x="908121" y="16510"/>
                  </a:lnTo>
                  <a:lnTo>
                    <a:pt x="901212" y="15240"/>
                  </a:lnTo>
                  <a:lnTo>
                    <a:pt x="894974" y="15240"/>
                  </a:lnTo>
                  <a:lnTo>
                    <a:pt x="887872" y="13970"/>
                  </a:lnTo>
                  <a:lnTo>
                    <a:pt x="951219" y="13970"/>
                  </a:lnTo>
                  <a:lnTo>
                    <a:pt x="957498" y="16510"/>
                  </a:lnTo>
                  <a:lnTo>
                    <a:pt x="963388" y="20184"/>
                  </a:lnTo>
                  <a:lnTo>
                    <a:pt x="969507" y="24130"/>
                  </a:lnTo>
                  <a:lnTo>
                    <a:pt x="975227" y="27940"/>
                  </a:lnTo>
                  <a:lnTo>
                    <a:pt x="980599" y="32904"/>
                  </a:lnTo>
                  <a:close/>
                </a:path>
                <a:path w="1033779" h="843279">
                  <a:moveTo>
                    <a:pt x="78372" y="32904"/>
                  </a:moveTo>
                  <a:lnTo>
                    <a:pt x="78150" y="32904"/>
                  </a:lnTo>
                  <a:lnTo>
                    <a:pt x="78778" y="32628"/>
                  </a:lnTo>
                  <a:lnTo>
                    <a:pt x="78372" y="32904"/>
                  </a:lnTo>
                  <a:close/>
                </a:path>
                <a:path w="1033779" h="843279">
                  <a:moveTo>
                    <a:pt x="980419" y="53340"/>
                  </a:moveTo>
                  <a:lnTo>
                    <a:pt x="975624" y="48260"/>
                  </a:lnTo>
                  <a:lnTo>
                    <a:pt x="975888" y="48260"/>
                  </a:lnTo>
                  <a:lnTo>
                    <a:pt x="970879" y="44450"/>
                  </a:lnTo>
                  <a:lnTo>
                    <a:pt x="971163" y="44450"/>
                  </a:lnTo>
                  <a:lnTo>
                    <a:pt x="965951" y="40640"/>
                  </a:lnTo>
                  <a:lnTo>
                    <a:pt x="966246" y="40640"/>
                  </a:lnTo>
                  <a:lnTo>
                    <a:pt x="960831" y="36830"/>
                  </a:lnTo>
                  <a:lnTo>
                    <a:pt x="961136" y="36830"/>
                  </a:lnTo>
                  <a:lnTo>
                    <a:pt x="954951" y="32628"/>
                  </a:lnTo>
                  <a:lnTo>
                    <a:pt x="955578" y="32904"/>
                  </a:lnTo>
                  <a:lnTo>
                    <a:pt x="980563" y="32904"/>
                  </a:lnTo>
                  <a:lnTo>
                    <a:pt x="986007" y="36830"/>
                  </a:lnTo>
                  <a:lnTo>
                    <a:pt x="991067" y="41910"/>
                  </a:lnTo>
                  <a:lnTo>
                    <a:pt x="995883" y="46990"/>
                  </a:lnTo>
                  <a:lnTo>
                    <a:pt x="1000465" y="52070"/>
                  </a:lnTo>
                  <a:lnTo>
                    <a:pt x="980165" y="52070"/>
                  </a:lnTo>
                  <a:lnTo>
                    <a:pt x="980419" y="53340"/>
                  </a:lnTo>
                  <a:close/>
                </a:path>
                <a:path w="1033779" h="843279">
                  <a:moveTo>
                    <a:pt x="53309" y="53340"/>
                  </a:moveTo>
                  <a:lnTo>
                    <a:pt x="53573" y="52070"/>
                  </a:lnTo>
                  <a:lnTo>
                    <a:pt x="54508" y="52070"/>
                  </a:lnTo>
                  <a:lnTo>
                    <a:pt x="53309" y="53340"/>
                  </a:lnTo>
                  <a:close/>
                </a:path>
                <a:path w="1033779" h="843279">
                  <a:moveTo>
                    <a:pt x="1019818" y="82470"/>
                  </a:moveTo>
                  <a:lnTo>
                    <a:pt x="1002791" y="82470"/>
                  </a:lnTo>
                  <a:lnTo>
                    <a:pt x="999520" y="77470"/>
                  </a:lnTo>
                  <a:lnTo>
                    <a:pt x="999703" y="77470"/>
                  </a:lnTo>
                  <a:lnTo>
                    <a:pt x="996116" y="72390"/>
                  </a:lnTo>
                  <a:lnTo>
                    <a:pt x="996320" y="72390"/>
                  </a:lnTo>
                  <a:lnTo>
                    <a:pt x="992469" y="67310"/>
                  </a:lnTo>
                  <a:lnTo>
                    <a:pt x="992692" y="67310"/>
                  </a:lnTo>
                  <a:lnTo>
                    <a:pt x="988598" y="62230"/>
                  </a:lnTo>
                  <a:lnTo>
                    <a:pt x="988822" y="62230"/>
                  </a:lnTo>
                  <a:lnTo>
                    <a:pt x="984483" y="57150"/>
                  </a:lnTo>
                  <a:lnTo>
                    <a:pt x="984727" y="57150"/>
                  </a:lnTo>
                  <a:lnTo>
                    <a:pt x="980165" y="52070"/>
                  </a:lnTo>
                  <a:lnTo>
                    <a:pt x="1000465" y="52070"/>
                  </a:lnTo>
                  <a:lnTo>
                    <a:pt x="1004783" y="58420"/>
                  </a:lnTo>
                  <a:lnTo>
                    <a:pt x="1008847" y="63500"/>
                  </a:lnTo>
                  <a:lnTo>
                    <a:pt x="1012637" y="69850"/>
                  </a:lnTo>
                  <a:lnTo>
                    <a:pt x="1016142" y="76200"/>
                  </a:lnTo>
                  <a:lnTo>
                    <a:pt x="1019362" y="81280"/>
                  </a:lnTo>
                  <a:lnTo>
                    <a:pt x="1019818" y="82470"/>
                  </a:lnTo>
                  <a:close/>
                </a:path>
                <a:path w="1033779" h="843279">
                  <a:moveTo>
                    <a:pt x="1024341" y="93916"/>
                  </a:moveTo>
                  <a:lnTo>
                    <a:pt x="1008284" y="93916"/>
                  </a:lnTo>
                  <a:lnTo>
                    <a:pt x="1006900" y="91363"/>
                  </a:lnTo>
                  <a:lnTo>
                    <a:pt x="1002274" y="81680"/>
                  </a:lnTo>
                  <a:lnTo>
                    <a:pt x="1002791" y="82470"/>
                  </a:lnTo>
                  <a:lnTo>
                    <a:pt x="1019818" y="82470"/>
                  </a:lnTo>
                  <a:lnTo>
                    <a:pt x="1022278" y="88900"/>
                  </a:lnTo>
                  <a:lnTo>
                    <a:pt x="1024341" y="93916"/>
                  </a:lnTo>
                  <a:close/>
                </a:path>
                <a:path w="1033779" h="843279">
                  <a:moveTo>
                    <a:pt x="25573" y="93916"/>
                  </a:moveTo>
                  <a:lnTo>
                    <a:pt x="25445" y="93916"/>
                  </a:lnTo>
                  <a:lnTo>
                    <a:pt x="25951" y="92987"/>
                  </a:lnTo>
                  <a:lnTo>
                    <a:pt x="25573" y="93916"/>
                  </a:lnTo>
                  <a:close/>
                </a:path>
                <a:path w="1033779" h="843279">
                  <a:moveTo>
                    <a:pt x="1026710" y="100285"/>
                  </a:moveTo>
                  <a:lnTo>
                    <a:pt x="1010628" y="100285"/>
                  </a:lnTo>
                  <a:lnTo>
                    <a:pt x="1007798" y="92987"/>
                  </a:lnTo>
                  <a:lnTo>
                    <a:pt x="1008284" y="93916"/>
                  </a:lnTo>
                  <a:lnTo>
                    <a:pt x="1024341" y="93916"/>
                  </a:lnTo>
                  <a:lnTo>
                    <a:pt x="1024890" y="95250"/>
                  </a:lnTo>
                  <a:lnTo>
                    <a:pt x="1026710" y="100285"/>
                  </a:lnTo>
                  <a:close/>
                </a:path>
                <a:path w="1033779" h="843279">
                  <a:moveTo>
                    <a:pt x="1014435" y="113030"/>
                  </a:moveTo>
                  <a:lnTo>
                    <a:pt x="1012687" y="106680"/>
                  </a:lnTo>
                  <a:lnTo>
                    <a:pt x="1009571" y="97578"/>
                  </a:lnTo>
                  <a:lnTo>
                    <a:pt x="1010628" y="100285"/>
                  </a:lnTo>
                  <a:lnTo>
                    <a:pt x="1026710" y="100285"/>
                  </a:lnTo>
                  <a:lnTo>
                    <a:pt x="1027186" y="101600"/>
                  </a:lnTo>
                  <a:lnTo>
                    <a:pt x="1029794" y="111760"/>
                  </a:lnTo>
                  <a:lnTo>
                    <a:pt x="1014333" y="111760"/>
                  </a:lnTo>
                  <a:lnTo>
                    <a:pt x="1014435" y="113030"/>
                  </a:lnTo>
                  <a:close/>
                </a:path>
                <a:path w="1033779" h="843279">
                  <a:moveTo>
                    <a:pt x="19293" y="113030"/>
                  </a:moveTo>
                  <a:lnTo>
                    <a:pt x="19395" y="111760"/>
                  </a:lnTo>
                  <a:lnTo>
                    <a:pt x="19667" y="111760"/>
                  </a:lnTo>
                  <a:lnTo>
                    <a:pt x="19293" y="113030"/>
                  </a:lnTo>
                  <a:close/>
                </a:path>
                <a:path w="1033779" h="843279">
                  <a:moveTo>
                    <a:pt x="1032237" y="717550"/>
                  </a:moveTo>
                  <a:lnTo>
                    <a:pt x="1016955" y="717550"/>
                  </a:lnTo>
                  <a:lnTo>
                    <a:pt x="1017838" y="709933"/>
                  </a:lnTo>
                  <a:lnTo>
                    <a:pt x="1017953" y="708914"/>
                  </a:lnTo>
                  <a:lnTo>
                    <a:pt x="1018230" y="704850"/>
                  </a:lnTo>
                  <a:lnTo>
                    <a:pt x="1018316" y="703580"/>
                  </a:lnTo>
                  <a:lnTo>
                    <a:pt x="1018489" y="697230"/>
                  </a:lnTo>
                  <a:lnTo>
                    <a:pt x="1018489" y="144780"/>
                  </a:lnTo>
                  <a:lnTo>
                    <a:pt x="1018326" y="138430"/>
                  </a:lnTo>
                  <a:lnTo>
                    <a:pt x="1017838" y="132080"/>
                  </a:lnTo>
                  <a:lnTo>
                    <a:pt x="1016955" y="124460"/>
                  </a:lnTo>
                  <a:lnTo>
                    <a:pt x="1016814" y="124460"/>
                  </a:lnTo>
                  <a:lnTo>
                    <a:pt x="1015806" y="118110"/>
                  </a:lnTo>
                  <a:lnTo>
                    <a:pt x="1015620" y="118110"/>
                  </a:lnTo>
                  <a:lnTo>
                    <a:pt x="1014333" y="111760"/>
                  </a:lnTo>
                  <a:lnTo>
                    <a:pt x="1029794" y="111760"/>
                  </a:lnTo>
                  <a:lnTo>
                    <a:pt x="1030772" y="115570"/>
                  </a:lnTo>
                  <a:lnTo>
                    <a:pt x="1031199" y="118110"/>
                  </a:lnTo>
                  <a:lnTo>
                    <a:pt x="1015806" y="118110"/>
                  </a:lnTo>
                  <a:lnTo>
                    <a:pt x="1015877" y="119360"/>
                  </a:lnTo>
                  <a:lnTo>
                    <a:pt x="1031409" y="119360"/>
                  </a:lnTo>
                  <a:lnTo>
                    <a:pt x="1032052" y="123190"/>
                  </a:lnTo>
                  <a:lnTo>
                    <a:pt x="1032237" y="124460"/>
                  </a:lnTo>
                  <a:lnTo>
                    <a:pt x="1016955" y="124460"/>
                  </a:lnTo>
                  <a:lnTo>
                    <a:pt x="1017101" y="125720"/>
                  </a:lnTo>
                  <a:lnTo>
                    <a:pt x="1032421" y="125720"/>
                  </a:lnTo>
                  <a:lnTo>
                    <a:pt x="1032977" y="129540"/>
                  </a:lnTo>
                  <a:lnTo>
                    <a:pt x="1033546" y="137160"/>
                  </a:lnTo>
                  <a:lnTo>
                    <a:pt x="1033729" y="144780"/>
                  </a:lnTo>
                  <a:lnTo>
                    <a:pt x="1033729" y="697230"/>
                  </a:lnTo>
                  <a:lnTo>
                    <a:pt x="1033576" y="703580"/>
                  </a:lnTo>
                  <a:lnTo>
                    <a:pt x="1033546" y="704850"/>
                  </a:lnTo>
                  <a:lnTo>
                    <a:pt x="1033242" y="708914"/>
                  </a:lnTo>
                  <a:lnTo>
                    <a:pt x="1033166" y="709933"/>
                  </a:lnTo>
                  <a:lnTo>
                    <a:pt x="1033073" y="711187"/>
                  </a:lnTo>
                  <a:lnTo>
                    <a:pt x="1032977" y="712470"/>
                  </a:lnTo>
                  <a:lnTo>
                    <a:pt x="1032237" y="717550"/>
                  </a:lnTo>
                  <a:close/>
                </a:path>
                <a:path w="1033779" h="843279">
                  <a:moveTo>
                    <a:pt x="17854" y="119360"/>
                  </a:moveTo>
                  <a:lnTo>
                    <a:pt x="17932" y="118110"/>
                  </a:lnTo>
                  <a:lnTo>
                    <a:pt x="18108" y="118110"/>
                  </a:lnTo>
                  <a:lnTo>
                    <a:pt x="17854" y="119360"/>
                  </a:lnTo>
                  <a:close/>
                </a:path>
                <a:path w="1033779" h="843279">
                  <a:moveTo>
                    <a:pt x="16714" y="125720"/>
                  </a:moveTo>
                  <a:lnTo>
                    <a:pt x="16774" y="124460"/>
                  </a:lnTo>
                  <a:lnTo>
                    <a:pt x="16916" y="124460"/>
                  </a:lnTo>
                  <a:lnTo>
                    <a:pt x="16714" y="125720"/>
                  </a:lnTo>
                  <a:close/>
                </a:path>
                <a:path w="1033779" h="843279">
                  <a:moveTo>
                    <a:pt x="16902" y="717550"/>
                  </a:moveTo>
                  <a:lnTo>
                    <a:pt x="16774" y="717550"/>
                  </a:lnTo>
                  <a:lnTo>
                    <a:pt x="16627" y="716289"/>
                  </a:lnTo>
                  <a:lnTo>
                    <a:pt x="16902" y="717550"/>
                  </a:lnTo>
                  <a:close/>
                </a:path>
                <a:path w="1033779" h="843279">
                  <a:moveTo>
                    <a:pt x="1028362" y="736600"/>
                  </a:moveTo>
                  <a:lnTo>
                    <a:pt x="1012576" y="736600"/>
                  </a:lnTo>
                  <a:lnTo>
                    <a:pt x="1014333" y="730250"/>
                  </a:lnTo>
                  <a:lnTo>
                    <a:pt x="1015806" y="723900"/>
                  </a:lnTo>
                  <a:lnTo>
                    <a:pt x="1017014" y="716289"/>
                  </a:lnTo>
                  <a:lnTo>
                    <a:pt x="1016955" y="717550"/>
                  </a:lnTo>
                  <a:lnTo>
                    <a:pt x="1032237" y="717550"/>
                  </a:lnTo>
                  <a:lnTo>
                    <a:pt x="1032052" y="718820"/>
                  </a:lnTo>
                  <a:lnTo>
                    <a:pt x="1030772" y="726440"/>
                  </a:lnTo>
                  <a:lnTo>
                    <a:pt x="1029147" y="734060"/>
                  </a:lnTo>
                  <a:lnTo>
                    <a:pt x="1028362" y="736600"/>
                  </a:lnTo>
                  <a:close/>
                </a:path>
                <a:path w="1033779" h="843279">
                  <a:moveTo>
                    <a:pt x="21484" y="736600"/>
                  </a:moveTo>
                  <a:lnTo>
                    <a:pt x="21163" y="736600"/>
                  </a:lnTo>
                  <a:lnTo>
                    <a:pt x="21051" y="735330"/>
                  </a:lnTo>
                  <a:lnTo>
                    <a:pt x="21484" y="736600"/>
                  </a:lnTo>
                  <a:close/>
                </a:path>
                <a:path w="1033779" h="843279">
                  <a:moveTo>
                    <a:pt x="1022278" y="754380"/>
                  </a:moveTo>
                  <a:lnTo>
                    <a:pt x="1005555" y="754380"/>
                  </a:lnTo>
                  <a:lnTo>
                    <a:pt x="1008319" y="748030"/>
                  </a:lnTo>
                  <a:lnTo>
                    <a:pt x="1008166" y="748030"/>
                  </a:lnTo>
                  <a:lnTo>
                    <a:pt x="1009601" y="744342"/>
                  </a:lnTo>
                  <a:lnTo>
                    <a:pt x="1012687" y="735330"/>
                  </a:lnTo>
                  <a:lnTo>
                    <a:pt x="1012576" y="736600"/>
                  </a:lnTo>
                  <a:lnTo>
                    <a:pt x="1028362" y="736600"/>
                  </a:lnTo>
                  <a:lnTo>
                    <a:pt x="1027186" y="740410"/>
                  </a:lnTo>
                  <a:lnTo>
                    <a:pt x="1024890" y="746760"/>
                  </a:lnTo>
                  <a:lnTo>
                    <a:pt x="1022278" y="754380"/>
                  </a:lnTo>
                  <a:close/>
                </a:path>
                <a:path w="1033779" h="843279">
                  <a:moveTo>
                    <a:pt x="24123" y="744342"/>
                  </a:moveTo>
                  <a:lnTo>
                    <a:pt x="23067" y="741639"/>
                  </a:lnTo>
                  <a:lnTo>
                    <a:pt x="23201" y="741639"/>
                  </a:lnTo>
                  <a:lnTo>
                    <a:pt x="24123" y="744342"/>
                  </a:lnTo>
                  <a:close/>
                </a:path>
                <a:path w="1033779" h="843279">
                  <a:moveTo>
                    <a:pt x="28630" y="754380"/>
                  </a:moveTo>
                  <a:lnTo>
                    <a:pt x="28183" y="754380"/>
                  </a:lnTo>
                  <a:lnTo>
                    <a:pt x="28021" y="753110"/>
                  </a:lnTo>
                  <a:lnTo>
                    <a:pt x="28630" y="754380"/>
                  </a:lnTo>
                  <a:close/>
                </a:path>
                <a:path w="1033779" h="843279">
                  <a:moveTo>
                    <a:pt x="1002193" y="760452"/>
                  </a:moveTo>
                  <a:lnTo>
                    <a:pt x="1005718" y="753110"/>
                  </a:lnTo>
                  <a:lnTo>
                    <a:pt x="1005555" y="754380"/>
                  </a:lnTo>
                  <a:lnTo>
                    <a:pt x="1022278" y="754380"/>
                  </a:lnTo>
                  <a:lnTo>
                    <a:pt x="1019946" y="759460"/>
                  </a:lnTo>
                  <a:lnTo>
                    <a:pt x="1002842" y="759460"/>
                  </a:lnTo>
                  <a:lnTo>
                    <a:pt x="1002193" y="760452"/>
                  </a:lnTo>
                  <a:close/>
                </a:path>
                <a:path w="1033779" h="843279">
                  <a:moveTo>
                    <a:pt x="1013513" y="770890"/>
                  </a:moveTo>
                  <a:lnTo>
                    <a:pt x="996116" y="770890"/>
                  </a:lnTo>
                  <a:lnTo>
                    <a:pt x="999703" y="764540"/>
                  </a:lnTo>
                  <a:lnTo>
                    <a:pt x="999520" y="764540"/>
                  </a:lnTo>
                  <a:lnTo>
                    <a:pt x="1002842" y="759460"/>
                  </a:lnTo>
                  <a:lnTo>
                    <a:pt x="1019946" y="759460"/>
                  </a:lnTo>
                  <a:lnTo>
                    <a:pt x="1019362" y="760730"/>
                  </a:lnTo>
                  <a:lnTo>
                    <a:pt x="1016142" y="767080"/>
                  </a:lnTo>
                  <a:lnTo>
                    <a:pt x="1013513" y="770890"/>
                  </a:lnTo>
                  <a:close/>
                </a:path>
                <a:path w="1033779" h="843279">
                  <a:moveTo>
                    <a:pt x="38179" y="770890"/>
                  </a:moveTo>
                  <a:lnTo>
                    <a:pt x="37612" y="770890"/>
                  </a:lnTo>
                  <a:lnTo>
                    <a:pt x="37409" y="769620"/>
                  </a:lnTo>
                  <a:lnTo>
                    <a:pt x="38179" y="770890"/>
                  </a:lnTo>
                  <a:close/>
                </a:path>
                <a:path w="1033779" h="843279">
                  <a:moveTo>
                    <a:pt x="1010363" y="775970"/>
                  </a:moveTo>
                  <a:lnTo>
                    <a:pt x="992469" y="775970"/>
                  </a:lnTo>
                  <a:lnTo>
                    <a:pt x="996320" y="769620"/>
                  </a:lnTo>
                  <a:lnTo>
                    <a:pt x="996116" y="770890"/>
                  </a:lnTo>
                  <a:lnTo>
                    <a:pt x="1013513" y="770890"/>
                  </a:lnTo>
                  <a:lnTo>
                    <a:pt x="1012637" y="772160"/>
                  </a:lnTo>
                  <a:lnTo>
                    <a:pt x="1010363" y="775970"/>
                  </a:lnTo>
                  <a:close/>
                </a:path>
                <a:path w="1033779" h="843279">
                  <a:moveTo>
                    <a:pt x="42062" y="775970"/>
                  </a:moveTo>
                  <a:lnTo>
                    <a:pt x="41259" y="775970"/>
                  </a:lnTo>
                  <a:lnTo>
                    <a:pt x="41036" y="774700"/>
                  </a:lnTo>
                  <a:lnTo>
                    <a:pt x="42062" y="775970"/>
                  </a:lnTo>
                  <a:close/>
                </a:path>
                <a:path w="1033779" h="843279">
                  <a:moveTo>
                    <a:pt x="1000465" y="789940"/>
                  </a:moveTo>
                  <a:lnTo>
                    <a:pt x="980165" y="789940"/>
                  </a:lnTo>
                  <a:lnTo>
                    <a:pt x="984727" y="784860"/>
                  </a:lnTo>
                  <a:lnTo>
                    <a:pt x="984483" y="784860"/>
                  </a:lnTo>
                  <a:lnTo>
                    <a:pt x="988822" y="779780"/>
                  </a:lnTo>
                  <a:lnTo>
                    <a:pt x="988598" y="779780"/>
                  </a:lnTo>
                  <a:lnTo>
                    <a:pt x="992692" y="774700"/>
                  </a:lnTo>
                  <a:lnTo>
                    <a:pt x="992469" y="775970"/>
                  </a:lnTo>
                  <a:lnTo>
                    <a:pt x="1010363" y="775970"/>
                  </a:lnTo>
                  <a:lnTo>
                    <a:pt x="1008847" y="778510"/>
                  </a:lnTo>
                  <a:lnTo>
                    <a:pt x="1004783" y="784860"/>
                  </a:lnTo>
                  <a:lnTo>
                    <a:pt x="1000465" y="789940"/>
                  </a:lnTo>
                  <a:close/>
                </a:path>
                <a:path w="1033779" h="843279">
                  <a:moveTo>
                    <a:pt x="54508" y="789940"/>
                  </a:moveTo>
                  <a:lnTo>
                    <a:pt x="53573" y="789940"/>
                  </a:lnTo>
                  <a:lnTo>
                    <a:pt x="53309" y="788670"/>
                  </a:lnTo>
                  <a:lnTo>
                    <a:pt x="54508" y="789940"/>
                  </a:lnTo>
                  <a:close/>
                </a:path>
                <a:path w="1033779" h="843279">
                  <a:moveTo>
                    <a:pt x="954951" y="809381"/>
                  </a:moveTo>
                  <a:lnTo>
                    <a:pt x="961136" y="805180"/>
                  </a:lnTo>
                  <a:lnTo>
                    <a:pt x="960831" y="805180"/>
                  </a:lnTo>
                  <a:lnTo>
                    <a:pt x="966246" y="801370"/>
                  </a:lnTo>
                  <a:lnTo>
                    <a:pt x="965951" y="801370"/>
                  </a:lnTo>
                  <a:lnTo>
                    <a:pt x="971163" y="797560"/>
                  </a:lnTo>
                  <a:lnTo>
                    <a:pt x="970879" y="797560"/>
                  </a:lnTo>
                  <a:lnTo>
                    <a:pt x="975888" y="793750"/>
                  </a:lnTo>
                  <a:lnTo>
                    <a:pt x="975624" y="793750"/>
                  </a:lnTo>
                  <a:lnTo>
                    <a:pt x="980419" y="788670"/>
                  </a:lnTo>
                  <a:lnTo>
                    <a:pt x="980165" y="789940"/>
                  </a:lnTo>
                  <a:lnTo>
                    <a:pt x="1000465" y="789940"/>
                  </a:lnTo>
                  <a:lnTo>
                    <a:pt x="995883" y="795020"/>
                  </a:lnTo>
                  <a:lnTo>
                    <a:pt x="991067" y="800100"/>
                  </a:lnTo>
                  <a:lnTo>
                    <a:pt x="986007" y="805180"/>
                  </a:lnTo>
                  <a:lnTo>
                    <a:pt x="980724" y="808990"/>
                  </a:lnTo>
                  <a:lnTo>
                    <a:pt x="955842" y="808990"/>
                  </a:lnTo>
                  <a:lnTo>
                    <a:pt x="954951" y="809381"/>
                  </a:lnTo>
                  <a:close/>
                </a:path>
                <a:path w="1033779" h="843279">
                  <a:moveTo>
                    <a:pt x="78778" y="809381"/>
                  </a:moveTo>
                  <a:lnTo>
                    <a:pt x="77886" y="808990"/>
                  </a:lnTo>
                  <a:lnTo>
                    <a:pt x="78201" y="808990"/>
                  </a:lnTo>
                  <a:lnTo>
                    <a:pt x="78778" y="809381"/>
                  </a:lnTo>
                  <a:close/>
                </a:path>
                <a:path w="1033779" h="843279">
                  <a:moveTo>
                    <a:pt x="973321" y="815340"/>
                  </a:moveTo>
                  <a:lnTo>
                    <a:pt x="944432" y="815340"/>
                  </a:lnTo>
                  <a:lnTo>
                    <a:pt x="951098" y="811074"/>
                  </a:lnTo>
                  <a:lnTo>
                    <a:pt x="955842" y="808990"/>
                  </a:lnTo>
                  <a:lnTo>
                    <a:pt x="980724" y="808990"/>
                  </a:lnTo>
                  <a:lnTo>
                    <a:pt x="975227" y="814070"/>
                  </a:lnTo>
                  <a:lnTo>
                    <a:pt x="973321" y="815340"/>
                  </a:lnTo>
                  <a:close/>
                </a:path>
                <a:path w="1033779" h="843279">
                  <a:moveTo>
                    <a:pt x="90999" y="815340"/>
                  </a:moveTo>
                  <a:lnTo>
                    <a:pt x="89296" y="815340"/>
                  </a:lnTo>
                  <a:lnTo>
                    <a:pt x="88960" y="814070"/>
                  </a:lnTo>
                  <a:lnTo>
                    <a:pt x="90999" y="815340"/>
                  </a:lnTo>
                  <a:close/>
                </a:path>
                <a:path w="1033779" h="843279">
                  <a:moveTo>
                    <a:pt x="951219" y="828040"/>
                  </a:moveTo>
                  <a:lnTo>
                    <a:pt x="894588" y="828040"/>
                  </a:lnTo>
                  <a:lnTo>
                    <a:pt x="901598" y="826770"/>
                  </a:lnTo>
                  <a:lnTo>
                    <a:pt x="907745" y="826770"/>
                  </a:lnTo>
                  <a:lnTo>
                    <a:pt x="915210" y="825375"/>
                  </a:lnTo>
                  <a:lnTo>
                    <a:pt x="914493" y="825375"/>
                  </a:lnTo>
                  <a:lnTo>
                    <a:pt x="920532" y="823081"/>
                  </a:lnTo>
                  <a:lnTo>
                    <a:pt x="921437" y="822775"/>
                  </a:lnTo>
                  <a:lnTo>
                    <a:pt x="927760" y="821568"/>
                  </a:lnTo>
                  <a:lnTo>
                    <a:pt x="926979" y="821568"/>
                  </a:lnTo>
                  <a:lnTo>
                    <a:pt x="933456" y="819002"/>
                  </a:lnTo>
                  <a:lnTo>
                    <a:pt x="939058" y="817880"/>
                  </a:lnTo>
                  <a:lnTo>
                    <a:pt x="938662" y="817880"/>
                  </a:lnTo>
                  <a:lnTo>
                    <a:pt x="944768" y="814070"/>
                  </a:lnTo>
                  <a:lnTo>
                    <a:pt x="944432" y="815340"/>
                  </a:lnTo>
                  <a:lnTo>
                    <a:pt x="973321" y="815340"/>
                  </a:lnTo>
                  <a:lnTo>
                    <a:pt x="969507" y="817880"/>
                  </a:lnTo>
                  <a:lnTo>
                    <a:pt x="963793" y="821568"/>
                  </a:lnTo>
                  <a:lnTo>
                    <a:pt x="957698" y="825375"/>
                  </a:lnTo>
                  <a:lnTo>
                    <a:pt x="954359" y="826770"/>
                  </a:lnTo>
                  <a:lnTo>
                    <a:pt x="951219" y="828040"/>
                  </a:lnTo>
                  <a:close/>
                </a:path>
                <a:path w="1033779" h="843279">
                  <a:moveTo>
                    <a:pt x="100952" y="819271"/>
                  </a:moveTo>
                  <a:lnTo>
                    <a:pt x="100272" y="819002"/>
                  </a:lnTo>
                  <a:lnTo>
                    <a:pt x="100538" y="819002"/>
                  </a:lnTo>
                  <a:lnTo>
                    <a:pt x="100952" y="819271"/>
                  </a:lnTo>
                  <a:close/>
                </a:path>
                <a:path w="1033779" h="843279">
                  <a:moveTo>
                    <a:pt x="932767" y="819271"/>
                  </a:moveTo>
                  <a:lnTo>
                    <a:pt x="933190" y="819002"/>
                  </a:lnTo>
                  <a:lnTo>
                    <a:pt x="933446" y="819002"/>
                  </a:lnTo>
                  <a:lnTo>
                    <a:pt x="932767" y="819271"/>
                  </a:lnTo>
                  <a:close/>
                </a:path>
                <a:path w="1033779" h="843279">
                  <a:moveTo>
                    <a:pt x="113200" y="823081"/>
                  </a:moveTo>
                  <a:lnTo>
                    <a:pt x="112393" y="822775"/>
                  </a:lnTo>
                  <a:lnTo>
                    <a:pt x="112707" y="822775"/>
                  </a:lnTo>
                  <a:lnTo>
                    <a:pt x="113200" y="823081"/>
                  </a:lnTo>
                  <a:close/>
                </a:path>
                <a:path w="1033779" h="843279">
                  <a:moveTo>
                    <a:pt x="920522" y="823081"/>
                  </a:moveTo>
                  <a:lnTo>
                    <a:pt x="921025" y="822775"/>
                  </a:lnTo>
                  <a:lnTo>
                    <a:pt x="921325" y="822775"/>
                  </a:lnTo>
                  <a:lnTo>
                    <a:pt x="920522" y="823081"/>
                  </a:lnTo>
                  <a:close/>
                </a:path>
                <a:path w="1033779" h="843279">
                  <a:moveTo>
                    <a:pt x="132516" y="826770"/>
                  </a:moveTo>
                  <a:lnTo>
                    <a:pt x="125984" y="826770"/>
                  </a:lnTo>
                  <a:lnTo>
                    <a:pt x="125571" y="825375"/>
                  </a:lnTo>
                  <a:lnTo>
                    <a:pt x="124929" y="825375"/>
                  </a:lnTo>
                  <a:lnTo>
                    <a:pt x="132516" y="826770"/>
                  </a:lnTo>
                  <a:close/>
                </a:path>
                <a:path w="1033779" h="843279">
                  <a:moveTo>
                    <a:pt x="907745" y="826770"/>
                  </a:moveTo>
                  <a:lnTo>
                    <a:pt x="901212" y="826770"/>
                  </a:lnTo>
                  <a:lnTo>
                    <a:pt x="908800" y="825375"/>
                  </a:lnTo>
                  <a:lnTo>
                    <a:pt x="908158" y="825375"/>
                  </a:lnTo>
                  <a:lnTo>
                    <a:pt x="907745" y="826770"/>
                  </a:lnTo>
                  <a:close/>
                </a:path>
              </a:pathLst>
            </a:custGeom>
            <a:solidFill>
              <a:srgbClr val="FF0000"/>
            </a:solidFill>
          </p:spPr>
          <p:txBody>
            <a:bodyPr wrap="square" lIns="0" tIns="0" rIns="0" bIns="0" rtlCol="0"/>
            <a:lstStyle/>
            <a:p>
              <a:endParaRPr/>
            </a:p>
          </p:txBody>
        </p:sp>
        <p:sp>
          <p:nvSpPr>
            <p:cNvPr id="9" name="object 9"/>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grpSp>
      <p:sp>
        <p:nvSpPr>
          <p:cNvPr id="10" name="object 10"/>
          <p:cNvSpPr txBox="1"/>
          <p:nvPr/>
        </p:nvSpPr>
        <p:spPr>
          <a:xfrm>
            <a:off x="114300" y="5424444"/>
            <a:ext cx="4730750" cy="211596"/>
          </a:xfrm>
          <a:prstGeom prst="rect">
            <a:avLst/>
          </a:prstGeom>
        </p:spPr>
        <p:txBody>
          <a:bodyPr vert="horz" wrap="square" lIns="0" tIns="11430" rIns="0" bIns="0" rtlCol="0">
            <a:spAutoFit/>
          </a:bodyPr>
          <a:lstStyle/>
          <a:p>
            <a:pPr marL="137795">
              <a:lnSpc>
                <a:spcPct val="100000"/>
              </a:lnSpc>
              <a:spcBef>
                <a:spcPts val="90"/>
              </a:spcBef>
            </a:pPr>
            <a:r>
              <a:rPr sz="650" dirty="0">
                <a:solidFill>
                  <a:srgbClr val="3895DE"/>
                </a:solidFill>
                <a:latin typeface="微软雅黑" panose="020B0503020204020204" charset="-122"/>
                <a:cs typeface="微软雅黑" panose="020B0503020204020204" charset="-122"/>
              </a:rPr>
              <a:t>1.</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FDA,</a:t>
            </a:r>
            <a:r>
              <a:rPr sz="650" spc="-15" dirty="0">
                <a:solidFill>
                  <a:srgbClr val="3895DE"/>
                </a:solidFill>
                <a:latin typeface="微软雅黑" panose="020B0503020204020204" charset="-122"/>
                <a:cs typeface="微软雅黑" panose="020B0503020204020204" charset="-122"/>
              </a:rPr>
              <a:t> </a:t>
            </a:r>
            <a:r>
              <a:rPr sz="650" spc="-20" dirty="0">
                <a:solidFill>
                  <a:srgbClr val="3895DE"/>
                </a:solidFill>
                <a:latin typeface="微软雅黑" panose="020B0503020204020204" charset="-122"/>
                <a:cs typeface="微软雅黑" panose="020B0503020204020204" charset="-122"/>
              </a:rPr>
              <a:t>FETROJA® </a:t>
            </a:r>
            <a:r>
              <a:rPr sz="650" spc="-10" dirty="0">
                <a:solidFill>
                  <a:srgbClr val="3895DE"/>
                </a:solidFill>
                <a:latin typeface="微软雅黑" panose="020B0503020204020204" charset="-122"/>
                <a:cs typeface="微软雅黑" panose="020B0503020204020204" charset="-122"/>
              </a:rPr>
              <a:t>label</a:t>
            </a:r>
            <a:r>
              <a:rPr sz="650" spc="-1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(2019).</a:t>
            </a:r>
            <a:r>
              <a:rPr sz="650" spc="-1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2.</a:t>
            </a:r>
            <a:r>
              <a:rPr sz="650" spc="-1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Sato</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T,</a:t>
            </a:r>
            <a:r>
              <a:rPr sz="650" spc="-1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et</a:t>
            </a:r>
            <a:r>
              <a:rPr sz="650" spc="-1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al.</a:t>
            </a:r>
            <a:r>
              <a:rPr sz="650" spc="-10" dirty="0">
                <a:solidFill>
                  <a:srgbClr val="3895DE"/>
                </a:solidFill>
                <a:latin typeface="微软雅黑" panose="020B0503020204020204" charset="-122"/>
                <a:cs typeface="微软雅黑" panose="020B0503020204020204" charset="-122"/>
              </a:rPr>
              <a:t> Antimicrob</a:t>
            </a:r>
            <a:r>
              <a:rPr sz="650" spc="-20"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Agents</a:t>
            </a:r>
            <a:r>
              <a:rPr sz="650" spc="-20"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Chemother.</a:t>
            </a:r>
            <a:r>
              <a:rPr sz="650" spc="-1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2020</a:t>
            </a:r>
            <a:r>
              <a:rPr sz="650" spc="15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3.</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Matsumoto</a:t>
            </a:r>
            <a:r>
              <a:rPr sz="650" spc="-2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S,</a:t>
            </a:r>
            <a:r>
              <a:rPr sz="650" spc="-15"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et</a:t>
            </a:r>
            <a:r>
              <a:rPr sz="650" spc="-10" dirty="0">
                <a:solidFill>
                  <a:srgbClr val="3895DE"/>
                </a:solidFill>
                <a:latin typeface="微软雅黑" panose="020B0503020204020204" charset="-122"/>
                <a:cs typeface="微软雅黑" panose="020B0503020204020204" charset="-122"/>
              </a:rPr>
              <a:t> </a:t>
            </a:r>
            <a:r>
              <a:rPr sz="650" dirty="0">
                <a:solidFill>
                  <a:srgbClr val="3895DE"/>
                </a:solidFill>
                <a:latin typeface="微软雅黑" panose="020B0503020204020204" charset="-122"/>
                <a:cs typeface="微软雅黑" panose="020B0503020204020204" charset="-122"/>
              </a:rPr>
              <a:t>al.</a:t>
            </a:r>
            <a:r>
              <a:rPr sz="650" spc="-15" dirty="0">
                <a:solidFill>
                  <a:srgbClr val="3895DE"/>
                </a:solidFill>
                <a:latin typeface="微软雅黑" panose="020B0503020204020204" charset="-122"/>
                <a:cs typeface="微软雅黑" panose="020B0503020204020204" charset="-122"/>
              </a:rPr>
              <a:t> </a:t>
            </a:r>
            <a:r>
              <a:rPr sz="650" spc="-10" dirty="0">
                <a:solidFill>
                  <a:srgbClr val="3895DE"/>
                </a:solidFill>
                <a:latin typeface="微软雅黑" panose="020B0503020204020204" charset="-122"/>
                <a:cs typeface="微软雅黑" panose="020B0503020204020204" charset="-122"/>
              </a:rPr>
              <a:t>AAC.</a:t>
            </a:r>
            <a:r>
              <a:rPr sz="650" spc="-15" dirty="0">
                <a:solidFill>
                  <a:srgbClr val="3895DE"/>
                </a:solidFill>
                <a:latin typeface="微软雅黑" panose="020B0503020204020204" charset="-122"/>
                <a:cs typeface="微软雅黑" panose="020B0503020204020204" charset="-122"/>
              </a:rPr>
              <a:t> </a:t>
            </a:r>
            <a:r>
              <a:rPr sz="650" spc="-20" dirty="0">
                <a:solidFill>
                  <a:srgbClr val="3895DE"/>
                </a:solidFill>
                <a:latin typeface="微软雅黑" panose="020B0503020204020204" charset="-122"/>
                <a:cs typeface="微软雅黑" panose="020B0503020204020204" charset="-122"/>
              </a:rPr>
              <a:t>2017</a:t>
            </a:r>
            <a:endParaRPr sz="650" dirty="0">
              <a:latin typeface="微软雅黑" panose="020B0503020204020204" charset="-122"/>
              <a:cs typeface="微软雅黑" panose="020B0503020204020204" charset="-122"/>
            </a:endParaRPr>
          </a:p>
          <a:p>
            <a:pPr>
              <a:lnSpc>
                <a:spcPct val="100000"/>
              </a:lnSpc>
              <a:spcBef>
                <a:spcPts val="15"/>
              </a:spcBef>
            </a:pPr>
            <a:endParaRPr sz="650" dirty="0">
              <a:latin typeface="微软雅黑" panose="020B0503020204020204" charset="-122"/>
              <a:cs typeface="微软雅黑" panose="020B0503020204020204" charset="-122"/>
            </a:endParaRPr>
          </a:p>
        </p:txBody>
      </p:sp>
      <p:sp>
        <p:nvSpPr>
          <p:cNvPr id="11" name="object 11"/>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9</a:t>
            </a:fld>
            <a:r>
              <a:rPr spc="-10" dirty="0"/>
              <a:t> </a:t>
            </a:r>
            <a:r>
              <a:rPr spc="-5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6562" y="304292"/>
            <a:ext cx="2301240" cy="366395"/>
          </a:xfrm>
          <a:prstGeom prst="rect">
            <a:avLst/>
          </a:prstGeom>
        </p:spPr>
        <p:txBody>
          <a:bodyPr vert="horz" wrap="square" lIns="0" tIns="17145" rIns="0" bIns="0" rtlCol="0">
            <a:spAutoFit/>
          </a:bodyPr>
          <a:lstStyle/>
          <a:p>
            <a:pPr marL="12700">
              <a:lnSpc>
                <a:spcPct val="100000"/>
              </a:lnSpc>
              <a:spcBef>
                <a:spcPts val="135"/>
              </a:spcBef>
            </a:pPr>
            <a:r>
              <a:rPr spc="-10" dirty="0"/>
              <a:t>头孢地尔作用机制</a:t>
            </a:r>
          </a:p>
        </p:txBody>
      </p:sp>
      <p:grpSp>
        <p:nvGrpSpPr>
          <p:cNvPr id="4" name="object 4"/>
          <p:cNvGrpSpPr/>
          <p:nvPr/>
        </p:nvGrpSpPr>
        <p:grpSpPr>
          <a:xfrm>
            <a:off x="127000" y="126999"/>
            <a:ext cx="9753600" cy="5486400"/>
            <a:chOff x="127000" y="126999"/>
            <a:chExt cx="9753600" cy="5486400"/>
          </a:xfrm>
        </p:grpSpPr>
        <p:pic>
          <p:nvPicPr>
            <p:cNvPr id="5" name="object 5"/>
            <p:cNvPicPr/>
            <p:nvPr/>
          </p:nvPicPr>
          <p:blipFill>
            <a:blip r:embed="rId2" cstate="print"/>
            <a:stretch>
              <a:fillRect/>
            </a:stretch>
          </p:blipFill>
          <p:spPr>
            <a:xfrm>
              <a:off x="1408470" y="1192550"/>
              <a:ext cx="6653783" cy="3353429"/>
            </a:xfrm>
            <a:prstGeom prst="rect">
              <a:avLst/>
            </a:prstGeom>
          </p:spPr>
        </p:pic>
        <p:sp>
          <p:nvSpPr>
            <p:cNvPr id="6" name="object 6"/>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grpSp>
      <p:sp>
        <p:nvSpPr>
          <p:cNvPr id="11" name="object 11"/>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10</a:t>
            </a:fld>
            <a:r>
              <a:rPr spc="-10" dirty="0"/>
              <a:t> </a:t>
            </a:r>
            <a:r>
              <a:rPr spc="-50" dirty="0"/>
              <a:t>-</a:t>
            </a:r>
          </a:p>
        </p:txBody>
      </p:sp>
      <p:sp>
        <p:nvSpPr>
          <p:cNvPr id="12" name="文本框 11"/>
          <p:cNvSpPr txBox="1"/>
          <p:nvPr/>
        </p:nvSpPr>
        <p:spPr>
          <a:xfrm>
            <a:off x="467995" y="6455410"/>
            <a:ext cx="1684655" cy="168275"/>
          </a:xfrm>
          <a:prstGeom prst="rect">
            <a:avLst/>
          </a:prstGeom>
          <a:noFill/>
        </p:spPr>
        <p:txBody>
          <a:bodyPr wrap="square" rtlCol="0">
            <a:spAutoFit/>
          </a:bodyPr>
          <a:lstStyle/>
          <a:p>
            <a:r>
              <a:rPr lang="zh-CN" altLang="en-US" sz="500" b="1"/>
              <a:t>来自头孢地尔说明书</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650232" y="1526397"/>
            <a:ext cx="4977881" cy="3926819"/>
          </a:xfrm>
          <a:prstGeom prst="rect">
            <a:avLst/>
          </a:prstGeom>
        </p:spPr>
      </p:pic>
      <p:sp>
        <p:nvSpPr>
          <p:cNvPr id="3" name="object 3"/>
          <p:cNvSpPr txBox="1">
            <a:spLocks noGrp="1"/>
          </p:cNvSpPr>
          <p:nvPr>
            <p:ph type="title"/>
          </p:nvPr>
        </p:nvSpPr>
        <p:spPr>
          <a:xfrm>
            <a:off x="686562" y="304292"/>
            <a:ext cx="2307590" cy="366395"/>
          </a:xfrm>
          <a:prstGeom prst="rect">
            <a:avLst/>
          </a:prstGeom>
        </p:spPr>
        <p:txBody>
          <a:bodyPr vert="horz" wrap="square" lIns="0" tIns="17145" rIns="0" bIns="0" rtlCol="0">
            <a:spAutoFit/>
          </a:bodyPr>
          <a:lstStyle/>
          <a:p>
            <a:pPr marL="12700">
              <a:lnSpc>
                <a:spcPct val="100000"/>
              </a:lnSpc>
              <a:spcBef>
                <a:spcPts val="135"/>
              </a:spcBef>
            </a:pPr>
            <a:r>
              <a:rPr dirty="0"/>
              <a:t>KPC</a:t>
            </a:r>
            <a:r>
              <a:rPr spc="-10" dirty="0"/>
              <a:t>酶突变的挑战</a:t>
            </a:r>
          </a:p>
        </p:txBody>
      </p:sp>
      <p:sp>
        <p:nvSpPr>
          <p:cNvPr id="4" name="object 4"/>
          <p:cNvSpPr txBox="1"/>
          <p:nvPr/>
        </p:nvSpPr>
        <p:spPr>
          <a:xfrm>
            <a:off x="522731" y="845311"/>
            <a:ext cx="5008880" cy="903605"/>
          </a:xfrm>
          <a:prstGeom prst="rect">
            <a:avLst/>
          </a:prstGeom>
        </p:spPr>
        <p:txBody>
          <a:bodyPr vert="horz" wrap="square" lIns="0" tIns="11430" rIns="0" bIns="0" rtlCol="0">
            <a:spAutoFit/>
          </a:bodyPr>
          <a:lstStyle/>
          <a:p>
            <a:pPr marL="240665" indent="-227965">
              <a:lnSpc>
                <a:spcPts val="1735"/>
              </a:lnSpc>
              <a:spcBef>
                <a:spcPts val="90"/>
              </a:spcBef>
              <a:buFont typeface="Wingdings" panose="05000000000000000000"/>
              <a:buChar char=""/>
              <a:tabLst>
                <a:tab pos="240665" algn="l"/>
              </a:tabLst>
            </a:pPr>
            <a:r>
              <a:rPr sz="1450" spc="-25" dirty="0">
                <a:latin typeface="微软雅黑" panose="020B0503020204020204" charset="-122"/>
                <a:cs typeface="微软雅黑" panose="020B0503020204020204" charset="-122"/>
              </a:rPr>
              <a:t>头孢他啶阿维巴坦暴露诱导，突变后对阿维巴坦亲和力下降</a:t>
            </a:r>
            <a:endParaRPr sz="1450">
              <a:latin typeface="微软雅黑" panose="020B0503020204020204" charset="-122"/>
              <a:cs typeface="微软雅黑" panose="020B0503020204020204" charset="-122"/>
            </a:endParaRPr>
          </a:p>
          <a:p>
            <a:pPr marL="240665" indent="-227965">
              <a:lnSpc>
                <a:spcPts val="1730"/>
              </a:lnSpc>
              <a:buFont typeface="Wingdings" panose="05000000000000000000"/>
              <a:buChar char=""/>
              <a:tabLst>
                <a:tab pos="240665" algn="l"/>
              </a:tabLst>
            </a:pPr>
            <a:r>
              <a:rPr sz="1450" spc="-20" dirty="0">
                <a:latin typeface="微软雅黑" panose="020B0503020204020204" charset="-122"/>
                <a:cs typeface="微软雅黑" panose="020B0503020204020204" charset="-122"/>
              </a:rPr>
              <a:t>全球多发，突变多</a:t>
            </a:r>
            <a:r>
              <a:rPr sz="1450" spc="-10" dirty="0">
                <a:latin typeface="微软雅黑" panose="020B0503020204020204" charset="-122"/>
                <a:cs typeface="微软雅黑" panose="020B0503020204020204" charset="-122"/>
              </a:rPr>
              <a:t>（</a:t>
            </a:r>
            <a:r>
              <a:rPr sz="1450" spc="-10" dirty="0">
                <a:latin typeface="Times New Roman" panose="02020603050405020304"/>
                <a:cs typeface="Times New Roman" panose="02020603050405020304"/>
              </a:rPr>
              <a:t>145</a:t>
            </a:r>
            <a:r>
              <a:rPr sz="1450" spc="-20" dirty="0">
                <a:latin typeface="微软雅黑" panose="020B0503020204020204" charset="-122"/>
                <a:cs typeface="微软雅黑" panose="020B0503020204020204" charset="-122"/>
              </a:rPr>
              <a:t>种），</a:t>
            </a:r>
            <a:r>
              <a:rPr sz="1450" spc="-30" dirty="0">
                <a:latin typeface="微软雅黑" panose="020B0503020204020204" charset="-122"/>
                <a:cs typeface="微软雅黑" panose="020B0503020204020204" charset="-122"/>
              </a:rPr>
              <a:t>逐年增加；</a:t>
            </a:r>
            <a:endParaRPr sz="1450">
              <a:latin typeface="微软雅黑" panose="020B0503020204020204" charset="-122"/>
              <a:cs typeface="微软雅黑" panose="020B0503020204020204" charset="-122"/>
            </a:endParaRPr>
          </a:p>
          <a:p>
            <a:pPr marL="240665" indent="-227965">
              <a:lnSpc>
                <a:spcPts val="1730"/>
              </a:lnSpc>
              <a:buFont typeface="Wingdings" panose="05000000000000000000"/>
              <a:buChar char=""/>
              <a:tabLst>
                <a:tab pos="240665" algn="l"/>
              </a:tabLst>
            </a:pPr>
            <a:r>
              <a:rPr sz="1450" spc="-20" dirty="0">
                <a:latin typeface="微软雅黑" panose="020B0503020204020204" charset="-122"/>
                <a:cs typeface="微软雅黑" panose="020B0503020204020204" charset="-122"/>
              </a:rPr>
              <a:t>可能导致交叉耐药，如头孢地尔、氨曲南</a:t>
            </a:r>
            <a:r>
              <a:rPr sz="1450" spc="-10" dirty="0">
                <a:latin typeface="Times New Roman" panose="02020603050405020304"/>
                <a:cs typeface="Times New Roman" panose="02020603050405020304"/>
              </a:rPr>
              <a:t>-</a:t>
            </a:r>
            <a:r>
              <a:rPr sz="1450" spc="-30" dirty="0">
                <a:latin typeface="微软雅黑" panose="020B0503020204020204" charset="-122"/>
                <a:cs typeface="微软雅黑" panose="020B0503020204020204" charset="-122"/>
              </a:rPr>
              <a:t>阿维巴坦</a:t>
            </a:r>
            <a:endParaRPr sz="1450">
              <a:latin typeface="微软雅黑" panose="020B0503020204020204" charset="-122"/>
              <a:cs typeface="微软雅黑" panose="020B0503020204020204" charset="-122"/>
            </a:endParaRPr>
          </a:p>
          <a:p>
            <a:pPr marL="240665" indent="-227965">
              <a:lnSpc>
                <a:spcPts val="1735"/>
              </a:lnSpc>
              <a:buFont typeface="Wingdings" panose="05000000000000000000"/>
              <a:buChar char=""/>
              <a:tabLst>
                <a:tab pos="240665" algn="l"/>
              </a:tabLst>
            </a:pPr>
            <a:r>
              <a:rPr sz="1450" spc="-20" dirty="0">
                <a:latin typeface="微软雅黑" panose="020B0503020204020204" charset="-122"/>
                <a:cs typeface="微软雅黑" panose="020B0503020204020204" charset="-122"/>
              </a:rPr>
              <a:t>伪装：</a:t>
            </a:r>
            <a:r>
              <a:rPr sz="1450" spc="-20" dirty="0">
                <a:latin typeface="Times New Roman" panose="02020603050405020304"/>
                <a:cs typeface="Times New Roman" panose="02020603050405020304"/>
              </a:rPr>
              <a:t>ESBL</a:t>
            </a:r>
            <a:r>
              <a:rPr sz="1450" spc="-20" dirty="0">
                <a:latin typeface="微软雅黑" panose="020B0503020204020204" charset="-122"/>
                <a:cs typeface="微软雅黑" panose="020B0503020204020204" charset="-122"/>
              </a:rPr>
              <a:t>（</a:t>
            </a:r>
            <a:r>
              <a:rPr sz="1450" spc="-20" dirty="0">
                <a:latin typeface="Times New Roman" panose="02020603050405020304"/>
                <a:cs typeface="Times New Roman" panose="02020603050405020304"/>
              </a:rPr>
              <a:t>+</a:t>
            </a:r>
            <a:r>
              <a:rPr sz="1450" spc="-20" dirty="0">
                <a:latin typeface="微软雅黑" panose="020B0503020204020204" charset="-122"/>
                <a:cs typeface="微软雅黑" panose="020B0503020204020204" charset="-122"/>
              </a:rPr>
              <a:t>），</a:t>
            </a:r>
            <a:r>
              <a:rPr sz="1450" spc="-25" dirty="0">
                <a:latin typeface="微软雅黑" panose="020B0503020204020204" charset="-122"/>
                <a:cs typeface="微软雅黑" panose="020B0503020204020204" charset="-122"/>
              </a:rPr>
              <a:t>可能恢复对碳青霉烯类的敏感性</a:t>
            </a:r>
            <a:endParaRPr sz="1450">
              <a:latin typeface="微软雅黑" panose="020B0503020204020204" charset="-122"/>
              <a:cs typeface="微软雅黑" panose="020B0503020204020204" charset="-122"/>
            </a:endParaRPr>
          </a:p>
        </p:txBody>
      </p:sp>
      <p:grpSp>
        <p:nvGrpSpPr>
          <p:cNvPr id="5" name="object 5"/>
          <p:cNvGrpSpPr/>
          <p:nvPr/>
        </p:nvGrpSpPr>
        <p:grpSpPr>
          <a:xfrm>
            <a:off x="121920" y="121919"/>
            <a:ext cx="9763760" cy="5496560"/>
            <a:chOff x="121920" y="121919"/>
            <a:chExt cx="9763760" cy="5496560"/>
          </a:xfrm>
        </p:grpSpPr>
        <p:pic>
          <p:nvPicPr>
            <p:cNvPr id="6" name="object 6"/>
            <p:cNvPicPr/>
            <p:nvPr/>
          </p:nvPicPr>
          <p:blipFill>
            <a:blip r:embed="rId3" cstate="print"/>
            <a:stretch>
              <a:fillRect/>
            </a:stretch>
          </p:blipFill>
          <p:spPr>
            <a:xfrm>
              <a:off x="233172" y="2320544"/>
              <a:ext cx="4185218" cy="2675940"/>
            </a:xfrm>
            <a:prstGeom prst="rect">
              <a:avLst/>
            </a:prstGeom>
          </p:spPr>
        </p:pic>
        <p:sp>
          <p:nvSpPr>
            <p:cNvPr id="7" name="object 7"/>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8" name="object 8"/>
            <p:cNvSpPr/>
            <p:nvPr/>
          </p:nvSpPr>
          <p:spPr>
            <a:xfrm>
              <a:off x="3398900" y="5150611"/>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12700">
              <a:solidFill>
                <a:srgbClr val="DF5F5F"/>
              </a:solidFill>
              <a:prstDash val="dot"/>
            </a:ln>
          </p:spPr>
          <p:txBody>
            <a:bodyPr wrap="square" lIns="0" tIns="0" rIns="0" bIns="0" rtlCol="0"/>
            <a:lstStyle/>
            <a:p>
              <a:endParaRPr/>
            </a:p>
          </p:txBody>
        </p:sp>
      </p:grpSp>
      <p:sp>
        <p:nvSpPr>
          <p:cNvPr id="9" name="object 9"/>
          <p:cNvSpPr txBox="1"/>
          <p:nvPr/>
        </p:nvSpPr>
        <p:spPr>
          <a:xfrm>
            <a:off x="3703701" y="5049011"/>
            <a:ext cx="67945" cy="116839"/>
          </a:xfrm>
          <a:prstGeom prst="rect">
            <a:avLst/>
          </a:prstGeom>
        </p:spPr>
        <p:txBody>
          <a:bodyPr vert="horz" wrap="square" lIns="0" tIns="12700" rIns="0" bIns="0" rtlCol="0">
            <a:spAutoFit/>
          </a:bodyPr>
          <a:lstStyle/>
          <a:p>
            <a:pPr marL="12700">
              <a:lnSpc>
                <a:spcPct val="100000"/>
              </a:lnSpc>
              <a:spcBef>
                <a:spcPts val="100"/>
              </a:spcBef>
            </a:pPr>
            <a:r>
              <a:rPr sz="600" spc="-50" dirty="0">
                <a:solidFill>
                  <a:srgbClr val="FF0000"/>
                </a:solidFill>
                <a:latin typeface="Arial MT"/>
                <a:cs typeface="Arial MT"/>
              </a:rPr>
              <a:t>1</a:t>
            </a:r>
            <a:endParaRPr sz="600">
              <a:latin typeface="Arial MT"/>
              <a:cs typeface="Arial MT"/>
            </a:endParaRPr>
          </a:p>
        </p:txBody>
      </p:sp>
      <p:sp>
        <p:nvSpPr>
          <p:cNvPr id="10" name="object 10"/>
          <p:cNvSpPr/>
          <p:nvPr/>
        </p:nvSpPr>
        <p:spPr>
          <a:xfrm>
            <a:off x="10093706" y="5313553"/>
            <a:ext cx="484505" cy="0"/>
          </a:xfrm>
          <a:custGeom>
            <a:avLst/>
            <a:gdLst/>
            <a:ahLst/>
            <a:cxnLst/>
            <a:rect l="l" t="t" r="r" b="b"/>
            <a:pathLst>
              <a:path w="484504">
                <a:moveTo>
                  <a:pt x="0" y="0"/>
                </a:moveTo>
                <a:lnTo>
                  <a:pt x="484250" y="0"/>
                </a:lnTo>
              </a:path>
            </a:pathLst>
          </a:custGeom>
          <a:ln w="5926">
            <a:solidFill>
              <a:srgbClr val="333333"/>
            </a:solidFill>
          </a:ln>
        </p:spPr>
        <p:txBody>
          <a:bodyPr wrap="square" lIns="0" tIns="0" rIns="0" bIns="0" rtlCol="0"/>
          <a:lstStyle/>
          <a:p>
            <a:endParaRPr/>
          </a:p>
        </p:txBody>
      </p:sp>
      <p:sp>
        <p:nvSpPr>
          <p:cNvPr id="11" name="object 11"/>
          <p:cNvSpPr txBox="1"/>
          <p:nvPr/>
        </p:nvSpPr>
        <p:spPr>
          <a:xfrm>
            <a:off x="9982200" y="5155691"/>
            <a:ext cx="1394460" cy="292100"/>
          </a:xfrm>
          <a:prstGeom prst="rect">
            <a:avLst/>
          </a:prstGeom>
        </p:spPr>
        <p:txBody>
          <a:bodyPr vert="horz" wrap="square" lIns="0" tIns="39369" rIns="0" bIns="0" rtlCol="0">
            <a:spAutoFit/>
          </a:bodyPr>
          <a:lstStyle/>
          <a:p>
            <a:pPr marL="12700">
              <a:lnSpc>
                <a:spcPct val="100000"/>
              </a:lnSpc>
              <a:spcBef>
                <a:spcPts val="310"/>
              </a:spcBef>
            </a:pPr>
            <a:r>
              <a:rPr sz="700" dirty="0">
                <a:solidFill>
                  <a:srgbClr val="333333"/>
                </a:solidFill>
                <a:latin typeface="Arial MT"/>
                <a:cs typeface="Arial MT"/>
              </a:rPr>
              <a:t>1.</a:t>
            </a:r>
            <a:r>
              <a:rPr sz="700" spc="-5" dirty="0">
                <a:solidFill>
                  <a:srgbClr val="333333"/>
                </a:solidFill>
                <a:latin typeface="Arial MT"/>
                <a:cs typeface="Arial MT"/>
              </a:rPr>
              <a:t> </a:t>
            </a:r>
            <a:r>
              <a:rPr sz="700" b="1" dirty="0">
                <a:solidFill>
                  <a:srgbClr val="333333"/>
                </a:solidFill>
                <a:latin typeface="Arial" panose="020B0604020202020204"/>
                <a:cs typeface="Arial" panose="020B0604020202020204"/>
              </a:rPr>
              <a:t>Sticky</a:t>
            </a:r>
            <a:r>
              <a:rPr sz="700" b="1" spc="-5" dirty="0">
                <a:solidFill>
                  <a:srgbClr val="333333"/>
                </a:solidFill>
                <a:latin typeface="Arial" panose="020B0604020202020204"/>
                <a:cs typeface="Arial" panose="020B0604020202020204"/>
              </a:rPr>
              <a:t> </a:t>
            </a:r>
            <a:r>
              <a:rPr sz="700" b="1" spc="-20" dirty="0">
                <a:solidFill>
                  <a:srgbClr val="333333"/>
                </a:solidFill>
                <a:latin typeface="Arial" panose="020B0604020202020204"/>
                <a:cs typeface="Arial" panose="020B0604020202020204"/>
              </a:rPr>
              <a:t>Note</a:t>
            </a:r>
            <a:endParaRPr sz="700">
              <a:latin typeface="Arial" panose="020B0604020202020204"/>
              <a:cs typeface="Arial" panose="020B0604020202020204"/>
            </a:endParaRPr>
          </a:p>
          <a:p>
            <a:pPr marL="12700">
              <a:lnSpc>
                <a:spcPct val="100000"/>
              </a:lnSpc>
              <a:spcBef>
                <a:spcPts val="210"/>
              </a:spcBef>
            </a:pPr>
            <a:r>
              <a:rPr sz="700" dirty="0">
                <a:latin typeface="宋体" panose="02010600030101010101" pitchFamily="2" charset="-122"/>
                <a:cs typeface="宋体" panose="02010600030101010101" pitchFamily="2" charset="-122"/>
              </a:rPr>
              <a:t>请标注引用的</a:t>
            </a:r>
            <a:r>
              <a:rPr sz="700" dirty="0">
                <a:solidFill>
                  <a:srgbClr val="333333"/>
                </a:solidFill>
                <a:latin typeface="Arial MT"/>
                <a:cs typeface="Arial MT"/>
              </a:rPr>
              <a:t>ref</a:t>
            </a:r>
            <a:r>
              <a:rPr sz="700" spc="385" dirty="0">
                <a:solidFill>
                  <a:srgbClr val="333333"/>
                </a:solidFill>
                <a:latin typeface="Arial MT"/>
                <a:cs typeface="Arial MT"/>
              </a:rPr>
              <a:t> </a:t>
            </a:r>
            <a:r>
              <a:rPr sz="700" i="1" dirty="0">
                <a:solidFill>
                  <a:srgbClr val="7F7F7F"/>
                </a:solidFill>
                <a:latin typeface="Arial" panose="020B0604020202020204"/>
                <a:cs typeface="Arial" panose="020B0604020202020204"/>
              </a:rPr>
              <a:t>[fang</a:t>
            </a:r>
            <a:r>
              <a:rPr sz="700" i="1" spc="-5" dirty="0">
                <a:solidFill>
                  <a:srgbClr val="7F7F7F"/>
                </a:solidFill>
                <a:latin typeface="Arial" panose="020B0604020202020204"/>
                <a:cs typeface="Arial" panose="020B0604020202020204"/>
              </a:rPr>
              <a:t> </a:t>
            </a:r>
            <a:r>
              <a:rPr sz="700" i="1" dirty="0">
                <a:solidFill>
                  <a:srgbClr val="7F7F7F"/>
                </a:solidFill>
                <a:latin typeface="Arial" panose="020B0604020202020204"/>
                <a:cs typeface="Arial" panose="020B0604020202020204"/>
              </a:rPr>
              <a:t>fang</a:t>
            </a:r>
            <a:r>
              <a:rPr sz="700" i="1" spc="-5" dirty="0">
                <a:solidFill>
                  <a:srgbClr val="7F7F7F"/>
                </a:solidFill>
                <a:latin typeface="Arial" panose="020B0604020202020204"/>
                <a:cs typeface="Arial" panose="020B0604020202020204"/>
              </a:rPr>
              <a:t> </a:t>
            </a:r>
            <a:r>
              <a:rPr sz="700" i="1" spc="-10" dirty="0">
                <a:solidFill>
                  <a:srgbClr val="7F7F7F"/>
                </a:solidFill>
                <a:latin typeface="Arial" panose="020B0604020202020204"/>
                <a:cs typeface="Arial" panose="020B0604020202020204"/>
              </a:rPr>
              <a:t>Chen]</a:t>
            </a:r>
            <a:endParaRPr sz="700">
              <a:latin typeface="Arial" panose="020B0604020202020204"/>
              <a:cs typeface="Arial" panose="020B0604020202020204"/>
            </a:endParaRPr>
          </a:p>
        </p:txBody>
      </p:sp>
      <p:sp>
        <p:nvSpPr>
          <p:cNvPr id="12" name="object 12"/>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11</a:t>
            </a:fld>
            <a:r>
              <a:rPr spc="-10" dirty="0"/>
              <a:t> </a:t>
            </a:r>
            <a:r>
              <a:rPr spc="-50" dirty="0"/>
              <a:t>-</a:t>
            </a:r>
          </a:p>
        </p:txBody>
      </p:sp>
      <p:sp>
        <p:nvSpPr>
          <p:cNvPr id="13" name="文本框 12"/>
          <p:cNvSpPr txBox="1"/>
          <p:nvPr/>
        </p:nvSpPr>
        <p:spPr>
          <a:xfrm>
            <a:off x="244475" y="6527800"/>
            <a:ext cx="4405630" cy="168275"/>
          </a:xfrm>
          <a:prstGeom prst="rect">
            <a:avLst/>
          </a:prstGeom>
          <a:noFill/>
        </p:spPr>
        <p:txBody>
          <a:bodyPr wrap="none" rtlCol="0">
            <a:spAutoFit/>
          </a:bodyPr>
          <a:lstStyle/>
          <a:p>
            <a:r>
              <a:rPr lang="en-US" altLang="zh-CN" sz="500" b="1"/>
              <a:t>KPC variants evolutionary tree analysis chart (A) and the number of new variants reported in PubmMed over the years (B)(up to March2023)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90247" y="2431288"/>
            <a:ext cx="2473833" cy="1499615"/>
          </a:xfrm>
          <a:prstGeom prst="rect">
            <a:avLst/>
          </a:prstGeom>
        </p:spPr>
      </p:pic>
      <p:sp>
        <p:nvSpPr>
          <p:cNvPr id="3" name="object 3"/>
          <p:cNvSpPr txBox="1">
            <a:spLocks noGrp="1"/>
          </p:cNvSpPr>
          <p:nvPr>
            <p:ph type="title"/>
          </p:nvPr>
        </p:nvSpPr>
        <p:spPr>
          <a:xfrm>
            <a:off x="686562" y="304292"/>
            <a:ext cx="2016760" cy="366395"/>
          </a:xfrm>
          <a:prstGeom prst="rect">
            <a:avLst/>
          </a:prstGeom>
        </p:spPr>
        <p:txBody>
          <a:bodyPr vert="horz" wrap="square" lIns="0" tIns="17145" rIns="0" bIns="0" rtlCol="0">
            <a:spAutoFit/>
          </a:bodyPr>
          <a:lstStyle/>
          <a:p>
            <a:pPr marL="12700">
              <a:lnSpc>
                <a:spcPct val="100000"/>
              </a:lnSpc>
              <a:spcBef>
                <a:spcPts val="135"/>
              </a:spcBef>
            </a:pPr>
            <a:r>
              <a:rPr spc="-10" dirty="0"/>
              <a:t>氨曲南阿维巴坦</a:t>
            </a:r>
          </a:p>
        </p:txBody>
      </p:sp>
      <p:grpSp>
        <p:nvGrpSpPr>
          <p:cNvPr id="4" name="object 4"/>
          <p:cNvGrpSpPr/>
          <p:nvPr/>
        </p:nvGrpSpPr>
        <p:grpSpPr>
          <a:xfrm>
            <a:off x="4303257" y="1991349"/>
            <a:ext cx="724535" cy="844550"/>
            <a:chOff x="4303257" y="1991349"/>
            <a:chExt cx="724535" cy="844550"/>
          </a:xfrm>
        </p:grpSpPr>
        <p:sp>
          <p:nvSpPr>
            <p:cNvPr id="5" name="object 5"/>
            <p:cNvSpPr/>
            <p:nvPr/>
          </p:nvSpPr>
          <p:spPr>
            <a:xfrm>
              <a:off x="4308856" y="1996439"/>
              <a:ext cx="715010" cy="833119"/>
            </a:xfrm>
            <a:custGeom>
              <a:avLst/>
              <a:gdLst/>
              <a:ahLst/>
              <a:cxnLst/>
              <a:rect l="l" t="t" r="r" b="b"/>
              <a:pathLst>
                <a:path w="715010" h="833119">
                  <a:moveTo>
                    <a:pt x="714451" y="303530"/>
                  </a:moveTo>
                  <a:lnTo>
                    <a:pt x="470611" y="303530"/>
                  </a:lnTo>
                  <a:lnTo>
                    <a:pt x="470611" y="0"/>
                  </a:lnTo>
                  <a:lnTo>
                    <a:pt x="242620" y="0"/>
                  </a:lnTo>
                  <a:lnTo>
                    <a:pt x="242620" y="303530"/>
                  </a:lnTo>
                  <a:lnTo>
                    <a:pt x="0" y="303530"/>
                  </a:lnTo>
                  <a:lnTo>
                    <a:pt x="0" y="530860"/>
                  </a:lnTo>
                  <a:lnTo>
                    <a:pt x="242620" y="530860"/>
                  </a:lnTo>
                  <a:lnTo>
                    <a:pt x="242620" y="833120"/>
                  </a:lnTo>
                  <a:lnTo>
                    <a:pt x="470611" y="833120"/>
                  </a:lnTo>
                  <a:lnTo>
                    <a:pt x="470611" y="530860"/>
                  </a:lnTo>
                  <a:lnTo>
                    <a:pt x="714451" y="530860"/>
                  </a:lnTo>
                  <a:lnTo>
                    <a:pt x="714451" y="303530"/>
                  </a:lnTo>
                  <a:close/>
                </a:path>
              </a:pathLst>
            </a:custGeom>
            <a:solidFill>
              <a:srgbClr val="C00000"/>
            </a:solidFill>
          </p:spPr>
          <p:txBody>
            <a:bodyPr wrap="square" lIns="0" tIns="0" rIns="0" bIns="0" rtlCol="0"/>
            <a:lstStyle/>
            <a:p>
              <a:endParaRPr/>
            </a:p>
          </p:txBody>
        </p:sp>
        <p:sp>
          <p:nvSpPr>
            <p:cNvPr id="6" name="object 6"/>
            <p:cNvSpPr/>
            <p:nvPr/>
          </p:nvSpPr>
          <p:spPr>
            <a:xfrm>
              <a:off x="4303257" y="1991349"/>
              <a:ext cx="724535" cy="844550"/>
            </a:xfrm>
            <a:custGeom>
              <a:avLst/>
              <a:gdLst/>
              <a:ahLst/>
              <a:cxnLst/>
              <a:rect l="l" t="t" r="r" b="b"/>
              <a:pathLst>
                <a:path w="724535" h="844550">
                  <a:moveTo>
                    <a:pt x="242874" y="307746"/>
                  </a:moveTo>
                  <a:lnTo>
                    <a:pt x="242874" y="0"/>
                  </a:lnTo>
                  <a:lnTo>
                    <a:pt x="481665" y="0"/>
                  </a:lnTo>
                  <a:lnTo>
                    <a:pt x="481665" y="5080"/>
                  </a:lnTo>
                  <a:lnTo>
                    <a:pt x="253034" y="5080"/>
                  </a:lnTo>
                  <a:lnTo>
                    <a:pt x="247954" y="10160"/>
                  </a:lnTo>
                  <a:lnTo>
                    <a:pt x="253034" y="10160"/>
                  </a:lnTo>
                  <a:lnTo>
                    <a:pt x="253034" y="302666"/>
                  </a:lnTo>
                  <a:lnTo>
                    <a:pt x="247954" y="302666"/>
                  </a:lnTo>
                  <a:lnTo>
                    <a:pt x="242874" y="307746"/>
                  </a:lnTo>
                  <a:close/>
                </a:path>
                <a:path w="724535" h="844550">
                  <a:moveTo>
                    <a:pt x="253034" y="10160"/>
                  </a:moveTo>
                  <a:lnTo>
                    <a:pt x="247954" y="10160"/>
                  </a:lnTo>
                  <a:lnTo>
                    <a:pt x="253034" y="5080"/>
                  </a:lnTo>
                  <a:lnTo>
                    <a:pt x="253034" y="10160"/>
                  </a:lnTo>
                  <a:close/>
                </a:path>
                <a:path w="724535" h="844550">
                  <a:moveTo>
                    <a:pt x="471505" y="10160"/>
                  </a:moveTo>
                  <a:lnTo>
                    <a:pt x="253034" y="10160"/>
                  </a:lnTo>
                  <a:lnTo>
                    <a:pt x="253034" y="5080"/>
                  </a:lnTo>
                  <a:lnTo>
                    <a:pt x="471505" y="5080"/>
                  </a:lnTo>
                  <a:lnTo>
                    <a:pt x="471505" y="10160"/>
                  </a:lnTo>
                  <a:close/>
                </a:path>
                <a:path w="724535" h="844550">
                  <a:moveTo>
                    <a:pt x="714380" y="312826"/>
                  </a:moveTo>
                  <a:lnTo>
                    <a:pt x="471505" y="312826"/>
                  </a:lnTo>
                  <a:lnTo>
                    <a:pt x="471505" y="5080"/>
                  </a:lnTo>
                  <a:lnTo>
                    <a:pt x="476585" y="10160"/>
                  </a:lnTo>
                  <a:lnTo>
                    <a:pt x="481665" y="10160"/>
                  </a:lnTo>
                  <a:lnTo>
                    <a:pt x="481665" y="302666"/>
                  </a:lnTo>
                  <a:lnTo>
                    <a:pt x="476585" y="302666"/>
                  </a:lnTo>
                  <a:lnTo>
                    <a:pt x="481665" y="307746"/>
                  </a:lnTo>
                  <a:lnTo>
                    <a:pt x="714380" y="307746"/>
                  </a:lnTo>
                  <a:lnTo>
                    <a:pt x="714380" y="312826"/>
                  </a:lnTo>
                  <a:close/>
                </a:path>
                <a:path w="724535" h="844550">
                  <a:moveTo>
                    <a:pt x="481665" y="10160"/>
                  </a:moveTo>
                  <a:lnTo>
                    <a:pt x="476585" y="10160"/>
                  </a:lnTo>
                  <a:lnTo>
                    <a:pt x="471505" y="5080"/>
                  </a:lnTo>
                  <a:lnTo>
                    <a:pt x="481665" y="5080"/>
                  </a:lnTo>
                  <a:lnTo>
                    <a:pt x="481665" y="10160"/>
                  </a:lnTo>
                  <a:close/>
                </a:path>
                <a:path w="724535" h="844550">
                  <a:moveTo>
                    <a:pt x="242874" y="541456"/>
                  </a:moveTo>
                  <a:lnTo>
                    <a:pt x="0" y="541456"/>
                  </a:lnTo>
                  <a:lnTo>
                    <a:pt x="0" y="302666"/>
                  </a:lnTo>
                  <a:lnTo>
                    <a:pt x="242874" y="302666"/>
                  </a:lnTo>
                  <a:lnTo>
                    <a:pt x="242874" y="307746"/>
                  </a:lnTo>
                  <a:lnTo>
                    <a:pt x="10160" y="307746"/>
                  </a:lnTo>
                  <a:lnTo>
                    <a:pt x="5080" y="312826"/>
                  </a:lnTo>
                  <a:lnTo>
                    <a:pt x="10160" y="312826"/>
                  </a:lnTo>
                  <a:lnTo>
                    <a:pt x="10160" y="531296"/>
                  </a:lnTo>
                  <a:lnTo>
                    <a:pt x="5080" y="531296"/>
                  </a:lnTo>
                  <a:lnTo>
                    <a:pt x="10160" y="536376"/>
                  </a:lnTo>
                  <a:lnTo>
                    <a:pt x="242874" y="536376"/>
                  </a:lnTo>
                  <a:lnTo>
                    <a:pt x="242874" y="541456"/>
                  </a:lnTo>
                  <a:close/>
                </a:path>
                <a:path w="724535" h="844550">
                  <a:moveTo>
                    <a:pt x="253034" y="312826"/>
                  </a:moveTo>
                  <a:lnTo>
                    <a:pt x="10160" y="312826"/>
                  </a:lnTo>
                  <a:lnTo>
                    <a:pt x="10160" y="307746"/>
                  </a:lnTo>
                  <a:lnTo>
                    <a:pt x="242874" y="307746"/>
                  </a:lnTo>
                  <a:lnTo>
                    <a:pt x="247954" y="302666"/>
                  </a:lnTo>
                  <a:lnTo>
                    <a:pt x="253034" y="302666"/>
                  </a:lnTo>
                  <a:lnTo>
                    <a:pt x="253034" y="312826"/>
                  </a:lnTo>
                  <a:close/>
                </a:path>
                <a:path w="724535" h="844550">
                  <a:moveTo>
                    <a:pt x="481665" y="307746"/>
                  </a:moveTo>
                  <a:lnTo>
                    <a:pt x="476585" y="302666"/>
                  </a:lnTo>
                  <a:lnTo>
                    <a:pt x="481665" y="302666"/>
                  </a:lnTo>
                  <a:lnTo>
                    <a:pt x="481665" y="307746"/>
                  </a:lnTo>
                  <a:close/>
                </a:path>
                <a:path w="724535" h="844550">
                  <a:moveTo>
                    <a:pt x="724540" y="312826"/>
                  </a:moveTo>
                  <a:lnTo>
                    <a:pt x="719460" y="312826"/>
                  </a:lnTo>
                  <a:lnTo>
                    <a:pt x="714380" y="307746"/>
                  </a:lnTo>
                  <a:lnTo>
                    <a:pt x="481665" y="307746"/>
                  </a:lnTo>
                  <a:lnTo>
                    <a:pt x="481665" y="302666"/>
                  </a:lnTo>
                  <a:lnTo>
                    <a:pt x="724540" y="302666"/>
                  </a:lnTo>
                  <a:lnTo>
                    <a:pt x="724540" y="312826"/>
                  </a:lnTo>
                  <a:close/>
                </a:path>
                <a:path w="724535" h="844550">
                  <a:moveTo>
                    <a:pt x="10160" y="312826"/>
                  </a:moveTo>
                  <a:lnTo>
                    <a:pt x="5080" y="312826"/>
                  </a:lnTo>
                  <a:lnTo>
                    <a:pt x="10160" y="307746"/>
                  </a:lnTo>
                  <a:lnTo>
                    <a:pt x="10160" y="312826"/>
                  </a:lnTo>
                  <a:close/>
                </a:path>
                <a:path w="724535" h="844550">
                  <a:moveTo>
                    <a:pt x="714380" y="536376"/>
                  </a:moveTo>
                  <a:lnTo>
                    <a:pt x="714380" y="307746"/>
                  </a:lnTo>
                  <a:lnTo>
                    <a:pt x="719460" y="312826"/>
                  </a:lnTo>
                  <a:lnTo>
                    <a:pt x="724540" y="312826"/>
                  </a:lnTo>
                  <a:lnTo>
                    <a:pt x="724540" y="531296"/>
                  </a:lnTo>
                  <a:lnTo>
                    <a:pt x="719460" y="531296"/>
                  </a:lnTo>
                  <a:lnTo>
                    <a:pt x="714380" y="536376"/>
                  </a:lnTo>
                  <a:close/>
                </a:path>
                <a:path w="724535" h="844550">
                  <a:moveTo>
                    <a:pt x="10160" y="536376"/>
                  </a:moveTo>
                  <a:lnTo>
                    <a:pt x="5080" y="531296"/>
                  </a:lnTo>
                  <a:lnTo>
                    <a:pt x="10160" y="531296"/>
                  </a:lnTo>
                  <a:lnTo>
                    <a:pt x="10160" y="536376"/>
                  </a:lnTo>
                  <a:close/>
                </a:path>
                <a:path w="724535" h="844550">
                  <a:moveTo>
                    <a:pt x="253034" y="541456"/>
                  </a:moveTo>
                  <a:lnTo>
                    <a:pt x="247954" y="541456"/>
                  </a:lnTo>
                  <a:lnTo>
                    <a:pt x="242874" y="536376"/>
                  </a:lnTo>
                  <a:lnTo>
                    <a:pt x="10160" y="536376"/>
                  </a:lnTo>
                  <a:lnTo>
                    <a:pt x="10160" y="531296"/>
                  </a:lnTo>
                  <a:lnTo>
                    <a:pt x="253034" y="531296"/>
                  </a:lnTo>
                  <a:lnTo>
                    <a:pt x="253034" y="541456"/>
                  </a:lnTo>
                  <a:close/>
                </a:path>
                <a:path w="724535" h="844550">
                  <a:moveTo>
                    <a:pt x="471505" y="839043"/>
                  </a:moveTo>
                  <a:lnTo>
                    <a:pt x="471505" y="531296"/>
                  </a:lnTo>
                  <a:lnTo>
                    <a:pt x="714380" y="531296"/>
                  </a:lnTo>
                  <a:lnTo>
                    <a:pt x="714380" y="536376"/>
                  </a:lnTo>
                  <a:lnTo>
                    <a:pt x="481665" y="536376"/>
                  </a:lnTo>
                  <a:lnTo>
                    <a:pt x="476585" y="541456"/>
                  </a:lnTo>
                  <a:lnTo>
                    <a:pt x="481665" y="541456"/>
                  </a:lnTo>
                  <a:lnTo>
                    <a:pt x="481665" y="833963"/>
                  </a:lnTo>
                  <a:lnTo>
                    <a:pt x="476585" y="833963"/>
                  </a:lnTo>
                  <a:lnTo>
                    <a:pt x="471505" y="839043"/>
                  </a:lnTo>
                  <a:close/>
                </a:path>
                <a:path w="724535" h="844550">
                  <a:moveTo>
                    <a:pt x="724540" y="541456"/>
                  </a:moveTo>
                  <a:lnTo>
                    <a:pt x="481665" y="541456"/>
                  </a:lnTo>
                  <a:lnTo>
                    <a:pt x="481665" y="536376"/>
                  </a:lnTo>
                  <a:lnTo>
                    <a:pt x="714380" y="536376"/>
                  </a:lnTo>
                  <a:lnTo>
                    <a:pt x="719460" y="531296"/>
                  </a:lnTo>
                  <a:lnTo>
                    <a:pt x="724540" y="531296"/>
                  </a:lnTo>
                  <a:lnTo>
                    <a:pt x="724540" y="541456"/>
                  </a:lnTo>
                  <a:close/>
                </a:path>
                <a:path w="724535" h="844550">
                  <a:moveTo>
                    <a:pt x="481665" y="844123"/>
                  </a:moveTo>
                  <a:lnTo>
                    <a:pt x="242874" y="844123"/>
                  </a:lnTo>
                  <a:lnTo>
                    <a:pt x="242874" y="536376"/>
                  </a:lnTo>
                  <a:lnTo>
                    <a:pt x="247954" y="541456"/>
                  </a:lnTo>
                  <a:lnTo>
                    <a:pt x="253034" y="541456"/>
                  </a:lnTo>
                  <a:lnTo>
                    <a:pt x="253034" y="833963"/>
                  </a:lnTo>
                  <a:lnTo>
                    <a:pt x="247954" y="833963"/>
                  </a:lnTo>
                  <a:lnTo>
                    <a:pt x="253034" y="839043"/>
                  </a:lnTo>
                  <a:lnTo>
                    <a:pt x="481665" y="839043"/>
                  </a:lnTo>
                  <a:lnTo>
                    <a:pt x="481665" y="844123"/>
                  </a:lnTo>
                  <a:close/>
                </a:path>
                <a:path w="724535" h="844550">
                  <a:moveTo>
                    <a:pt x="481665" y="541456"/>
                  </a:moveTo>
                  <a:lnTo>
                    <a:pt x="476585" y="541456"/>
                  </a:lnTo>
                  <a:lnTo>
                    <a:pt x="481665" y="536376"/>
                  </a:lnTo>
                  <a:lnTo>
                    <a:pt x="481665" y="541456"/>
                  </a:lnTo>
                  <a:close/>
                </a:path>
                <a:path w="724535" h="844550">
                  <a:moveTo>
                    <a:pt x="253034" y="839043"/>
                  </a:moveTo>
                  <a:lnTo>
                    <a:pt x="247954" y="833963"/>
                  </a:lnTo>
                  <a:lnTo>
                    <a:pt x="253034" y="833963"/>
                  </a:lnTo>
                  <a:lnTo>
                    <a:pt x="253034" y="839043"/>
                  </a:lnTo>
                  <a:close/>
                </a:path>
                <a:path w="724535" h="844550">
                  <a:moveTo>
                    <a:pt x="471505" y="839043"/>
                  </a:moveTo>
                  <a:lnTo>
                    <a:pt x="253034" y="839043"/>
                  </a:lnTo>
                  <a:lnTo>
                    <a:pt x="253034" y="833963"/>
                  </a:lnTo>
                  <a:lnTo>
                    <a:pt x="471505" y="833963"/>
                  </a:lnTo>
                  <a:lnTo>
                    <a:pt x="471505" y="839043"/>
                  </a:lnTo>
                  <a:close/>
                </a:path>
                <a:path w="724535" h="844550">
                  <a:moveTo>
                    <a:pt x="481665" y="839043"/>
                  </a:moveTo>
                  <a:lnTo>
                    <a:pt x="471505" y="839043"/>
                  </a:lnTo>
                  <a:lnTo>
                    <a:pt x="476585" y="833963"/>
                  </a:lnTo>
                  <a:lnTo>
                    <a:pt x="481665" y="833963"/>
                  </a:lnTo>
                  <a:lnTo>
                    <a:pt x="481665" y="839043"/>
                  </a:lnTo>
                  <a:close/>
                </a:path>
              </a:pathLst>
            </a:custGeom>
            <a:solidFill>
              <a:srgbClr val="FF0000"/>
            </a:solidFill>
          </p:spPr>
          <p:txBody>
            <a:bodyPr wrap="square" lIns="0" tIns="0" rIns="0" bIns="0" rtlCol="0"/>
            <a:lstStyle/>
            <a:p>
              <a:endParaRPr/>
            </a:p>
          </p:txBody>
        </p:sp>
      </p:grpSp>
      <p:sp>
        <p:nvSpPr>
          <p:cNvPr id="7" name="object 7"/>
          <p:cNvSpPr txBox="1"/>
          <p:nvPr/>
        </p:nvSpPr>
        <p:spPr>
          <a:xfrm>
            <a:off x="390794" y="1196756"/>
            <a:ext cx="2345690" cy="1013460"/>
          </a:xfrm>
          <a:prstGeom prst="rect">
            <a:avLst/>
          </a:prstGeom>
        </p:spPr>
        <p:txBody>
          <a:bodyPr vert="horz" wrap="square" lIns="0" tIns="121285" rIns="0" bIns="0" rtlCol="0">
            <a:spAutoFit/>
          </a:bodyPr>
          <a:lstStyle/>
          <a:p>
            <a:pPr marL="240665" indent="-227965">
              <a:lnSpc>
                <a:spcPct val="100000"/>
              </a:lnSpc>
              <a:spcBef>
                <a:spcPts val="955"/>
              </a:spcBef>
              <a:buFont typeface="Arial MT"/>
              <a:buChar char="•"/>
              <a:tabLst>
                <a:tab pos="240665" algn="l"/>
              </a:tabLst>
            </a:pPr>
            <a:r>
              <a:rPr sz="1450" spc="-20" dirty="0">
                <a:latin typeface="微软雅黑" panose="020B0503020204020204" charset="-122"/>
                <a:cs typeface="微软雅黑" panose="020B0503020204020204" charset="-122"/>
              </a:rPr>
              <a:t>单环β</a:t>
            </a:r>
            <a:r>
              <a:rPr sz="1450" spc="-30" dirty="0">
                <a:latin typeface="微软雅黑" panose="020B0503020204020204" charset="-122"/>
                <a:cs typeface="微软雅黑" panose="020B0503020204020204" charset="-122"/>
              </a:rPr>
              <a:t>-内酰胺</a:t>
            </a:r>
            <a:endParaRPr sz="1450">
              <a:latin typeface="微软雅黑" panose="020B0503020204020204" charset="-122"/>
              <a:cs typeface="微软雅黑" panose="020B0503020204020204" charset="-122"/>
            </a:endParaRPr>
          </a:p>
          <a:p>
            <a:pPr marL="240665" indent="-227965">
              <a:lnSpc>
                <a:spcPct val="100000"/>
              </a:lnSpc>
              <a:spcBef>
                <a:spcPts val="850"/>
              </a:spcBef>
              <a:buFont typeface="Arial MT"/>
              <a:buChar char="•"/>
              <a:tabLst>
                <a:tab pos="240665" algn="l"/>
              </a:tabLst>
            </a:pPr>
            <a:r>
              <a:rPr sz="1450" spc="-20" dirty="0">
                <a:latin typeface="微软雅黑" panose="020B0503020204020204" charset="-122"/>
                <a:cs typeface="微软雅黑" panose="020B0503020204020204" charset="-122"/>
              </a:rPr>
              <a:t>作用于革兰阴性菌</a:t>
            </a:r>
            <a:r>
              <a:rPr sz="1450" spc="-10" dirty="0">
                <a:latin typeface="微软雅黑" panose="020B0503020204020204" charset="-122"/>
                <a:cs typeface="微软雅黑" panose="020B0503020204020204" charset="-122"/>
              </a:rPr>
              <a:t>PBP3；</a:t>
            </a:r>
            <a:endParaRPr sz="1450">
              <a:latin typeface="微软雅黑" panose="020B0503020204020204" charset="-122"/>
              <a:cs typeface="微软雅黑" panose="020B0503020204020204" charset="-122"/>
            </a:endParaRPr>
          </a:p>
          <a:p>
            <a:pPr marL="240665" indent="-227965">
              <a:lnSpc>
                <a:spcPct val="100000"/>
              </a:lnSpc>
              <a:spcBef>
                <a:spcPts val="850"/>
              </a:spcBef>
              <a:buFont typeface="Arial MT"/>
              <a:buChar char="•"/>
              <a:tabLst>
                <a:tab pos="240665" algn="l"/>
              </a:tabLst>
            </a:pPr>
            <a:r>
              <a:rPr sz="1450" spc="-25" dirty="0">
                <a:latin typeface="微软雅黑" panose="020B0503020204020204" charset="-122"/>
                <a:cs typeface="微软雅黑" panose="020B0503020204020204" charset="-122"/>
              </a:rPr>
              <a:t>不被金属酶水解</a:t>
            </a:r>
            <a:endParaRPr sz="1450">
              <a:latin typeface="微软雅黑" panose="020B0503020204020204" charset="-122"/>
              <a:cs typeface="微软雅黑" panose="020B0503020204020204" charset="-122"/>
            </a:endParaRPr>
          </a:p>
        </p:txBody>
      </p:sp>
      <p:sp>
        <p:nvSpPr>
          <p:cNvPr id="8" name="object 8"/>
          <p:cNvSpPr txBox="1"/>
          <p:nvPr/>
        </p:nvSpPr>
        <p:spPr>
          <a:xfrm>
            <a:off x="5212008" y="1197426"/>
            <a:ext cx="4131310" cy="1013460"/>
          </a:xfrm>
          <a:prstGeom prst="rect">
            <a:avLst/>
          </a:prstGeom>
        </p:spPr>
        <p:txBody>
          <a:bodyPr vert="horz" wrap="square" lIns="0" tIns="121285" rIns="0" bIns="0" rtlCol="0">
            <a:spAutoFit/>
          </a:bodyPr>
          <a:lstStyle/>
          <a:p>
            <a:pPr marL="240665" indent="-227965">
              <a:lnSpc>
                <a:spcPct val="100000"/>
              </a:lnSpc>
              <a:spcBef>
                <a:spcPts val="955"/>
              </a:spcBef>
              <a:buFont typeface="Arial MT"/>
              <a:buChar char="•"/>
              <a:tabLst>
                <a:tab pos="240665" algn="l"/>
              </a:tabLst>
            </a:pPr>
            <a:r>
              <a:rPr sz="1450" spc="-20" dirty="0">
                <a:latin typeface="微软雅黑" panose="020B0503020204020204" charset="-122"/>
                <a:cs typeface="微软雅黑" panose="020B0503020204020204" charset="-122"/>
              </a:rPr>
              <a:t>非β-内酰胺酶结构的β</a:t>
            </a:r>
            <a:r>
              <a:rPr sz="1450" spc="-25" dirty="0">
                <a:latin typeface="微软雅黑" panose="020B0503020204020204" charset="-122"/>
                <a:cs typeface="微软雅黑" panose="020B0503020204020204" charset="-122"/>
              </a:rPr>
              <a:t>-内酰胺酶抑制剂；</a:t>
            </a:r>
            <a:endParaRPr sz="1450">
              <a:latin typeface="微软雅黑" panose="020B0503020204020204" charset="-122"/>
              <a:cs typeface="微软雅黑" panose="020B0503020204020204" charset="-122"/>
            </a:endParaRPr>
          </a:p>
          <a:p>
            <a:pPr marL="241300" marR="5080" indent="-228600">
              <a:lnSpc>
                <a:spcPct val="149000"/>
              </a:lnSpc>
              <a:buFont typeface="Arial MT"/>
              <a:buChar char="•"/>
              <a:tabLst>
                <a:tab pos="241300" algn="l"/>
              </a:tabLst>
            </a:pPr>
            <a:r>
              <a:rPr sz="1450" spc="-20" dirty="0">
                <a:latin typeface="微软雅黑" panose="020B0503020204020204" charset="-122"/>
                <a:cs typeface="微软雅黑" panose="020B0503020204020204" charset="-122"/>
              </a:rPr>
              <a:t>与β-内酰胺酶活性位点结合，抑制</a:t>
            </a:r>
            <a:r>
              <a:rPr sz="1450" spc="-35" dirty="0">
                <a:latin typeface="微软雅黑" panose="020B0503020204020204" charset="-122"/>
                <a:cs typeface="微软雅黑" panose="020B0503020204020204" charset="-122"/>
              </a:rPr>
              <a:t>A</a:t>
            </a:r>
            <a:r>
              <a:rPr sz="1450" spc="-20" dirty="0">
                <a:latin typeface="微软雅黑" panose="020B0503020204020204" charset="-122"/>
                <a:cs typeface="微软雅黑" panose="020B0503020204020204" charset="-122"/>
              </a:rPr>
              <a:t>、</a:t>
            </a:r>
            <a:r>
              <a:rPr sz="1450" spc="-25" dirty="0">
                <a:latin typeface="微软雅黑" panose="020B0503020204020204" charset="-122"/>
                <a:cs typeface="微软雅黑" panose="020B0503020204020204" charset="-122"/>
              </a:rPr>
              <a:t>C</a:t>
            </a:r>
            <a:r>
              <a:rPr sz="1450" spc="-20" dirty="0">
                <a:latin typeface="微软雅黑" panose="020B0503020204020204" charset="-122"/>
                <a:cs typeface="微软雅黑" panose="020B0503020204020204" charset="-122"/>
              </a:rPr>
              <a:t>和</a:t>
            </a:r>
            <a:r>
              <a:rPr sz="1450" spc="-25" dirty="0">
                <a:latin typeface="微软雅黑" panose="020B0503020204020204" charset="-122"/>
                <a:cs typeface="微软雅黑" panose="020B0503020204020204" charset="-122"/>
              </a:rPr>
              <a:t>D</a:t>
            </a:r>
            <a:r>
              <a:rPr sz="1450" spc="-20" dirty="0">
                <a:latin typeface="微软雅黑" panose="020B0503020204020204" charset="-122"/>
                <a:cs typeface="微软雅黑" panose="020B0503020204020204" charset="-122"/>
              </a:rPr>
              <a:t>类</a:t>
            </a:r>
            <a:r>
              <a:rPr sz="1450" spc="-25" dirty="0">
                <a:latin typeface="微软雅黑" panose="020B0503020204020204" charset="-122"/>
                <a:cs typeface="微软雅黑" panose="020B0503020204020204" charset="-122"/>
              </a:rPr>
              <a:t>β-</a:t>
            </a:r>
            <a:r>
              <a:rPr sz="1450" spc="-30" dirty="0">
                <a:latin typeface="微软雅黑" panose="020B0503020204020204" charset="-122"/>
                <a:cs typeface="微软雅黑" panose="020B0503020204020204" charset="-122"/>
              </a:rPr>
              <a:t>内酰胺酶</a:t>
            </a:r>
            <a:endParaRPr sz="1450">
              <a:latin typeface="微软雅黑" panose="020B0503020204020204" charset="-122"/>
              <a:cs typeface="微软雅黑" panose="020B0503020204020204" charset="-122"/>
            </a:endParaRPr>
          </a:p>
        </p:txBody>
      </p:sp>
      <p:sp>
        <p:nvSpPr>
          <p:cNvPr id="9" name="object 9"/>
          <p:cNvSpPr txBox="1"/>
          <p:nvPr/>
        </p:nvSpPr>
        <p:spPr>
          <a:xfrm>
            <a:off x="2249098" y="891560"/>
            <a:ext cx="635635" cy="269875"/>
          </a:xfrm>
          <a:prstGeom prst="rect">
            <a:avLst/>
          </a:prstGeom>
        </p:spPr>
        <p:txBody>
          <a:bodyPr vert="horz" wrap="square" lIns="0" tIns="13335" rIns="0" bIns="0" rtlCol="0">
            <a:spAutoFit/>
          </a:bodyPr>
          <a:lstStyle/>
          <a:p>
            <a:pPr marL="12700">
              <a:lnSpc>
                <a:spcPct val="100000"/>
              </a:lnSpc>
              <a:spcBef>
                <a:spcPts val="105"/>
              </a:spcBef>
            </a:pPr>
            <a:r>
              <a:rPr sz="1600" b="1" spc="-25" dirty="0">
                <a:solidFill>
                  <a:srgbClr val="014D94"/>
                </a:solidFill>
                <a:latin typeface="微软雅黑" panose="020B0503020204020204" charset="-122"/>
                <a:cs typeface="微软雅黑" panose="020B0503020204020204" charset="-122"/>
              </a:rPr>
              <a:t>氨曲南</a:t>
            </a:r>
            <a:endParaRPr sz="1600">
              <a:latin typeface="微软雅黑" panose="020B0503020204020204" charset="-122"/>
              <a:cs typeface="微软雅黑" panose="020B0503020204020204" charset="-122"/>
            </a:endParaRPr>
          </a:p>
        </p:txBody>
      </p:sp>
      <p:sp>
        <p:nvSpPr>
          <p:cNvPr id="10" name="object 10"/>
          <p:cNvSpPr txBox="1"/>
          <p:nvPr/>
        </p:nvSpPr>
        <p:spPr>
          <a:xfrm>
            <a:off x="6896303" y="891560"/>
            <a:ext cx="838835" cy="269875"/>
          </a:xfrm>
          <a:prstGeom prst="rect">
            <a:avLst/>
          </a:prstGeom>
        </p:spPr>
        <p:txBody>
          <a:bodyPr vert="horz" wrap="square" lIns="0" tIns="13335" rIns="0" bIns="0" rtlCol="0">
            <a:spAutoFit/>
          </a:bodyPr>
          <a:lstStyle/>
          <a:p>
            <a:pPr marL="12700">
              <a:lnSpc>
                <a:spcPct val="100000"/>
              </a:lnSpc>
              <a:spcBef>
                <a:spcPts val="105"/>
              </a:spcBef>
            </a:pPr>
            <a:r>
              <a:rPr sz="1600" b="1" spc="-20" dirty="0">
                <a:solidFill>
                  <a:srgbClr val="014D94"/>
                </a:solidFill>
                <a:latin typeface="微软雅黑" panose="020B0503020204020204" charset="-122"/>
                <a:cs typeface="微软雅黑" panose="020B0503020204020204" charset="-122"/>
              </a:rPr>
              <a:t>阿维巴坦</a:t>
            </a:r>
            <a:endParaRPr sz="1600">
              <a:latin typeface="微软雅黑" panose="020B0503020204020204" charset="-122"/>
              <a:cs typeface="微软雅黑" panose="020B0503020204020204" charset="-122"/>
            </a:endParaRPr>
          </a:p>
        </p:txBody>
      </p:sp>
      <p:sp>
        <p:nvSpPr>
          <p:cNvPr id="11" name="object 11"/>
          <p:cNvSpPr txBox="1"/>
          <p:nvPr/>
        </p:nvSpPr>
        <p:spPr>
          <a:xfrm>
            <a:off x="481502" y="4408353"/>
            <a:ext cx="8813165" cy="610870"/>
          </a:xfrm>
          <a:prstGeom prst="rect">
            <a:avLst/>
          </a:prstGeom>
        </p:spPr>
        <p:txBody>
          <a:bodyPr vert="horz" wrap="square" lIns="0" tIns="113664" rIns="0" bIns="0" rtlCol="0">
            <a:spAutoFit/>
          </a:bodyPr>
          <a:lstStyle/>
          <a:p>
            <a:pPr marL="189230" indent="-176530">
              <a:lnSpc>
                <a:spcPct val="100000"/>
              </a:lnSpc>
              <a:spcBef>
                <a:spcPts val="895"/>
              </a:spcBef>
              <a:buClr>
                <a:srgbClr val="000000"/>
              </a:buClr>
              <a:buFont typeface="Wingdings" panose="05000000000000000000"/>
              <a:buChar char=""/>
              <a:tabLst>
                <a:tab pos="189230" algn="l"/>
              </a:tabLst>
            </a:pPr>
            <a:r>
              <a:rPr sz="1250" dirty="0">
                <a:solidFill>
                  <a:srgbClr val="FF0000"/>
                </a:solidFill>
                <a:latin typeface="微软雅黑" panose="020B0503020204020204" charset="-122"/>
                <a:cs typeface="微软雅黑" panose="020B0503020204020204" charset="-122"/>
              </a:rPr>
              <a:t>共价结合</a:t>
            </a:r>
            <a:r>
              <a:rPr sz="1250" dirty="0">
                <a:latin typeface="微软雅黑" panose="020B0503020204020204" charset="-122"/>
                <a:cs typeface="微软雅黑" panose="020B0503020204020204" charset="-122"/>
              </a:rPr>
              <a:t>：通过共价结合和失活β</a:t>
            </a:r>
            <a:r>
              <a:rPr sz="1250" spc="-5" dirty="0">
                <a:latin typeface="微软雅黑" panose="020B0503020204020204" charset="-122"/>
                <a:cs typeface="微软雅黑" panose="020B0503020204020204" charset="-122"/>
              </a:rPr>
              <a:t>-内酰胺酶来阻止氨曲南的水解；</a:t>
            </a:r>
            <a:endParaRPr sz="1250">
              <a:latin typeface="微软雅黑" panose="020B0503020204020204" charset="-122"/>
              <a:cs typeface="微软雅黑" panose="020B0503020204020204" charset="-122"/>
            </a:endParaRPr>
          </a:p>
          <a:p>
            <a:pPr marL="189230" indent="-176530">
              <a:lnSpc>
                <a:spcPct val="100000"/>
              </a:lnSpc>
              <a:spcBef>
                <a:spcPts val="805"/>
              </a:spcBef>
              <a:buClr>
                <a:srgbClr val="000000"/>
              </a:buClr>
              <a:buFont typeface="Wingdings" panose="05000000000000000000"/>
              <a:buChar char=""/>
              <a:tabLst>
                <a:tab pos="189230" algn="l"/>
              </a:tabLst>
            </a:pPr>
            <a:r>
              <a:rPr sz="1250" dirty="0">
                <a:solidFill>
                  <a:srgbClr val="FF0000"/>
                </a:solidFill>
                <a:latin typeface="微软雅黑" panose="020B0503020204020204" charset="-122"/>
                <a:cs typeface="微软雅黑" panose="020B0503020204020204" charset="-122"/>
              </a:rPr>
              <a:t>作用长效</a:t>
            </a:r>
            <a:r>
              <a:rPr sz="1250" dirty="0">
                <a:latin typeface="微软雅黑" panose="020B0503020204020204" charset="-122"/>
                <a:cs typeface="微软雅黑" panose="020B0503020204020204" charset="-122"/>
              </a:rPr>
              <a:t>：阿维巴坦自身结构可经逆反应恢复，因而具有长效的抑酶作用；比其他β-内酰胺酶抑制剂效价高10～100</a:t>
            </a:r>
            <a:r>
              <a:rPr sz="1250" spc="-25" dirty="0">
                <a:latin typeface="微软雅黑" panose="020B0503020204020204" charset="-122"/>
                <a:cs typeface="微软雅黑" panose="020B0503020204020204" charset="-122"/>
              </a:rPr>
              <a:t>倍；</a:t>
            </a:r>
            <a:endParaRPr sz="1250">
              <a:latin typeface="微软雅黑" panose="020B0503020204020204" charset="-122"/>
              <a:cs typeface="微软雅黑" panose="020B0503020204020204" charset="-122"/>
            </a:endParaRPr>
          </a:p>
        </p:txBody>
      </p:sp>
      <p:sp>
        <p:nvSpPr>
          <p:cNvPr id="12" name="object 12"/>
          <p:cNvSpPr txBox="1"/>
          <p:nvPr/>
        </p:nvSpPr>
        <p:spPr>
          <a:xfrm>
            <a:off x="481502" y="5091714"/>
            <a:ext cx="4097020" cy="220345"/>
          </a:xfrm>
          <a:prstGeom prst="rect">
            <a:avLst/>
          </a:prstGeom>
        </p:spPr>
        <p:txBody>
          <a:bodyPr vert="horz" wrap="square" lIns="0" tIns="15875" rIns="0" bIns="0" rtlCol="0">
            <a:spAutoFit/>
          </a:bodyPr>
          <a:lstStyle/>
          <a:p>
            <a:pPr marL="172720" indent="-160020">
              <a:lnSpc>
                <a:spcPct val="100000"/>
              </a:lnSpc>
              <a:spcBef>
                <a:spcPts val="125"/>
              </a:spcBef>
              <a:buClr>
                <a:srgbClr val="000000"/>
              </a:buClr>
              <a:buFont typeface="Wingdings" panose="05000000000000000000"/>
              <a:buChar char=""/>
              <a:tabLst>
                <a:tab pos="172720" algn="l"/>
              </a:tabLst>
            </a:pPr>
            <a:r>
              <a:rPr sz="1250" dirty="0">
                <a:solidFill>
                  <a:srgbClr val="FF0000"/>
                </a:solidFill>
                <a:latin typeface="微软雅黑" panose="020B0503020204020204" charset="-122"/>
                <a:cs typeface="微软雅黑" panose="020B0503020204020204" charset="-122"/>
              </a:rPr>
              <a:t>弥补β-内酰胺酶抑制剂无法抑制金属β</a:t>
            </a:r>
            <a:r>
              <a:rPr sz="1250" spc="-10" dirty="0">
                <a:solidFill>
                  <a:srgbClr val="FF0000"/>
                </a:solidFill>
                <a:latin typeface="微软雅黑" panose="020B0503020204020204" charset="-122"/>
                <a:cs typeface="微软雅黑" panose="020B0503020204020204" charset="-122"/>
              </a:rPr>
              <a:t>-内酰胺酶的不足</a:t>
            </a:r>
            <a:endParaRPr sz="1250">
              <a:latin typeface="微软雅黑" panose="020B0503020204020204" charset="-122"/>
              <a:cs typeface="微软雅黑" panose="020B0503020204020204" charset="-122"/>
            </a:endParaRPr>
          </a:p>
        </p:txBody>
      </p:sp>
      <p:grpSp>
        <p:nvGrpSpPr>
          <p:cNvPr id="13" name="object 13"/>
          <p:cNvGrpSpPr/>
          <p:nvPr/>
        </p:nvGrpSpPr>
        <p:grpSpPr>
          <a:xfrm>
            <a:off x="121920" y="121919"/>
            <a:ext cx="9763760" cy="5496560"/>
            <a:chOff x="121920" y="121919"/>
            <a:chExt cx="9763760" cy="5496560"/>
          </a:xfrm>
        </p:grpSpPr>
        <p:sp>
          <p:nvSpPr>
            <p:cNvPr id="14" name="object 14"/>
            <p:cNvSpPr/>
            <p:nvPr/>
          </p:nvSpPr>
          <p:spPr>
            <a:xfrm>
              <a:off x="411899" y="1188275"/>
              <a:ext cx="8954770" cy="12700"/>
            </a:xfrm>
            <a:custGeom>
              <a:avLst/>
              <a:gdLst/>
              <a:ahLst/>
              <a:cxnLst/>
              <a:rect l="l" t="t" r="r" b="b"/>
              <a:pathLst>
                <a:path w="8954770" h="12700">
                  <a:moveTo>
                    <a:pt x="4096512" y="0"/>
                  </a:moveTo>
                  <a:lnTo>
                    <a:pt x="0" y="0"/>
                  </a:lnTo>
                  <a:lnTo>
                    <a:pt x="0" y="10160"/>
                  </a:lnTo>
                  <a:lnTo>
                    <a:pt x="4096512" y="10160"/>
                  </a:lnTo>
                  <a:lnTo>
                    <a:pt x="4096512" y="0"/>
                  </a:lnTo>
                  <a:close/>
                </a:path>
                <a:path w="8954770" h="12700">
                  <a:moveTo>
                    <a:pt x="8954440" y="2451"/>
                  </a:moveTo>
                  <a:lnTo>
                    <a:pt x="4857928" y="2451"/>
                  </a:lnTo>
                  <a:lnTo>
                    <a:pt x="4857928" y="12611"/>
                  </a:lnTo>
                  <a:lnTo>
                    <a:pt x="8954440" y="12611"/>
                  </a:lnTo>
                  <a:lnTo>
                    <a:pt x="8954440" y="2451"/>
                  </a:lnTo>
                  <a:close/>
                </a:path>
              </a:pathLst>
            </a:custGeom>
            <a:solidFill>
              <a:srgbClr val="014D94"/>
            </a:solidFill>
          </p:spPr>
          <p:txBody>
            <a:bodyPr wrap="square" lIns="0" tIns="0" rIns="0" bIns="0" rtlCol="0"/>
            <a:lstStyle/>
            <a:p>
              <a:endParaRPr/>
            </a:p>
          </p:txBody>
        </p:sp>
        <p:pic>
          <p:nvPicPr>
            <p:cNvPr id="15" name="object 15"/>
            <p:cNvPicPr/>
            <p:nvPr/>
          </p:nvPicPr>
          <p:blipFill>
            <a:blip r:embed="rId3" cstate="print"/>
            <a:stretch>
              <a:fillRect/>
            </a:stretch>
          </p:blipFill>
          <p:spPr>
            <a:xfrm>
              <a:off x="1229156" y="2181351"/>
              <a:ext cx="2290876" cy="2005584"/>
            </a:xfrm>
            <a:prstGeom prst="rect">
              <a:avLst/>
            </a:prstGeom>
          </p:spPr>
        </p:pic>
        <p:sp>
          <p:nvSpPr>
            <p:cNvPr id="16" name="object 16"/>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17" name="object 17"/>
            <p:cNvSpPr/>
            <p:nvPr/>
          </p:nvSpPr>
          <p:spPr>
            <a:xfrm>
              <a:off x="5252339" y="5303138"/>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12700">
              <a:solidFill>
                <a:srgbClr val="DF5F5F"/>
              </a:solidFill>
              <a:prstDash val="dot"/>
            </a:ln>
          </p:spPr>
          <p:txBody>
            <a:bodyPr wrap="square" lIns="0" tIns="0" rIns="0" bIns="0" rtlCol="0"/>
            <a:lstStyle/>
            <a:p>
              <a:endParaRPr/>
            </a:p>
          </p:txBody>
        </p:sp>
      </p:grpSp>
      <p:sp>
        <p:nvSpPr>
          <p:cNvPr id="18" name="object 18"/>
          <p:cNvSpPr txBox="1"/>
          <p:nvPr/>
        </p:nvSpPr>
        <p:spPr>
          <a:xfrm>
            <a:off x="5557139" y="5201539"/>
            <a:ext cx="67945" cy="116839"/>
          </a:xfrm>
          <a:prstGeom prst="rect">
            <a:avLst/>
          </a:prstGeom>
        </p:spPr>
        <p:txBody>
          <a:bodyPr vert="horz" wrap="square" lIns="0" tIns="12700" rIns="0" bIns="0" rtlCol="0">
            <a:spAutoFit/>
          </a:bodyPr>
          <a:lstStyle/>
          <a:p>
            <a:pPr marL="12700">
              <a:lnSpc>
                <a:spcPct val="100000"/>
              </a:lnSpc>
              <a:spcBef>
                <a:spcPts val="100"/>
              </a:spcBef>
            </a:pPr>
            <a:r>
              <a:rPr sz="600" spc="-50" dirty="0">
                <a:solidFill>
                  <a:srgbClr val="FF0000"/>
                </a:solidFill>
                <a:latin typeface="Arial MT"/>
                <a:cs typeface="Arial MT"/>
              </a:rPr>
              <a:t>1</a:t>
            </a:r>
            <a:endParaRPr sz="600">
              <a:latin typeface="Arial MT"/>
              <a:cs typeface="Arial MT"/>
            </a:endParaRPr>
          </a:p>
        </p:txBody>
      </p:sp>
      <p:sp>
        <p:nvSpPr>
          <p:cNvPr id="21" name="object 21"/>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12</a:t>
            </a:fld>
            <a:r>
              <a:rPr spc="-10" dirty="0"/>
              <a:t> </a:t>
            </a:r>
            <a:r>
              <a:rPr spc="-50" dirty="0"/>
              <a:t>-</a:t>
            </a:r>
          </a:p>
        </p:txBody>
      </p:sp>
      <p:sp>
        <p:nvSpPr>
          <p:cNvPr id="23" name="文本框 22"/>
          <p:cNvSpPr txBox="1"/>
          <p:nvPr/>
        </p:nvSpPr>
        <p:spPr>
          <a:xfrm>
            <a:off x="213360" y="6455410"/>
            <a:ext cx="2700020" cy="198755"/>
          </a:xfrm>
          <a:prstGeom prst="rect">
            <a:avLst/>
          </a:prstGeom>
          <a:noFill/>
        </p:spPr>
        <p:txBody>
          <a:bodyPr wrap="square" rtlCol="0">
            <a:spAutoFit/>
          </a:bodyPr>
          <a:lstStyle/>
          <a:p>
            <a:r>
              <a:rPr sz="700" spc="-20" dirty="0">
                <a:solidFill>
                  <a:schemeClr val="tx1"/>
                </a:solidFill>
                <a:latin typeface="微软雅黑" panose="020B0503020204020204" charset="-122"/>
                <a:cs typeface="微软雅黑" panose="020B0503020204020204" charset="-122"/>
                <a:sym typeface="+mn-ea"/>
              </a:rPr>
              <a:t>注射用氨曲南阿维巴坦钠说明书（核准日期：</a:t>
            </a:r>
            <a:r>
              <a:rPr sz="700" spc="-10" dirty="0">
                <a:solidFill>
                  <a:schemeClr val="tx1"/>
                </a:solidFill>
                <a:latin typeface="Times New Roman" panose="02020603050405020304"/>
                <a:cs typeface="Times New Roman" panose="02020603050405020304"/>
                <a:sym typeface="+mn-ea"/>
              </a:rPr>
              <a:t>2025</a:t>
            </a:r>
            <a:r>
              <a:rPr sz="700" spc="-20" dirty="0">
                <a:solidFill>
                  <a:schemeClr val="tx1"/>
                </a:solidFill>
                <a:latin typeface="微软雅黑" panose="020B0503020204020204" charset="-122"/>
                <a:cs typeface="微软雅黑" panose="020B0503020204020204" charset="-122"/>
                <a:sym typeface="+mn-ea"/>
              </a:rPr>
              <a:t>年</a:t>
            </a:r>
            <a:r>
              <a:rPr sz="700" spc="-10" dirty="0">
                <a:solidFill>
                  <a:schemeClr val="tx1"/>
                </a:solidFill>
                <a:latin typeface="Times New Roman" panose="02020603050405020304"/>
                <a:cs typeface="Times New Roman" panose="02020603050405020304"/>
                <a:sym typeface="+mn-ea"/>
              </a:rPr>
              <a:t>6</a:t>
            </a:r>
            <a:r>
              <a:rPr sz="700" spc="-20" dirty="0">
                <a:solidFill>
                  <a:schemeClr val="tx1"/>
                </a:solidFill>
                <a:latin typeface="微软雅黑" panose="020B0503020204020204" charset="-122"/>
                <a:cs typeface="微软雅黑" panose="020B0503020204020204" charset="-122"/>
                <a:sym typeface="+mn-ea"/>
              </a:rPr>
              <a:t>月</a:t>
            </a:r>
            <a:r>
              <a:rPr sz="700" spc="-10" dirty="0">
                <a:solidFill>
                  <a:schemeClr val="tx1"/>
                </a:solidFill>
                <a:latin typeface="Times New Roman" panose="02020603050405020304"/>
                <a:cs typeface="Times New Roman" panose="02020603050405020304"/>
                <a:sym typeface="+mn-ea"/>
              </a:rPr>
              <a:t>24</a:t>
            </a:r>
            <a:r>
              <a:rPr sz="700" spc="-20" dirty="0">
                <a:solidFill>
                  <a:schemeClr val="tx1"/>
                </a:solidFill>
                <a:latin typeface="微软雅黑" panose="020B0503020204020204" charset="-122"/>
                <a:cs typeface="微软雅黑" panose="020B0503020204020204" charset="-122"/>
                <a:sym typeface="+mn-ea"/>
              </a:rPr>
              <a:t>日</a:t>
            </a:r>
            <a:r>
              <a:rPr sz="700" spc="-50" dirty="0">
                <a:solidFill>
                  <a:schemeClr val="tx1"/>
                </a:solidFill>
                <a:latin typeface="微软雅黑" panose="020B0503020204020204" charset="-122"/>
                <a:cs typeface="微软雅黑" panose="020B0503020204020204" charset="-122"/>
                <a:sym typeface="+mn-ea"/>
              </a:rPr>
              <a:t>）</a:t>
            </a:r>
            <a:endParaRPr lang="zh-CN" altLang="en-US" sz="700" b="1" spc="-50" dirty="0">
              <a:solidFill>
                <a:schemeClr val="tx1"/>
              </a:solidFill>
              <a:latin typeface="微软雅黑" panose="020B0503020204020204" charset="-122"/>
              <a:ea typeface="宋体" panose="02010600030101010101" pitchFamily="2" charset="-122"/>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6562" y="304292"/>
            <a:ext cx="6283960" cy="366395"/>
          </a:xfrm>
          <a:prstGeom prst="rect">
            <a:avLst/>
          </a:prstGeom>
        </p:spPr>
        <p:txBody>
          <a:bodyPr vert="horz" wrap="square" lIns="0" tIns="17145" rIns="0" bIns="0" rtlCol="0">
            <a:spAutoFit/>
          </a:bodyPr>
          <a:lstStyle/>
          <a:p>
            <a:pPr marL="12700">
              <a:lnSpc>
                <a:spcPct val="100000"/>
              </a:lnSpc>
              <a:spcBef>
                <a:spcPts val="135"/>
              </a:spcBef>
            </a:pPr>
            <a:r>
              <a:rPr spc="-5" dirty="0"/>
              <a:t>氨曲南阿维巴坦对肠杆菌及铜绿假单胞菌体外活性</a:t>
            </a:r>
          </a:p>
        </p:txBody>
      </p:sp>
      <p:grpSp>
        <p:nvGrpSpPr>
          <p:cNvPr id="3" name="object 3"/>
          <p:cNvGrpSpPr/>
          <p:nvPr/>
        </p:nvGrpSpPr>
        <p:grpSpPr>
          <a:xfrm>
            <a:off x="121920" y="121919"/>
            <a:ext cx="9763760" cy="5496560"/>
            <a:chOff x="121920" y="121919"/>
            <a:chExt cx="9763760" cy="5496560"/>
          </a:xfrm>
        </p:grpSpPr>
        <p:pic>
          <p:nvPicPr>
            <p:cNvPr id="4" name="object 4"/>
            <p:cNvPicPr/>
            <p:nvPr/>
          </p:nvPicPr>
          <p:blipFill>
            <a:blip r:embed="rId2" cstate="print"/>
            <a:stretch>
              <a:fillRect/>
            </a:stretch>
          </p:blipFill>
          <p:spPr>
            <a:xfrm>
              <a:off x="658368" y="778256"/>
              <a:ext cx="8117168" cy="928510"/>
            </a:xfrm>
            <a:prstGeom prst="rect">
              <a:avLst/>
            </a:prstGeom>
          </p:spPr>
        </p:pic>
        <p:pic>
          <p:nvPicPr>
            <p:cNvPr id="5" name="object 5"/>
            <p:cNvPicPr/>
            <p:nvPr/>
          </p:nvPicPr>
          <p:blipFill>
            <a:blip r:embed="rId3" cstate="print"/>
            <a:stretch>
              <a:fillRect/>
            </a:stretch>
          </p:blipFill>
          <p:spPr>
            <a:xfrm>
              <a:off x="658368" y="1809495"/>
              <a:ext cx="8091820" cy="439795"/>
            </a:xfrm>
            <a:prstGeom prst="rect">
              <a:avLst/>
            </a:prstGeom>
          </p:spPr>
        </p:pic>
        <p:pic>
          <p:nvPicPr>
            <p:cNvPr id="6" name="object 6"/>
            <p:cNvPicPr/>
            <p:nvPr/>
          </p:nvPicPr>
          <p:blipFill>
            <a:blip r:embed="rId4" cstate="print"/>
            <a:stretch>
              <a:fillRect/>
            </a:stretch>
          </p:blipFill>
          <p:spPr>
            <a:xfrm>
              <a:off x="658368" y="2348484"/>
              <a:ext cx="8087359" cy="1096152"/>
            </a:xfrm>
            <a:prstGeom prst="rect">
              <a:avLst/>
            </a:prstGeom>
          </p:spPr>
        </p:pic>
        <p:pic>
          <p:nvPicPr>
            <p:cNvPr id="7" name="object 7"/>
            <p:cNvPicPr/>
            <p:nvPr/>
          </p:nvPicPr>
          <p:blipFill>
            <a:blip r:embed="rId5" cstate="print"/>
            <a:stretch>
              <a:fillRect/>
            </a:stretch>
          </p:blipFill>
          <p:spPr>
            <a:xfrm>
              <a:off x="666299" y="3446780"/>
              <a:ext cx="7860312" cy="362187"/>
            </a:xfrm>
            <a:prstGeom prst="rect">
              <a:avLst/>
            </a:prstGeom>
          </p:spPr>
        </p:pic>
        <p:pic>
          <p:nvPicPr>
            <p:cNvPr id="8" name="object 8"/>
            <p:cNvPicPr/>
            <p:nvPr/>
          </p:nvPicPr>
          <p:blipFill>
            <a:blip r:embed="rId6" cstate="print"/>
            <a:stretch>
              <a:fillRect/>
            </a:stretch>
          </p:blipFill>
          <p:spPr>
            <a:xfrm>
              <a:off x="658368" y="3849116"/>
              <a:ext cx="8078429" cy="1105524"/>
            </a:xfrm>
            <a:prstGeom prst="rect">
              <a:avLst/>
            </a:prstGeom>
          </p:spPr>
        </p:pic>
        <p:pic>
          <p:nvPicPr>
            <p:cNvPr id="9" name="object 9"/>
            <p:cNvPicPr/>
            <p:nvPr/>
          </p:nvPicPr>
          <p:blipFill>
            <a:blip r:embed="rId7" cstate="print"/>
            <a:stretch>
              <a:fillRect/>
            </a:stretch>
          </p:blipFill>
          <p:spPr>
            <a:xfrm>
              <a:off x="674624" y="4992624"/>
              <a:ext cx="8071713" cy="375310"/>
            </a:xfrm>
            <a:prstGeom prst="rect">
              <a:avLst/>
            </a:prstGeom>
          </p:spPr>
        </p:pic>
        <p:sp>
          <p:nvSpPr>
            <p:cNvPr id="10" name="object 10"/>
            <p:cNvSpPr/>
            <p:nvPr/>
          </p:nvSpPr>
          <p:spPr>
            <a:xfrm>
              <a:off x="3507841" y="2583688"/>
              <a:ext cx="5068570" cy="172085"/>
            </a:xfrm>
            <a:custGeom>
              <a:avLst/>
              <a:gdLst/>
              <a:ahLst/>
              <a:cxnLst/>
              <a:rect l="l" t="t" r="r" b="b"/>
              <a:pathLst>
                <a:path w="5068570" h="172085">
                  <a:moveTo>
                    <a:pt x="5068214" y="171907"/>
                  </a:moveTo>
                  <a:lnTo>
                    <a:pt x="0" y="171907"/>
                  </a:lnTo>
                  <a:lnTo>
                    <a:pt x="0" y="0"/>
                  </a:lnTo>
                  <a:lnTo>
                    <a:pt x="5068214" y="0"/>
                  </a:lnTo>
                  <a:lnTo>
                    <a:pt x="5068214" y="171907"/>
                  </a:lnTo>
                  <a:close/>
                </a:path>
              </a:pathLst>
            </a:custGeom>
            <a:solidFill>
              <a:srgbClr val="FFFFFF"/>
            </a:solidFill>
          </p:spPr>
          <p:txBody>
            <a:bodyPr wrap="square" lIns="0" tIns="0" rIns="0" bIns="0" rtlCol="0"/>
            <a:lstStyle/>
            <a:p>
              <a:endParaRPr/>
            </a:p>
          </p:txBody>
        </p:sp>
        <p:sp>
          <p:nvSpPr>
            <p:cNvPr id="11" name="object 11"/>
            <p:cNvSpPr/>
            <p:nvPr/>
          </p:nvSpPr>
          <p:spPr>
            <a:xfrm>
              <a:off x="3507841" y="3045764"/>
              <a:ext cx="5068570" cy="398780"/>
            </a:xfrm>
            <a:custGeom>
              <a:avLst/>
              <a:gdLst/>
              <a:ahLst/>
              <a:cxnLst/>
              <a:rect l="l" t="t" r="r" b="b"/>
              <a:pathLst>
                <a:path w="5068570" h="398779">
                  <a:moveTo>
                    <a:pt x="5068214" y="398678"/>
                  </a:moveTo>
                  <a:lnTo>
                    <a:pt x="0" y="398678"/>
                  </a:lnTo>
                  <a:lnTo>
                    <a:pt x="0" y="0"/>
                  </a:lnTo>
                  <a:lnTo>
                    <a:pt x="5068214" y="0"/>
                  </a:lnTo>
                  <a:lnTo>
                    <a:pt x="5068214" y="398678"/>
                  </a:lnTo>
                  <a:close/>
                </a:path>
              </a:pathLst>
            </a:custGeom>
            <a:solidFill>
              <a:srgbClr val="E9E9E9"/>
            </a:solidFill>
          </p:spPr>
          <p:txBody>
            <a:bodyPr wrap="square" lIns="0" tIns="0" rIns="0" bIns="0" rtlCol="0"/>
            <a:lstStyle/>
            <a:p>
              <a:endParaRPr/>
            </a:p>
          </p:txBody>
        </p:sp>
        <p:sp>
          <p:nvSpPr>
            <p:cNvPr id="12" name="object 12"/>
            <p:cNvSpPr/>
            <p:nvPr/>
          </p:nvSpPr>
          <p:spPr>
            <a:xfrm>
              <a:off x="3507841" y="3709009"/>
              <a:ext cx="5068570" cy="97790"/>
            </a:xfrm>
            <a:custGeom>
              <a:avLst/>
              <a:gdLst/>
              <a:ahLst/>
              <a:cxnLst/>
              <a:rect l="l" t="t" r="r" b="b"/>
              <a:pathLst>
                <a:path w="5068570" h="97789">
                  <a:moveTo>
                    <a:pt x="5068214" y="97536"/>
                  </a:moveTo>
                  <a:lnTo>
                    <a:pt x="0" y="97536"/>
                  </a:lnTo>
                  <a:lnTo>
                    <a:pt x="0" y="0"/>
                  </a:lnTo>
                  <a:lnTo>
                    <a:pt x="5068214" y="0"/>
                  </a:lnTo>
                  <a:lnTo>
                    <a:pt x="5068214" y="97536"/>
                  </a:lnTo>
                  <a:close/>
                </a:path>
              </a:pathLst>
            </a:custGeom>
            <a:solidFill>
              <a:srgbClr val="FFFFFF"/>
            </a:solidFill>
          </p:spPr>
          <p:txBody>
            <a:bodyPr wrap="square" lIns="0" tIns="0" rIns="0" bIns="0" rtlCol="0"/>
            <a:lstStyle/>
            <a:p>
              <a:endParaRPr/>
            </a:p>
          </p:txBody>
        </p:sp>
        <p:sp>
          <p:nvSpPr>
            <p:cNvPr id="13" name="object 13"/>
            <p:cNvSpPr/>
            <p:nvPr/>
          </p:nvSpPr>
          <p:spPr>
            <a:xfrm>
              <a:off x="5945556" y="1310144"/>
              <a:ext cx="374650" cy="3049905"/>
            </a:xfrm>
            <a:custGeom>
              <a:avLst/>
              <a:gdLst/>
              <a:ahLst/>
              <a:cxnLst/>
              <a:rect l="l" t="t" r="r" b="b"/>
              <a:pathLst>
                <a:path w="374650" h="3049904">
                  <a:moveTo>
                    <a:pt x="374027" y="2864256"/>
                  </a:moveTo>
                  <a:lnTo>
                    <a:pt x="365836" y="2844571"/>
                  </a:lnTo>
                  <a:lnTo>
                    <a:pt x="340791" y="2844571"/>
                  </a:lnTo>
                  <a:lnTo>
                    <a:pt x="343230" y="2845511"/>
                  </a:lnTo>
                  <a:lnTo>
                    <a:pt x="344805" y="2846311"/>
                  </a:lnTo>
                  <a:lnTo>
                    <a:pt x="350151" y="2849994"/>
                  </a:lnTo>
                  <a:lnTo>
                    <a:pt x="351663" y="2851353"/>
                  </a:lnTo>
                  <a:lnTo>
                    <a:pt x="353352" y="2853283"/>
                  </a:lnTo>
                  <a:lnTo>
                    <a:pt x="353606" y="2853677"/>
                  </a:lnTo>
                  <a:lnTo>
                    <a:pt x="354876" y="2855366"/>
                  </a:lnTo>
                  <a:lnTo>
                    <a:pt x="355790" y="2856941"/>
                  </a:lnTo>
                  <a:lnTo>
                    <a:pt x="356158" y="2857538"/>
                  </a:lnTo>
                  <a:lnTo>
                    <a:pt x="357276" y="2859951"/>
                  </a:lnTo>
                  <a:lnTo>
                    <a:pt x="358152" y="2862427"/>
                  </a:lnTo>
                  <a:lnTo>
                    <a:pt x="358775" y="2864993"/>
                  </a:lnTo>
                  <a:lnTo>
                    <a:pt x="358838" y="2865742"/>
                  </a:lnTo>
                  <a:lnTo>
                    <a:pt x="359016" y="2866898"/>
                  </a:lnTo>
                  <a:lnTo>
                    <a:pt x="359067" y="3010662"/>
                  </a:lnTo>
                  <a:lnTo>
                    <a:pt x="358838" y="3011805"/>
                  </a:lnTo>
                  <a:lnTo>
                    <a:pt x="358724" y="3012554"/>
                  </a:lnTo>
                  <a:lnTo>
                    <a:pt x="358622" y="3013303"/>
                  </a:lnTo>
                  <a:lnTo>
                    <a:pt x="357924" y="3015843"/>
                  </a:lnTo>
                  <a:lnTo>
                    <a:pt x="357835" y="3015983"/>
                  </a:lnTo>
                  <a:lnTo>
                    <a:pt x="356997" y="3018282"/>
                  </a:lnTo>
                  <a:lnTo>
                    <a:pt x="355828" y="3020606"/>
                  </a:lnTo>
                  <a:lnTo>
                    <a:pt x="354457" y="3022790"/>
                  </a:lnTo>
                  <a:lnTo>
                    <a:pt x="353606" y="3023870"/>
                  </a:lnTo>
                  <a:lnTo>
                    <a:pt x="352894" y="3024835"/>
                  </a:lnTo>
                  <a:lnTo>
                    <a:pt x="351142" y="3026714"/>
                  </a:lnTo>
                  <a:lnTo>
                    <a:pt x="350151" y="3027553"/>
                  </a:lnTo>
                  <a:lnTo>
                    <a:pt x="349211" y="3028404"/>
                  </a:lnTo>
                  <a:lnTo>
                    <a:pt x="347129" y="3029928"/>
                  </a:lnTo>
                  <a:lnTo>
                    <a:pt x="345478" y="3030880"/>
                  </a:lnTo>
                  <a:lnTo>
                    <a:pt x="345313" y="3031020"/>
                  </a:lnTo>
                  <a:lnTo>
                    <a:pt x="338086" y="3033674"/>
                  </a:lnTo>
                  <a:lnTo>
                    <a:pt x="338251" y="3033674"/>
                  </a:lnTo>
                  <a:lnTo>
                    <a:pt x="337858" y="3033738"/>
                  </a:lnTo>
                  <a:lnTo>
                    <a:pt x="335368" y="3034106"/>
                  </a:lnTo>
                  <a:lnTo>
                    <a:pt x="38658" y="3034106"/>
                  </a:lnTo>
                  <a:lnTo>
                    <a:pt x="36791" y="3033826"/>
                  </a:lnTo>
                  <a:lnTo>
                    <a:pt x="36144" y="3033738"/>
                  </a:lnTo>
                  <a:lnTo>
                    <a:pt x="35788" y="3033674"/>
                  </a:lnTo>
                  <a:lnTo>
                    <a:pt x="35941" y="3033674"/>
                  </a:lnTo>
                  <a:lnTo>
                    <a:pt x="34137" y="3033204"/>
                  </a:lnTo>
                  <a:lnTo>
                    <a:pt x="33312" y="3032963"/>
                  </a:lnTo>
                  <a:lnTo>
                    <a:pt x="33959" y="3033204"/>
                  </a:lnTo>
                  <a:lnTo>
                    <a:pt x="31483" y="3032328"/>
                  </a:lnTo>
                  <a:lnTo>
                    <a:pt x="29133" y="3031236"/>
                  </a:lnTo>
                  <a:lnTo>
                    <a:pt x="28714" y="3031020"/>
                  </a:lnTo>
                  <a:lnTo>
                    <a:pt x="28549" y="3030880"/>
                  </a:lnTo>
                  <a:lnTo>
                    <a:pt x="26898" y="3029928"/>
                  </a:lnTo>
                  <a:lnTo>
                    <a:pt x="24815" y="3028404"/>
                  </a:lnTo>
                  <a:lnTo>
                    <a:pt x="23876" y="3027553"/>
                  </a:lnTo>
                  <a:lnTo>
                    <a:pt x="22885" y="3026714"/>
                  </a:lnTo>
                  <a:lnTo>
                    <a:pt x="21132" y="3024835"/>
                  </a:lnTo>
                  <a:lnTo>
                    <a:pt x="20421" y="3023870"/>
                  </a:lnTo>
                  <a:lnTo>
                    <a:pt x="19570" y="3022790"/>
                  </a:lnTo>
                  <a:lnTo>
                    <a:pt x="18199" y="3020606"/>
                  </a:lnTo>
                  <a:lnTo>
                    <a:pt x="17043" y="3018282"/>
                  </a:lnTo>
                  <a:lnTo>
                    <a:pt x="16192" y="3015983"/>
                  </a:lnTo>
                  <a:lnTo>
                    <a:pt x="16116" y="3015843"/>
                  </a:lnTo>
                  <a:lnTo>
                    <a:pt x="15417" y="3013303"/>
                  </a:lnTo>
                  <a:lnTo>
                    <a:pt x="15303" y="3012554"/>
                  </a:lnTo>
                  <a:lnTo>
                    <a:pt x="15189" y="3011805"/>
                  </a:lnTo>
                  <a:lnTo>
                    <a:pt x="14973" y="3010662"/>
                  </a:lnTo>
                  <a:lnTo>
                    <a:pt x="15011" y="2866898"/>
                  </a:lnTo>
                  <a:lnTo>
                    <a:pt x="15189" y="2865742"/>
                  </a:lnTo>
                  <a:lnTo>
                    <a:pt x="15265" y="2864993"/>
                  </a:lnTo>
                  <a:lnTo>
                    <a:pt x="15455" y="2864256"/>
                  </a:lnTo>
                  <a:lnTo>
                    <a:pt x="15875" y="2862427"/>
                  </a:lnTo>
                  <a:lnTo>
                    <a:pt x="16751" y="2859951"/>
                  </a:lnTo>
                  <a:lnTo>
                    <a:pt x="17868" y="2857538"/>
                  </a:lnTo>
                  <a:lnTo>
                    <a:pt x="18237" y="2856941"/>
                  </a:lnTo>
                  <a:lnTo>
                    <a:pt x="19151" y="2855366"/>
                  </a:lnTo>
                  <a:lnTo>
                    <a:pt x="20421" y="2853677"/>
                  </a:lnTo>
                  <a:lnTo>
                    <a:pt x="20675" y="2853283"/>
                  </a:lnTo>
                  <a:lnTo>
                    <a:pt x="22377" y="2851353"/>
                  </a:lnTo>
                  <a:lnTo>
                    <a:pt x="23876" y="2849994"/>
                  </a:lnTo>
                  <a:lnTo>
                    <a:pt x="24257" y="2849600"/>
                  </a:lnTo>
                  <a:lnTo>
                    <a:pt x="26289" y="2848038"/>
                  </a:lnTo>
                  <a:lnTo>
                    <a:pt x="28473" y="2846667"/>
                  </a:lnTo>
                  <a:lnTo>
                    <a:pt x="28714" y="2846527"/>
                  </a:lnTo>
                  <a:lnTo>
                    <a:pt x="29222" y="2846311"/>
                  </a:lnTo>
                  <a:lnTo>
                    <a:pt x="30797" y="2845511"/>
                  </a:lnTo>
                  <a:lnTo>
                    <a:pt x="33235" y="2844571"/>
                  </a:lnTo>
                  <a:lnTo>
                    <a:pt x="34099" y="2844342"/>
                  </a:lnTo>
                  <a:lnTo>
                    <a:pt x="35928" y="2843885"/>
                  </a:lnTo>
                  <a:lnTo>
                    <a:pt x="35788" y="2843885"/>
                  </a:lnTo>
                  <a:lnTo>
                    <a:pt x="36131" y="2843834"/>
                  </a:lnTo>
                  <a:lnTo>
                    <a:pt x="36791" y="2843733"/>
                  </a:lnTo>
                  <a:lnTo>
                    <a:pt x="39865" y="2843263"/>
                  </a:lnTo>
                  <a:lnTo>
                    <a:pt x="334162" y="2843263"/>
                  </a:lnTo>
                  <a:lnTo>
                    <a:pt x="337235" y="2843733"/>
                  </a:lnTo>
                  <a:lnTo>
                    <a:pt x="337502" y="2843733"/>
                  </a:lnTo>
                  <a:lnTo>
                    <a:pt x="337883" y="2843834"/>
                  </a:lnTo>
                  <a:lnTo>
                    <a:pt x="339928" y="2844342"/>
                  </a:lnTo>
                  <a:lnTo>
                    <a:pt x="340080" y="2844342"/>
                  </a:lnTo>
                  <a:lnTo>
                    <a:pt x="365671" y="2844342"/>
                  </a:lnTo>
                  <a:lnTo>
                    <a:pt x="365315" y="2843885"/>
                  </a:lnTo>
                  <a:lnTo>
                    <a:pt x="365201" y="2843733"/>
                  </a:lnTo>
                  <a:lnTo>
                    <a:pt x="364858" y="2843263"/>
                  </a:lnTo>
                  <a:lnTo>
                    <a:pt x="332663" y="2828036"/>
                  </a:lnTo>
                  <a:lnTo>
                    <a:pt x="41376" y="2828036"/>
                  </a:lnTo>
                  <a:lnTo>
                    <a:pt x="6731" y="2846527"/>
                  </a:lnTo>
                  <a:lnTo>
                    <a:pt x="6654" y="2846667"/>
                  </a:lnTo>
                  <a:lnTo>
                    <a:pt x="4622" y="2849994"/>
                  </a:lnTo>
                  <a:lnTo>
                    <a:pt x="279" y="2862427"/>
                  </a:lnTo>
                  <a:lnTo>
                    <a:pt x="0" y="2864256"/>
                  </a:lnTo>
                  <a:lnTo>
                    <a:pt x="0" y="3013303"/>
                  </a:lnTo>
                  <a:lnTo>
                    <a:pt x="406" y="3015983"/>
                  </a:lnTo>
                  <a:lnTo>
                    <a:pt x="25209" y="3046222"/>
                  </a:lnTo>
                  <a:lnTo>
                    <a:pt x="41376" y="3049524"/>
                  </a:lnTo>
                  <a:lnTo>
                    <a:pt x="332663" y="3049524"/>
                  </a:lnTo>
                  <a:lnTo>
                    <a:pt x="365010" y="3034106"/>
                  </a:lnTo>
                  <a:lnTo>
                    <a:pt x="365201" y="3033826"/>
                  </a:lnTo>
                  <a:lnTo>
                    <a:pt x="365315" y="3033674"/>
                  </a:lnTo>
                  <a:lnTo>
                    <a:pt x="365671" y="3033204"/>
                  </a:lnTo>
                  <a:lnTo>
                    <a:pt x="367296" y="3031020"/>
                  </a:lnTo>
                  <a:lnTo>
                    <a:pt x="367372" y="3030880"/>
                  </a:lnTo>
                  <a:lnTo>
                    <a:pt x="369404" y="3027553"/>
                  </a:lnTo>
                  <a:lnTo>
                    <a:pt x="371170" y="3023870"/>
                  </a:lnTo>
                  <a:lnTo>
                    <a:pt x="372605" y="3019958"/>
                  </a:lnTo>
                  <a:lnTo>
                    <a:pt x="373621" y="3015983"/>
                  </a:lnTo>
                  <a:lnTo>
                    <a:pt x="373646" y="3015843"/>
                  </a:lnTo>
                  <a:lnTo>
                    <a:pt x="373748" y="3015132"/>
                  </a:lnTo>
                  <a:lnTo>
                    <a:pt x="374027" y="3013303"/>
                  </a:lnTo>
                  <a:lnTo>
                    <a:pt x="374027" y="2864256"/>
                  </a:lnTo>
                  <a:close/>
                </a:path>
                <a:path w="374650" h="3049904">
                  <a:moveTo>
                    <a:pt x="374027" y="2162708"/>
                  </a:moveTo>
                  <a:lnTo>
                    <a:pt x="365836" y="2143023"/>
                  </a:lnTo>
                  <a:lnTo>
                    <a:pt x="340791" y="2143023"/>
                  </a:lnTo>
                  <a:lnTo>
                    <a:pt x="343230" y="2143963"/>
                  </a:lnTo>
                  <a:lnTo>
                    <a:pt x="344805" y="2144763"/>
                  </a:lnTo>
                  <a:lnTo>
                    <a:pt x="350151" y="2148446"/>
                  </a:lnTo>
                  <a:lnTo>
                    <a:pt x="351663" y="2149805"/>
                  </a:lnTo>
                  <a:lnTo>
                    <a:pt x="353352" y="2151735"/>
                  </a:lnTo>
                  <a:lnTo>
                    <a:pt x="353606" y="2152129"/>
                  </a:lnTo>
                  <a:lnTo>
                    <a:pt x="354876" y="2153818"/>
                  </a:lnTo>
                  <a:lnTo>
                    <a:pt x="355790" y="2155393"/>
                  </a:lnTo>
                  <a:lnTo>
                    <a:pt x="356158" y="2155990"/>
                  </a:lnTo>
                  <a:lnTo>
                    <a:pt x="357276" y="2158403"/>
                  </a:lnTo>
                  <a:lnTo>
                    <a:pt x="358152" y="2160879"/>
                  </a:lnTo>
                  <a:lnTo>
                    <a:pt x="358775" y="2163445"/>
                  </a:lnTo>
                  <a:lnTo>
                    <a:pt x="358838" y="2164194"/>
                  </a:lnTo>
                  <a:lnTo>
                    <a:pt x="359016" y="2165350"/>
                  </a:lnTo>
                  <a:lnTo>
                    <a:pt x="359067" y="2309114"/>
                  </a:lnTo>
                  <a:lnTo>
                    <a:pt x="358838" y="2310257"/>
                  </a:lnTo>
                  <a:lnTo>
                    <a:pt x="358724" y="2311006"/>
                  </a:lnTo>
                  <a:lnTo>
                    <a:pt x="358622" y="2311755"/>
                  </a:lnTo>
                  <a:lnTo>
                    <a:pt x="357924" y="2314295"/>
                  </a:lnTo>
                  <a:lnTo>
                    <a:pt x="357835" y="2314435"/>
                  </a:lnTo>
                  <a:lnTo>
                    <a:pt x="356997" y="2316734"/>
                  </a:lnTo>
                  <a:lnTo>
                    <a:pt x="355828" y="2319058"/>
                  </a:lnTo>
                  <a:lnTo>
                    <a:pt x="354457" y="2321242"/>
                  </a:lnTo>
                  <a:lnTo>
                    <a:pt x="353606" y="2322322"/>
                  </a:lnTo>
                  <a:lnTo>
                    <a:pt x="352894" y="2323287"/>
                  </a:lnTo>
                  <a:lnTo>
                    <a:pt x="351142" y="2325166"/>
                  </a:lnTo>
                  <a:lnTo>
                    <a:pt x="350151" y="2326005"/>
                  </a:lnTo>
                  <a:lnTo>
                    <a:pt x="349211" y="2326856"/>
                  </a:lnTo>
                  <a:lnTo>
                    <a:pt x="347129" y="2328367"/>
                  </a:lnTo>
                  <a:lnTo>
                    <a:pt x="345478" y="2329332"/>
                  </a:lnTo>
                  <a:lnTo>
                    <a:pt x="345313" y="2329472"/>
                  </a:lnTo>
                  <a:lnTo>
                    <a:pt x="338086" y="2332126"/>
                  </a:lnTo>
                  <a:lnTo>
                    <a:pt x="338251" y="2332126"/>
                  </a:lnTo>
                  <a:lnTo>
                    <a:pt x="337858" y="2332190"/>
                  </a:lnTo>
                  <a:lnTo>
                    <a:pt x="335368" y="2332558"/>
                  </a:lnTo>
                  <a:lnTo>
                    <a:pt x="38658" y="2332558"/>
                  </a:lnTo>
                  <a:lnTo>
                    <a:pt x="36791" y="2332278"/>
                  </a:lnTo>
                  <a:lnTo>
                    <a:pt x="36144" y="2332190"/>
                  </a:lnTo>
                  <a:lnTo>
                    <a:pt x="35788" y="2332126"/>
                  </a:lnTo>
                  <a:lnTo>
                    <a:pt x="35941" y="2332126"/>
                  </a:lnTo>
                  <a:lnTo>
                    <a:pt x="34137" y="2331656"/>
                  </a:lnTo>
                  <a:lnTo>
                    <a:pt x="33312" y="2331415"/>
                  </a:lnTo>
                  <a:lnTo>
                    <a:pt x="33959" y="2331656"/>
                  </a:lnTo>
                  <a:lnTo>
                    <a:pt x="31483" y="2330780"/>
                  </a:lnTo>
                  <a:lnTo>
                    <a:pt x="29133" y="2329688"/>
                  </a:lnTo>
                  <a:lnTo>
                    <a:pt x="28714" y="2329472"/>
                  </a:lnTo>
                  <a:lnTo>
                    <a:pt x="28549" y="2329332"/>
                  </a:lnTo>
                  <a:lnTo>
                    <a:pt x="26898" y="2328367"/>
                  </a:lnTo>
                  <a:lnTo>
                    <a:pt x="24815" y="2326856"/>
                  </a:lnTo>
                  <a:lnTo>
                    <a:pt x="23876" y="2326005"/>
                  </a:lnTo>
                  <a:lnTo>
                    <a:pt x="22885" y="2325166"/>
                  </a:lnTo>
                  <a:lnTo>
                    <a:pt x="21132" y="2323287"/>
                  </a:lnTo>
                  <a:lnTo>
                    <a:pt x="20421" y="2322322"/>
                  </a:lnTo>
                  <a:lnTo>
                    <a:pt x="19570" y="2321242"/>
                  </a:lnTo>
                  <a:lnTo>
                    <a:pt x="18199" y="2319058"/>
                  </a:lnTo>
                  <a:lnTo>
                    <a:pt x="17043" y="2316734"/>
                  </a:lnTo>
                  <a:lnTo>
                    <a:pt x="16192" y="2314435"/>
                  </a:lnTo>
                  <a:lnTo>
                    <a:pt x="16116" y="2314295"/>
                  </a:lnTo>
                  <a:lnTo>
                    <a:pt x="15417" y="2311755"/>
                  </a:lnTo>
                  <a:lnTo>
                    <a:pt x="15303" y="2311006"/>
                  </a:lnTo>
                  <a:lnTo>
                    <a:pt x="15189" y="2310257"/>
                  </a:lnTo>
                  <a:lnTo>
                    <a:pt x="14973" y="2309114"/>
                  </a:lnTo>
                  <a:lnTo>
                    <a:pt x="15011" y="2165350"/>
                  </a:lnTo>
                  <a:lnTo>
                    <a:pt x="15189" y="2164194"/>
                  </a:lnTo>
                  <a:lnTo>
                    <a:pt x="15265" y="2163445"/>
                  </a:lnTo>
                  <a:lnTo>
                    <a:pt x="15455" y="2162708"/>
                  </a:lnTo>
                  <a:lnTo>
                    <a:pt x="15875" y="2160879"/>
                  </a:lnTo>
                  <a:lnTo>
                    <a:pt x="16751" y="2158403"/>
                  </a:lnTo>
                  <a:lnTo>
                    <a:pt x="17868" y="2155990"/>
                  </a:lnTo>
                  <a:lnTo>
                    <a:pt x="18237" y="2155393"/>
                  </a:lnTo>
                  <a:lnTo>
                    <a:pt x="19151" y="2153818"/>
                  </a:lnTo>
                  <a:lnTo>
                    <a:pt x="20421" y="2152129"/>
                  </a:lnTo>
                  <a:lnTo>
                    <a:pt x="20675" y="2151735"/>
                  </a:lnTo>
                  <a:lnTo>
                    <a:pt x="22377" y="2149805"/>
                  </a:lnTo>
                  <a:lnTo>
                    <a:pt x="23876" y="2148446"/>
                  </a:lnTo>
                  <a:lnTo>
                    <a:pt x="24257" y="2148052"/>
                  </a:lnTo>
                  <a:lnTo>
                    <a:pt x="26289" y="2146490"/>
                  </a:lnTo>
                  <a:lnTo>
                    <a:pt x="28473" y="2145119"/>
                  </a:lnTo>
                  <a:lnTo>
                    <a:pt x="28714" y="2144979"/>
                  </a:lnTo>
                  <a:lnTo>
                    <a:pt x="29222" y="2144763"/>
                  </a:lnTo>
                  <a:lnTo>
                    <a:pt x="30797" y="2143963"/>
                  </a:lnTo>
                  <a:lnTo>
                    <a:pt x="33235" y="2143023"/>
                  </a:lnTo>
                  <a:lnTo>
                    <a:pt x="34099" y="2142794"/>
                  </a:lnTo>
                  <a:lnTo>
                    <a:pt x="35928" y="2142337"/>
                  </a:lnTo>
                  <a:lnTo>
                    <a:pt x="35788" y="2142337"/>
                  </a:lnTo>
                  <a:lnTo>
                    <a:pt x="36131" y="2142286"/>
                  </a:lnTo>
                  <a:lnTo>
                    <a:pt x="36791" y="2142185"/>
                  </a:lnTo>
                  <a:lnTo>
                    <a:pt x="39865" y="2141715"/>
                  </a:lnTo>
                  <a:lnTo>
                    <a:pt x="334162" y="2141715"/>
                  </a:lnTo>
                  <a:lnTo>
                    <a:pt x="337235" y="2142185"/>
                  </a:lnTo>
                  <a:lnTo>
                    <a:pt x="337502" y="2142185"/>
                  </a:lnTo>
                  <a:lnTo>
                    <a:pt x="337883" y="2142286"/>
                  </a:lnTo>
                  <a:lnTo>
                    <a:pt x="339928" y="2142794"/>
                  </a:lnTo>
                  <a:lnTo>
                    <a:pt x="340080" y="2142794"/>
                  </a:lnTo>
                  <a:lnTo>
                    <a:pt x="365671" y="2142794"/>
                  </a:lnTo>
                  <a:lnTo>
                    <a:pt x="365315" y="2142337"/>
                  </a:lnTo>
                  <a:lnTo>
                    <a:pt x="365201" y="2142185"/>
                  </a:lnTo>
                  <a:lnTo>
                    <a:pt x="364858" y="2141715"/>
                  </a:lnTo>
                  <a:lnTo>
                    <a:pt x="332663" y="2126488"/>
                  </a:lnTo>
                  <a:lnTo>
                    <a:pt x="41376" y="2126488"/>
                  </a:lnTo>
                  <a:lnTo>
                    <a:pt x="6731" y="2144979"/>
                  </a:lnTo>
                  <a:lnTo>
                    <a:pt x="6654" y="2145119"/>
                  </a:lnTo>
                  <a:lnTo>
                    <a:pt x="4622" y="2148446"/>
                  </a:lnTo>
                  <a:lnTo>
                    <a:pt x="279" y="2160879"/>
                  </a:lnTo>
                  <a:lnTo>
                    <a:pt x="0" y="2162708"/>
                  </a:lnTo>
                  <a:lnTo>
                    <a:pt x="0" y="2311755"/>
                  </a:lnTo>
                  <a:lnTo>
                    <a:pt x="406" y="2314435"/>
                  </a:lnTo>
                  <a:lnTo>
                    <a:pt x="25209" y="2344674"/>
                  </a:lnTo>
                  <a:lnTo>
                    <a:pt x="41376" y="2347976"/>
                  </a:lnTo>
                  <a:lnTo>
                    <a:pt x="332663" y="2347976"/>
                  </a:lnTo>
                  <a:lnTo>
                    <a:pt x="365010" y="2332558"/>
                  </a:lnTo>
                  <a:lnTo>
                    <a:pt x="365201" y="2332278"/>
                  </a:lnTo>
                  <a:lnTo>
                    <a:pt x="365315" y="2332126"/>
                  </a:lnTo>
                  <a:lnTo>
                    <a:pt x="365671" y="2331656"/>
                  </a:lnTo>
                  <a:lnTo>
                    <a:pt x="367296" y="2329472"/>
                  </a:lnTo>
                  <a:lnTo>
                    <a:pt x="367372" y="2329332"/>
                  </a:lnTo>
                  <a:lnTo>
                    <a:pt x="369404" y="2326005"/>
                  </a:lnTo>
                  <a:lnTo>
                    <a:pt x="371170" y="2322322"/>
                  </a:lnTo>
                  <a:lnTo>
                    <a:pt x="372605" y="2318410"/>
                  </a:lnTo>
                  <a:lnTo>
                    <a:pt x="373621" y="2314435"/>
                  </a:lnTo>
                  <a:lnTo>
                    <a:pt x="373646" y="2314295"/>
                  </a:lnTo>
                  <a:lnTo>
                    <a:pt x="373748" y="2313584"/>
                  </a:lnTo>
                  <a:lnTo>
                    <a:pt x="374027" y="2311755"/>
                  </a:lnTo>
                  <a:lnTo>
                    <a:pt x="374027" y="2162708"/>
                  </a:lnTo>
                  <a:close/>
                </a:path>
                <a:path w="374650" h="3049904">
                  <a:moveTo>
                    <a:pt x="374027" y="1532788"/>
                  </a:moveTo>
                  <a:lnTo>
                    <a:pt x="365836" y="1513103"/>
                  </a:lnTo>
                  <a:lnTo>
                    <a:pt x="340791" y="1513103"/>
                  </a:lnTo>
                  <a:lnTo>
                    <a:pt x="343230" y="1514043"/>
                  </a:lnTo>
                  <a:lnTo>
                    <a:pt x="344805" y="1514843"/>
                  </a:lnTo>
                  <a:lnTo>
                    <a:pt x="350151" y="1518526"/>
                  </a:lnTo>
                  <a:lnTo>
                    <a:pt x="351663" y="1519885"/>
                  </a:lnTo>
                  <a:lnTo>
                    <a:pt x="353352" y="1521815"/>
                  </a:lnTo>
                  <a:lnTo>
                    <a:pt x="353606" y="1522209"/>
                  </a:lnTo>
                  <a:lnTo>
                    <a:pt x="354876" y="1523898"/>
                  </a:lnTo>
                  <a:lnTo>
                    <a:pt x="355790" y="1525473"/>
                  </a:lnTo>
                  <a:lnTo>
                    <a:pt x="356158" y="1526070"/>
                  </a:lnTo>
                  <a:lnTo>
                    <a:pt x="357276" y="1528483"/>
                  </a:lnTo>
                  <a:lnTo>
                    <a:pt x="358152" y="1530959"/>
                  </a:lnTo>
                  <a:lnTo>
                    <a:pt x="358775" y="1533525"/>
                  </a:lnTo>
                  <a:lnTo>
                    <a:pt x="358838" y="1534274"/>
                  </a:lnTo>
                  <a:lnTo>
                    <a:pt x="359016" y="1535430"/>
                  </a:lnTo>
                  <a:lnTo>
                    <a:pt x="359067" y="1679194"/>
                  </a:lnTo>
                  <a:lnTo>
                    <a:pt x="358838" y="1680337"/>
                  </a:lnTo>
                  <a:lnTo>
                    <a:pt x="358724" y="1681086"/>
                  </a:lnTo>
                  <a:lnTo>
                    <a:pt x="358622" y="1681835"/>
                  </a:lnTo>
                  <a:lnTo>
                    <a:pt x="357924" y="1684375"/>
                  </a:lnTo>
                  <a:lnTo>
                    <a:pt x="357835" y="1684515"/>
                  </a:lnTo>
                  <a:lnTo>
                    <a:pt x="356997" y="1686814"/>
                  </a:lnTo>
                  <a:lnTo>
                    <a:pt x="355828" y="1689138"/>
                  </a:lnTo>
                  <a:lnTo>
                    <a:pt x="354457" y="1691322"/>
                  </a:lnTo>
                  <a:lnTo>
                    <a:pt x="353606" y="1692402"/>
                  </a:lnTo>
                  <a:lnTo>
                    <a:pt x="352894" y="1693367"/>
                  </a:lnTo>
                  <a:lnTo>
                    <a:pt x="351142" y="1695246"/>
                  </a:lnTo>
                  <a:lnTo>
                    <a:pt x="350151" y="1696085"/>
                  </a:lnTo>
                  <a:lnTo>
                    <a:pt x="349211" y="1696935"/>
                  </a:lnTo>
                  <a:lnTo>
                    <a:pt x="347129" y="1698459"/>
                  </a:lnTo>
                  <a:lnTo>
                    <a:pt x="345478" y="1699412"/>
                  </a:lnTo>
                  <a:lnTo>
                    <a:pt x="345313" y="1699552"/>
                  </a:lnTo>
                  <a:lnTo>
                    <a:pt x="344906" y="1699768"/>
                  </a:lnTo>
                  <a:lnTo>
                    <a:pt x="342544" y="1700860"/>
                  </a:lnTo>
                  <a:lnTo>
                    <a:pt x="340537" y="1701584"/>
                  </a:lnTo>
                  <a:lnTo>
                    <a:pt x="338099" y="1702206"/>
                  </a:lnTo>
                  <a:lnTo>
                    <a:pt x="338251" y="1702206"/>
                  </a:lnTo>
                  <a:lnTo>
                    <a:pt x="337870" y="1702269"/>
                  </a:lnTo>
                  <a:lnTo>
                    <a:pt x="335368" y="1702638"/>
                  </a:lnTo>
                  <a:lnTo>
                    <a:pt x="38658" y="1702638"/>
                  </a:lnTo>
                  <a:lnTo>
                    <a:pt x="36791" y="1702358"/>
                  </a:lnTo>
                  <a:lnTo>
                    <a:pt x="36131" y="1702269"/>
                  </a:lnTo>
                  <a:lnTo>
                    <a:pt x="35788" y="1702206"/>
                  </a:lnTo>
                  <a:lnTo>
                    <a:pt x="35928" y="1702206"/>
                  </a:lnTo>
                  <a:lnTo>
                    <a:pt x="34099" y="1701736"/>
                  </a:lnTo>
                  <a:lnTo>
                    <a:pt x="33337" y="1701507"/>
                  </a:lnTo>
                  <a:lnTo>
                    <a:pt x="33959" y="1701736"/>
                  </a:lnTo>
                  <a:lnTo>
                    <a:pt x="31483" y="1700860"/>
                  </a:lnTo>
                  <a:lnTo>
                    <a:pt x="29133" y="1699768"/>
                  </a:lnTo>
                  <a:lnTo>
                    <a:pt x="28714" y="1699552"/>
                  </a:lnTo>
                  <a:lnTo>
                    <a:pt x="28549" y="1699412"/>
                  </a:lnTo>
                  <a:lnTo>
                    <a:pt x="26898" y="1698459"/>
                  </a:lnTo>
                  <a:lnTo>
                    <a:pt x="24815" y="1696935"/>
                  </a:lnTo>
                  <a:lnTo>
                    <a:pt x="23876" y="1696085"/>
                  </a:lnTo>
                  <a:lnTo>
                    <a:pt x="22885" y="1695246"/>
                  </a:lnTo>
                  <a:lnTo>
                    <a:pt x="21132" y="1693367"/>
                  </a:lnTo>
                  <a:lnTo>
                    <a:pt x="20421" y="1692402"/>
                  </a:lnTo>
                  <a:lnTo>
                    <a:pt x="19570" y="1691322"/>
                  </a:lnTo>
                  <a:lnTo>
                    <a:pt x="18199" y="1689138"/>
                  </a:lnTo>
                  <a:lnTo>
                    <a:pt x="17043" y="1686814"/>
                  </a:lnTo>
                  <a:lnTo>
                    <a:pt x="16192" y="1684515"/>
                  </a:lnTo>
                  <a:lnTo>
                    <a:pt x="16116" y="1684375"/>
                  </a:lnTo>
                  <a:lnTo>
                    <a:pt x="15417" y="1681835"/>
                  </a:lnTo>
                  <a:lnTo>
                    <a:pt x="15303" y="1681086"/>
                  </a:lnTo>
                  <a:lnTo>
                    <a:pt x="15189" y="1680337"/>
                  </a:lnTo>
                  <a:lnTo>
                    <a:pt x="14973" y="1679194"/>
                  </a:lnTo>
                  <a:lnTo>
                    <a:pt x="15011" y="1535430"/>
                  </a:lnTo>
                  <a:lnTo>
                    <a:pt x="15189" y="1534274"/>
                  </a:lnTo>
                  <a:lnTo>
                    <a:pt x="15265" y="1533525"/>
                  </a:lnTo>
                  <a:lnTo>
                    <a:pt x="15455" y="1532788"/>
                  </a:lnTo>
                  <a:lnTo>
                    <a:pt x="15875" y="1530959"/>
                  </a:lnTo>
                  <a:lnTo>
                    <a:pt x="16751" y="1528483"/>
                  </a:lnTo>
                  <a:lnTo>
                    <a:pt x="17868" y="1526070"/>
                  </a:lnTo>
                  <a:lnTo>
                    <a:pt x="18237" y="1525473"/>
                  </a:lnTo>
                  <a:lnTo>
                    <a:pt x="19151" y="1523898"/>
                  </a:lnTo>
                  <a:lnTo>
                    <a:pt x="20421" y="1522209"/>
                  </a:lnTo>
                  <a:lnTo>
                    <a:pt x="20675" y="1521815"/>
                  </a:lnTo>
                  <a:lnTo>
                    <a:pt x="22377" y="1519885"/>
                  </a:lnTo>
                  <a:lnTo>
                    <a:pt x="23876" y="1518526"/>
                  </a:lnTo>
                  <a:lnTo>
                    <a:pt x="24257" y="1518132"/>
                  </a:lnTo>
                  <a:lnTo>
                    <a:pt x="26289" y="1516570"/>
                  </a:lnTo>
                  <a:lnTo>
                    <a:pt x="28473" y="1515198"/>
                  </a:lnTo>
                  <a:lnTo>
                    <a:pt x="28714" y="1515059"/>
                  </a:lnTo>
                  <a:lnTo>
                    <a:pt x="29222" y="1514843"/>
                  </a:lnTo>
                  <a:lnTo>
                    <a:pt x="30797" y="1514043"/>
                  </a:lnTo>
                  <a:lnTo>
                    <a:pt x="33235" y="1513103"/>
                  </a:lnTo>
                  <a:lnTo>
                    <a:pt x="34099" y="1512874"/>
                  </a:lnTo>
                  <a:lnTo>
                    <a:pt x="35928" y="1512417"/>
                  </a:lnTo>
                  <a:lnTo>
                    <a:pt x="35788" y="1512417"/>
                  </a:lnTo>
                  <a:lnTo>
                    <a:pt x="36131" y="1512366"/>
                  </a:lnTo>
                  <a:lnTo>
                    <a:pt x="36791" y="1512265"/>
                  </a:lnTo>
                  <a:lnTo>
                    <a:pt x="39865" y="1511795"/>
                  </a:lnTo>
                  <a:lnTo>
                    <a:pt x="334162" y="1511795"/>
                  </a:lnTo>
                  <a:lnTo>
                    <a:pt x="337235" y="1512265"/>
                  </a:lnTo>
                  <a:lnTo>
                    <a:pt x="337502" y="1512265"/>
                  </a:lnTo>
                  <a:lnTo>
                    <a:pt x="337883" y="1512366"/>
                  </a:lnTo>
                  <a:lnTo>
                    <a:pt x="339928" y="1512874"/>
                  </a:lnTo>
                  <a:lnTo>
                    <a:pt x="340080" y="1512874"/>
                  </a:lnTo>
                  <a:lnTo>
                    <a:pt x="365671" y="1512874"/>
                  </a:lnTo>
                  <a:lnTo>
                    <a:pt x="365315" y="1512417"/>
                  </a:lnTo>
                  <a:lnTo>
                    <a:pt x="365201" y="1512265"/>
                  </a:lnTo>
                  <a:lnTo>
                    <a:pt x="364858" y="1511795"/>
                  </a:lnTo>
                  <a:lnTo>
                    <a:pt x="332663" y="1496568"/>
                  </a:lnTo>
                  <a:lnTo>
                    <a:pt x="41376" y="1496568"/>
                  </a:lnTo>
                  <a:lnTo>
                    <a:pt x="6731" y="1515059"/>
                  </a:lnTo>
                  <a:lnTo>
                    <a:pt x="6654" y="1515198"/>
                  </a:lnTo>
                  <a:lnTo>
                    <a:pt x="4622" y="1518526"/>
                  </a:lnTo>
                  <a:lnTo>
                    <a:pt x="279" y="1530959"/>
                  </a:lnTo>
                  <a:lnTo>
                    <a:pt x="0" y="1532788"/>
                  </a:lnTo>
                  <a:lnTo>
                    <a:pt x="0" y="1681835"/>
                  </a:lnTo>
                  <a:lnTo>
                    <a:pt x="406" y="1684515"/>
                  </a:lnTo>
                  <a:lnTo>
                    <a:pt x="25209" y="1714754"/>
                  </a:lnTo>
                  <a:lnTo>
                    <a:pt x="41376" y="1718056"/>
                  </a:lnTo>
                  <a:lnTo>
                    <a:pt x="332663" y="1718056"/>
                  </a:lnTo>
                  <a:lnTo>
                    <a:pt x="365010" y="1702638"/>
                  </a:lnTo>
                  <a:lnTo>
                    <a:pt x="365201" y="1702358"/>
                  </a:lnTo>
                  <a:lnTo>
                    <a:pt x="365315" y="1702206"/>
                  </a:lnTo>
                  <a:lnTo>
                    <a:pt x="365671" y="1701736"/>
                  </a:lnTo>
                  <a:lnTo>
                    <a:pt x="367296" y="1699552"/>
                  </a:lnTo>
                  <a:lnTo>
                    <a:pt x="367372" y="1699412"/>
                  </a:lnTo>
                  <a:lnTo>
                    <a:pt x="369404" y="1696085"/>
                  </a:lnTo>
                  <a:lnTo>
                    <a:pt x="371170" y="1692402"/>
                  </a:lnTo>
                  <a:lnTo>
                    <a:pt x="372605" y="1688490"/>
                  </a:lnTo>
                  <a:lnTo>
                    <a:pt x="373621" y="1684515"/>
                  </a:lnTo>
                  <a:lnTo>
                    <a:pt x="373646" y="1684375"/>
                  </a:lnTo>
                  <a:lnTo>
                    <a:pt x="373748" y="1683664"/>
                  </a:lnTo>
                  <a:lnTo>
                    <a:pt x="374027" y="1681835"/>
                  </a:lnTo>
                  <a:lnTo>
                    <a:pt x="374027" y="1532788"/>
                  </a:lnTo>
                  <a:close/>
                </a:path>
                <a:path w="374650" h="3049904">
                  <a:moveTo>
                    <a:pt x="374027" y="1031900"/>
                  </a:moveTo>
                  <a:lnTo>
                    <a:pt x="365836" y="1012215"/>
                  </a:lnTo>
                  <a:lnTo>
                    <a:pt x="340791" y="1012215"/>
                  </a:lnTo>
                  <a:lnTo>
                    <a:pt x="343230" y="1013155"/>
                  </a:lnTo>
                  <a:lnTo>
                    <a:pt x="344805" y="1013955"/>
                  </a:lnTo>
                  <a:lnTo>
                    <a:pt x="350151" y="1017638"/>
                  </a:lnTo>
                  <a:lnTo>
                    <a:pt x="351663" y="1018997"/>
                  </a:lnTo>
                  <a:lnTo>
                    <a:pt x="353352" y="1020927"/>
                  </a:lnTo>
                  <a:lnTo>
                    <a:pt x="353606" y="1021321"/>
                  </a:lnTo>
                  <a:lnTo>
                    <a:pt x="354876" y="1023010"/>
                  </a:lnTo>
                  <a:lnTo>
                    <a:pt x="355790" y="1024585"/>
                  </a:lnTo>
                  <a:lnTo>
                    <a:pt x="356158" y="1025182"/>
                  </a:lnTo>
                  <a:lnTo>
                    <a:pt x="357276" y="1027595"/>
                  </a:lnTo>
                  <a:lnTo>
                    <a:pt x="358152" y="1030071"/>
                  </a:lnTo>
                  <a:lnTo>
                    <a:pt x="358775" y="1032637"/>
                  </a:lnTo>
                  <a:lnTo>
                    <a:pt x="358838" y="1033386"/>
                  </a:lnTo>
                  <a:lnTo>
                    <a:pt x="359016" y="1034542"/>
                  </a:lnTo>
                  <a:lnTo>
                    <a:pt x="359067" y="1178306"/>
                  </a:lnTo>
                  <a:lnTo>
                    <a:pt x="358838" y="1179449"/>
                  </a:lnTo>
                  <a:lnTo>
                    <a:pt x="358724" y="1180198"/>
                  </a:lnTo>
                  <a:lnTo>
                    <a:pt x="358622" y="1180947"/>
                  </a:lnTo>
                  <a:lnTo>
                    <a:pt x="357924" y="1183487"/>
                  </a:lnTo>
                  <a:lnTo>
                    <a:pt x="357835" y="1183627"/>
                  </a:lnTo>
                  <a:lnTo>
                    <a:pt x="356997" y="1185926"/>
                  </a:lnTo>
                  <a:lnTo>
                    <a:pt x="355828" y="1188250"/>
                  </a:lnTo>
                  <a:lnTo>
                    <a:pt x="354457" y="1190434"/>
                  </a:lnTo>
                  <a:lnTo>
                    <a:pt x="353606" y="1191514"/>
                  </a:lnTo>
                  <a:lnTo>
                    <a:pt x="352894" y="1192479"/>
                  </a:lnTo>
                  <a:lnTo>
                    <a:pt x="351142" y="1194358"/>
                  </a:lnTo>
                  <a:lnTo>
                    <a:pt x="350151" y="1195197"/>
                  </a:lnTo>
                  <a:lnTo>
                    <a:pt x="349211" y="1196047"/>
                  </a:lnTo>
                  <a:lnTo>
                    <a:pt x="347129" y="1197571"/>
                  </a:lnTo>
                  <a:lnTo>
                    <a:pt x="345478" y="1198524"/>
                  </a:lnTo>
                  <a:lnTo>
                    <a:pt x="345313" y="1198664"/>
                  </a:lnTo>
                  <a:lnTo>
                    <a:pt x="344906" y="1198880"/>
                  </a:lnTo>
                  <a:lnTo>
                    <a:pt x="342544" y="1199972"/>
                  </a:lnTo>
                  <a:lnTo>
                    <a:pt x="340537" y="1200696"/>
                  </a:lnTo>
                  <a:lnTo>
                    <a:pt x="338099" y="1201318"/>
                  </a:lnTo>
                  <a:lnTo>
                    <a:pt x="338251" y="1201318"/>
                  </a:lnTo>
                  <a:lnTo>
                    <a:pt x="337870" y="1201381"/>
                  </a:lnTo>
                  <a:lnTo>
                    <a:pt x="335368" y="1201750"/>
                  </a:lnTo>
                  <a:lnTo>
                    <a:pt x="38658" y="1201750"/>
                  </a:lnTo>
                  <a:lnTo>
                    <a:pt x="36791" y="1201470"/>
                  </a:lnTo>
                  <a:lnTo>
                    <a:pt x="36131" y="1201381"/>
                  </a:lnTo>
                  <a:lnTo>
                    <a:pt x="35788" y="1201318"/>
                  </a:lnTo>
                  <a:lnTo>
                    <a:pt x="35928" y="1201318"/>
                  </a:lnTo>
                  <a:lnTo>
                    <a:pt x="34099" y="1200848"/>
                  </a:lnTo>
                  <a:lnTo>
                    <a:pt x="33337" y="1200619"/>
                  </a:lnTo>
                  <a:lnTo>
                    <a:pt x="33959" y="1200848"/>
                  </a:lnTo>
                  <a:lnTo>
                    <a:pt x="31483" y="1199972"/>
                  </a:lnTo>
                  <a:lnTo>
                    <a:pt x="29133" y="1198880"/>
                  </a:lnTo>
                  <a:lnTo>
                    <a:pt x="28714" y="1198664"/>
                  </a:lnTo>
                  <a:lnTo>
                    <a:pt x="28549" y="1198524"/>
                  </a:lnTo>
                  <a:lnTo>
                    <a:pt x="26898" y="1197571"/>
                  </a:lnTo>
                  <a:lnTo>
                    <a:pt x="24815" y="1196047"/>
                  </a:lnTo>
                  <a:lnTo>
                    <a:pt x="23876" y="1195197"/>
                  </a:lnTo>
                  <a:lnTo>
                    <a:pt x="22885" y="1194358"/>
                  </a:lnTo>
                  <a:lnTo>
                    <a:pt x="21132" y="1192479"/>
                  </a:lnTo>
                  <a:lnTo>
                    <a:pt x="20421" y="1191514"/>
                  </a:lnTo>
                  <a:lnTo>
                    <a:pt x="19570" y="1190434"/>
                  </a:lnTo>
                  <a:lnTo>
                    <a:pt x="18199" y="1188250"/>
                  </a:lnTo>
                  <a:lnTo>
                    <a:pt x="17043" y="1185926"/>
                  </a:lnTo>
                  <a:lnTo>
                    <a:pt x="16192" y="1183627"/>
                  </a:lnTo>
                  <a:lnTo>
                    <a:pt x="16116" y="1183487"/>
                  </a:lnTo>
                  <a:lnTo>
                    <a:pt x="15417" y="1180947"/>
                  </a:lnTo>
                  <a:lnTo>
                    <a:pt x="15303" y="1180198"/>
                  </a:lnTo>
                  <a:lnTo>
                    <a:pt x="15189" y="1179449"/>
                  </a:lnTo>
                  <a:lnTo>
                    <a:pt x="14973" y="1178306"/>
                  </a:lnTo>
                  <a:lnTo>
                    <a:pt x="15011" y="1034542"/>
                  </a:lnTo>
                  <a:lnTo>
                    <a:pt x="15189" y="1033386"/>
                  </a:lnTo>
                  <a:lnTo>
                    <a:pt x="15265" y="1032637"/>
                  </a:lnTo>
                  <a:lnTo>
                    <a:pt x="15455" y="1031900"/>
                  </a:lnTo>
                  <a:lnTo>
                    <a:pt x="15875" y="1030071"/>
                  </a:lnTo>
                  <a:lnTo>
                    <a:pt x="16751" y="1027595"/>
                  </a:lnTo>
                  <a:lnTo>
                    <a:pt x="17868" y="1025182"/>
                  </a:lnTo>
                  <a:lnTo>
                    <a:pt x="18237" y="1024585"/>
                  </a:lnTo>
                  <a:lnTo>
                    <a:pt x="19151" y="1023010"/>
                  </a:lnTo>
                  <a:lnTo>
                    <a:pt x="20421" y="1021321"/>
                  </a:lnTo>
                  <a:lnTo>
                    <a:pt x="20675" y="1020927"/>
                  </a:lnTo>
                  <a:lnTo>
                    <a:pt x="22377" y="1018997"/>
                  </a:lnTo>
                  <a:lnTo>
                    <a:pt x="23876" y="1017638"/>
                  </a:lnTo>
                  <a:lnTo>
                    <a:pt x="24257" y="1017244"/>
                  </a:lnTo>
                  <a:lnTo>
                    <a:pt x="26289" y="1015682"/>
                  </a:lnTo>
                  <a:lnTo>
                    <a:pt x="28473" y="1014310"/>
                  </a:lnTo>
                  <a:lnTo>
                    <a:pt x="28714" y="1014171"/>
                  </a:lnTo>
                  <a:lnTo>
                    <a:pt x="29222" y="1013955"/>
                  </a:lnTo>
                  <a:lnTo>
                    <a:pt x="30797" y="1013155"/>
                  </a:lnTo>
                  <a:lnTo>
                    <a:pt x="33235" y="1012215"/>
                  </a:lnTo>
                  <a:lnTo>
                    <a:pt x="34099" y="1011986"/>
                  </a:lnTo>
                  <a:lnTo>
                    <a:pt x="35928" y="1011529"/>
                  </a:lnTo>
                  <a:lnTo>
                    <a:pt x="35788" y="1011529"/>
                  </a:lnTo>
                  <a:lnTo>
                    <a:pt x="36131" y="1011478"/>
                  </a:lnTo>
                  <a:lnTo>
                    <a:pt x="36791" y="1011377"/>
                  </a:lnTo>
                  <a:lnTo>
                    <a:pt x="39865" y="1010907"/>
                  </a:lnTo>
                  <a:lnTo>
                    <a:pt x="334162" y="1010907"/>
                  </a:lnTo>
                  <a:lnTo>
                    <a:pt x="337235" y="1011377"/>
                  </a:lnTo>
                  <a:lnTo>
                    <a:pt x="337502" y="1011377"/>
                  </a:lnTo>
                  <a:lnTo>
                    <a:pt x="337883" y="1011478"/>
                  </a:lnTo>
                  <a:lnTo>
                    <a:pt x="339928" y="1011986"/>
                  </a:lnTo>
                  <a:lnTo>
                    <a:pt x="340080" y="1011986"/>
                  </a:lnTo>
                  <a:lnTo>
                    <a:pt x="365671" y="1011986"/>
                  </a:lnTo>
                  <a:lnTo>
                    <a:pt x="365315" y="1011529"/>
                  </a:lnTo>
                  <a:lnTo>
                    <a:pt x="365201" y="1011377"/>
                  </a:lnTo>
                  <a:lnTo>
                    <a:pt x="364858" y="1010907"/>
                  </a:lnTo>
                  <a:lnTo>
                    <a:pt x="332663" y="995680"/>
                  </a:lnTo>
                  <a:lnTo>
                    <a:pt x="41376" y="995680"/>
                  </a:lnTo>
                  <a:lnTo>
                    <a:pt x="6731" y="1014171"/>
                  </a:lnTo>
                  <a:lnTo>
                    <a:pt x="6654" y="1014310"/>
                  </a:lnTo>
                  <a:lnTo>
                    <a:pt x="4622" y="1017638"/>
                  </a:lnTo>
                  <a:lnTo>
                    <a:pt x="279" y="1030071"/>
                  </a:lnTo>
                  <a:lnTo>
                    <a:pt x="0" y="1031900"/>
                  </a:lnTo>
                  <a:lnTo>
                    <a:pt x="0" y="1180947"/>
                  </a:lnTo>
                  <a:lnTo>
                    <a:pt x="406" y="1183627"/>
                  </a:lnTo>
                  <a:lnTo>
                    <a:pt x="25209" y="1213866"/>
                  </a:lnTo>
                  <a:lnTo>
                    <a:pt x="41376" y="1217168"/>
                  </a:lnTo>
                  <a:lnTo>
                    <a:pt x="332663" y="1217168"/>
                  </a:lnTo>
                  <a:lnTo>
                    <a:pt x="365010" y="1201750"/>
                  </a:lnTo>
                  <a:lnTo>
                    <a:pt x="365201" y="1201470"/>
                  </a:lnTo>
                  <a:lnTo>
                    <a:pt x="365315" y="1201318"/>
                  </a:lnTo>
                  <a:lnTo>
                    <a:pt x="365671" y="1200848"/>
                  </a:lnTo>
                  <a:lnTo>
                    <a:pt x="367296" y="1198664"/>
                  </a:lnTo>
                  <a:lnTo>
                    <a:pt x="367372" y="1198524"/>
                  </a:lnTo>
                  <a:lnTo>
                    <a:pt x="369404" y="1195197"/>
                  </a:lnTo>
                  <a:lnTo>
                    <a:pt x="371170" y="1191514"/>
                  </a:lnTo>
                  <a:lnTo>
                    <a:pt x="372605" y="1187602"/>
                  </a:lnTo>
                  <a:lnTo>
                    <a:pt x="373621" y="1183627"/>
                  </a:lnTo>
                  <a:lnTo>
                    <a:pt x="373646" y="1183487"/>
                  </a:lnTo>
                  <a:lnTo>
                    <a:pt x="373748" y="1182776"/>
                  </a:lnTo>
                  <a:lnTo>
                    <a:pt x="374027" y="1180947"/>
                  </a:lnTo>
                  <a:lnTo>
                    <a:pt x="374027" y="1031900"/>
                  </a:lnTo>
                  <a:close/>
                </a:path>
                <a:path w="374650" h="3049904">
                  <a:moveTo>
                    <a:pt x="374027" y="527964"/>
                  </a:moveTo>
                  <a:lnTo>
                    <a:pt x="365836" y="508279"/>
                  </a:lnTo>
                  <a:lnTo>
                    <a:pt x="340791" y="508279"/>
                  </a:lnTo>
                  <a:lnTo>
                    <a:pt x="343230" y="509219"/>
                  </a:lnTo>
                  <a:lnTo>
                    <a:pt x="344805" y="510019"/>
                  </a:lnTo>
                  <a:lnTo>
                    <a:pt x="350151" y="513702"/>
                  </a:lnTo>
                  <a:lnTo>
                    <a:pt x="351663" y="515061"/>
                  </a:lnTo>
                  <a:lnTo>
                    <a:pt x="353352" y="516991"/>
                  </a:lnTo>
                  <a:lnTo>
                    <a:pt x="353606" y="517385"/>
                  </a:lnTo>
                  <a:lnTo>
                    <a:pt x="354876" y="519074"/>
                  </a:lnTo>
                  <a:lnTo>
                    <a:pt x="355790" y="520649"/>
                  </a:lnTo>
                  <a:lnTo>
                    <a:pt x="356158" y="521246"/>
                  </a:lnTo>
                  <a:lnTo>
                    <a:pt x="357276" y="523659"/>
                  </a:lnTo>
                  <a:lnTo>
                    <a:pt x="358152" y="526135"/>
                  </a:lnTo>
                  <a:lnTo>
                    <a:pt x="358775" y="528701"/>
                  </a:lnTo>
                  <a:lnTo>
                    <a:pt x="358838" y="529450"/>
                  </a:lnTo>
                  <a:lnTo>
                    <a:pt x="359016" y="530606"/>
                  </a:lnTo>
                  <a:lnTo>
                    <a:pt x="359067" y="674370"/>
                  </a:lnTo>
                  <a:lnTo>
                    <a:pt x="358838" y="675513"/>
                  </a:lnTo>
                  <a:lnTo>
                    <a:pt x="358724" y="676262"/>
                  </a:lnTo>
                  <a:lnTo>
                    <a:pt x="358622" y="677011"/>
                  </a:lnTo>
                  <a:lnTo>
                    <a:pt x="357924" y="679551"/>
                  </a:lnTo>
                  <a:lnTo>
                    <a:pt x="357835" y="679691"/>
                  </a:lnTo>
                  <a:lnTo>
                    <a:pt x="356997" y="681990"/>
                  </a:lnTo>
                  <a:lnTo>
                    <a:pt x="355828" y="684314"/>
                  </a:lnTo>
                  <a:lnTo>
                    <a:pt x="354457" y="686498"/>
                  </a:lnTo>
                  <a:lnTo>
                    <a:pt x="353606" y="687578"/>
                  </a:lnTo>
                  <a:lnTo>
                    <a:pt x="352894" y="688543"/>
                  </a:lnTo>
                  <a:lnTo>
                    <a:pt x="351142" y="690422"/>
                  </a:lnTo>
                  <a:lnTo>
                    <a:pt x="350151" y="691261"/>
                  </a:lnTo>
                  <a:lnTo>
                    <a:pt x="349211" y="692111"/>
                  </a:lnTo>
                  <a:lnTo>
                    <a:pt x="347129" y="693635"/>
                  </a:lnTo>
                  <a:lnTo>
                    <a:pt x="345478" y="694588"/>
                  </a:lnTo>
                  <a:lnTo>
                    <a:pt x="345313" y="694728"/>
                  </a:lnTo>
                  <a:lnTo>
                    <a:pt x="338086" y="697382"/>
                  </a:lnTo>
                  <a:lnTo>
                    <a:pt x="338251" y="697382"/>
                  </a:lnTo>
                  <a:lnTo>
                    <a:pt x="337858" y="697445"/>
                  </a:lnTo>
                  <a:lnTo>
                    <a:pt x="335368" y="697814"/>
                  </a:lnTo>
                  <a:lnTo>
                    <a:pt x="38658" y="697814"/>
                  </a:lnTo>
                  <a:lnTo>
                    <a:pt x="36791" y="697534"/>
                  </a:lnTo>
                  <a:lnTo>
                    <a:pt x="36144" y="697445"/>
                  </a:lnTo>
                  <a:lnTo>
                    <a:pt x="35788" y="697382"/>
                  </a:lnTo>
                  <a:lnTo>
                    <a:pt x="35941" y="697382"/>
                  </a:lnTo>
                  <a:lnTo>
                    <a:pt x="34137" y="696912"/>
                  </a:lnTo>
                  <a:lnTo>
                    <a:pt x="33312" y="696671"/>
                  </a:lnTo>
                  <a:lnTo>
                    <a:pt x="33959" y="696912"/>
                  </a:lnTo>
                  <a:lnTo>
                    <a:pt x="31483" y="696036"/>
                  </a:lnTo>
                  <a:lnTo>
                    <a:pt x="29133" y="694944"/>
                  </a:lnTo>
                  <a:lnTo>
                    <a:pt x="28714" y="694728"/>
                  </a:lnTo>
                  <a:lnTo>
                    <a:pt x="28549" y="694588"/>
                  </a:lnTo>
                  <a:lnTo>
                    <a:pt x="26898" y="693635"/>
                  </a:lnTo>
                  <a:lnTo>
                    <a:pt x="24815" y="692111"/>
                  </a:lnTo>
                  <a:lnTo>
                    <a:pt x="23876" y="691261"/>
                  </a:lnTo>
                  <a:lnTo>
                    <a:pt x="22885" y="690422"/>
                  </a:lnTo>
                  <a:lnTo>
                    <a:pt x="21132" y="688543"/>
                  </a:lnTo>
                  <a:lnTo>
                    <a:pt x="20421" y="687578"/>
                  </a:lnTo>
                  <a:lnTo>
                    <a:pt x="19570" y="686498"/>
                  </a:lnTo>
                  <a:lnTo>
                    <a:pt x="18199" y="684314"/>
                  </a:lnTo>
                  <a:lnTo>
                    <a:pt x="17043" y="681990"/>
                  </a:lnTo>
                  <a:lnTo>
                    <a:pt x="16192" y="679691"/>
                  </a:lnTo>
                  <a:lnTo>
                    <a:pt x="16116" y="679551"/>
                  </a:lnTo>
                  <a:lnTo>
                    <a:pt x="15417" y="677011"/>
                  </a:lnTo>
                  <a:lnTo>
                    <a:pt x="15303" y="676262"/>
                  </a:lnTo>
                  <a:lnTo>
                    <a:pt x="15189" y="675513"/>
                  </a:lnTo>
                  <a:lnTo>
                    <a:pt x="14973" y="674370"/>
                  </a:lnTo>
                  <a:lnTo>
                    <a:pt x="15011" y="530606"/>
                  </a:lnTo>
                  <a:lnTo>
                    <a:pt x="15189" y="529450"/>
                  </a:lnTo>
                  <a:lnTo>
                    <a:pt x="15265" y="528701"/>
                  </a:lnTo>
                  <a:lnTo>
                    <a:pt x="15455" y="527964"/>
                  </a:lnTo>
                  <a:lnTo>
                    <a:pt x="15875" y="526135"/>
                  </a:lnTo>
                  <a:lnTo>
                    <a:pt x="16751" y="523659"/>
                  </a:lnTo>
                  <a:lnTo>
                    <a:pt x="17868" y="521246"/>
                  </a:lnTo>
                  <a:lnTo>
                    <a:pt x="18237" y="520649"/>
                  </a:lnTo>
                  <a:lnTo>
                    <a:pt x="19151" y="519074"/>
                  </a:lnTo>
                  <a:lnTo>
                    <a:pt x="20421" y="517385"/>
                  </a:lnTo>
                  <a:lnTo>
                    <a:pt x="20675" y="516991"/>
                  </a:lnTo>
                  <a:lnTo>
                    <a:pt x="22377" y="515061"/>
                  </a:lnTo>
                  <a:lnTo>
                    <a:pt x="23876" y="513702"/>
                  </a:lnTo>
                  <a:lnTo>
                    <a:pt x="24257" y="513308"/>
                  </a:lnTo>
                  <a:lnTo>
                    <a:pt x="26289" y="511746"/>
                  </a:lnTo>
                  <a:lnTo>
                    <a:pt x="28473" y="510374"/>
                  </a:lnTo>
                  <a:lnTo>
                    <a:pt x="28714" y="510235"/>
                  </a:lnTo>
                  <a:lnTo>
                    <a:pt x="29222" y="510019"/>
                  </a:lnTo>
                  <a:lnTo>
                    <a:pt x="30797" y="509219"/>
                  </a:lnTo>
                  <a:lnTo>
                    <a:pt x="33235" y="508279"/>
                  </a:lnTo>
                  <a:lnTo>
                    <a:pt x="34099" y="508050"/>
                  </a:lnTo>
                  <a:lnTo>
                    <a:pt x="35928" y="507593"/>
                  </a:lnTo>
                  <a:lnTo>
                    <a:pt x="35788" y="507593"/>
                  </a:lnTo>
                  <a:lnTo>
                    <a:pt x="36131" y="507542"/>
                  </a:lnTo>
                  <a:lnTo>
                    <a:pt x="36791" y="507441"/>
                  </a:lnTo>
                  <a:lnTo>
                    <a:pt x="39865" y="506971"/>
                  </a:lnTo>
                  <a:lnTo>
                    <a:pt x="334162" y="506971"/>
                  </a:lnTo>
                  <a:lnTo>
                    <a:pt x="337235" y="507441"/>
                  </a:lnTo>
                  <a:lnTo>
                    <a:pt x="337502" y="507441"/>
                  </a:lnTo>
                  <a:lnTo>
                    <a:pt x="337883" y="507542"/>
                  </a:lnTo>
                  <a:lnTo>
                    <a:pt x="339928" y="508050"/>
                  </a:lnTo>
                  <a:lnTo>
                    <a:pt x="340080" y="508050"/>
                  </a:lnTo>
                  <a:lnTo>
                    <a:pt x="365671" y="508050"/>
                  </a:lnTo>
                  <a:lnTo>
                    <a:pt x="365315" y="507593"/>
                  </a:lnTo>
                  <a:lnTo>
                    <a:pt x="365201" y="507441"/>
                  </a:lnTo>
                  <a:lnTo>
                    <a:pt x="364858" y="506971"/>
                  </a:lnTo>
                  <a:lnTo>
                    <a:pt x="332663" y="491744"/>
                  </a:lnTo>
                  <a:lnTo>
                    <a:pt x="41376" y="491744"/>
                  </a:lnTo>
                  <a:lnTo>
                    <a:pt x="6731" y="510235"/>
                  </a:lnTo>
                  <a:lnTo>
                    <a:pt x="6654" y="510374"/>
                  </a:lnTo>
                  <a:lnTo>
                    <a:pt x="4622" y="513702"/>
                  </a:lnTo>
                  <a:lnTo>
                    <a:pt x="279" y="526135"/>
                  </a:lnTo>
                  <a:lnTo>
                    <a:pt x="0" y="527964"/>
                  </a:lnTo>
                  <a:lnTo>
                    <a:pt x="0" y="677011"/>
                  </a:lnTo>
                  <a:lnTo>
                    <a:pt x="406" y="679691"/>
                  </a:lnTo>
                  <a:lnTo>
                    <a:pt x="25209" y="709930"/>
                  </a:lnTo>
                  <a:lnTo>
                    <a:pt x="41376" y="713232"/>
                  </a:lnTo>
                  <a:lnTo>
                    <a:pt x="332663" y="713232"/>
                  </a:lnTo>
                  <a:lnTo>
                    <a:pt x="365010" y="697814"/>
                  </a:lnTo>
                  <a:lnTo>
                    <a:pt x="365201" y="697534"/>
                  </a:lnTo>
                  <a:lnTo>
                    <a:pt x="365315" y="697382"/>
                  </a:lnTo>
                  <a:lnTo>
                    <a:pt x="365671" y="696912"/>
                  </a:lnTo>
                  <a:lnTo>
                    <a:pt x="367296" y="694728"/>
                  </a:lnTo>
                  <a:lnTo>
                    <a:pt x="367372" y="694588"/>
                  </a:lnTo>
                  <a:lnTo>
                    <a:pt x="369404" y="691261"/>
                  </a:lnTo>
                  <a:lnTo>
                    <a:pt x="371170" y="687578"/>
                  </a:lnTo>
                  <a:lnTo>
                    <a:pt x="372605" y="683666"/>
                  </a:lnTo>
                  <a:lnTo>
                    <a:pt x="373621" y="679691"/>
                  </a:lnTo>
                  <a:lnTo>
                    <a:pt x="373646" y="679551"/>
                  </a:lnTo>
                  <a:lnTo>
                    <a:pt x="373748" y="678840"/>
                  </a:lnTo>
                  <a:lnTo>
                    <a:pt x="374027" y="677011"/>
                  </a:lnTo>
                  <a:lnTo>
                    <a:pt x="374027" y="527964"/>
                  </a:lnTo>
                  <a:close/>
                </a:path>
                <a:path w="374650" h="3049904">
                  <a:moveTo>
                    <a:pt x="374027" y="36220"/>
                  </a:moveTo>
                  <a:lnTo>
                    <a:pt x="365836" y="16535"/>
                  </a:lnTo>
                  <a:lnTo>
                    <a:pt x="340791" y="16535"/>
                  </a:lnTo>
                  <a:lnTo>
                    <a:pt x="343230" y="17475"/>
                  </a:lnTo>
                  <a:lnTo>
                    <a:pt x="344805" y="18275"/>
                  </a:lnTo>
                  <a:lnTo>
                    <a:pt x="350151" y="21958"/>
                  </a:lnTo>
                  <a:lnTo>
                    <a:pt x="351663" y="23317"/>
                  </a:lnTo>
                  <a:lnTo>
                    <a:pt x="353352" y="25247"/>
                  </a:lnTo>
                  <a:lnTo>
                    <a:pt x="353606" y="25641"/>
                  </a:lnTo>
                  <a:lnTo>
                    <a:pt x="354876" y="27330"/>
                  </a:lnTo>
                  <a:lnTo>
                    <a:pt x="355790" y="28905"/>
                  </a:lnTo>
                  <a:lnTo>
                    <a:pt x="356158" y="29502"/>
                  </a:lnTo>
                  <a:lnTo>
                    <a:pt x="357276" y="31915"/>
                  </a:lnTo>
                  <a:lnTo>
                    <a:pt x="358152" y="34391"/>
                  </a:lnTo>
                  <a:lnTo>
                    <a:pt x="358775" y="36957"/>
                  </a:lnTo>
                  <a:lnTo>
                    <a:pt x="358838" y="37706"/>
                  </a:lnTo>
                  <a:lnTo>
                    <a:pt x="359016" y="38862"/>
                  </a:lnTo>
                  <a:lnTo>
                    <a:pt x="359067" y="182626"/>
                  </a:lnTo>
                  <a:lnTo>
                    <a:pt x="358838" y="183769"/>
                  </a:lnTo>
                  <a:lnTo>
                    <a:pt x="358724" y="184518"/>
                  </a:lnTo>
                  <a:lnTo>
                    <a:pt x="358622" y="185267"/>
                  </a:lnTo>
                  <a:lnTo>
                    <a:pt x="357924" y="187807"/>
                  </a:lnTo>
                  <a:lnTo>
                    <a:pt x="357835" y="187947"/>
                  </a:lnTo>
                  <a:lnTo>
                    <a:pt x="356997" y="190246"/>
                  </a:lnTo>
                  <a:lnTo>
                    <a:pt x="355828" y="192570"/>
                  </a:lnTo>
                  <a:lnTo>
                    <a:pt x="354457" y="194754"/>
                  </a:lnTo>
                  <a:lnTo>
                    <a:pt x="353606" y="195834"/>
                  </a:lnTo>
                  <a:lnTo>
                    <a:pt x="352894" y="196799"/>
                  </a:lnTo>
                  <a:lnTo>
                    <a:pt x="351142" y="198678"/>
                  </a:lnTo>
                  <a:lnTo>
                    <a:pt x="350151" y="199517"/>
                  </a:lnTo>
                  <a:lnTo>
                    <a:pt x="349211" y="200367"/>
                  </a:lnTo>
                  <a:lnTo>
                    <a:pt x="347129" y="201891"/>
                  </a:lnTo>
                  <a:lnTo>
                    <a:pt x="345478" y="202844"/>
                  </a:lnTo>
                  <a:lnTo>
                    <a:pt x="345313" y="202984"/>
                  </a:lnTo>
                  <a:lnTo>
                    <a:pt x="344906" y="203200"/>
                  </a:lnTo>
                  <a:lnTo>
                    <a:pt x="342544" y="204292"/>
                  </a:lnTo>
                  <a:lnTo>
                    <a:pt x="340537" y="205016"/>
                  </a:lnTo>
                  <a:lnTo>
                    <a:pt x="338099" y="205638"/>
                  </a:lnTo>
                  <a:lnTo>
                    <a:pt x="338251" y="205638"/>
                  </a:lnTo>
                  <a:lnTo>
                    <a:pt x="337870" y="205701"/>
                  </a:lnTo>
                  <a:lnTo>
                    <a:pt x="335368" y="206070"/>
                  </a:lnTo>
                  <a:lnTo>
                    <a:pt x="38658" y="206070"/>
                  </a:lnTo>
                  <a:lnTo>
                    <a:pt x="36791" y="205790"/>
                  </a:lnTo>
                  <a:lnTo>
                    <a:pt x="36131" y="205701"/>
                  </a:lnTo>
                  <a:lnTo>
                    <a:pt x="35788" y="205638"/>
                  </a:lnTo>
                  <a:lnTo>
                    <a:pt x="35928" y="205638"/>
                  </a:lnTo>
                  <a:lnTo>
                    <a:pt x="34099" y="205168"/>
                  </a:lnTo>
                  <a:lnTo>
                    <a:pt x="33337" y="204939"/>
                  </a:lnTo>
                  <a:lnTo>
                    <a:pt x="33959" y="205168"/>
                  </a:lnTo>
                  <a:lnTo>
                    <a:pt x="31483" y="204292"/>
                  </a:lnTo>
                  <a:lnTo>
                    <a:pt x="29133" y="203200"/>
                  </a:lnTo>
                  <a:lnTo>
                    <a:pt x="28714" y="202984"/>
                  </a:lnTo>
                  <a:lnTo>
                    <a:pt x="28549" y="202844"/>
                  </a:lnTo>
                  <a:lnTo>
                    <a:pt x="26898" y="201891"/>
                  </a:lnTo>
                  <a:lnTo>
                    <a:pt x="24815" y="200367"/>
                  </a:lnTo>
                  <a:lnTo>
                    <a:pt x="23876" y="199517"/>
                  </a:lnTo>
                  <a:lnTo>
                    <a:pt x="22885" y="198678"/>
                  </a:lnTo>
                  <a:lnTo>
                    <a:pt x="21132" y="196799"/>
                  </a:lnTo>
                  <a:lnTo>
                    <a:pt x="20421" y="195834"/>
                  </a:lnTo>
                  <a:lnTo>
                    <a:pt x="19570" y="194754"/>
                  </a:lnTo>
                  <a:lnTo>
                    <a:pt x="18199" y="192570"/>
                  </a:lnTo>
                  <a:lnTo>
                    <a:pt x="17043" y="190246"/>
                  </a:lnTo>
                  <a:lnTo>
                    <a:pt x="16192" y="187947"/>
                  </a:lnTo>
                  <a:lnTo>
                    <a:pt x="16116" y="187807"/>
                  </a:lnTo>
                  <a:lnTo>
                    <a:pt x="15417" y="185267"/>
                  </a:lnTo>
                  <a:lnTo>
                    <a:pt x="15303" y="184518"/>
                  </a:lnTo>
                  <a:lnTo>
                    <a:pt x="15189" y="183769"/>
                  </a:lnTo>
                  <a:lnTo>
                    <a:pt x="14973" y="182626"/>
                  </a:lnTo>
                  <a:lnTo>
                    <a:pt x="15011" y="38862"/>
                  </a:lnTo>
                  <a:lnTo>
                    <a:pt x="15189" y="37706"/>
                  </a:lnTo>
                  <a:lnTo>
                    <a:pt x="15265" y="36957"/>
                  </a:lnTo>
                  <a:lnTo>
                    <a:pt x="15455" y="36220"/>
                  </a:lnTo>
                  <a:lnTo>
                    <a:pt x="15875" y="34391"/>
                  </a:lnTo>
                  <a:lnTo>
                    <a:pt x="16751" y="31915"/>
                  </a:lnTo>
                  <a:lnTo>
                    <a:pt x="17868" y="29502"/>
                  </a:lnTo>
                  <a:lnTo>
                    <a:pt x="18237" y="28905"/>
                  </a:lnTo>
                  <a:lnTo>
                    <a:pt x="19151" y="27330"/>
                  </a:lnTo>
                  <a:lnTo>
                    <a:pt x="20421" y="25641"/>
                  </a:lnTo>
                  <a:lnTo>
                    <a:pt x="20675" y="25247"/>
                  </a:lnTo>
                  <a:lnTo>
                    <a:pt x="22377" y="23317"/>
                  </a:lnTo>
                  <a:lnTo>
                    <a:pt x="23876" y="21958"/>
                  </a:lnTo>
                  <a:lnTo>
                    <a:pt x="24257" y="21564"/>
                  </a:lnTo>
                  <a:lnTo>
                    <a:pt x="26289" y="20002"/>
                  </a:lnTo>
                  <a:lnTo>
                    <a:pt x="28473" y="18630"/>
                  </a:lnTo>
                  <a:lnTo>
                    <a:pt x="28714" y="18491"/>
                  </a:lnTo>
                  <a:lnTo>
                    <a:pt x="29222" y="18275"/>
                  </a:lnTo>
                  <a:lnTo>
                    <a:pt x="30797" y="17475"/>
                  </a:lnTo>
                  <a:lnTo>
                    <a:pt x="33235" y="16535"/>
                  </a:lnTo>
                  <a:lnTo>
                    <a:pt x="34099" y="16306"/>
                  </a:lnTo>
                  <a:lnTo>
                    <a:pt x="35928" y="15849"/>
                  </a:lnTo>
                  <a:lnTo>
                    <a:pt x="35788" y="15849"/>
                  </a:lnTo>
                  <a:lnTo>
                    <a:pt x="36131" y="15798"/>
                  </a:lnTo>
                  <a:lnTo>
                    <a:pt x="36791" y="15697"/>
                  </a:lnTo>
                  <a:lnTo>
                    <a:pt x="39865" y="15227"/>
                  </a:lnTo>
                  <a:lnTo>
                    <a:pt x="334162" y="15227"/>
                  </a:lnTo>
                  <a:lnTo>
                    <a:pt x="337235" y="15697"/>
                  </a:lnTo>
                  <a:lnTo>
                    <a:pt x="337502" y="15697"/>
                  </a:lnTo>
                  <a:lnTo>
                    <a:pt x="337883" y="15798"/>
                  </a:lnTo>
                  <a:lnTo>
                    <a:pt x="339928" y="16306"/>
                  </a:lnTo>
                  <a:lnTo>
                    <a:pt x="340080" y="16306"/>
                  </a:lnTo>
                  <a:lnTo>
                    <a:pt x="365671" y="16306"/>
                  </a:lnTo>
                  <a:lnTo>
                    <a:pt x="365315" y="15849"/>
                  </a:lnTo>
                  <a:lnTo>
                    <a:pt x="365201" y="15697"/>
                  </a:lnTo>
                  <a:lnTo>
                    <a:pt x="364858" y="15227"/>
                  </a:lnTo>
                  <a:lnTo>
                    <a:pt x="332663" y="0"/>
                  </a:lnTo>
                  <a:lnTo>
                    <a:pt x="41376" y="0"/>
                  </a:lnTo>
                  <a:lnTo>
                    <a:pt x="6731" y="18491"/>
                  </a:lnTo>
                  <a:lnTo>
                    <a:pt x="6654" y="18630"/>
                  </a:lnTo>
                  <a:lnTo>
                    <a:pt x="4622" y="21958"/>
                  </a:lnTo>
                  <a:lnTo>
                    <a:pt x="279" y="34391"/>
                  </a:lnTo>
                  <a:lnTo>
                    <a:pt x="0" y="36220"/>
                  </a:lnTo>
                  <a:lnTo>
                    <a:pt x="0" y="185267"/>
                  </a:lnTo>
                  <a:lnTo>
                    <a:pt x="406" y="187947"/>
                  </a:lnTo>
                  <a:lnTo>
                    <a:pt x="25209" y="218186"/>
                  </a:lnTo>
                  <a:lnTo>
                    <a:pt x="41376" y="221488"/>
                  </a:lnTo>
                  <a:lnTo>
                    <a:pt x="332663" y="221488"/>
                  </a:lnTo>
                  <a:lnTo>
                    <a:pt x="365010" y="206070"/>
                  </a:lnTo>
                  <a:lnTo>
                    <a:pt x="365201" y="205790"/>
                  </a:lnTo>
                  <a:lnTo>
                    <a:pt x="365315" y="205638"/>
                  </a:lnTo>
                  <a:lnTo>
                    <a:pt x="365671" y="205168"/>
                  </a:lnTo>
                  <a:lnTo>
                    <a:pt x="367296" y="202984"/>
                  </a:lnTo>
                  <a:lnTo>
                    <a:pt x="367372" y="202844"/>
                  </a:lnTo>
                  <a:lnTo>
                    <a:pt x="369404" y="199517"/>
                  </a:lnTo>
                  <a:lnTo>
                    <a:pt x="371170" y="195834"/>
                  </a:lnTo>
                  <a:lnTo>
                    <a:pt x="372605" y="191922"/>
                  </a:lnTo>
                  <a:lnTo>
                    <a:pt x="373621" y="187947"/>
                  </a:lnTo>
                  <a:lnTo>
                    <a:pt x="373646" y="187807"/>
                  </a:lnTo>
                  <a:lnTo>
                    <a:pt x="373748" y="187096"/>
                  </a:lnTo>
                  <a:lnTo>
                    <a:pt x="374027" y="185267"/>
                  </a:lnTo>
                  <a:lnTo>
                    <a:pt x="374027" y="36220"/>
                  </a:lnTo>
                  <a:close/>
                </a:path>
              </a:pathLst>
            </a:custGeom>
            <a:solidFill>
              <a:srgbClr val="FF0000"/>
            </a:solidFill>
          </p:spPr>
          <p:txBody>
            <a:bodyPr wrap="square" lIns="0" tIns="0" rIns="0" bIns="0" rtlCol="0"/>
            <a:lstStyle/>
            <a:p>
              <a:endParaRPr/>
            </a:p>
          </p:txBody>
        </p:sp>
        <p:sp>
          <p:nvSpPr>
            <p:cNvPr id="14" name="object 14"/>
            <p:cNvSpPr/>
            <p:nvPr/>
          </p:nvSpPr>
          <p:spPr>
            <a:xfrm>
              <a:off x="5945556" y="4561852"/>
              <a:ext cx="374650" cy="645160"/>
            </a:xfrm>
            <a:custGeom>
              <a:avLst/>
              <a:gdLst/>
              <a:ahLst/>
              <a:cxnLst/>
              <a:rect l="l" t="t" r="r" b="b"/>
              <a:pathLst>
                <a:path w="374650" h="645160">
                  <a:moveTo>
                    <a:pt x="374027" y="459892"/>
                  </a:moveTo>
                  <a:lnTo>
                    <a:pt x="365836" y="440207"/>
                  </a:lnTo>
                  <a:lnTo>
                    <a:pt x="340791" y="440207"/>
                  </a:lnTo>
                  <a:lnTo>
                    <a:pt x="343230" y="441147"/>
                  </a:lnTo>
                  <a:lnTo>
                    <a:pt x="344805" y="441947"/>
                  </a:lnTo>
                  <a:lnTo>
                    <a:pt x="350151" y="445630"/>
                  </a:lnTo>
                  <a:lnTo>
                    <a:pt x="351663" y="446989"/>
                  </a:lnTo>
                  <a:lnTo>
                    <a:pt x="353352" y="448919"/>
                  </a:lnTo>
                  <a:lnTo>
                    <a:pt x="353606" y="449313"/>
                  </a:lnTo>
                  <a:lnTo>
                    <a:pt x="354876" y="451002"/>
                  </a:lnTo>
                  <a:lnTo>
                    <a:pt x="355790" y="452577"/>
                  </a:lnTo>
                  <a:lnTo>
                    <a:pt x="356158" y="453174"/>
                  </a:lnTo>
                  <a:lnTo>
                    <a:pt x="357276" y="455587"/>
                  </a:lnTo>
                  <a:lnTo>
                    <a:pt x="358152" y="458063"/>
                  </a:lnTo>
                  <a:lnTo>
                    <a:pt x="358775" y="460629"/>
                  </a:lnTo>
                  <a:lnTo>
                    <a:pt x="358838" y="461378"/>
                  </a:lnTo>
                  <a:lnTo>
                    <a:pt x="359016" y="462534"/>
                  </a:lnTo>
                  <a:lnTo>
                    <a:pt x="359067" y="606298"/>
                  </a:lnTo>
                  <a:lnTo>
                    <a:pt x="358838" y="607441"/>
                  </a:lnTo>
                  <a:lnTo>
                    <a:pt x="358724" y="608190"/>
                  </a:lnTo>
                  <a:lnTo>
                    <a:pt x="358622" y="608939"/>
                  </a:lnTo>
                  <a:lnTo>
                    <a:pt x="357924" y="611479"/>
                  </a:lnTo>
                  <a:lnTo>
                    <a:pt x="357835" y="611619"/>
                  </a:lnTo>
                  <a:lnTo>
                    <a:pt x="356997" y="613918"/>
                  </a:lnTo>
                  <a:lnTo>
                    <a:pt x="355828" y="616242"/>
                  </a:lnTo>
                  <a:lnTo>
                    <a:pt x="354457" y="618426"/>
                  </a:lnTo>
                  <a:lnTo>
                    <a:pt x="353606" y="619506"/>
                  </a:lnTo>
                  <a:lnTo>
                    <a:pt x="352894" y="620471"/>
                  </a:lnTo>
                  <a:lnTo>
                    <a:pt x="351142" y="622350"/>
                  </a:lnTo>
                  <a:lnTo>
                    <a:pt x="350151" y="623189"/>
                  </a:lnTo>
                  <a:lnTo>
                    <a:pt x="349211" y="624039"/>
                  </a:lnTo>
                  <a:lnTo>
                    <a:pt x="347129" y="625563"/>
                  </a:lnTo>
                  <a:lnTo>
                    <a:pt x="345478" y="626516"/>
                  </a:lnTo>
                  <a:lnTo>
                    <a:pt x="345313" y="626656"/>
                  </a:lnTo>
                  <a:lnTo>
                    <a:pt x="338086" y="629310"/>
                  </a:lnTo>
                  <a:lnTo>
                    <a:pt x="338251" y="629310"/>
                  </a:lnTo>
                  <a:lnTo>
                    <a:pt x="337858" y="629373"/>
                  </a:lnTo>
                  <a:lnTo>
                    <a:pt x="335368" y="629742"/>
                  </a:lnTo>
                  <a:lnTo>
                    <a:pt x="38658" y="629742"/>
                  </a:lnTo>
                  <a:lnTo>
                    <a:pt x="36791" y="629462"/>
                  </a:lnTo>
                  <a:lnTo>
                    <a:pt x="36144" y="629373"/>
                  </a:lnTo>
                  <a:lnTo>
                    <a:pt x="35788" y="629310"/>
                  </a:lnTo>
                  <a:lnTo>
                    <a:pt x="35941" y="629310"/>
                  </a:lnTo>
                  <a:lnTo>
                    <a:pt x="34137" y="628840"/>
                  </a:lnTo>
                  <a:lnTo>
                    <a:pt x="33312" y="628599"/>
                  </a:lnTo>
                  <a:lnTo>
                    <a:pt x="33959" y="628840"/>
                  </a:lnTo>
                  <a:lnTo>
                    <a:pt x="31483" y="627964"/>
                  </a:lnTo>
                  <a:lnTo>
                    <a:pt x="29133" y="626872"/>
                  </a:lnTo>
                  <a:lnTo>
                    <a:pt x="28714" y="626656"/>
                  </a:lnTo>
                  <a:lnTo>
                    <a:pt x="28549" y="626516"/>
                  </a:lnTo>
                  <a:lnTo>
                    <a:pt x="26898" y="625563"/>
                  </a:lnTo>
                  <a:lnTo>
                    <a:pt x="24815" y="624039"/>
                  </a:lnTo>
                  <a:lnTo>
                    <a:pt x="23876" y="623189"/>
                  </a:lnTo>
                  <a:lnTo>
                    <a:pt x="22885" y="622350"/>
                  </a:lnTo>
                  <a:lnTo>
                    <a:pt x="21132" y="620471"/>
                  </a:lnTo>
                  <a:lnTo>
                    <a:pt x="20421" y="619506"/>
                  </a:lnTo>
                  <a:lnTo>
                    <a:pt x="19570" y="618426"/>
                  </a:lnTo>
                  <a:lnTo>
                    <a:pt x="18199" y="616242"/>
                  </a:lnTo>
                  <a:lnTo>
                    <a:pt x="17043" y="613918"/>
                  </a:lnTo>
                  <a:lnTo>
                    <a:pt x="16192" y="611619"/>
                  </a:lnTo>
                  <a:lnTo>
                    <a:pt x="16116" y="611479"/>
                  </a:lnTo>
                  <a:lnTo>
                    <a:pt x="15417" y="608939"/>
                  </a:lnTo>
                  <a:lnTo>
                    <a:pt x="15303" y="608190"/>
                  </a:lnTo>
                  <a:lnTo>
                    <a:pt x="15189" y="607441"/>
                  </a:lnTo>
                  <a:lnTo>
                    <a:pt x="14973" y="606298"/>
                  </a:lnTo>
                  <a:lnTo>
                    <a:pt x="15011" y="462534"/>
                  </a:lnTo>
                  <a:lnTo>
                    <a:pt x="15189" y="461378"/>
                  </a:lnTo>
                  <a:lnTo>
                    <a:pt x="15265" y="460629"/>
                  </a:lnTo>
                  <a:lnTo>
                    <a:pt x="15455" y="459892"/>
                  </a:lnTo>
                  <a:lnTo>
                    <a:pt x="15875" y="458063"/>
                  </a:lnTo>
                  <a:lnTo>
                    <a:pt x="16751" y="455587"/>
                  </a:lnTo>
                  <a:lnTo>
                    <a:pt x="17868" y="453174"/>
                  </a:lnTo>
                  <a:lnTo>
                    <a:pt x="18237" y="452577"/>
                  </a:lnTo>
                  <a:lnTo>
                    <a:pt x="19151" y="451002"/>
                  </a:lnTo>
                  <a:lnTo>
                    <a:pt x="20421" y="449313"/>
                  </a:lnTo>
                  <a:lnTo>
                    <a:pt x="20675" y="448919"/>
                  </a:lnTo>
                  <a:lnTo>
                    <a:pt x="22377" y="446989"/>
                  </a:lnTo>
                  <a:lnTo>
                    <a:pt x="23876" y="445630"/>
                  </a:lnTo>
                  <a:lnTo>
                    <a:pt x="24257" y="445236"/>
                  </a:lnTo>
                  <a:lnTo>
                    <a:pt x="26289" y="443674"/>
                  </a:lnTo>
                  <a:lnTo>
                    <a:pt x="28473" y="442302"/>
                  </a:lnTo>
                  <a:lnTo>
                    <a:pt x="28714" y="442163"/>
                  </a:lnTo>
                  <a:lnTo>
                    <a:pt x="29222" y="441947"/>
                  </a:lnTo>
                  <a:lnTo>
                    <a:pt x="30797" y="441147"/>
                  </a:lnTo>
                  <a:lnTo>
                    <a:pt x="33235" y="440207"/>
                  </a:lnTo>
                  <a:lnTo>
                    <a:pt x="34099" y="439978"/>
                  </a:lnTo>
                  <a:lnTo>
                    <a:pt x="35928" y="439521"/>
                  </a:lnTo>
                  <a:lnTo>
                    <a:pt x="35788" y="439521"/>
                  </a:lnTo>
                  <a:lnTo>
                    <a:pt x="36131" y="439470"/>
                  </a:lnTo>
                  <a:lnTo>
                    <a:pt x="36791" y="439369"/>
                  </a:lnTo>
                  <a:lnTo>
                    <a:pt x="39865" y="438899"/>
                  </a:lnTo>
                  <a:lnTo>
                    <a:pt x="334162" y="438899"/>
                  </a:lnTo>
                  <a:lnTo>
                    <a:pt x="337235" y="439369"/>
                  </a:lnTo>
                  <a:lnTo>
                    <a:pt x="337502" y="439369"/>
                  </a:lnTo>
                  <a:lnTo>
                    <a:pt x="337883" y="439470"/>
                  </a:lnTo>
                  <a:lnTo>
                    <a:pt x="339928" y="439978"/>
                  </a:lnTo>
                  <a:lnTo>
                    <a:pt x="340080" y="439978"/>
                  </a:lnTo>
                  <a:lnTo>
                    <a:pt x="365671" y="439978"/>
                  </a:lnTo>
                  <a:lnTo>
                    <a:pt x="365315" y="439521"/>
                  </a:lnTo>
                  <a:lnTo>
                    <a:pt x="365201" y="439369"/>
                  </a:lnTo>
                  <a:lnTo>
                    <a:pt x="364858" y="438899"/>
                  </a:lnTo>
                  <a:lnTo>
                    <a:pt x="332663" y="423672"/>
                  </a:lnTo>
                  <a:lnTo>
                    <a:pt x="41376" y="423672"/>
                  </a:lnTo>
                  <a:lnTo>
                    <a:pt x="6731" y="442163"/>
                  </a:lnTo>
                  <a:lnTo>
                    <a:pt x="6654" y="442302"/>
                  </a:lnTo>
                  <a:lnTo>
                    <a:pt x="4622" y="445630"/>
                  </a:lnTo>
                  <a:lnTo>
                    <a:pt x="279" y="458063"/>
                  </a:lnTo>
                  <a:lnTo>
                    <a:pt x="0" y="459892"/>
                  </a:lnTo>
                  <a:lnTo>
                    <a:pt x="0" y="608939"/>
                  </a:lnTo>
                  <a:lnTo>
                    <a:pt x="406" y="611619"/>
                  </a:lnTo>
                  <a:lnTo>
                    <a:pt x="25209" y="641858"/>
                  </a:lnTo>
                  <a:lnTo>
                    <a:pt x="41376" y="645160"/>
                  </a:lnTo>
                  <a:lnTo>
                    <a:pt x="332663" y="645160"/>
                  </a:lnTo>
                  <a:lnTo>
                    <a:pt x="365010" y="629742"/>
                  </a:lnTo>
                  <a:lnTo>
                    <a:pt x="365201" y="629462"/>
                  </a:lnTo>
                  <a:lnTo>
                    <a:pt x="365315" y="629310"/>
                  </a:lnTo>
                  <a:lnTo>
                    <a:pt x="365671" y="628840"/>
                  </a:lnTo>
                  <a:lnTo>
                    <a:pt x="367296" y="626656"/>
                  </a:lnTo>
                  <a:lnTo>
                    <a:pt x="367372" y="626516"/>
                  </a:lnTo>
                  <a:lnTo>
                    <a:pt x="369404" y="623189"/>
                  </a:lnTo>
                  <a:lnTo>
                    <a:pt x="371170" y="619506"/>
                  </a:lnTo>
                  <a:lnTo>
                    <a:pt x="372605" y="615594"/>
                  </a:lnTo>
                  <a:lnTo>
                    <a:pt x="373621" y="611619"/>
                  </a:lnTo>
                  <a:lnTo>
                    <a:pt x="373646" y="611479"/>
                  </a:lnTo>
                  <a:lnTo>
                    <a:pt x="373748" y="610768"/>
                  </a:lnTo>
                  <a:lnTo>
                    <a:pt x="374027" y="608939"/>
                  </a:lnTo>
                  <a:lnTo>
                    <a:pt x="374027" y="459892"/>
                  </a:lnTo>
                  <a:close/>
                </a:path>
                <a:path w="374650" h="645160">
                  <a:moveTo>
                    <a:pt x="374027" y="36220"/>
                  </a:moveTo>
                  <a:lnTo>
                    <a:pt x="365836" y="16535"/>
                  </a:lnTo>
                  <a:lnTo>
                    <a:pt x="340791" y="16535"/>
                  </a:lnTo>
                  <a:lnTo>
                    <a:pt x="343230" y="17475"/>
                  </a:lnTo>
                  <a:lnTo>
                    <a:pt x="344805" y="18275"/>
                  </a:lnTo>
                  <a:lnTo>
                    <a:pt x="350151" y="21958"/>
                  </a:lnTo>
                  <a:lnTo>
                    <a:pt x="351663" y="23317"/>
                  </a:lnTo>
                  <a:lnTo>
                    <a:pt x="353352" y="25247"/>
                  </a:lnTo>
                  <a:lnTo>
                    <a:pt x="353606" y="25641"/>
                  </a:lnTo>
                  <a:lnTo>
                    <a:pt x="354876" y="27330"/>
                  </a:lnTo>
                  <a:lnTo>
                    <a:pt x="355790" y="28905"/>
                  </a:lnTo>
                  <a:lnTo>
                    <a:pt x="356158" y="29502"/>
                  </a:lnTo>
                  <a:lnTo>
                    <a:pt x="357276" y="31915"/>
                  </a:lnTo>
                  <a:lnTo>
                    <a:pt x="358152" y="34391"/>
                  </a:lnTo>
                  <a:lnTo>
                    <a:pt x="358775" y="36957"/>
                  </a:lnTo>
                  <a:lnTo>
                    <a:pt x="358838" y="37706"/>
                  </a:lnTo>
                  <a:lnTo>
                    <a:pt x="359016" y="38862"/>
                  </a:lnTo>
                  <a:lnTo>
                    <a:pt x="359067" y="182626"/>
                  </a:lnTo>
                  <a:lnTo>
                    <a:pt x="358838" y="183769"/>
                  </a:lnTo>
                  <a:lnTo>
                    <a:pt x="358724" y="184518"/>
                  </a:lnTo>
                  <a:lnTo>
                    <a:pt x="358622" y="185267"/>
                  </a:lnTo>
                  <a:lnTo>
                    <a:pt x="357924" y="187807"/>
                  </a:lnTo>
                  <a:lnTo>
                    <a:pt x="357835" y="187947"/>
                  </a:lnTo>
                  <a:lnTo>
                    <a:pt x="356997" y="190246"/>
                  </a:lnTo>
                  <a:lnTo>
                    <a:pt x="355828" y="192570"/>
                  </a:lnTo>
                  <a:lnTo>
                    <a:pt x="354457" y="194754"/>
                  </a:lnTo>
                  <a:lnTo>
                    <a:pt x="353606" y="195834"/>
                  </a:lnTo>
                  <a:lnTo>
                    <a:pt x="352894" y="196799"/>
                  </a:lnTo>
                  <a:lnTo>
                    <a:pt x="351142" y="198678"/>
                  </a:lnTo>
                  <a:lnTo>
                    <a:pt x="350151" y="199517"/>
                  </a:lnTo>
                  <a:lnTo>
                    <a:pt x="349211" y="200367"/>
                  </a:lnTo>
                  <a:lnTo>
                    <a:pt x="347129" y="201891"/>
                  </a:lnTo>
                  <a:lnTo>
                    <a:pt x="345478" y="202844"/>
                  </a:lnTo>
                  <a:lnTo>
                    <a:pt x="345313" y="202984"/>
                  </a:lnTo>
                  <a:lnTo>
                    <a:pt x="344906" y="203200"/>
                  </a:lnTo>
                  <a:lnTo>
                    <a:pt x="342544" y="204292"/>
                  </a:lnTo>
                  <a:lnTo>
                    <a:pt x="340537" y="205016"/>
                  </a:lnTo>
                  <a:lnTo>
                    <a:pt x="338099" y="205638"/>
                  </a:lnTo>
                  <a:lnTo>
                    <a:pt x="338251" y="205638"/>
                  </a:lnTo>
                  <a:lnTo>
                    <a:pt x="337870" y="205701"/>
                  </a:lnTo>
                  <a:lnTo>
                    <a:pt x="335368" y="206070"/>
                  </a:lnTo>
                  <a:lnTo>
                    <a:pt x="38658" y="206070"/>
                  </a:lnTo>
                  <a:lnTo>
                    <a:pt x="36791" y="205790"/>
                  </a:lnTo>
                  <a:lnTo>
                    <a:pt x="36131" y="205701"/>
                  </a:lnTo>
                  <a:lnTo>
                    <a:pt x="35788" y="205638"/>
                  </a:lnTo>
                  <a:lnTo>
                    <a:pt x="35928" y="205638"/>
                  </a:lnTo>
                  <a:lnTo>
                    <a:pt x="34099" y="205168"/>
                  </a:lnTo>
                  <a:lnTo>
                    <a:pt x="33337" y="204939"/>
                  </a:lnTo>
                  <a:lnTo>
                    <a:pt x="33959" y="205168"/>
                  </a:lnTo>
                  <a:lnTo>
                    <a:pt x="31483" y="204292"/>
                  </a:lnTo>
                  <a:lnTo>
                    <a:pt x="29133" y="203200"/>
                  </a:lnTo>
                  <a:lnTo>
                    <a:pt x="28714" y="202984"/>
                  </a:lnTo>
                  <a:lnTo>
                    <a:pt x="28549" y="202844"/>
                  </a:lnTo>
                  <a:lnTo>
                    <a:pt x="26898" y="201891"/>
                  </a:lnTo>
                  <a:lnTo>
                    <a:pt x="24815" y="200367"/>
                  </a:lnTo>
                  <a:lnTo>
                    <a:pt x="23876" y="199517"/>
                  </a:lnTo>
                  <a:lnTo>
                    <a:pt x="22885" y="198678"/>
                  </a:lnTo>
                  <a:lnTo>
                    <a:pt x="21132" y="196799"/>
                  </a:lnTo>
                  <a:lnTo>
                    <a:pt x="20421" y="195834"/>
                  </a:lnTo>
                  <a:lnTo>
                    <a:pt x="19570" y="194754"/>
                  </a:lnTo>
                  <a:lnTo>
                    <a:pt x="18199" y="192570"/>
                  </a:lnTo>
                  <a:lnTo>
                    <a:pt x="17043" y="190246"/>
                  </a:lnTo>
                  <a:lnTo>
                    <a:pt x="16192" y="187947"/>
                  </a:lnTo>
                  <a:lnTo>
                    <a:pt x="16116" y="187807"/>
                  </a:lnTo>
                  <a:lnTo>
                    <a:pt x="15417" y="185267"/>
                  </a:lnTo>
                  <a:lnTo>
                    <a:pt x="15303" y="184518"/>
                  </a:lnTo>
                  <a:lnTo>
                    <a:pt x="15189" y="183769"/>
                  </a:lnTo>
                  <a:lnTo>
                    <a:pt x="14973" y="182626"/>
                  </a:lnTo>
                  <a:lnTo>
                    <a:pt x="15011" y="38862"/>
                  </a:lnTo>
                  <a:lnTo>
                    <a:pt x="15189" y="37706"/>
                  </a:lnTo>
                  <a:lnTo>
                    <a:pt x="15265" y="36957"/>
                  </a:lnTo>
                  <a:lnTo>
                    <a:pt x="15455" y="36220"/>
                  </a:lnTo>
                  <a:lnTo>
                    <a:pt x="15875" y="34391"/>
                  </a:lnTo>
                  <a:lnTo>
                    <a:pt x="16751" y="31915"/>
                  </a:lnTo>
                  <a:lnTo>
                    <a:pt x="17868" y="29502"/>
                  </a:lnTo>
                  <a:lnTo>
                    <a:pt x="18237" y="28905"/>
                  </a:lnTo>
                  <a:lnTo>
                    <a:pt x="19151" y="27330"/>
                  </a:lnTo>
                  <a:lnTo>
                    <a:pt x="20421" y="25641"/>
                  </a:lnTo>
                  <a:lnTo>
                    <a:pt x="20675" y="25247"/>
                  </a:lnTo>
                  <a:lnTo>
                    <a:pt x="22377" y="23317"/>
                  </a:lnTo>
                  <a:lnTo>
                    <a:pt x="23876" y="21958"/>
                  </a:lnTo>
                  <a:lnTo>
                    <a:pt x="24257" y="21564"/>
                  </a:lnTo>
                  <a:lnTo>
                    <a:pt x="26289" y="20002"/>
                  </a:lnTo>
                  <a:lnTo>
                    <a:pt x="28473" y="18630"/>
                  </a:lnTo>
                  <a:lnTo>
                    <a:pt x="28714" y="18491"/>
                  </a:lnTo>
                  <a:lnTo>
                    <a:pt x="29222" y="18275"/>
                  </a:lnTo>
                  <a:lnTo>
                    <a:pt x="30797" y="17475"/>
                  </a:lnTo>
                  <a:lnTo>
                    <a:pt x="33235" y="16535"/>
                  </a:lnTo>
                  <a:lnTo>
                    <a:pt x="34099" y="16306"/>
                  </a:lnTo>
                  <a:lnTo>
                    <a:pt x="35928" y="15849"/>
                  </a:lnTo>
                  <a:lnTo>
                    <a:pt x="35788" y="15849"/>
                  </a:lnTo>
                  <a:lnTo>
                    <a:pt x="36131" y="15798"/>
                  </a:lnTo>
                  <a:lnTo>
                    <a:pt x="36791" y="15697"/>
                  </a:lnTo>
                  <a:lnTo>
                    <a:pt x="39865" y="15227"/>
                  </a:lnTo>
                  <a:lnTo>
                    <a:pt x="334162" y="15227"/>
                  </a:lnTo>
                  <a:lnTo>
                    <a:pt x="337235" y="15697"/>
                  </a:lnTo>
                  <a:lnTo>
                    <a:pt x="337502" y="15697"/>
                  </a:lnTo>
                  <a:lnTo>
                    <a:pt x="337883" y="15798"/>
                  </a:lnTo>
                  <a:lnTo>
                    <a:pt x="339928" y="16306"/>
                  </a:lnTo>
                  <a:lnTo>
                    <a:pt x="340080" y="16306"/>
                  </a:lnTo>
                  <a:lnTo>
                    <a:pt x="365671" y="16306"/>
                  </a:lnTo>
                  <a:lnTo>
                    <a:pt x="365315" y="15849"/>
                  </a:lnTo>
                  <a:lnTo>
                    <a:pt x="365201" y="15697"/>
                  </a:lnTo>
                  <a:lnTo>
                    <a:pt x="364858" y="15227"/>
                  </a:lnTo>
                  <a:lnTo>
                    <a:pt x="332663" y="0"/>
                  </a:lnTo>
                  <a:lnTo>
                    <a:pt x="41376" y="0"/>
                  </a:lnTo>
                  <a:lnTo>
                    <a:pt x="6731" y="18491"/>
                  </a:lnTo>
                  <a:lnTo>
                    <a:pt x="6654" y="18630"/>
                  </a:lnTo>
                  <a:lnTo>
                    <a:pt x="4622" y="21958"/>
                  </a:lnTo>
                  <a:lnTo>
                    <a:pt x="279" y="34391"/>
                  </a:lnTo>
                  <a:lnTo>
                    <a:pt x="0" y="36220"/>
                  </a:lnTo>
                  <a:lnTo>
                    <a:pt x="0" y="185267"/>
                  </a:lnTo>
                  <a:lnTo>
                    <a:pt x="406" y="187947"/>
                  </a:lnTo>
                  <a:lnTo>
                    <a:pt x="25209" y="218186"/>
                  </a:lnTo>
                  <a:lnTo>
                    <a:pt x="41376" y="221488"/>
                  </a:lnTo>
                  <a:lnTo>
                    <a:pt x="332663" y="221488"/>
                  </a:lnTo>
                  <a:lnTo>
                    <a:pt x="365010" y="206070"/>
                  </a:lnTo>
                  <a:lnTo>
                    <a:pt x="365201" y="205790"/>
                  </a:lnTo>
                  <a:lnTo>
                    <a:pt x="365315" y="205638"/>
                  </a:lnTo>
                  <a:lnTo>
                    <a:pt x="365671" y="205168"/>
                  </a:lnTo>
                  <a:lnTo>
                    <a:pt x="367296" y="202984"/>
                  </a:lnTo>
                  <a:lnTo>
                    <a:pt x="367372" y="202844"/>
                  </a:lnTo>
                  <a:lnTo>
                    <a:pt x="369404" y="199517"/>
                  </a:lnTo>
                  <a:lnTo>
                    <a:pt x="371170" y="195834"/>
                  </a:lnTo>
                  <a:lnTo>
                    <a:pt x="372605" y="191922"/>
                  </a:lnTo>
                  <a:lnTo>
                    <a:pt x="373621" y="187947"/>
                  </a:lnTo>
                  <a:lnTo>
                    <a:pt x="373646" y="187807"/>
                  </a:lnTo>
                  <a:lnTo>
                    <a:pt x="373748" y="187096"/>
                  </a:lnTo>
                  <a:lnTo>
                    <a:pt x="374027" y="185267"/>
                  </a:lnTo>
                  <a:lnTo>
                    <a:pt x="374027" y="36220"/>
                  </a:lnTo>
                  <a:close/>
                </a:path>
              </a:pathLst>
            </a:custGeom>
            <a:solidFill>
              <a:srgbClr val="288EDC"/>
            </a:solidFill>
          </p:spPr>
          <p:txBody>
            <a:bodyPr wrap="square" lIns="0" tIns="0" rIns="0" bIns="0" rtlCol="0"/>
            <a:lstStyle/>
            <a:p>
              <a:endParaRPr/>
            </a:p>
          </p:txBody>
        </p:sp>
        <p:sp>
          <p:nvSpPr>
            <p:cNvPr id="15" name="object 15"/>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16" name="object 16"/>
            <p:cNvSpPr/>
            <p:nvPr/>
          </p:nvSpPr>
          <p:spPr>
            <a:xfrm>
              <a:off x="4585461" y="5229732"/>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12700">
              <a:solidFill>
                <a:srgbClr val="DF5F5F"/>
              </a:solidFill>
              <a:prstDash val="dot"/>
            </a:ln>
          </p:spPr>
          <p:txBody>
            <a:bodyPr wrap="square" lIns="0" tIns="0" rIns="0" bIns="0" rtlCol="0"/>
            <a:lstStyle/>
            <a:p>
              <a:endParaRPr/>
            </a:p>
          </p:txBody>
        </p:sp>
      </p:grpSp>
      <p:sp>
        <p:nvSpPr>
          <p:cNvPr id="17" name="object 17"/>
          <p:cNvSpPr txBox="1"/>
          <p:nvPr/>
        </p:nvSpPr>
        <p:spPr>
          <a:xfrm>
            <a:off x="4890261" y="5128132"/>
            <a:ext cx="67945" cy="116839"/>
          </a:xfrm>
          <a:prstGeom prst="rect">
            <a:avLst/>
          </a:prstGeom>
        </p:spPr>
        <p:txBody>
          <a:bodyPr vert="horz" wrap="square" lIns="0" tIns="12700" rIns="0" bIns="0" rtlCol="0">
            <a:spAutoFit/>
          </a:bodyPr>
          <a:lstStyle/>
          <a:p>
            <a:pPr marL="12700">
              <a:lnSpc>
                <a:spcPct val="100000"/>
              </a:lnSpc>
              <a:spcBef>
                <a:spcPts val="100"/>
              </a:spcBef>
            </a:pPr>
            <a:r>
              <a:rPr sz="600" spc="-50" dirty="0">
                <a:solidFill>
                  <a:srgbClr val="FF0000"/>
                </a:solidFill>
                <a:latin typeface="Arial MT"/>
                <a:cs typeface="Arial MT"/>
              </a:rPr>
              <a:t>1</a:t>
            </a:r>
            <a:endParaRPr sz="600">
              <a:latin typeface="Arial MT"/>
              <a:cs typeface="Arial MT"/>
            </a:endParaRPr>
          </a:p>
        </p:txBody>
      </p:sp>
      <p:sp>
        <p:nvSpPr>
          <p:cNvPr id="20" name="object 20"/>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13</a:t>
            </a:fld>
            <a:r>
              <a:rPr spc="-10" dirty="0"/>
              <a:t> </a:t>
            </a:r>
            <a:r>
              <a:rPr spc="-50" dirty="0"/>
              <a:t>-</a:t>
            </a:r>
          </a:p>
        </p:txBody>
      </p:sp>
      <p:sp>
        <p:nvSpPr>
          <p:cNvPr id="21" name="文本框 20"/>
          <p:cNvSpPr txBox="1"/>
          <p:nvPr/>
        </p:nvSpPr>
        <p:spPr>
          <a:xfrm>
            <a:off x="213360" y="6455410"/>
            <a:ext cx="2700020" cy="198755"/>
          </a:xfrm>
          <a:prstGeom prst="rect">
            <a:avLst/>
          </a:prstGeom>
          <a:noFill/>
        </p:spPr>
        <p:txBody>
          <a:bodyPr wrap="square" rtlCol="0">
            <a:spAutoFit/>
          </a:bodyPr>
          <a:lstStyle/>
          <a:p>
            <a:r>
              <a:rPr sz="700" spc="-20" dirty="0">
                <a:solidFill>
                  <a:schemeClr val="tx1"/>
                </a:solidFill>
                <a:latin typeface="微软雅黑" panose="020B0503020204020204" charset="-122"/>
                <a:cs typeface="微软雅黑" panose="020B0503020204020204" charset="-122"/>
                <a:sym typeface="+mn-ea"/>
              </a:rPr>
              <a:t>注射用氨曲南阿维巴坦钠说明书（核准日期：</a:t>
            </a:r>
            <a:r>
              <a:rPr sz="700" spc="-10" dirty="0">
                <a:solidFill>
                  <a:schemeClr val="tx1"/>
                </a:solidFill>
                <a:latin typeface="Times New Roman" panose="02020603050405020304"/>
                <a:cs typeface="Times New Roman" panose="02020603050405020304"/>
                <a:sym typeface="+mn-ea"/>
              </a:rPr>
              <a:t>2025</a:t>
            </a:r>
            <a:r>
              <a:rPr sz="700" spc="-20" dirty="0">
                <a:solidFill>
                  <a:schemeClr val="tx1"/>
                </a:solidFill>
                <a:latin typeface="微软雅黑" panose="020B0503020204020204" charset="-122"/>
                <a:cs typeface="微软雅黑" panose="020B0503020204020204" charset="-122"/>
                <a:sym typeface="+mn-ea"/>
              </a:rPr>
              <a:t>年</a:t>
            </a:r>
            <a:r>
              <a:rPr sz="700" spc="-10" dirty="0">
                <a:solidFill>
                  <a:schemeClr val="tx1"/>
                </a:solidFill>
                <a:latin typeface="Times New Roman" panose="02020603050405020304"/>
                <a:cs typeface="Times New Roman" panose="02020603050405020304"/>
                <a:sym typeface="+mn-ea"/>
              </a:rPr>
              <a:t>6</a:t>
            </a:r>
            <a:r>
              <a:rPr sz="700" spc="-20" dirty="0">
                <a:solidFill>
                  <a:schemeClr val="tx1"/>
                </a:solidFill>
                <a:latin typeface="微软雅黑" panose="020B0503020204020204" charset="-122"/>
                <a:cs typeface="微软雅黑" panose="020B0503020204020204" charset="-122"/>
                <a:sym typeface="+mn-ea"/>
              </a:rPr>
              <a:t>月</a:t>
            </a:r>
            <a:r>
              <a:rPr sz="700" spc="-10" dirty="0">
                <a:solidFill>
                  <a:schemeClr val="tx1"/>
                </a:solidFill>
                <a:latin typeface="Times New Roman" panose="02020603050405020304"/>
                <a:cs typeface="Times New Roman" panose="02020603050405020304"/>
                <a:sym typeface="+mn-ea"/>
              </a:rPr>
              <a:t>24</a:t>
            </a:r>
            <a:r>
              <a:rPr sz="700" spc="-20" dirty="0">
                <a:solidFill>
                  <a:schemeClr val="tx1"/>
                </a:solidFill>
                <a:latin typeface="微软雅黑" panose="020B0503020204020204" charset="-122"/>
                <a:cs typeface="微软雅黑" panose="020B0503020204020204" charset="-122"/>
                <a:sym typeface="+mn-ea"/>
              </a:rPr>
              <a:t>日</a:t>
            </a:r>
            <a:r>
              <a:rPr sz="700" spc="-50" dirty="0">
                <a:solidFill>
                  <a:schemeClr val="tx1"/>
                </a:solidFill>
                <a:latin typeface="微软雅黑" panose="020B0503020204020204" charset="-122"/>
                <a:cs typeface="微软雅黑" panose="020B0503020204020204" charset="-122"/>
                <a:sym typeface="+mn-ea"/>
              </a:rPr>
              <a:t>）</a:t>
            </a:r>
            <a:endParaRPr lang="zh-CN" altLang="en-US" sz="700" b="1" spc="-50" dirty="0">
              <a:solidFill>
                <a:schemeClr val="tx1"/>
              </a:solidFill>
              <a:latin typeface="微软雅黑" panose="020B0503020204020204" charset="-122"/>
              <a:ea typeface="宋体" panose="02010600030101010101" pitchFamily="2" charset="-122"/>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28116" y="770737"/>
            <a:ext cx="8973820" cy="4465320"/>
            <a:chOff x="528116" y="770737"/>
            <a:chExt cx="8973820" cy="4465320"/>
          </a:xfrm>
        </p:grpSpPr>
        <p:pic>
          <p:nvPicPr>
            <p:cNvPr id="3" name="object 3"/>
            <p:cNvPicPr/>
            <p:nvPr/>
          </p:nvPicPr>
          <p:blipFill>
            <a:blip r:embed="rId2" cstate="print"/>
            <a:stretch>
              <a:fillRect/>
            </a:stretch>
          </p:blipFill>
          <p:spPr>
            <a:xfrm>
              <a:off x="528116" y="770737"/>
              <a:ext cx="8973312" cy="4464710"/>
            </a:xfrm>
            <a:prstGeom prst="rect">
              <a:avLst/>
            </a:prstGeom>
          </p:spPr>
        </p:pic>
        <p:sp>
          <p:nvSpPr>
            <p:cNvPr id="4" name="object 4"/>
            <p:cNvSpPr/>
            <p:nvPr/>
          </p:nvSpPr>
          <p:spPr>
            <a:xfrm>
              <a:off x="1153718" y="1288910"/>
              <a:ext cx="5016500" cy="2662555"/>
            </a:xfrm>
            <a:custGeom>
              <a:avLst/>
              <a:gdLst/>
              <a:ahLst/>
              <a:cxnLst/>
              <a:rect l="l" t="t" r="r" b="b"/>
              <a:pathLst>
                <a:path w="5016500" h="2662554">
                  <a:moveTo>
                    <a:pt x="396557" y="2399817"/>
                  </a:moveTo>
                  <a:lnTo>
                    <a:pt x="375208" y="2352916"/>
                  </a:lnTo>
                  <a:lnTo>
                    <a:pt x="333019" y="2260257"/>
                  </a:lnTo>
                  <a:lnTo>
                    <a:pt x="304279" y="2295804"/>
                  </a:lnTo>
                  <a:lnTo>
                    <a:pt x="37223" y="2079891"/>
                  </a:lnTo>
                  <a:lnTo>
                    <a:pt x="34544" y="2078024"/>
                  </a:lnTo>
                  <a:lnTo>
                    <a:pt x="31635" y="2076564"/>
                  </a:lnTo>
                  <a:lnTo>
                    <a:pt x="28536" y="2075535"/>
                  </a:lnTo>
                  <a:lnTo>
                    <a:pt x="24663" y="2074824"/>
                  </a:lnTo>
                  <a:lnTo>
                    <a:pt x="22072" y="2074824"/>
                  </a:lnTo>
                  <a:lnTo>
                    <a:pt x="0" y="2098446"/>
                  </a:lnTo>
                  <a:lnTo>
                    <a:pt x="342" y="2101697"/>
                  </a:lnTo>
                  <a:lnTo>
                    <a:pt x="275526" y="2331364"/>
                  </a:lnTo>
                  <a:lnTo>
                    <a:pt x="246786" y="2366924"/>
                  </a:lnTo>
                  <a:lnTo>
                    <a:pt x="396557" y="2399817"/>
                  </a:lnTo>
                  <a:close/>
                </a:path>
                <a:path w="5016500" h="2662554">
                  <a:moveTo>
                    <a:pt x="770280" y="627138"/>
                  </a:moveTo>
                  <a:lnTo>
                    <a:pt x="748919" y="580237"/>
                  </a:lnTo>
                  <a:lnTo>
                    <a:pt x="706729" y="487578"/>
                  </a:lnTo>
                  <a:lnTo>
                    <a:pt x="677989" y="523125"/>
                  </a:lnTo>
                  <a:lnTo>
                    <a:pt x="410933" y="307213"/>
                  </a:lnTo>
                  <a:lnTo>
                    <a:pt x="398373" y="302145"/>
                  </a:lnTo>
                  <a:lnTo>
                    <a:pt x="395782" y="302145"/>
                  </a:lnTo>
                  <a:lnTo>
                    <a:pt x="373710" y="325767"/>
                  </a:lnTo>
                  <a:lnTo>
                    <a:pt x="374053" y="329018"/>
                  </a:lnTo>
                  <a:lnTo>
                    <a:pt x="649236" y="558685"/>
                  </a:lnTo>
                  <a:lnTo>
                    <a:pt x="620496" y="594233"/>
                  </a:lnTo>
                  <a:lnTo>
                    <a:pt x="770280" y="627138"/>
                  </a:lnTo>
                  <a:close/>
                </a:path>
                <a:path w="5016500" h="2662554">
                  <a:moveTo>
                    <a:pt x="4642561" y="2662212"/>
                  </a:moveTo>
                  <a:lnTo>
                    <a:pt x="4621200" y="2615311"/>
                  </a:lnTo>
                  <a:lnTo>
                    <a:pt x="4579010" y="2522651"/>
                  </a:lnTo>
                  <a:lnTo>
                    <a:pt x="4550270" y="2558199"/>
                  </a:lnTo>
                  <a:lnTo>
                    <a:pt x="4283214" y="2342286"/>
                  </a:lnTo>
                  <a:lnTo>
                    <a:pt x="4270667" y="2337206"/>
                  </a:lnTo>
                  <a:lnTo>
                    <a:pt x="4268063" y="2337206"/>
                  </a:lnTo>
                  <a:lnTo>
                    <a:pt x="4246003" y="2360841"/>
                  </a:lnTo>
                  <a:lnTo>
                    <a:pt x="4246346" y="2364079"/>
                  </a:lnTo>
                  <a:lnTo>
                    <a:pt x="4521530" y="2593746"/>
                  </a:lnTo>
                  <a:lnTo>
                    <a:pt x="4492777" y="2629306"/>
                  </a:lnTo>
                  <a:lnTo>
                    <a:pt x="4642561" y="2662212"/>
                  </a:lnTo>
                  <a:close/>
                </a:path>
                <a:path w="5016500" h="2662554">
                  <a:moveTo>
                    <a:pt x="5016271" y="324993"/>
                  </a:moveTo>
                  <a:lnTo>
                    <a:pt x="4994910" y="278091"/>
                  </a:lnTo>
                  <a:lnTo>
                    <a:pt x="4952720" y="185420"/>
                  </a:lnTo>
                  <a:lnTo>
                    <a:pt x="4923980" y="220967"/>
                  </a:lnTo>
                  <a:lnTo>
                    <a:pt x="4656937" y="5067"/>
                  </a:lnTo>
                  <a:lnTo>
                    <a:pt x="4644352" y="0"/>
                  </a:lnTo>
                  <a:lnTo>
                    <a:pt x="4641774" y="0"/>
                  </a:lnTo>
                  <a:lnTo>
                    <a:pt x="4619701" y="23622"/>
                  </a:lnTo>
                  <a:lnTo>
                    <a:pt x="4620057" y="26873"/>
                  </a:lnTo>
                  <a:lnTo>
                    <a:pt x="4895227" y="256540"/>
                  </a:lnTo>
                  <a:lnTo>
                    <a:pt x="4866487" y="292087"/>
                  </a:lnTo>
                  <a:lnTo>
                    <a:pt x="5016271" y="324993"/>
                  </a:lnTo>
                  <a:close/>
                </a:path>
              </a:pathLst>
            </a:custGeom>
            <a:solidFill>
              <a:srgbClr val="66C2AB"/>
            </a:solidFill>
          </p:spPr>
          <p:txBody>
            <a:bodyPr wrap="square" lIns="0" tIns="0" rIns="0" bIns="0" rtlCol="0"/>
            <a:lstStyle/>
            <a:p>
              <a:endParaRPr/>
            </a:p>
          </p:txBody>
        </p:sp>
      </p:grpSp>
      <p:sp>
        <p:nvSpPr>
          <p:cNvPr id="5" name="object 5"/>
          <p:cNvSpPr txBox="1"/>
          <p:nvPr/>
        </p:nvSpPr>
        <p:spPr>
          <a:xfrm>
            <a:off x="689701" y="256844"/>
            <a:ext cx="8514080" cy="464820"/>
          </a:xfrm>
          <a:prstGeom prst="rect">
            <a:avLst/>
          </a:prstGeom>
        </p:spPr>
        <p:txBody>
          <a:bodyPr vert="horz" wrap="square" lIns="0" tIns="19685" rIns="0" bIns="0" rtlCol="0">
            <a:spAutoFit/>
          </a:bodyPr>
          <a:lstStyle/>
          <a:p>
            <a:pPr marL="12700" marR="5080">
              <a:lnSpc>
                <a:spcPts val="1730"/>
              </a:lnSpc>
              <a:spcBef>
                <a:spcPts val="155"/>
              </a:spcBef>
            </a:pPr>
            <a:r>
              <a:rPr sz="1450" b="1" spc="-20" dirty="0">
                <a:latin typeface="微软雅黑" panose="020B0503020204020204" charset="-122"/>
                <a:cs typeface="微软雅黑" panose="020B0503020204020204" charset="-122"/>
              </a:rPr>
              <a:t>中国数据（</a:t>
            </a:r>
            <a:r>
              <a:rPr sz="1450" b="1" spc="-20" dirty="0">
                <a:latin typeface="Arial" panose="020B0604020202020204"/>
                <a:cs typeface="Arial" panose="020B0604020202020204"/>
              </a:rPr>
              <a:t>CARSS</a:t>
            </a:r>
            <a:r>
              <a:rPr sz="1450" b="1" spc="-20" dirty="0">
                <a:latin typeface="微软雅黑" panose="020B0503020204020204" charset="-122"/>
                <a:cs typeface="微软雅黑" panose="020B0503020204020204" charset="-122"/>
              </a:rPr>
              <a:t>主动监测）：氨曲南</a:t>
            </a:r>
            <a:r>
              <a:rPr sz="1450" b="1" spc="-10" dirty="0">
                <a:latin typeface="Arial" panose="020B0604020202020204"/>
                <a:cs typeface="Arial" panose="020B0604020202020204"/>
              </a:rPr>
              <a:t>-</a:t>
            </a:r>
            <a:r>
              <a:rPr sz="1450" b="1" spc="-20" dirty="0">
                <a:latin typeface="微软雅黑" panose="020B0503020204020204" charset="-122"/>
                <a:cs typeface="微软雅黑" panose="020B0503020204020204" charset="-122"/>
              </a:rPr>
              <a:t>阿维巴坦对产不同碳青霉烯酶</a:t>
            </a:r>
            <a:r>
              <a:rPr sz="1450" b="1" spc="-30" dirty="0">
                <a:latin typeface="Arial" panose="020B0604020202020204"/>
                <a:cs typeface="Arial" panose="020B0604020202020204"/>
              </a:rPr>
              <a:t>CRKP</a:t>
            </a:r>
            <a:r>
              <a:rPr sz="1450" b="1" spc="-30" dirty="0">
                <a:latin typeface="微软雅黑" panose="020B0503020204020204" charset="-122"/>
                <a:cs typeface="微软雅黑" panose="020B0503020204020204" charset="-122"/>
              </a:rPr>
              <a:t>（</a:t>
            </a:r>
            <a:r>
              <a:rPr sz="1450" b="1" spc="-30" dirty="0">
                <a:solidFill>
                  <a:srgbClr val="014D94"/>
                </a:solidFill>
                <a:latin typeface="Arial" panose="020B0604020202020204"/>
                <a:cs typeface="Arial" panose="020B0604020202020204"/>
              </a:rPr>
              <a:t>n=4118</a:t>
            </a:r>
            <a:r>
              <a:rPr sz="1450" b="1" spc="-30" dirty="0">
                <a:latin typeface="微软雅黑" panose="020B0503020204020204" charset="-122"/>
                <a:cs typeface="微软雅黑" panose="020B0503020204020204" charset="-122"/>
              </a:rPr>
              <a:t>）</a:t>
            </a:r>
            <a:r>
              <a:rPr sz="1450" b="1" dirty="0">
                <a:latin typeface="微软雅黑" panose="020B0503020204020204" charset="-122"/>
                <a:cs typeface="微软雅黑" panose="020B0503020204020204" charset="-122"/>
              </a:rPr>
              <a:t>的 </a:t>
            </a:r>
            <a:r>
              <a:rPr sz="1450" b="1" dirty="0">
                <a:latin typeface="Arial" panose="020B0604020202020204"/>
                <a:cs typeface="Arial" panose="020B0604020202020204"/>
              </a:rPr>
              <a:t>MIC </a:t>
            </a:r>
            <a:r>
              <a:rPr sz="1450" b="1" spc="-30" dirty="0">
                <a:latin typeface="微软雅黑" panose="020B0503020204020204" charset="-122"/>
                <a:cs typeface="微软雅黑" panose="020B0503020204020204" charset="-122"/>
              </a:rPr>
              <a:t>分布较头</a:t>
            </a:r>
            <a:r>
              <a:rPr sz="1450" b="1" spc="-20" dirty="0">
                <a:latin typeface="微软雅黑" panose="020B0503020204020204" charset="-122"/>
                <a:cs typeface="微软雅黑" panose="020B0503020204020204" charset="-122"/>
              </a:rPr>
              <a:t>孢他啶</a:t>
            </a:r>
            <a:r>
              <a:rPr sz="1450" b="1" spc="-10" dirty="0">
                <a:latin typeface="Arial" panose="020B0604020202020204"/>
                <a:cs typeface="Arial" panose="020B0604020202020204"/>
              </a:rPr>
              <a:t>-</a:t>
            </a:r>
            <a:r>
              <a:rPr sz="1450" b="1" spc="-25" dirty="0">
                <a:latin typeface="微软雅黑" panose="020B0503020204020204" charset="-122"/>
                <a:cs typeface="微软雅黑" panose="020B0503020204020204" charset="-122"/>
              </a:rPr>
              <a:t>阿维巴坦、亚胺培南、美罗培南更趋近原点</a:t>
            </a:r>
            <a:endParaRPr sz="1450">
              <a:latin typeface="微软雅黑" panose="020B0503020204020204" charset="-122"/>
              <a:cs typeface="微软雅黑" panose="020B0503020204020204" charset="-122"/>
            </a:endParaRPr>
          </a:p>
        </p:txBody>
      </p:sp>
      <p:sp>
        <p:nvSpPr>
          <p:cNvPr id="6" name="object 6"/>
          <p:cNvSpPr txBox="1"/>
          <p:nvPr/>
        </p:nvSpPr>
        <p:spPr>
          <a:xfrm>
            <a:off x="4874046" y="5314909"/>
            <a:ext cx="584835" cy="160655"/>
          </a:xfrm>
          <a:prstGeom prst="rect">
            <a:avLst/>
          </a:prstGeom>
        </p:spPr>
        <p:txBody>
          <a:bodyPr vert="horz" wrap="square" lIns="0" tIns="17145" rIns="0" bIns="0" rtlCol="0">
            <a:spAutoFit/>
          </a:bodyPr>
          <a:lstStyle/>
          <a:p>
            <a:pPr marL="12700">
              <a:lnSpc>
                <a:spcPct val="100000"/>
              </a:lnSpc>
              <a:spcBef>
                <a:spcPts val="135"/>
              </a:spcBef>
            </a:pPr>
            <a:r>
              <a:rPr sz="850" spc="-10" dirty="0">
                <a:latin typeface="微软雅黑" panose="020B0503020204020204" charset="-122"/>
                <a:cs typeface="微软雅黑" panose="020B0503020204020204" charset="-122"/>
              </a:rPr>
              <a:t>未发表数据</a:t>
            </a:r>
            <a:endParaRPr sz="850">
              <a:latin typeface="微软雅黑" panose="020B0503020204020204" charset="-122"/>
              <a:cs typeface="微软雅黑" panose="020B0503020204020204" charset="-122"/>
            </a:endParaRPr>
          </a:p>
        </p:txBody>
      </p:sp>
      <p:sp>
        <p:nvSpPr>
          <p:cNvPr id="7" name="object 7"/>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14</a:t>
            </a:fld>
            <a:r>
              <a:rPr spc="-10" dirty="0"/>
              <a:t> </a:t>
            </a:r>
            <a:r>
              <a:rPr spc="-50"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68247" y="174548"/>
            <a:ext cx="8800465" cy="5182870"/>
            <a:chOff x="968247" y="174548"/>
            <a:chExt cx="8800465" cy="5182870"/>
          </a:xfrm>
        </p:grpSpPr>
        <p:pic>
          <p:nvPicPr>
            <p:cNvPr id="3" name="object 3"/>
            <p:cNvPicPr/>
            <p:nvPr/>
          </p:nvPicPr>
          <p:blipFill>
            <a:blip r:embed="rId2" cstate="print"/>
            <a:stretch>
              <a:fillRect/>
            </a:stretch>
          </p:blipFill>
          <p:spPr>
            <a:xfrm>
              <a:off x="968247" y="602487"/>
              <a:ext cx="8229600" cy="4754880"/>
            </a:xfrm>
            <a:prstGeom prst="rect">
              <a:avLst/>
            </a:prstGeom>
          </p:spPr>
        </p:pic>
        <p:pic>
          <p:nvPicPr>
            <p:cNvPr id="4" name="object 4"/>
            <p:cNvPicPr/>
            <p:nvPr/>
          </p:nvPicPr>
          <p:blipFill>
            <a:blip r:embed="rId3" cstate="print"/>
            <a:stretch>
              <a:fillRect/>
            </a:stretch>
          </p:blipFill>
          <p:spPr>
            <a:xfrm>
              <a:off x="1152347" y="949960"/>
              <a:ext cx="7622438" cy="4276953"/>
            </a:xfrm>
            <a:prstGeom prst="rect">
              <a:avLst/>
            </a:prstGeom>
          </p:spPr>
        </p:pic>
      </p:grpSp>
      <p:sp>
        <p:nvSpPr>
          <p:cNvPr id="5" name="object 5"/>
          <p:cNvSpPr txBox="1"/>
          <p:nvPr/>
        </p:nvSpPr>
        <p:spPr>
          <a:xfrm>
            <a:off x="1958441" y="5405749"/>
            <a:ext cx="432434" cy="123825"/>
          </a:xfrm>
          <a:prstGeom prst="rect">
            <a:avLst/>
          </a:prstGeom>
        </p:spPr>
        <p:txBody>
          <a:bodyPr vert="horz" wrap="square" lIns="0" tIns="11430" rIns="0" bIns="0" rtlCol="0">
            <a:spAutoFit/>
          </a:bodyPr>
          <a:lstStyle/>
          <a:p>
            <a:pPr marL="12700">
              <a:lnSpc>
                <a:spcPct val="100000"/>
              </a:lnSpc>
              <a:spcBef>
                <a:spcPts val="90"/>
              </a:spcBef>
            </a:pPr>
            <a:r>
              <a:rPr sz="650" spc="-30" dirty="0">
                <a:solidFill>
                  <a:srgbClr val="7E7E7E"/>
                </a:solidFill>
                <a:latin typeface="微软雅黑" panose="020B0503020204020204" charset="-122"/>
                <a:cs typeface="微软雅黑" panose="020B0503020204020204" charset="-122"/>
              </a:rPr>
              <a:t>数据未发表</a:t>
            </a:r>
            <a:endParaRPr sz="650">
              <a:latin typeface="微软雅黑" panose="020B0503020204020204" charset="-122"/>
              <a:cs typeface="微软雅黑" panose="020B0503020204020204" charset="-122"/>
            </a:endParaRPr>
          </a:p>
        </p:txBody>
      </p:sp>
      <p:sp>
        <p:nvSpPr>
          <p:cNvPr id="6" name="object 6"/>
          <p:cNvSpPr/>
          <p:nvPr/>
        </p:nvSpPr>
        <p:spPr>
          <a:xfrm>
            <a:off x="7872344" y="1293053"/>
            <a:ext cx="911225" cy="3771900"/>
          </a:xfrm>
          <a:custGeom>
            <a:avLst/>
            <a:gdLst/>
            <a:ahLst/>
            <a:cxnLst/>
            <a:rect l="l" t="t" r="r" b="b"/>
            <a:pathLst>
              <a:path w="911225" h="3771900">
                <a:moveTo>
                  <a:pt x="900043" y="3771463"/>
                </a:moveTo>
                <a:lnTo>
                  <a:pt x="10779" y="3771463"/>
                </a:lnTo>
                <a:lnTo>
                  <a:pt x="9286" y="3771158"/>
                </a:lnTo>
                <a:lnTo>
                  <a:pt x="0" y="3760673"/>
                </a:lnTo>
                <a:lnTo>
                  <a:pt x="0" y="10779"/>
                </a:lnTo>
                <a:lnTo>
                  <a:pt x="10779" y="0"/>
                </a:lnTo>
                <a:lnTo>
                  <a:pt x="900043" y="0"/>
                </a:lnTo>
                <a:lnTo>
                  <a:pt x="910833" y="10779"/>
                </a:lnTo>
                <a:lnTo>
                  <a:pt x="910833" y="12303"/>
                </a:lnTo>
                <a:lnTo>
                  <a:pt x="15158" y="12303"/>
                </a:lnTo>
                <a:lnTo>
                  <a:pt x="15083" y="12842"/>
                </a:lnTo>
                <a:lnTo>
                  <a:pt x="14963" y="13266"/>
                </a:lnTo>
                <a:lnTo>
                  <a:pt x="14853" y="13807"/>
                </a:lnTo>
                <a:lnTo>
                  <a:pt x="14459" y="14224"/>
                </a:lnTo>
                <a:lnTo>
                  <a:pt x="14091" y="14569"/>
                </a:lnTo>
                <a:lnTo>
                  <a:pt x="14224" y="14569"/>
                </a:lnTo>
                <a:lnTo>
                  <a:pt x="13569" y="14843"/>
                </a:lnTo>
                <a:lnTo>
                  <a:pt x="13857" y="14843"/>
                </a:lnTo>
                <a:lnTo>
                  <a:pt x="12804" y="15057"/>
                </a:lnTo>
                <a:lnTo>
                  <a:pt x="15097" y="15057"/>
                </a:lnTo>
                <a:lnTo>
                  <a:pt x="15097" y="3756294"/>
                </a:lnTo>
                <a:lnTo>
                  <a:pt x="12817" y="3756294"/>
                </a:lnTo>
                <a:lnTo>
                  <a:pt x="13545" y="3756599"/>
                </a:lnTo>
                <a:lnTo>
                  <a:pt x="15158" y="3759149"/>
                </a:lnTo>
                <a:lnTo>
                  <a:pt x="910833" y="3759149"/>
                </a:lnTo>
                <a:lnTo>
                  <a:pt x="910833" y="3760673"/>
                </a:lnTo>
                <a:lnTo>
                  <a:pt x="910529" y="3762166"/>
                </a:lnTo>
                <a:lnTo>
                  <a:pt x="901537" y="3771158"/>
                </a:lnTo>
                <a:lnTo>
                  <a:pt x="900043" y="3771463"/>
                </a:lnTo>
                <a:close/>
              </a:path>
              <a:path w="911225" h="3771900">
                <a:moveTo>
                  <a:pt x="895736" y="15057"/>
                </a:moveTo>
                <a:lnTo>
                  <a:pt x="15097" y="15057"/>
                </a:lnTo>
                <a:lnTo>
                  <a:pt x="15158" y="12303"/>
                </a:lnTo>
                <a:lnTo>
                  <a:pt x="895664" y="12303"/>
                </a:lnTo>
                <a:lnTo>
                  <a:pt x="895736" y="15057"/>
                </a:lnTo>
                <a:close/>
              </a:path>
              <a:path w="911225" h="3771900">
                <a:moveTo>
                  <a:pt x="910833" y="14569"/>
                </a:moveTo>
                <a:lnTo>
                  <a:pt x="896731" y="14569"/>
                </a:lnTo>
                <a:lnTo>
                  <a:pt x="896367" y="14224"/>
                </a:lnTo>
                <a:lnTo>
                  <a:pt x="895969" y="13807"/>
                </a:lnTo>
                <a:lnTo>
                  <a:pt x="895860" y="13266"/>
                </a:lnTo>
                <a:lnTo>
                  <a:pt x="895746" y="12842"/>
                </a:lnTo>
                <a:lnTo>
                  <a:pt x="895664" y="12303"/>
                </a:lnTo>
                <a:lnTo>
                  <a:pt x="910833" y="12303"/>
                </a:lnTo>
                <a:lnTo>
                  <a:pt x="910833" y="14569"/>
                </a:lnTo>
                <a:close/>
              </a:path>
              <a:path w="911225" h="3771900">
                <a:moveTo>
                  <a:pt x="14799" y="13807"/>
                </a:moveTo>
                <a:lnTo>
                  <a:pt x="14970" y="13266"/>
                </a:lnTo>
                <a:lnTo>
                  <a:pt x="15148" y="12842"/>
                </a:lnTo>
                <a:lnTo>
                  <a:pt x="15097" y="13266"/>
                </a:lnTo>
                <a:lnTo>
                  <a:pt x="14853" y="13807"/>
                </a:lnTo>
                <a:close/>
              </a:path>
              <a:path w="911225" h="3771900">
                <a:moveTo>
                  <a:pt x="15097" y="15057"/>
                </a:moveTo>
                <a:lnTo>
                  <a:pt x="13426" y="15057"/>
                </a:lnTo>
                <a:lnTo>
                  <a:pt x="13775" y="14843"/>
                </a:lnTo>
                <a:lnTo>
                  <a:pt x="14150" y="14569"/>
                </a:lnTo>
                <a:lnTo>
                  <a:pt x="14569" y="14224"/>
                </a:lnTo>
                <a:lnTo>
                  <a:pt x="14437" y="14224"/>
                </a:lnTo>
                <a:lnTo>
                  <a:pt x="15110" y="13266"/>
                </a:lnTo>
                <a:lnTo>
                  <a:pt x="15097" y="15057"/>
                </a:lnTo>
                <a:close/>
              </a:path>
              <a:path w="911225" h="3771900">
                <a:moveTo>
                  <a:pt x="895754" y="3758413"/>
                </a:moveTo>
                <a:lnTo>
                  <a:pt x="895736" y="13266"/>
                </a:lnTo>
                <a:lnTo>
                  <a:pt x="896087" y="13807"/>
                </a:lnTo>
                <a:lnTo>
                  <a:pt x="896386" y="14224"/>
                </a:lnTo>
                <a:lnTo>
                  <a:pt x="896254" y="14224"/>
                </a:lnTo>
                <a:lnTo>
                  <a:pt x="896673" y="14569"/>
                </a:lnTo>
                <a:lnTo>
                  <a:pt x="897053" y="14843"/>
                </a:lnTo>
                <a:lnTo>
                  <a:pt x="897406" y="15057"/>
                </a:lnTo>
                <a:lnTo>
                  <a:pt x="910833" y="15057"/>
                </a:lnTo>
                <a:lnTo>
                  <a:pt x="910833" y="3756294"/>
                </a:lnTo>
                <a:lnTo>
                  <a:pt x="897656" y="3756294"/>
                </a:lnTo>
                <a:lnTo>
                  <a:pt x="897199" y="3756599"/>
                </a:lnTo>
                <a:lnTo>
                  <a:pt x="897016" y="3756599"/>
                </a:lnTo>
                <a:lnTo>
                  <a:pt x="896731" y="3756883"/>
                </a:lnTo>
                <a:lnTo>
                  <a:pt x="896599" y="3756883"/>
                </a:lnTo>
                <a:lnTo>
                  <a:pt x="896314" y="3757229"/>
                </a:lnTo>
                <a:lnTo>
                  <a:pt x="896036" y="3757635"/>
                </a:lnTo>
                <a:lnTo>
                  <a:pt x="895878" y="3758102"/>
                </a:lnTo>
                <a:lnTo>
                  <a:pt x="895754" y="3758413"/>
                </a:lnTo>
                <a:close/>
              </a:path>
              <a:path w="911225" h="3771900">
                <a:moveTo>
                  <a:pt x="14091" y="14569"/>
                </a:moveTo>
                <a:lnTo>
                  <a:pt x="14437" y="14224"/>
                </a:lnTo>
                <a:lnTo>
                  <a:pt x="14569" y="14224"/>
                </a:lnTo>
                <a:lnTo>
                  <a:pt x="14091" y="14569"/>
                </a:lnTo>
                <a:close/>
              </a:path>
              <a:path w="911225" h="3771900">
                <a:moveTo>
                  <a:pt x="13775" y="14843"/>
                </a:moveTo>
                <a:lnTo>
                  <a:pt x="14091" y="14569"/>
                </a:lnTo>
                <a:lnTo>
                  <a:pt x="14569" y="14224"/>
                </a:lnTo>
                <a:lnTo>
                  <a:pt x="14224" y="14569"/>
                </a:lnTo>
                <a:lnTo>
                  <a:pt x="13817" y="14843"/>
                </a:lnTo>
                <a:close/>
              </a:path>
              <a:path w="911225" h="3771900">
                <a:moveTo>
                  <a:pt x="910833" y="15057"/>
                </a:moveTo>
                <a:lnTo>
                  <a:pt x="898022" y="15057"/>
                </a:lnTo>
                <a:lnTo>
                  <a:pt x="896976" y="14843"/>
                </a:lnTo>
                <a:lnTo>
                  <a:pt x="897254" y="14843"/>
                </a:lnTo>
                <a:lnTo>
                  <a:pt x="896599" y="14569"/>
                </a:lnTo>
                <a:lnTo>
                  <a:pt x="896367" y="14224"/>
                </a:lnTo>
                <a:lnTo>
                  <a:pt x="897006" y="14843"/>
                </a:lnTo>
                <a:lnTo>
                  <a:pt x="910833" y="14569"/>
                </a:lnTo>
                <a:lnTo>
                  <a:pt x="910833" y="15057"/>
                </a:lnTo>
                <a:close/>
              </a:path>
              <a:path w="911225" h="3771900">
                <a:moveTo>
                  <a:pt x="896731" y="14569"/>
                </a:moveTo>
                <a:lnTo>
                  <a:pt x="896254" y="14224"/>
                </a:lnTo>
                <a:lnTo>
                  <a:pt x="896386" y="14224"/>
                </a:lnTo>
                <a:lnTo>
                  <a:pt x="896731" y="14569"/>
                </a:lnTo>
                <a:close/>
              </a:path>
              <a:path w="911225" h="3771900">
                <a:moveTo>
                  <a:pt x="13416" y="15057"/>
                </a:moveTo>
                <a:lnTo>
                  <a:pt x="13141" y="15057"/>
                </a:lnTo>
                <a:lnTo>
                  <a:pt x="13840" y="14843"/>
                </a:lnTo>
                <a:lnTo>
                  <a:pt x="13569" y="14843"/>
                </a:lnTo>
                <a:lnTo>
                  <a:pt x="14224" y="14569"/>
                </a:lnTo>
                <a:lnTo>
                  <a:pt x="14091" y="14569"/>
                </a:lnTo>
                <a:lnTo>
                  <a:pt x="13711" y="14843"/>
                </a:lnTo>
                <a:lnTo>
                  <a:pt x="13840" y="14843"/>
                </a:lnTo>
                <a:lnTo>
                  <a:pt x="13141" y="15057"/>
                </a:lnTo>
                <a:lnTo>
                  <a:pt x="13416" y="15057"/>
                </a:lnTo>
                <a:close/>
              </a:path>
              <a:path w="911225" h="3771900">
                <a:moveTo>
                  <a:pt x="897763" y="15057"/>
                </a:moveTo>
                <a:lnTo>
                  <a:pt x="897119" y="14843"/>
                </a:lnTo>
                <a:lnTo>
                  <a:pt x="896736" y="14569"/>
                </a:lnTo>
                <a:lnTo>
                  <a:pt x="896599" y="14569"/>
                </a:lnTo>
                <a:lnTo>
                  <a:pt x="897763" y="15057"/>
                </a:lnTo>
                <a:close/>
              </a:path>
              <a:path w="911225" h="3771900">
                <a:moveTo>
                  <a:pt x="13060" y="15057"/>
                </a:moveTo>
                <a:lnTo>
                  <a:pt x="12804" y="15057"/>
                </a:lnTo>
                <a:lnTo>
                  <a:pt x="13857" y="14843"/>
                </a:lnTo>
                <a:lnTo>
                  <a:pt x="13569" y="14843"/>
                </a:lnTo>
                <a:lnTo>
                  <a:pt x="13060" y="15057"/>
                </a:lnTo>
                <a:close/>
              </a:path>
              <a:path w="911225" h="3771900">
                <a:moveTo>
                  <a:pt x="897685" y="15057"/>
                </a:moveTo>
                <a:lnTo>
                  <a:pt x="897416" y="15057"/>
                </a:lnTo>
                <a:lnTo>
                  <a:pt x="897119" y="14843"/>
                </a:lnTo>
                <a:lnTo>
                  <a:pt x="897685" y="15057"/>
                </a:lnTo>
                <a:close/>
              </a:path>
              <a:path w="911225" h="3771900">
                <a:moveTo>
                  <a:pt x="898022" y="15057"/>
                </a:moveTo>
                <a:lnTo>
                  <a:pt x="897763" y="15057"/>
                </a:lnTo>
                <a:lnTo>
                  <a:pt x="897254" y="14843"/>
                </a:lnTo>
                <a:lnTo>
                  <a:pt x="896976" y="14843"/>
                </a:lnTo>
                <a:lnTo>
                  <a:pt x="898022" y="15057"/>
                </a:lnTo>
                <a:close/>
              </a:path>
              <a:path w="911225" h="3771900">
                <a:moveTo>
                  <a:pt x="14224" y="3756883"/>
                </a:moveTo>
                <a:lnTo>
                  <a:pt x="12817" y="3756294"/>
                </a:lnTo>
                <a:lnTo>
                  <a:pt x="12303" y="3756294"/>
                </a:lnTo>
                <a:lnTo>
                  <a:pt x="13807" y="3756599"/>
                </a:lnTo>
                <a:lnTo>
                  <a:pt x="14224" y="3756883"/>
                </a:lnTo>
                <a:close/>
              </a:path>
              <a:path w="911225" h="3771900">
                <a:moveTo>
                  <a:pt x="13807" y="3756599"/>
                </a:moveTo>
                <a:lnTo>
                  <a:pt x="12303" y="3756294"/>
                </a:lnTo>
                <a:lnTo>
                  <a:pt x="12808" y="3756294"/>
                </a:lnTo>
                <a:lnTo>
                  <a:pt x="13807" y="3756599"/>
                </a:lnTo>
                <a:close/>
              </a:path>
              <a:path w="911225" h="3771900">
                <a:moveTo>
                  <a:pt x="13698" y="3756599"/>
                </a:moveTo>
                <a:lnTo>
                  <a:pt x="12808" y="3756294"/>
                </a:lnTo>
                <a:lnTo>
                  <a:pt x="13135" y="3756294"/>
                </a:lnTo>
                <a:lnTo>
                  <a:pt x="13698" y="3756599"/>
                </a:lnTo>
                <a:close/>
              </a:path>
              <a:path w="911225" h="3771900">
                <a:moveTo>
                  <a:pt x="15097" y="3758413"/>
                </a:moveTo>
                <a:lnTo>
                  <a:pt x="14945" y="3758102"/>
                </a:lnTo>
                <a:lnTo>
                  <a:pt x="14791" y="3757635"/>
                </a:lnTo>
                <a:lnTo>
                  <a:pt x="14508" y="3757229"/>
                </a:lnTo>
                <a:lnTo>
                  <a:pt x="14224" y="3756883"/>
                </a:lnTo>
                <a:lnTo>
                  <a:pt x="14091" y="3756883"/>
                </a:lnTo>
                <a:lnTo>
                  <a:pt x="13807" y="3756599"/>
                </a:lnTo>
                <a:lnTo>
                  <a:pt x="13632" y="3756599"/>
                </a:lnTo>
                <a:lnTo>
                  <a:pt x="13179" y="3756294"/>
                </a:lnTo>
                <a:lnTo>
                  <a:pt x="15097" y="3756294"/>
                </a:lnTo>
                <a:lnTo>
                  <a:pt x="15087" y="3758413"/>
                </a:lnTo>
                <a:close/>
              </a:path>
              <a:path w="911225" h="3771900">
                <a:moveTo>
                  <a:pt x="895664" y="3759149"/>
                </a:moveTo>
                <a:lnTo>
                  <a:pt x="15158" y="3759149"/>
                </a:lnTo>
                <a:lnTo>
                  <a:pt x="15097" y="3756294"/>
                </a:lnTo>
                <a:lnTo>
                  <a:pt x="895736" y="3756294"/>
                </a:lnTo>
                <a:lnTo>
                  <a:pt x="895664" y="3759149"/>
                </a:lnTo>
                <a:close/>
              </a:path>
              <a:path w="911225" h="3771900">
                <a:moveTo>
                  <a:pt x="897026" y="3756599"/>
                </a:moveTo>
                <a:lnTo>
                  <a:pt x="897701" y="3756294"/>
                </a:lnTo>
                <a:lnTo>
                  <a:pt x="898014" y="3756294"/>
                </a:lnTo>
                <a:lnTo>
                  <a:pt x="897026" y="3756599"/>
                </a:lnTo>
                <a:close/>
              </a:path>
              <a:path w="911225" h="3771900">
                <a:moveTo>
                  <a:pt x="897026" y="3756599"/>
                </a:moveTo>
                <a:lnTo>
                  <a:pt x="898014" y="3756294"/>
                </a:lnTo>
                <a:lnTo>
                  <a:pt x="898519" y="3756294"/>
                </a:lnTo>
                <a:lnTo>
                  <a:pt x="897026" y="3756599"/>
                </a:lnTo>
                <a:close/>
              </a:path>
              <a:path w="911225" h="3771900">
                <a:moveTo>
                  <a:pt x="896599" y="3756883"/>
                </a:moveTo>
                <a:lnTo>
                  <a:pt x="897026" y="3756599"/>
                </a:lnTo>
                <a:lnTo>
                  <a:pt x="898519" y="3756294"/>
                </a:lnTo>
                <a:lnTo>
                  <a:pt x="898005" y="3756294"/>
                </a:lnTo>
                <a:lnTo>
                  <a:pt x="896599" y="3756883"/>
                </a:lnTo>
                <a:close/>
              </a:path>
              <a:path w="911225" h="3771900">
                <a:moveTo>
                  <a:pt x="910833" y="3759149"/>
                </a:moveTo>
                <a:lnTo>
                  <a:pt x="895664" y="3759149"/>
                </a:lnTo>
                <a:lnTo>
                  <a:pt x="895786" y="3758102"/>
                </a:lnTo>
                <a:lnTo>
                  <a:pt x="898005" y="3756294"/>
                </a:lnTo>
                <a:lnTo>
                  <a:pt x="910833" y="3756294"/>
                </a:lnTo>
                <a:lnTo>
                  <a:pt x="910833" y="3759149"/>
                </a:lnTo>
                <a:close/>
              </a:path>
              <a:path w="911225" h="3771900">
                <a:moveTo>
                  <a:pt x="14569" y="3757229"/>
                </a:moveTo>
                <a:lnTo>
                  <a:pt x="13632" y="3756599"/>
                </a:lnTo>
                <a:lnTo>
                  <a:pt x="14224" y="3756883"/>
                </a:lnTo>
                <a:lnTo>
                  <a:pt x="14569" y="3757229"/>
                </a:lnTo>
                <a:close/>
              </a:path>
              <a:path w="911225" h="3771900">
                <a:moveTo>
                  <a:pt x="896254" y="3757229"/>
                </a:moveTo>
                <a:lnTo>
                  <a:pt x="896599" y="3756883"/>
                </a:lnTo>
                <a:lnTo>
                  <a:pt x="897278" y="3756599"/>
                </a:lnTo>
                <a:lnTo>
                  <a:pt x="896772" y="3756883"/>
                </a:lnTo>
                <a:lnTo>
                  <a:pt x="896254" y="3757229"/>
                </a:lnTo>
                <a:close/>
              </a:path>
              <a:path w="911225" h="3771900">
                <a:moveTo>
                  <a:pt x="14843" y="3757635"/>
                </a:moveTo>
                <a:lnTo>
                  <a:pt x="14091" y="3756883"/>
                </a:lnTo>
                <a:lnTo>
                  <a:pt x="14569" y="3757229"/>
                </a:lnTo>
                <a:lnTo>
                  <a:pt x="14731" y="3757635"/>
                </a:lnTo>
                <a:close/>
              </a:path>
              <a:path w="911225" h="3771900">
                <a:moveTo>
                  <a:pt x="895979" y="3757635"/>
                </a:moveTo>
                <a:lnTo>
                  <a:pt x="896254" y="3757229"/>
                </a:lnTo>
                <a:lnTo>
                  <a:pt x="896772" y="3756883"/>
                </a:lnTo>
                <a:lnTo>
                  <a:pt x="896386" y="3757229"/>
                </a:lnTo>
                <a:lnTo>
                  <a:pt x="895979" y="3757635"/>
                </a:lnTo>
                <a:close/>
              </a:path>
              <a:path w="911225" h="3771900">
                <a:moveTo>
                  <a:pt x="895664" y="3759149"/>
                </a:moveTo>
                <a:lnTo>
                  <a:pt x="895595" y="3758800"/>
                </a:lnTo>
                <a:lnTo>
                  <a:pt x="895757" y="3758413"/>
                </a:lnTo>
                <a:lnTo>
                  <a:pt x="895664" y="3759149"/>
                </a:lnTo>
                <a:close/>
              </a:path>
            </a:pathLst>
          </a:custGeom>
          <a:solidFill>
            <a:srgbClr val="C00000"/>
          </a:solidFill>
        </p:spPr>
        <p:txBody>
          <a:bodyPr wrap="square" lIns="0" tIns="0" rIns="0" bIns="0" rtlCol="0"/>
          <a:lstStyle/>
          <a:p>
            <a:endParaRPr/>
          </a:p>
        </p:txBody>
      </p:sp>
      <p:sp>
        <p:nvSpPr>
          <p:cNvPr id="7" name="object 7"/>
          <p:cNvSpPr txBox="1"/>
          <p:nvPr/>
        </p:nvSpPr>
        <p:spPr>
          <a:xfrm>
            <a:off x="7898403" y="1121592"/>
            <a:ext cx="842644" cy="160655"/>
          </a:xfrm>
          <a:prstGeom prst="rect">
            <a:avLst/>
          </a:prstGeom>
        </p:spPr>
        <p:txBody>
          <a:bodyPr vert="horz" wrap="square" lIns="0" tIns="16510" rIns="0" bIns="0" rtlCol="0">
            <a:spAutoFit/>
          </a:bodyPr>
          <a:lstStyle/>
          <a:p>
            <a:pPr marL="12700">
              <a:lnSpc>
                <a:spcPct val="100000"/>
              </a:lnSpc>
              <a:spcBef>
                <a:spcPts val="130"/>
              </a:spcBef>
            </a:pPr>
            <a:r>
              <a:rPr sz="850" b="1" dirty="0">
                <a:solidFill>
                  <a:srgbClr val="014D94"/>
                </a:solidFill>
                <a:latin typeface="微软雅黑" panose="020B0503020204020204" charset="-122"/>
                <a:cs typeface="微软雅黑" panose="020B0503020204020204" charset="-122"/>
              </a:rPr>
              <a:t>氨曲南</a:t>
            </a:r>
            <a:r>
              <a:rPr sz="850" b="1" dirty="0">
                <a:solidFill>
                  <a:srgbClr val="014D94"/>
                </a:solidFill>
                <a:latin typeface="Calibri" panose="020F0502020204030204"/>
                <a:cs typeface="Calibri" panose="020F0502020204030204"/>
              </a:rPr>
              <a:t>-</a:t>
            </a:r>
            <a:r>
              <a:rPr sz="850" b="1" spc="-15" dirty="0">
                <a:solidFill>
                  <a:srgbClr val="014D94"/>
                </a:solidFill>
                <a:latin typeface="微软雅黑" panose="020B0503020204020204" charset="-122"/>
                <a:cs typeface="微软雅黑" panose="020B0503020204020204" charset="-122"/>
              </a:rPr>
              <a:t>阿维巴坦</a:t>
            </a:r>
            <a:endParaRPr sz="850">
              <a:latin typeface="微软雅黑" panose="020B0503020204020204" charset="-122"/>
              <a:cs typeface="微软雅黑" panose="020B0503020204020204" charset="-122"/>
            </a:endParaRPr>
          </a:p>
        </p:txBody>
      </p:sp>
      <p:sp>
        <p:nvSpPr>
          <p:cNvPr id="8" name="object 8"/>
          <p:cNvSpPr txBox="1"/>
          <p:nvPr/>
        </p:nvSpPr>
        <p:spPr>
          <a:xfrm>
            <a:off x="5312724" y="5297566"/>
            <a:ext cx="1943100" cy="160655"/>
          </a:xfrm>
          <a:prstGeom prst="rect">
            <a:avLst/>
          </a:prstGeom>
        </p:spPr>
        <p:txBody>
          <a:bodyPr vert="horz" wrap="square" lIns="0" tIns="17145" rIns="0" bIns="0" rtlCol="0">
            <a:spAutoFit/>
          </a:bodyPr>
          <a:lstStyle/>
          <a:p>
            <a:pPr marL="12700">
              <a:lnSpc>
                <a:spcPct val="100000"/>
              </a:lnSpc>
              <a:spcBef>
                <a:spcPts val="135"/>
              </a:spcBef>
            </a:pPr>
            <a:r>
              <a:rPr sz="850" dirty="0">
                <a:latin typeface="微软雅黑" panose="020B0503020204020204" charset="-122"/>
                <a:cs typeface="微软雅黑" panose="020B0503020204020204" charset="-122"/>
              </a:rPr>
              <a:t>（氨曲南</a:t>
            </a:r>
            <a:r>
              <a:rPr sz="850" dirty="0">
                <a:latin typeface="Times New Roman" panose="02020603050405020304"/>
                <a:cs typeface="Times New Roman" panose="02020603050405020304"/>
              </a:rPr>
              <a:t>-</a:t>
            </a:r>
            <a:r>
              <a:rPr sz="850" dirty="0">
                <a:latin typeface="微软雅黑" panose="020B0503020204020204" charset="-122"/>
                <a:cs typeface="微软雅黑" panose="020B0503020204020204" charset="-122"/>
              </a:rPr>
              <a:t>阿维巴坦折点：</a:t>
            </a:r>
            <a:r>
              <a:rPr sz="850" dirty="0">
                <a:latin typeface="Times New Roman" panose="02020603050405020304"/>
                <a:cs typeface="Times New Roman" panose="02020603050405020304"/>
              </a:rPr>
              <a:t>≤4</a:t>
            </a:r>
            <a:r>
              <a:rPr sz="850" spc="210" dirty="0">
                <a:latin typeface="Times New Roman" panose="02020603050405020304"/>
                <a:cs typeface="Times New Roman" panose="02020603050405020304"/>
              </a:rPr>
              <a:t> </a:t>
            </a:r>
            <a:r>
              <a:rPr sz="850" dirty="0">
                <a:latin typeface="Times New Roman" panose="02020603050405020304"/>
                <a:cs typeface="Times New Roman" panose="02020603050405020304"/>
              </a:rPr>
              <a:t>S</a:t>
            </a:r>
            <a:r>
              <a:rPr sz="850" dirty="0">
                <a:latin typeface="微软雅黑" panose="020B0503020204020204" charset="-122"/>
                <a:cs typeface="微软雅黑" panose="020B0503020204020204" charset="-122"/>
              </a:rPr>
              <a:t>；</a:t>
            </a:r>
            <a:r>
              <a:rPr sz="850" dirty="0">
                <a:latin typeface="Times New Roman" panose="02020603050405020304"/>
                <a:cs typeface="Times New Roman" panose="02020603050405020304"/>
              </a:rPr>
              <a:t>≥8</a:t>
            </a:r>
            <a:r>
              <a:rPr sz="850" spc="215" dirty="0">
                <a:latin typeface="Times New Roman" panose="02020603050405020304"/>
                <a:cs typeface="Times New Roman" panose="02020603050405020304"/>
              </a:rPr>
              <a:t> </a:t>
            </a:r>
            <a:r>
              <a:rPr sz="850" spc="-25" dirty="0">
                <a:latin typeface="Times New Roman" panose="02020603050405020304"/>
                <a:cs typeface="Times New Roman" panose="02020603050405020304"/>
              </a:rPr>
              <a:t>R</a:t>
            </a:r>
            <a:r>
              <a:rPr sz="850" spc="-25" dirty="0">
                <a:latin typeface="微软雅黑" panose="020B0503020204020204" charset="-122"/>
                <a:cs typeface="微软雅黑" panose="020B0503020204020204" charset="-122"/>
              </a:rPr>
              <a:t>）</a:t>
            </a:r>
            <a:endParaRPr sz="850">
              <a:latin typeface="微软雅黑" panose="020B0503020204020204" charset="-122"/>
              <a:cs typeface="微软雅黑" panose="020B0503020204020204" charset="-122"/>
            </a:endParaRPr>
          </a:p>
        </p:txBody>
      </p:sp>
      <p:sp>
        <p:nvSpPr>
          <p:cNvPr id="9" name="object 9"/>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氨曲南-阿维巴坦对于20株产KPC突变体CRKP</a:t>
            </a:r>
            <a:r>
              <a:rPr spc="-15" dirty="0"/>
              <a:t>保持敏感</a:t>
            </a:r>
          </a:p>
        </p:txBody>
      </p:sp>
      <p:sp>
        <p:nvSpPr>
          <p:cNvPr id="10" name="object 10"/>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12" name="object 12"/>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15</a:t>
            </a:fld>
            <a:r>
              <a:rPr spc="-10" dirty="0"/>
              <a:t> </a:t>
            </a:r>
            <a:r>
              <a:rPr spc="-5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67028" y="697585"/>
            <a:ext cx="2973705" cy="4167504"/>
            <a:chOff x="967028" y="697585"/>
            <a:chExt cx="2973705" cy="4167504"/>
          </a:xfrm>
        </p:grpSpPr>
        <p:sp>
          <p:nvSpPr>
            <p:cNvPr id="3" name="object 3"/>
            <p:cNvSpPr/>
            <p:nvPr/>
          </p:nvSpPr>
          <p:spPr>
            <a:xfrm>
              <a:off x="967028" y="829259"/>
              <a:ext cx="2973705" cy="4036060"/>
            </a:xfrm>
            <a:custGeom>
              <a:avLst/>
              <a:gdLst/>
              <a:ahLst/>
              <a:cxnLst/>
              <a:rect l="l" t="t" r="r" b="b"/>
              <a:pathLst>
                <a:path w="2973704" h="4036060">
                  <a:moveTo>
                    <a:pt x="2732227" y="4035552"/>
                  </a:moveTo>
                  <a:lnTo>
                    <a:pt x="241401" y="4035552"/>
                  </a:lnTo>
                  <a:lnTo>
                    <a:pt x="192729" y="4030452"/>
                  </a:lnTo>
                  <a:lnTo>
                    <a:pt x="147372" y="4016204"/>
                  </a:lnTo>
                  <a:lnTo>
                    <a:pt x="106316" y="3993778"/>
                  </a:lnTo>
                  <a:lnTo>
                    <a:pt x="70545" y="3964145"/>
                  </a:lnTo>
                  <a:lnTo>
                    <a:pt x="41044" y="3928273"/>
                  </a:lnTo>
                  <a:lnTo>
                    <a:pt x="18796" y="3887133"/>
                  </a:lnTo>
                  <a:lnTo>
                    <a:pt x="4787" y="3841696"/>
                  </a:lnTo>
                  <a:lnTo>
                    <a:pt x="0" y="3792931"/>
                  </a:lnTo>
                  <a:lnTo>
                    <a:pt x="0" y="242620"/>
                  </a:lnTo>
                  <a:lnTo>
                    <a:pt x="4787" y="193755"/>
                  </a:lnTo>
                  <a:lnTo>
                    <a:pt x="18796" y="148245"/>
                  </a:lnTo>
                  <a:lnTo>
                    <a:pt x="41044" y="107061"/>
                  </a:lnTo>
                  <a:lnTo>
                    <a:pt x="70545" y="71174"/>
                  </a:lnTo>
                  <a:lnTo>
                    <a:pt x="106316" y="41554"/>
                  </a:lnTo>
                  <a:lnTo>
                    <a:pt x="147372" y="19171"/>
                  </a:lnTo>
                  <a:lnTo>
                    <a:pt x="192729" y="4996"/>
                  </a:lnTo>
                  <a:lnTo>
                    <a:pt x="241401" y="0"/>
                  </a:lnTo>
                  <a:lnTo>
                    <a:pt x="2732227" y="0"/>
                  </a:lnTo>
                  <a:lnTo>
                    <a:pt x="2780936" y="4996"/>
                  </a:lnTo>
                  <a:lnTo>
                    <a:pt x="2826320" y="19171"/>
                  </a:lnTo>
                  <a:lnTo>
                    <a:pt x="2867393" y="41554"/>
                  </a:lnTo>
                  <a:lnTo>
                    <a:pt x="2903170" y="71174"/>
                  </a:lnTo>
                  <a:lnTo>
                    <a:pt x="2932667" y="107061"/>
                  </a:lnTo>
                  <a:lnTo>
                    <a:pt x="2954899" y="148245"/>
                  </a:lnTo>
                  <a:lnTo>
                    <a:pt x="2968881" y="193755"/>
                  </a:lnTo>
                  <a:lnTo>
                    <a:pt x="2973628" y="242620"/>
                  </a:lnTo>
                  <a:lnTo>
                    <a:pt x="2973628" y="3792931"/>
                  </a:lnTo>
                  <a:lnTo>
                    <a:pt x="2968881" y="3841696"/>
                  </a:lnTo>
                  <a:lnTo>
                    <a:pt x="2954899" y="3887133"/>
                  </a:lnTo>
                  <a:lnTo>
                    <a:pt x="2932667" y="3928273"/>
                  </a:lnTo>
                  <a:lnTo>
                    <a:pt x="2903170" y="3964145"/>
                  </a:lnTo>
                  <a:lnTo>
                    <a:pt x="2867393" y="3993778"/>
                  </a:lnTo>
                  <a:lnTo>
                    <a:pt x="2826320" y="4016204"/>
                  </a:lnTo>
                  <a:lnTo>
                    <a:pt x="2780936" y="4030452"/>
                  </a:lnTo>
                  <a:lnTo>
                    <a:pt x="2732227" y="4035552"/>
                  </a:lnTo>
                  <a:close/>
                </a:path>
              </a:pathLst>
            </a:custGeom>
            <a:solidFill>
              <a:srgbClr val="014D94">
                <a:alpha val="12899"/>
              </a:srgbClr>
            </a:solidFill>
          </p:spPr>
          <p:txBody>
            <a:bodyPr wrap="square" lIns="0" tIns="0" rIns="0" bIns="0" rtlCol="0"/>
            <a:lstStyle/>
            <a:p>
              <a:endParaRPr/>
            </a:p>
          </p:txBody>
        </p:sp>
        <p:sp>
          <p:nvSpPr>
            <p:cNvPr id="4" name="object 4"/>
            <p:cNvSpPr/>
            <p:nvPr/>
          </p:nvSpPr>
          <p:spPr>
            <a:xfrm>
              <a:off x="1102359" y="697585"/>
              <a:ext cx="1398905" cy="336550"/>
            </a:xfrm>
            <a:custGeom>
              <a:avLst/>
              <a:gdLst/>
              <a:ahLst/>
              <a:cxnLst/>
              <a:rect l="l" t="t" r="r" b="b"/>
              <a:pathLst>
                <a:path w="1398905" h="336550">
                  <a:moveTo>
                    <a:pt x="1342339" y="336499"/>
                  </a:moveTo>
                  <a:lnTo>
                    <a:pt x="56083" y="336499"/>
                  </a:lnTo>
                  <a:lnTo>
                    <a:pt x="34162" y="332118"/>
                  </a:lnTo>
                  <a:lnTo>
                    <a:pt x="16302" y="320104"/>
                  </a:lnTo>
                  <a:lnTo>
                    <a:pt x="4312" y="302267"/>
                  </a:lnTo>
                  <a:lnTo>
                    <a:pt x="0" y="280416"/>
                  </a:lnTo>
                  <a:lnTo>
                    <a:pt x="0" y="56083"/>
                  </a:lnTo>
                  <a:lnTo>
                    <a:pt x="4312" y="34162"/>
                  </a:lnTo>
                  <a:lnTo>
                    <a:pt x="16302" y="16302"/>
                  </a:lnTo>
                  <a:lnTo>
                    <a:pt x="34162" y="4312"/>
                  </a:lnTo>
                  <a:lnTo>
                    <a:pt x="56083" y="0"/>
                  </a:lnTo>
                  <a:lnTo>
                    <a:pt x="1342339" y="0"/>
                  </a:lnTo>
                  <a:lnTo>
                    <a:pt x="1364488" y="4312"/>
                  </a:lnTo>
                  <a:lnTo>
                    <a:pt x="1382424" y="16302"/>
                  </a:lnTo>
                  <a:lnTo>
                    <a:pt x="1394338" y="34162"/>
                  </a:lnTo>
                  <a:lnTo>
                    <a:pt x="1398422" y="56083"/>
                  </a:lnTo>
                  <a:lnTo>
                    <a:pt x="1398422" y="280416"/>
                  </a:lnTo>
                  <a:lnTo>
                    <a:pt x="1394338" y="302267"/>
                  </a:lnTo>
                  <a:lnTo>
                    <a:pt x="1382424" y="320104"/>
                  </a:lnTo>
                  <a:lnTo>
                    <a:pt x="1364488" y="332118"/>
                  </a:lnTo>
                  <a:lnTo>
                    <a:pt x="1342339" y="336499"/>
                  </a:lnTo>
                  <a:close/>
                </a:path>
              </a:pathLst>
            </a:custGeom>
            <a:solidFill>
              <a:srgbClr val="014D94"/>
            </a:solidFill>
          </p:spPr>
          <p:txBody>
            <a:bodyPr wrap="square" lIns="0" tIns="0" rIns="0" bIns="0" rtlCol="0"/>
            <a:lstStyle/>
            <a:p>
              <a:endParaRPr/>
            </a:p>
          </p:txBody>
        </p:sp>
      </p:grpSp>
      <p:sp>
        <p:nvSpPr>
          <p:cNvPr id="5" name="object 5"/>
          <p:cNvSpPr txBox="1">
            <a:spLocks noGrp="1"/>
          </p:cNvSpPr>
          <p:nvPr>
            <p:ph type="title"/>
          </p:nvPr>
        </p:nvSpPr>
        <p:spPr>
          <a:xfrm>
            <a:off x="762650" y="201604"/>
            <a:ext cx="2823210" cy="318135"/>
          </a:xfrm>
          <a:prstGeom prst="rect">
            <a:avLst/>
          </a:prstGeom>
        </p:spPr>
        <p:txBody>
          <a:bodyPr vert="horz" wrap="square" lIns="0" tIns="15240" rIns="0" bIns="0" rtlCol="0">
            <a:spAutoFit/>
          </a:bodyPr>
          <a:lstStyle/>
          <a:p>
            <a:pPr marL="12700">
              <a:lnSpc>
                <a:spcPct val="100000"/>
              </a:lnSpc>
              <a:spcBef>
                <a:spcPts val="120"/>
              </a:spcBef>
            </a:pPr>
            <a:r>
              <a:rPr sz="1900" spc="-5" dirty="0">
                <a:solidFill>
                  <a:srgbClr val="014D94"/>
                </a:solidFill>
              </a:rPr>
              <a:t>氨曲南/阿维巴坦的抗菌谱</a:t>
            </a:r>
            <a:endParaRPr sz="1900"/>
          </a:p>
        </p:txBody>
      </p:sp>
      <p:grpSp>
        <p:nvGrpSpPr>
          <p:cNvPr id="6" name="object 6"/>
          <p:cNvGrpSpPr/>
          <p:nvPr/>
        </p:nvGrpSpPr>
        <p:grpSpPr>
          <a:xfrm>
            <a:off x="1014577" y="670763"/>
            <a:ext cx="6964680" cy="4078604"/>
            <a:chOff x="1014577" y="670763"/>
            <a:chExt cx="6964680" cy="4078604"/>
          </a:xfrm>
        </p:grpSpPr>
        <p:sp>
          <p:nvSpPr>
            <p:cNvPr id="7" name="object 7"/>
            <p:cNvSpPr/>
            <p:nvPr/>
          </p:nvSpPr>
          <p:spPr>
            <a:xfrm>
              <a:off x="1014577" y="670763"/>
              <a:ext cx="1400175" cy="295275"/>
            </a:xfrm>
            <a:custGeom>
              <a:avLst/>
              <a:gdLst/>
              <a:ahLst/>
              <a:cxnLst/>
              <a:rect l="l" t="t" r="r" b="b"/>
              <a:pathLst>
                <a:path w="1400175" h="295275">
                  <a:moveTo>
                    <a:pt x="1350873" y="295046"/>
                  </a:moveTo>
                  <a:lnTo>
                    <a:pt x="49987" y="295046"/>
                  </a:lnTo>
                  <a:lnTo>
                    <a:pt x="30665" y="291374"/>
                  </a:lnTo>
                  <a:lnTo>
                    <a:pt x="14893" y="280945"/>
                  </a:lnTo>
                  <a:lnTo>
                    <a:pt x="4171" y="265375"/>
                  </a:lnTo>
                  <a:lnTo>
                    <a:pt x="0" y="246278"/>
                  </a:lnTo>
                  <a:lnTo>
                    <a:pt x="0" y="49987"/>
                  </a:lnTo>
                  <a:lnTo>
                    <a:pt x="4171" y="30710"/>
                  </a:lnTo>
                  <a:lnTo>
                    <a:pt x="14893" y="14954"/>
                  </a:lnTo>
                  <a:lnTo>
                    <a:pt x="30665" y="4217"/>
                  </a:lnTo>
                  <a:lnTo>
                    <a:pt x="49987" y="0"/>
                  </a:lnTo>
                  <a:lnTo>
                    <a:pt x="1350873" y="0"/>
                  </a:lnTo>
                  <a:lnTo>
                    <a:pt x="1369822" y="4217"/>
                  </a:lnTo>
                  <a:lnTo>
                    <a:pt x="1385342" y="14954"/>
                  </a:lnTo>
                  <a:lnTo>
                    <a:pt x="1395820" y="30710"/>
                  </a:lnTo>
                  <a:lnTo>
                    <a:pt x="1399641" y="49987"/>
                  </a:lnTo>
                  <a:lnTo>
                    <a:pt x="1399641" y="246278"/>
                  </a:lnTo>
                  <a:lnTo>
                    <a:pt x="1395820" y="265375"/>
                  </a:lnTo>
                  <a:lnTo>
                    <a:pt x="1385342" y="280945"/>
                  </a:lnTo>
                  <a:lnTo>
                    <a:pt x="1369822" y="291374"/>
                  </a:lnTo>
                  <a:lnTo>
                    <a:pt x="1350873" y="295046"/>
                  </a:lnTo>
                  <a:close/>
                </a:path>
              </a:pathLst>
            </a:custGeom>
            <a:solidFill>
              <a:srgbClr val="010E45"/>
            </a:solidFill>
          </p:spPr>
          <p:txBody>
            <a:bodyPr wrap="square" lIns="0" tIns="0" rIns="0" bIns="0" rtlCol="0"/>
            <a:lstStyle/>
            <a:p>
              <a:endParaRPr/>
            </a:p>
          </p:txBody>
        </p:sp>
        <p:sp>
          <p:nvSpPr>
            <p:cNvPr id="8" name="object 8"/>
            <p:cNvSpPr/>
            <p:nvPr/>
          </p:nvSpPr>
          <p:spPr>
            <a:xfrm>
              <a:off x="1158443" y="1136497"/>
              <a:ext cx="2511425" cy="3612515"/>
            </a:xfrm>
            <a:custGeom>
              <a:avLst/>
              <a:gdLst/>
              <a:ahLst/>
              <a:cxnLst/>
              <a:rect l="l" t="t" r="r" b="b"/>
              <a:pathLst>
                <a:path w="2511425" h="3612515">
                  <a:moveTo>
                    <a:pt x="2511374" y="3523907"/>
                  </a:moveTo>
                  <a:lnTo>
                    <a:pt x="2504465" y="3489629"/>
                  </a:lnTo>
                  <a:lnTo>
                    <a:pt x="2485644" y="3461626"/>
                  </a:lnTo>
                  <a:lnTo>
                    <a:pt x="2457780" y="3442716"/>
                  </a:lnTo>
                  <a:lnTo>
                    <a:pt x="2423769" y="3435705"/>
                  </a:lnTo>
                  <a:lnTo>
                    <a:pt x="87782" y="3435705"/>
                  </a:lnTo>
                  <a:lnTo>
                    <a:pt x="53822" y="3442703"/>
                  </a:lnTo>
                  <a:lnTo>
                    <a:pt x="25971" y="3461575"/>
                  </a:lnTo>
                  <a:lnTo>
                    <a:pt x="7073" y="3489464"/>
                  </a:lnTo>
                  <a:lnTo>
                    <a:pt x="0" y="3523488"/>
                  </a:lnTo>
                  <a:lnTo>
                    <a:pt x="7073" y="3558019"/>
                  </a:lnTo>
                  <a:lnTo>
                    <a:pt x="25971" y="3586188"/>
                  </a:lnTo>
                  <a:lnTo>
                    <a:pt x="53822" y="3605263"/>
                  </a:lnTo>
                  <a:lnTo>
                    <a:pt x="87782" y="3612489"/>
                  </a:lnTo>
                  <a:lnTo>
                    <a:pt x="2423769" y="3612489"/>
                  </a:lnTo>
                  <a:lnTo>
                    <a:pt x="2457780" y="3605263"/>
                  </a:lnTo>
                  <a:lnTo>
                    <a:pt x="2485644" y="3586238"/>
                  </a:lnTo>
                  <a:lnTo>
                    <a:pt x="2504465" y="3558184"/>
                  </a:lnTo>
                  <a:lnTo>
                    <a:pt x="2511374" y="3523907"/>
                  </a:lnTo>
                  <a:close/>
                </a:path>
                <a:path w="2511425" h="3612515">
                  <a:moveTo>
                    <a:pt x="2511374" y="3321761"/>
                  </a:moveTo>
                  <a:lnTo>
                    <a:pt x="2504465" y="3287484"/>
                  </a:lnTo>
                  <a:lnTo>
                    <a:pt x="2485644" y="3259455"/>
                  </a:lnTo>
                  <a:lnTo>
                    <a:pt x="2457780" y="3240468"/>
                  </a:lnTo>
                  <a:lnTo>
                    <a:pt x="2423769" y="3233318"/>
                  </a:lnTo>
                  <a:lnTo>
                    <a:pt x="87782" y="3233318"/>
                  </a:lnTo>
                  <a:lnTo>
                    <a:pt x="53822" y="3240481"/>
                  </a:lnTo>
                  <a:lnTo>
                    <a:pt x="25971" y="3259531"/>
                  </a:lnTo>
                  <a:lnTo>
                    <a:pt x="7073" y="3287725"/>
                  </a:lnTo>
                  <a:lnTo>
                    <a:pt x="0" y="3322320"/>
                  </a:lnTo>
                  <a:lnTo>
                    <a:pt x="7073" y="3356279"/>
                  </a:lnTo>
                  <a:lnTo>
                    <a:pt x="25971" y="3384131"/>
                  </a:lnTo>
                  <a:lnTo>
                    <a:pt x="53822" y="3403028"/>
                  </a:lnTo>
                  <a:lnTo>
                    <a:pt x="87782" y="3410102"/>
                  </a:lnTo>
                  <a:lnTo>
                    <a:pt x="2423769" y="3410102"/>
                  </a:lnTo>
                  <a:lnTo>
                    <a:pt x="2457780" y="3403028"/>
                  </a:lnTo>
                  <a:lnTo>
                    <a:pt x="2485644" y="3384067"/>
                  </a:lnTo>
                  <a:lnTo>
                    <a:pt x="2504465" y="3356038"/>
                  </a:lnTo>
                  <a:lnTo>
                    <a:pt x="2511374" y="3321761"/>
                  </a:lnTo>
                  <a:close/>
                </a:path>
                <a:path w="2511425" h="3612515">
                  <a:moveTo>
                    <a:pt x="2511374" y="3119628"/>
                  </a:moveTo>
                  <a:lnTo>
                    <a:pt x="2504465" y="3085363"/>
                  </a:lnTo>
                  <a:lnTo>
                    <a:pt x="2485644" y="3057436"/>
                  </a:lnTo>
                  <a:lnTo>
                    <a:pt x="2457780" y="3038741"/>
                  </a:lnTo>
                  <a:lnTo>
                    <a:pt x="2423769" y="3032150"/>
                  </a:lnTo>
                  <a:lnTo>
                    <a:pt x="87782" y="3032163"/>
                  </a:lnTo>
                  <a:lnTo>
                    <a:pt x="53822" y="3038741"/>
                  </a:lnTo>
                  <a:lnTo>
                    <a:pt x="25971" y="3057474"/>
                  </a:lnTo>
                  <a:lnTo>
                    <a:pt x="7073" y="3085490"/>
                  </a:lnTo>
                  <a:lnTo>
                    <a:pt x="0" y="3119932"/>
                  </a:lnTo>
                  <a:lnTo>
                    <a:pt x="7073" y="3154032"/>
                  </a:lnTo>
                  <a:lnTo>
                    <a:pt x="25971" y="3181934"/>
                  </a:lnTo>
                  <a:lnTo>
                    <a:pt x="53822" y="3200781"/>
                  </a:lnTo>
                  <a:lnTo>
                    <a:pt x="87782" y="3207715"/>
                  </a:lnTo>
                  <a:lnTo>
                    <a:pt x="2423769" y="3207715"/>
                  </a:lnTo>
                  <a:lnTo>
                    <a:pt x="2457780" y="3200781"/>
                  </a:lnTo>
                  <a:lnTo>
                    <a:pt x="2485644" y="3181896"/>
                  </a:lnTo>
                  <a:lnTo>
                    <a:pt x="2504465" y="3153905"/>
                  </a:lnTo>
                  <a:lnTo>
                    <a:pt x="2511374" y="3119628"/>
                  </a:lnTo>
                  <a:close/>
                </a:path>
                <a:path w="2511425" h="3612515">
                  <a:moveTo>
                    <a:pt x="2511374" y="2917494"/>
                  </a:moveTo>
                  <a:lnTo>
                    <a:pt x="2504465" y="2883217"/>
                  </a:lnTo>
                  <a:lnTo>
                    <a:pt x="2485644" y="2855264"/>
                  </a:lnTo>
                  <a:lnTo>
                    <a:pt x="2457780" y="2836494"/>
                  </a:lnTo>
                  <a:lnTo>
                    <a:pt x="2423769" y="2829763"/>
                  </a:lnTo>
                  <a:lnTo>
                    <a:pt x="87782" y="2829763"/>
                  </a:lnTo>
                  <a:lnTo>
                    <a:pt x="53822" y="2836494"/>
                  </a:lnTo>
                  <a:lnTo>
                    <a:pt x="25971" y="2855277"/>
                  </a:lnTo>
                  <a:lnTo>
                    <a:pt x="7073" y="2883243"/>
                  </a:lnTo>
                  <a:lnTo>
                    <a:pt x="0" y="2917545"/>
                  </a:lnTo>
                  <a:lnTo>
                    <a:pt x="7073" y="2951784"/>
                  </a:lnTo>
                  <a:lnTo>
                    <a:pt x="25971" y="2979737"/>
                  </a:lnTo>
                  <a:lnTo>
                    <a:pt x="53822" y="2998533"/>
                  </a:lnTo>
                  <a:lnTo>
                    <a:pt x="87782" y="3005328"/>
                  </a:lnTo>
                  <a:lnTo>
                    <a:pt x="2423769" y="3005328"/>
                  </a:lnTo>
                  <a:lnTo>
                    <a:pt x="2457780" y="2998533"/>
                  </a:lnTo>
                  <a:lnTo>
                    <a:pt x="2485644" y="2979724"/>
                  </a:lnTo>
                  <a:lnTo>
                    <a:pt x="2504465" y="2951759"/>
                  </a:lnTo>
                  <a:lnTo>
                    <a:pt x="2511374" y="2917494"/>
                  </a:lnTo>
                  <a:close/>
                </a:path>
                <a:path w="2511425" h="3612515">
                  <a:moveTo>
                    <a:pt x="2511374" y="2715349"/>
                  </a:moveTo>
                  <a:lnTo>
                    <a:pt x="2504465" y="2681071"/>
                  </a:lnTo>
                  <a:lnTo>
                    <a:pt x="2485644" y="2653093"/>
                  </a:lnTo>
                  <a:lnTo>
                    <a:pt x="2457780" y="2634246"/>
                  </a:lnTo>
                  <a:lnTo>
                    <a:pt x="2423769" y="2627376"/>
                  </a:lnTo>
                  <a:lnTo>
                    <a:pt x="87782" y="2627376"/>
                  </a:lnTo>
                  <a:lnTo>
                    <a:pt x="53822" y="2634246"/>
                  </a:lnTo>
                  <a:lnTo>
                    <a:pt x="25971" y="2653068"/>
                  </a:lnTo>
                  <a:lnTo>
                    <a:pt x="7073" y="2680995"/>
                  </a:lnTo>
                  <a:lnTo>
                    <a:pt x="0" y="2715158"/>
                  </a:lnTo>
                  <a:lnTo>
                    <a:pt x="7073" y="2749537"/>
                  </a:lnTo>
                  <a:lnTo>
                    <a:pt x="25971" y="2777528"/>
                  </a:lnTo>
                  <a:lnTo>
                    <a:pt x="53822" y="2796286"/>
                  </a:lnTo>
                  <a:lnTo>
                    <a:pt x="87782" y="2802940"/>
                  </a:lnTo>
                  <a:lnTo>
                    <a:pt x="2423769" y="2802940"/>
                  </a:lnTo>
                  <a:lnTo>
                    <a:pt x="2457780" y="2796286"/>
                  </a:lnTo>
                  <a:lnTo>
                    <a:pt x="2485644" y="2777553"/>
                  </a:lnTo>
                  <a:lnTo>
                    <a:pt x="2504465" y="2749613"/>
                  </a:lnTo>
                  <a:lnTo>
                    <a:pt x="2511374" y="2715349"/>
                  </a:lnTo>
                  <a:close/>
                </a:path>
                <a:path w="2511425" h="3612515">
                  <a:moveTo>
                    <a:pt x="2511374" y="2513203"/>
                  </a:moveTo>
                  <a:lnTo>
                    <a:pt x="2504465" y="2478925"/>
                  </a:lnTo>
                  <a:lnTo>
                    <a:pt x="2485644" y="2450922"/>
                  </a:lnTo>
                  <a:lnTo>
                    <a:pt x="2457780" y="2432012"/>
                  </a:lnTo>
                  <a:lnTo>
                    <a:pt x="2423769" y="2424988"/>
                  </a:lnTo>
                  <a:lnTo>
                    <a:pt x="87782" y="2424988"/>
                  </a:lnTo>
                  <a:lnTo>
                    <a:pt x="53822" y="2431999"/>
                  </a:lnTo>
                  <a:lnTo>
                    <a:pt x="25971" y="2450871"/>
                  </a:lnTo>
                  <a:lnTo>
                    <a:pt x="7073" y="2478748"/>
                  </a:lnTo>
                  <a:lnTo>
                    <a:pt x="0" y="2512771"/>
                  </a:lnTo>
                  <a:lnTo>
                    <a:pt x="7073" y="2547302"/>
                  </a:lnTo>
                  <a:lnTo>
                    <a:pt x="25971" y="2575483"/>
                  </a:lnTo>
                  <a:lnTo>
                    <a:pt x="53822" y="2594546"/>
                  </a:lnTo>
                  <a:lnTo>
                    <a:pt x="87782" y="2601772"/>
                  </a:lnTo>
                  <a:lnTo>
                    <a:pt x="2423769" y="2601772"/>
                  </a:lnTo>
                  <a:lnTo>
                    <a:pt x="2457780" y="2594559"/>
                  </a:lnTo>
                  <a:lnTo>
                    <a:pt x="2485644" y="2575534"/>
                  </a:lnTo>
                  <a:lnTo>
                    <a:pt x="2504465" y="2547480"/>
                  </a:lnTo>
                  <a:lnTo>
                    <a:pt x="2511374" y="2513203"/>
                  </a:lnTo>
                  <a:close/>
                </a:path>
                <a:path w="2511425" h="3612515">
                  <a:moveTo>
                    <a:pt x="2511374" y="2311057"/>
                  </a:moveTo>
                  <a:lnTo>
                    <a:pt x="2504465" y="2276779"/>
                  </a:lnTo>
                  <a:lnTo>
                    <a:pt x="2485644" y="2248751"/>
                  </a:lnTo>
                  <a:lnTo>
                    <a:pt x="2457780" y="2229764"/>
                  </a:lnTo>
                  <a:lnTo>
                    <a:pt x="2423769" y="2222601"/>
                  </a:lnTo>
                  <a:lnTo>
                    <a:pt x="87782" y="2222601"/>
                  </a:lnTo>
                  <a:lnTo>
                    <a:pt x="53822" y="2229764"/>
                  </a:lnTo>
                  <a:lnTo>
                    <a:pt x="25971" y="2248814"/>
                  </a:lnTo>
                  <a:lnTo>
                    <a:pt x="7073" y="2277008"/>
                  </a:lnTo>
                  <a:lnTo>
                    <a:pt x="0" y="2311603"/>
                  </a:lnTo>
                  <a:lnTo>
                    <a:pt x="7073" y="2345575"/>
                  </a:lnTo>
                  <a:lnTo>
                    <a:pt x="25971" y="2373426"/>
                  </a:lnTo>
                  <a:lnTo>
                    <a:pt x="53822" y="2392324"/>
                  </a:lnTo>
                  <a:lnTo>
                    <a:pt x="87782" y="2399385"/>
                  </a:lnTo>
                  <a:lnTo>
                    <a:pt x="2423769" y="2399385"/>
                  </a:lnTo>
                  <a:lnTo>
                    <a:pt x="2457780" y="2392311"/>
                  </a:lnTo>
                  <a:lnTo>
                    <a:pt x="2485644" y="2373363"/>
                  </a:lnTo>
                  <a:lnTo>
                    <a:pt x="2504465" y="2345347"/>
                  </a:lnTo>
                  <a:lnTo>
                    <a:pt x="2511374" y="2311057"/>
                  </a:lnTo>
                  <a:close/>
                </a:path>
                <a:path w="2511425" h="3612515">
                  <a:moveTo>
                    <a:pt x="2511374" y="2108924"/>
                  </a:moveTo>
                  <a:lnTo>
                    <a:pt x="2504465" y="2074659"/>
                  </a:lnTo>
                  <a:lnTo>
                    <a:pt x="2485644" y="2046732"/>
                  </a:lnTo>
                  <a:lnTo>
                    <a:pt x="2457780" y="2028024"/>
                  </a:lnTo>
                  <a:lnTo>
                    <a:pt x="2423769" y="2021433"/>
                  </a:lnTo>
                  <a:lnTo>
                    <a:pt x="87782" y="2021433"/>
                  </a:lnTo>
                  <a:lnTo>
                    <a:pt x="53822" y="2028037"/>
                  </a:lnTo>
                  <a:lnTo>
                    <a:pt x="25971" y="2046770"/>
                  </a:lnTo>
                  <a:lnTo>
                    <a:pt x="7073" y="2074786"/>
                  </a:lnTo>
                  <a:lnTo>
                    <a:pt x="0" y="2109216"/>
                  </a:lnTo>
                  <a:lnTo>
                    <a:pt x="7073" y="2143328"/>
                  </a:lnTo>
                  <a:lnTo>
                    <a:pt x="25971" y="2171230"/>
                  </a:lnTo>
                  <a:lnTo>
                    <a:pt x="53822" y="2190077"/>
                  </a:lnTo>
                  <a:lnTo>
                    <a:pt x="87782" y="2196998"/>
                  </a:lnTo>
                  <a:lnTo>
                    <a:pt x="2423769" y="2196998"/>
                  </a:lnTo>
                  <a:lnTo>
                    <a:pt x="2457780" y="2190064"/>
                  </a:lnTo>
                  <a:lnTo>
                    <a:pt x="2485644" y="2171192"/>
                  </a:lnTo>
                  <a:lnTo>
                    <a:pt x="2504465" y="2143201"/>
                  </a:lnTo>
                  <a:lnTo>
                    <a:pt x="2511374" y="2108924"/>
                  </a:lnTo>
                  <a:close/>
                </a:path>
                <a:path w="2511425" h="3612515">
                  <a:moveTo>
                    <a:pt x="2511374" y="1906778"/>
                  </a:moveTo>
                  <a:lnTo>
                    <a:pt x="2504465" y="1872513"/>
                  </a:lnTo>
                  <a:lnTo>
                    <a:pt x="2485644" y="1844560"/>
                  </a:lnTo>
                  <a:lnTo>
                    <a:pt x="2457780" y="1825790"/>
                  </a:lnTo>
                  <a:lnTo>
                    <a:pt x="2423769" y="1819046"/>
                  </a:lnTo>
                  <a:lnTo>
                    <a:pt x="87782" y="1819046"/>
                  </a:lnTo>
                  <a:lnTo>
                    <a:pt x="53822" y="1825790"/>
                  </a:lnTo>
                  <a:lnTo>
                    <a:pt x="25971" y="1844573"/>
                  </a:lnTo>
                  <a:lnTo>
                    <a:pt x="7073" y="1872538"/>
                  </a:lnTo>
                  <a:lnTo>
                    <a:pt x="0" y="1906828"/>
                  </a:lnTo>
                  <a:lnTo>
                    <a:pt x="7073" y="1941068"/>
                  </a:lnTo>
                  <a:lnTo>
                    <a:pt x="25971" y="1969020"/>
                  </a:lnTo>
                  <a:lnTo>
                    <a:pt x="53822" y="1987816"/>
                  </a:lnTo>
                  <a:lnTo>
                    <a:pt x="87782" y="1994611"/>
                  </a:lnTo>
                  <a:lnTo>
                    <a:pt x="2423769" y="1994611"/>
                  </a:lnTo>
                  <a:lnTo>
                    <a:pt x="2457780" y="1987816"/>
                  </a:lnTo>
                  <a:lnTo>
                    <a:pt x="2485644" y="1969020"/>
                  </a:lnTo>
                  <a:lnTo>
                    <a:pt x="2504465" y="1941055"/>
                  </a:lnTo>
                  <a:lnTo>
                    <a:pt x="2511374" y="1906778"/>
                  </a:lnTo>
                  <a:close/>
                </a:path>
                <a:path w="2511425" h="3612515">
                  <a:moveTo>
                    <a:pt x="2511374" y="1704644"/>
                  </a:moveTo>
                  <a:lnTo>
                    <a:pt x="2504465" y="1670367"/>
                  </a:lnTo>
                  <a:lnTo>
                    <a:pt x="2485644" y="1642389"/>
                  </a:lnTo>
                  <a:lnTo>
                    <a:pt x="2457780" y="1623542"/>
                  </a:lnTo>
                  <a:lnTo>
                    <a:pt x="2423769" y="1616659"/>
                  </a:lnTo>
                  <a:lnTo>
                    <a:pt x="87782" y="1616659"/>
                  </a:lnTo>
                  <a:lnTo>
                    <a:pt x="53822" y="1623542"/>
                  </a:lnTo>
                  <a:lnTo>
                    <a:pt x="25971" y="1642364"/>
                  </a:lnTo>
                  <a:lnTo>
                    <a:pt x="7073" y="1670291"/>
                  </a:lnTo>
                  <a:lnTo>
                    <a:pt x="0" y="1704441"/>
                  </a:lnTo>
                  <a:lnTo>
                    <a:pt x="7073" y="1738820"/>
                  </a:lnTo>
                  <a:lnTo>
                    <a:pt x="25971" y="1766824"/>
                  </a:lnTo>
                  <a:lnTo>
                    <a:pt x="53822" y="1785581"/>
                  </a:lnTo>
                  <a:lnTo>
                    <a:pt x="87782" y="1792224"/>
                  </a:lnTo>
                  <a:lnTo>
                    <a:pt x="2423769" y="1792224"/>
                  </a:lnTo>
                  <a:lnTo>
                    <a:pt x="2457780" y="1785581"/>
                  </a:lnTo>
                  <a:lnTo>
                    <a:pt x="2485644" y="1766849"/>
                  </a:lnTo>
                  <a:lnTo>
                    <a:pt x="2504465" y="1738909"/>
                  </a:lnTo>
                  <a:lnTo>
                    <a:pt x="2511374" y="1704644"/>
                  </a:lnTo>
                  <a:close/>
                </a:path>
                <a:path w="2511425" h="3612515">
                  <a:moveTo>
                    <a:pt x="2511374" y="1502498"/>
                  </a:moveTo>
                  <a:lnTo>
                    <a:pt x="2504465" y="1468221"/>
                  </a:lnTo>
                  <a:lnTo>
                    <a:pt x="2485644" y="1440218"/>
                  </a:lnTo>
                  <a:lnTo>
                    <a:pt x="2457780" y="1421295"/>
                  </a:lnTo>
                  <a:lnTo>
                    <a:pt x="2423769" y="1414272"/>
                  </a:lnTo>
                  <a:lnTo>
                    <a:pt x="87782" y="1414272"/>
                  </a:lnTo>
                  <a:lnTo>
                    <a:pt x="53822" y="1421295"/>
                  </a:lnTo>
                  <a:lnTo>
                    <a:pt x="25971" y="1440167"/>
                  </a:lnTo>
                  <a:lnTo>
                    <a:pt x="7073" y="1468043"/>
                  </a:lnTo>
                  <a:lnTo>
                    <a:pt x="0" y="1502054"/>
                  </a:lnTo>
                  <a:lnTo>
                    <a:pt x="7073" y="1536598"/>
                  </a:lnTo>
                  <a:lnTo>
                    <a:pt x="25971" y="1564767"/>
                  </a:lnTo>
                  <a:lnTo>
                    <a:pt x="53822" y="1583842"/>
                  </a:lnTo>
                  <a:lnTo>
                    <a:pt x="87782" y="1591056"/>
                  </a:lnTo>
                  <a:lnTo>
                    <a:pt x="2423769" y="1591056"/>
                  </a:lnTo>
                  <a:lnTo>
                    <a:pt x="2457780" y="1583855"/>
                  </a:lnTo>
                  <a:lnTo>
                    <a:pt x="2485644" y="1564830"/>
                  </a:lnTo>
                  <a:lnTo>
                    <a:pt x="2504465" y="1536788"/>
                  </a:lnTo>
                  <a:lnTo>
                    <a:pt x="2511374" y="1502498"/>
                  </a:lnTo>
                  <a:close/>
                </a:path>
                <a:path w="2511425" h="3612515">
                  <a:moveTo>
                    <a:pt x="2511374" y="1300365"/>
                  </a:moveTo>
                  <a:lnTo>
                    <a:pt x="2504465" y="1266075"/>
                  </a:lnTo>
                  <a:lnTo>
                    <a:pt x="2485644" y="1238046"/>
                  </a:lnTo>
                  <a:lnTo>
                    <a:pt x="2457780" y="1219047"/>
                  </a:lnTo>
                  <a:lnTo>
                    <a:pt x="2423769" y="1211884"/>
                  </a:lnTo>
                  <a:lnTo>
                    <a:pt x="87782" y="1211884"/>
                  </a:lnTo>
                  <a:lnTo>
                    <a:pt x="53822" y="1219060"/>
                  </a:lnTo>
                  <a:lnTo>
                    <a:pt x="25971" y="1238110"/>
                  </a:lnTo>
                  <a:lnTo>
                    <a:pt x="7073" y="1266304"/>
                  </a:lnTo>
                  <a:lnTo>
                    <a:pt x="0" y="1300886"/>
                  </a:lnTo>
                  <a:lnTo>
                    <a:pt x="7073" y="1334858"/>
                  </a:lnTo>
                  <a:lnTo>
                    <a:pt x="25971" y="1362722"/>
                  </a:lnTo>
                  <a:lnTo>
                    <a:pt x="53822" y="1381607"/>
                  </a:lnTo>
                  <a:lnTo>
                    <a:pt x="87782" y="1388668"/>
                  </a:lnTo>
                  <a:lnTo>
                    <a:pt x="2423769" y="1388668"/>
                  </a:lnTo>
                  <a:lnTo>
                    <a:pt x="2457780" y="1381607"/>
                  </a:lnTo>
                  <a:lnTo>
                    <a:pt x="2485644" y="1362659"/>
                  </a:lnTo>
                  <a:lnTo>
                    <a:pt x="2504465" y="1334643"/>
                  </a:lnTo>
                  <a:lnTo>
                    <a:pt x="2511374" y="1300365"/>
                  </a:lnTo>
                  <a:close/>
                </a:path>
                <a:path w="2511425" h="3612515">
                  <a:moveTo>
                    <a:pt x="2511374" y="1098219"/>
                  </a:moveTo>
                  <a:lnTo>
                    <a:pt x="2504465" y="1063955"/>
                  </a:lnTo>
                  <a:lnTo>
                    <a:pt x="2485644" y="1036027"/>
                  </a:lnTo>
                  <a:lnTo>
                    <a:pt x="2457780" y="1017320"/>
                  </a:lnTo>
                  <a:lnTo>
                    <a:pt x="2423769" y="1010716"/>
                  </a:lnTo>
                  <a:lnTo>
                    <a:pt x="87782" y="1010716"/>
                  </a:lnTo>
                  <a:lnTo>
                    <a:pt x="53822" y="1017320"/>
                  </a:lnTo>
                  <a:lnTo>
                    <a:pt x="25971" y="1036066"/>
                  </a:lnTo>
                  <a:lnTo>
                    <a:pt x="7073" y="1064082"/>
                  </a:lnTo>
                  <a:lnTo>
                    <a:pt x="0" y="1098499"/>
                  </a:lnTo>
                  <a:lnTo>
                    <a:pt x="7073" y="1132611"/>
                  </a:lnTo>
                  <a:lnTo>
                    <a:pt x="25971" y="1160513"/>
                  </a:lnTo>
                  <a:lnTo>
                    <a:pt x="53822" y="1179360"/>
                  </a:lnTo>
                  <a:lnTo>
                    <a:pt x="87782" y="1186281"/>
                  </a:lnTo>
                  <a:lnTo>
                    <a:pt x="2423769" y="1186281"/>
                  </a:lnTo>
                  <a:lnTo>
                    <a:pt x="2457780" y="1179360"/>
                  </a:lnTo>
                  <a:lnTo>
                    <a:pt x="2485644" y="1160475"/>
                  </a:lnTo>
                  <a:lnTo>
                    <a:pt x="2504465" y="1132497"/>
                  </a:lnTo>
                  <a:lnTo>
                    <a:pt x="2511374" y="1098219"/>
                  </a:lnTo>
                  <a:close/>
                </a:path>
                <a:path w="2511425" h="3612515">
                  <a:moveTo>
                    <a:pt x="2511374" y="896073"/>
                  </a:moveTo>
                  <a:lnTo>
                    <a:pt x="2504465" y="861809"/>
                  </a:lnTo>
                  <a:lnTo>
                    <a:pt x="2485644" y="833856"/>
                  </a:lnTo>
                  <a:lnTo>
                    <a:pt x="2457780" y="815073"/>
                  </a:lnTo>
                  <a:lnTo>
                    <a:pt x="2423769" y="808329"/>
                  </a:lnTo>
                  <a:lnTo>
                    <a:pt x="87782" y="808329"/>
                  </a:lnTo>
                  <a:lnTo>
                    <a:pt x="53822" y="815073"/>
                  </a:lnTo>
                  <a:lnTo>
                    <a:pt x="25971" y="833856"/>
                  </a:lnTo>
                  <a:lnTo>
                    <a:pt x="7073" y="861822"/>
                  </a:lnTo>
                  <a:lnTo>
                    <a:pt x="0" y="896112"/>
                  </a:lnTo>
                  <a:lnTo>
                    <a:pt x="7073" y="930363"/>
                  </a:lnTo>
                  <a:lnTo>
                    <a:pt x="25971" y="958316"/>
                  </a:lnTo>
                  <a:lnTo>
                    <a:pt x="53822" y="977112"/>
                  </a:lnTo>
                  <a:lnTo>
                    <a:pt x="87782" y="983894"/>
                  </a:lnTo>
                  <a:lnTo>
                    <a:pt x="2423769" y="983894"/>
                  </a:lnTo>
                  <a:lnTo>
                    <a:pt x="2457780" y="977112"/>
                  </a:lnTo>
                  <a:lnTo>
                    <a:pt x="2485644" y="958316"/>
                  </a:lnTo>
                  <a:lnTo>
                    <a:pt x="2504465" y="930351"/>
                  </a:lnTo>
                  <a:lnTo>
                    <a:pt x="2511374" y="896073"/>
                  </a:lnTo>
                  <a:close/>
                </a:path>
                <a:path w="2511425" h="3612515">
                  <a:moveTo>
                    <a:pt x="2511374" y="693928"/>
                  </a:moveTo>
                  <a:lnTo>
                    <a:pt x="2504465" y="659663"/>
                  </a:lnTo>
                  <a:lnTo>
                    <a:pt x="2485644" y="631685"/>
                  </a:lnTo>
                  <a:lnTo>
                    <a:pt x="2457780" y="612838"/>
                  </a:lnTo>
                  <a:lnTo>
                    <a:pt x="2423769" y="605942"/>
                  </a:lnTo>
                  <a:lnTo>
                    <a:pt x="87782" y="605942"/>
                  </a:lnTo>
                  <a:lnTo>
                    <a:pt x="53822" y="612825"/>
                  </a:lnTo>
                  <a:lnTo>
                    <a:pt x="25971" y="631659"/>
                  </a:lnTo>
                  <a:lnTo>
                    <a:pt x="7073" y="659574"/>
                  </a:lnTo>
                  <a:lnTo>
                    <a:pt x="0" y="693724"/>
                  </a:lnTo>
                  <a:lnTo>
                    <a:pt x="7073" y="728116"/>
                  </a:lnTo>
                  <a:lnTo>
                    <a:pt x="25971" y="756119"/>
                  </a:lnTo>
                  <a:lnTo>
                    <a:pt x="53822" y="774865"/>
                  </a:lnTo>
                  <a:lnTo>
                    <a:pt x="87782" y="781507"/>
                  </a:lnTo>
                  <a:lnTo>
                    <a:pt x="2423769" y="781507"/>
                  </a:lnTo>
                  <a:lnTo>
                    <a:pt x="2457780" y="774865"/>
                  </a:lnTo>
                  <a:lnTo>
                    <a:pt x="2485644" y="756145"/>
                  </a:lnTo>
                  <a:lnTo>
                    <a:pt x="2504465" y="728205"/>
                  </a:lnTo>
                  <a:lnTo>
                    <a:pt x="2511374" y="693928"/>
                  </a:lnTo>
                  <a:close/>
                </a:path>
                <a:path w="2511425" h="3612515">
                  <a:moveTo>
                    <a:pt x="2511374" y="491794"/>
                  </a:moveTo>
                  <a:lnTo>
                    <a:pt x="2504465" y="457517"/>
                  </a:lnTo>
                  <a:lnTo>
                    <a:pt x="2485644" y="429514"/>
                  </a:lnTo>
                  <a:lnTo>
                    <a:pt x="2457780" y="410591"/>
                  </a:lnTo>
                  <a:lnTo>
                    <a:pt x="2423769" y="403555"/>
                  </a:lnTo>
                  <a:lnTo>
                    <a:pt x="87782" y="403555"/>
                  </a:lnTo>
                  <a:lnTo>
                    <a:pt x="53822" y="410578"/>
                  </a:lnTo>
                  <a:lnTo>
                    <a:pt x="25971" y="429450"/>
                  </a:lnTo>
                  <a:lnTo>
                    <a:pt x="7073" y="457327"/>
                  </a:lnTo>
                  <a:lnTo>
                    <a:pt x="0" y="491337"/>
                  </a:lnTo>
                  <a:lnTo>
                    <a:pt x="7073" y="525881"/>
                  </a:lnTo>
                  <a:lnTo>
                    <a:pt x="25971" y="554062"/>
                  </a:lnTo>
                  <a:lnTo>
                    <a:pt x="53822" y="573125"/>
                  </a:lnTo>
                  <a:lnTo>
                    <a:pt x="87782" y="580339"/>
                  </a:lnTo>
                  <a:lnTo>
                    <a:pt x="2423769" y="580339"/>
                  </a:lnTo>
                  <a:lnTo>
                    <a:pt x="2457780" y="573138"/>
                  </a:lnTo>
                  <a:lnTo>
                    <a:pt x="2485644" y="554126"/>
                  </a:lnTo>
                  <a:lnTo>
                    <a:pt x="2504465" y="526084"/>
                  </a:lnTo>
                  <a:lnTo>
                    <a:pt x="2511374" y="491794"/>
                  </a:lnTo>
                  <a:close/>
                </a:path>
                <a:path w="2511425" h="3612515">
                  <a:moveTo>
                    <a:pt x="2511374" y="289661"/>
                  </a:moveTo>
                  <a:lnTo>
                    <a:pt x="2504465" y="255384"/>
                  </a:lnTo>
                  <a:lnTo>
                    <a:pt x="2485644" y="227342"/>
                  </a:lnTo>
                  <a:lnTo>
                    <a:pt x="2457780" y="208343"/>
                  </a:lnTo>
                  <a:lnTo>
                    <a:pt x="2423769" y="201168"/>
                  </a:lnTo>
                  <a:lnTo>
                    <a:pt x="87782" y="201168"/>
                  </a:lnTo>
                  <a:lnTo>
                    <a:pt x="53822" y="208356"/>
                  </a:lnTo>
                  <a:lnTo>
                    <a:pt x="25971" y="227406"/>
                  </a:lnTo>
                  <a:lnTo>
                    <a:pt x="7073" y="255600"/>
                  </a:lnTo>
                  <a:lnTo>
                    <a:pt x="0" y="290169"/>
                  </a:lnTo>
                  <a:lnTo>
                    <a:pt x="7073" y="324154"/>
                  </a:lnTo>
                  <a:lnTo>
                    <a:pt x="25971" y="352005"/>
                  </a:lnTo>
                  <a:lnTo>
                    <a:pt x="53822" y="370903"/>
                  </a:lnTo>
                  <a:lnTo>
                    <a:pt x="87782" y="377952"/>
                  </a:lnTo>
                  <a:lnTo>
                    <a:pt x="2423769" y="377952"/>
                  </a:lnTo>
                  <a:lnTo>
                    <a:pt x="2457780" y="370890"/>
                  </a:lnTo>
                  <a:lnTo>
                    <a:pt x="2485644" y="351942"/>
                  </a:lnTo>
                  <a:lnTo>
                    <a:pt x="2504465" y="323938"/>
                  </a:lnTo>
                  <a:lnTo>
                    <a:pt x="2511374" y="289661"/>
                  </a:lnTo>
                  <a:close/>
                </a:path>
                <a:path w="2511425" h="3612515">
                  <a:moveTo>
                    <a:pt x="2511374" y="87515"/>
                  </a:moveTo>
                  <a:lnTo>
                    <a:pt x="2504465" y="53251"/>
                  </a:lnTo>
                  <a:lnTo>
                    <a:pt x="2485644" y="25323"/>
                  </a:lnTo>
                  <a:lnTo>
                    <a:pt x="2457780" y="6616"/>
                  </a:lnTo>
                  <a:lnTo>
                    <a:pt x="2423769" y="0"/>
                  </a:lnTo>
                  <a:lnTo>
                    <a:pt x="87782" y="0"/>
                  </a:lnTo>
                  <a:lnTo>
                    <a:pt x="53822" y="6616"/>
                  </a:lnTo>
                  <a:lnTo>
                    <a:pt x="25971" y="25361"/>
                  </a:lnTo>
                  <a:lnTo>
                    <a:pt x="7073" y="53365"/>
                  </a:lnTo>
                  <a:lnTo>
                    <a:pt x="0" y="87782"/>
                  </a:lnTo>
                  <a:lnTo>
                    <a:pt x="7073" y="121907"/>
                  </a:lnTo>
                  <a:lnTo>
                    <a:pt x="25971" y="149809"/>
                  </a:lnTo>
                  <a:lnTo>
                    <a:pt x="53822" y="168656"/>
                  </a:lnTo>
                  <a:lnTo>
                    <a:pt x="87782" y="175564"/>
                  </a:lnTo>
                  <a:lnTo>
                    <a:pt x="2423769" y="175564"/>
                  </a:lnTo>
                  <a:lnTo>
                    <a:pt x="2457780" y="168656"/>
                  </a:lnTo>
                  <a:lnTo>
                    <a:pt x="2485644" y="149771"/>
                  </a:lnTo>
                  <a:lnTo>
                    <a:pt x="2504465" y="121793"/>
                  </a:lnTo>
                  <a:lnTo>
                    <a:pt x="2511374" y="87515"/>
                  </a:lnTo>
                  <a:close/>
                </a:path>
              </a:pathLst>
            </a:custGeom>
            <a:solidFill>
              <a:srgbClr val="FFFFFF">
                <a:alpha val="74899"/>
              </a:srgbClr>
            </a:solidFill>
          </p:spPr>
          <p:txBody>
            <a:bodyPr wrap="square" lIns="0" tIns="0" rIns="0" bIns="0" rtlCol="0"/>
            <a:lstStyle/>
            <a:p>
              <a:endParaRPr/>
            </a:p>
          </p:txBody>
        </p:sp>
        <p:sp>
          <p:nvSpPr>
            <p:cNvPr id="9" name="object 9"/>
            <p:cNvSpPr/>
            <p:nvPr/>
          </p:nvSpPr>
          <p:spPr>
            <a:xfrm>
              <a:off x="5003800" y="829259"/>
              <a:ext cx="2974975" cy="3054350"/>
            </a:xfrm>
            <a:custGeom>
              <a:avLst/>
              <a:gdLst/>
              <a:ahLst/>
              <a:cxnLst/>
              <a:rect l="l" t="t" r="r" b="b"/>
              <a:pathLst>
                <a:path w="2974975" h="3054350">
                  <a:moveTo>
                    <a:pt x="2732227" y="3054096"/>
                  </a:moveTo>
                  <a:lnTo>
                    <a:pt x="242620" y="3054096"/>
                  </a:lnTo>
                  <a:lnTo>
                    <a:pt x="193622" y="3048996"/>
                  </a:lnTo>
                  <a:lnTo>
                    <a:pt x="148018" y="3034748"/>
                  </a:lnTo>
                  <a:lnTo>
                    <a:pt x="106778" y="3012322"/>
                  </a:lnTo>
                  <a:lnTo>
                    <a:pt x="70873" y="2982689"/>
                  </a:lnTo>
                  <a:lnTo>
                    <a:pt x="41273" y="2946817"/>
                  </a:lnTo>
                  <a:lnTo>
                    <a:pt x="18947" y="2905677"/>
                  </a:lnTo>
                  <a:lnTo>
                    <a:pt x="4866" y="2860240"/>
                  </a:lnTo>
                  <a:lnTo>
                    <a:pt x="0" y="2811475"/>
                  </a:lnTo>
                  <a:lnTo>
                    <a:pt x="0" y="242620"/>
                  </a:lnTo>
                  <a:lnTo>
                    <a:pt x="4866" y="193755"/>
                  </a:lnTo>
                  <a:lnTo>
                    <a:pt x="18947" y="148245"/>
                  </a:lnTo>
                  <a:lnTo>
                    <a:pt x="41273" y="107061"/>
                  </a:lnTo>
                  <a:lnTo>
                    <a:pt x="70873" y="71174"/>
                  </a:lnTo>
                  <a:lnTo>
                    <a:pt x="106778" y="41554"/>
                  </a:lnTo>
                  <a:lnTo>
                    <a:pt x="148018" y="19171"/>
                  </a:lnTo>
                  <a:lnTo>
                    <a:pt x="193622" y="4996"/>
                  </a:lnTo>
                  <a:lnTo>
                    <a:pt x="242620" y="0"/>
                  </a:lnTo>
                  <a:lnTo>
                    <a:pt x="2732227" y="0"/>
                  </a:lnTo>
                  <a:lnTo>
                    <a:pt x="2781015" y="4996"/>
                  </a:lnTo>
                  <a:lnTo>
                    <a:pt x="2826470" y="19171"/>
                  </a:lnTo>
                  <a:lnTo>
                    <a:pt x="2867621" y="41554"/>
                  </a:lnTo>
                  <a:lnTo>
                    <a:pt x="2903498" y="71174"/>
                  </a:lnTo>
                  <a:lnTo>
                    <a:pt x="2933129" y="107061"/>
                  </a:lnTo>
                  <a:lnTo>
                    <a:pt x="2955545" y="148245"/>
                  </a:lnTo>
                  <a:lnTo>
                    <a:pt x="2969774" y="193755"/>
                  </a:lnTo>
                  <a:lnTo>
                    <a:pt x="2974848" y="242620"/>
                  </a:lnTo>
                  <a:lnTo>
                    <a:pt x="2974848" y="2811475"/>
                  </a:lnTo>
                  <a:lnTo>
                    <a:pt x="2969774" y="2860240"/>
                  </a:lnTo>
                  <a:lnTo>
                    <a:pt x="2955545" y="2905677"/>
                  </a:lnTo>
                  <a:lnTo>
                    <a:pt x="2933129" y="2946817"/>
                  </a:lnTo>
                  <a:lnTo>
                    <a:pt x="2903498" y="2982689"/>
                  </a:lnTo>
                  <a:lnTo>
                    <a:pt x="2867621" y="3012322"/>
                  </a:lnTo>
                  <a:lnTo>
                    <a:pt x="2826470" y="3034748"/>
                  </a:lnTo>
                  <a:lnTo>
                    <a:pt x="2781015" y="3048996"/>
                  </a:lnTo>
                  <a:lnTo>
                    <a:pt x="2732227" y="3054096"/>
                  </a:lnTo>
                  <a:close/>
                </a:path>
              </a:pathLst>
            </a:custGeom>
            <a:solidFill>
              <a:srgbClr val="CDEBE8"/>
            </a:solidFill>
          </p:spPr>
          <p:txBody>
            <a:bodyPr wrap="square" lIns="0" tIns="0" rIns="0" bIns="0" rtlCol="0"/>
            <a:lstStyle/>
            <a:p>
              <a:endParaRPr/>
            </a:p>
          </p:txBody>
        </p:sp>
        <p:sp>
          <p:nvSpPr>
            <p:cNvPr id="10" name="object 10"/>
            <p:cNvSpPr/>
            <p:nvPr/>
          </p:nvSpPr>
          <p:spPr>
            <a:xfrm>
              <a:off x="5139131" y="697585"/>
              <a:ext cx="1602105" cy="336550"/>
            </a:xfrm>
            <a:custGeom>
              <a:avLst/>
              <a:gdLst/>
              <a:ahLst/>
              <a:cxnLst/>
              <a:rect l="l" t="t" r="r" b="b"/>
              <a:pathLst>
                <a:path w="1602104" h="336550">
                  <a:moveTo>
                    <a:pt x="1545945" y="336499"/>
                  </a:moveTo>
                  <a:lnTo>
                    <a:pt x="56083" y="336499"/>
                  </a:lnTo>
                  <a:lnTo>
                    <a:pt x="34294" y="332118"/>
                  </a:lnTo>
                  <a:lnTo>
                    <a:pt x="16478" y="320104"/>
                  </a:lnTo>
                  <a:lnTo>
                    <a:pt x="4443" y="302267"/>
                  </a:lnTo>
                  <a:lnTo>
                    <a:pt x="0" y="280416"/>
                  </a:lnTo>
                  <a:lnTo>
                    <a:pt x="0" y="56083"/>
                  </a:lnTo>
                  <a:lnTo>
                    <a:pt x="4443" y="34162"/>
                  </a:lnTo>
                  <a:lnTo>
                    <a:pt x="16478" y="16302"/>
                  </a:lnTo>
                  <a:lnTo>
                    <a:pt x="34294" y="4312"/>
                  </a:lnTo>
                  <a:lnTo>
                    <a:pt x="56083" y="0"/>
                  </a:lnTo>
                  <a:lnTo>
                    <a:pt x="1545945" y="0"/>
                  </a:lnTo>
                  <a:lnTo>
                    <a:pt x="1567923" y="4312"/>
                  </a:lnTo>
                  <a:lnTo>
                    <a:pt x="1585802" y="16302"/>
                  </a:lnTo>
                  <a:lnTo>
                    <a:pt x="1597773" y="34162"/>
                  </a:lnTo>
                  <a:lnTo>
                    <a:pt x="1602028" y="56083"/>
                  </a:lnTo>
                  <a:lnTo>
                    <a:pt x="1602028" y="280416"/>
                  </a:lnTo>
                  <a:lnTo>
                    <a:pt x="1597773" y="302267"/>
                  </a:lnTo>
                  <a:lnTo>
                    <a:pt x="1585802" y="320104"/>
                  </a:lnTo>
                  <a:lnTo>
                    <a:pt x="1567923" y="332118"/>
                  </a:lnTo>
                  <a:lnTo>
                    <a:pt x="1545945" y="336499"/>
                  </a:lnTo>
                  <a:close/>
                </a:path>
              </a:pathLst>
            </a:custGeom>
            <a:solidFill>
              <a:srgbClr val="014D94"/>
            </a:solidFill>
          </p:spPr>
          <p:txBody>
            <a:bodyPr wrap="square" lIns="0" tIns="0" rIns="0" bIns="0" rtlCol="0"/>
            <a:lstStyle/>
            <a:p>
              <a:endParaRPr/>
            </a:p>
          </p:txBody>
        </p:sp>
        <p:sp>
          <p:nvSpPr>
            <p:cNvPr id="11" name="object 11"/>
            <p:cNvSpPr/>
            <p:nvPr/>
          </p:nvSpPr>
          <p:spPr>
            <a:xfrm>
              <a:off x="5052567" y="670763"/>
              <a:ext cx="1602105" cy="295275"/>
            </a:xfrm>
            <a:custGeom>
              <a:avLst/>
              <a:gdLst/>
              <a:ahLst/>
              <a:cxnLst/>
              <a:rect l="l" t="t" r="r" b="b"/>
              <a:pathLst>
                <a:path w="1602104" h="295275">
                  <a:moveTo>
                    <a:pt x="1553260" y="295046"/>
                  </a:moveTo>
                  <a:lnTo>
                    <a:pt x="48768" y="295046"/>
                  </a:lnTo>
                  <a:lnTo>
                    <a:pt x="29596" y="291374"/>
                  </a:lnTo>
                  <a:lnTo>
                    <a:pt x="14001" y="280945"/>
                  </a:lnTo>
                  <a:lnTo>
                    <a:pt x="3598" y="265375"/>
                  </a:lnTo>
                  <a:lnTo>
                    <a:pt x="0" y="246278"/>
                  </a:lnTo>
                  <a:lnTo>
                    <a:pt x="0" y="49987"/>
                  </a:lnTo>
                  <a:lnTo>
                    <a:pt x="3598" y="30710"/>
                  </a:lnTo>
                  <a:lnTo>
                    <a:pt x="14001" y="14954"/>
                  </a:lnTo>
                  <a:lnTo>
                    <a:pt x="29596" y="4217"/>
                  </a:lnTo>
                  <a:lnTo>
                    <a:pt x="48768" y="0"/>
                  </a:lnTo>
                  <a:lnTo>
                    <a:pt x="1553260" y="0"/>
                  </a:lnTo>
                  <a:lnTo>
                    <a:pt x="1572037" y="4217"/>
                  </a:lnTo>
                  <a:lnTo>
                    <a:pt x="1587501" y="14954"/>
                  </a:lnTo>
                  <a:lnTo>
                    <a:pt x="1598036" y="30710"/>
                  </a:lnTo>
                  <a:lnTo>
                    <a:pt x="1602028" y="49987"/>
                  </a:lnTo>
                  <a:lnTo>
                    <a:pt x="1602028" y="246278"/>
                  </a:lnTo>
                  <a:lnTo>
                    <a:pt x="1598036" y="265375"/>
                  </a:lnTo>
                  <a:lnTo>
                    <a:pt x="1587501" y="280945"/>
                  </a:lnTo>
                  <a:lnTo>
                    <a:pt x="1572037" y="291374"/>
                  </a:lnTo>
                  <a:lnTo>
                    <a:pt x="1553260" y="295046"/>
                  </a:lnTo>
                  <a:close/>
                </a:path>
              </a:pathLst>
            </a:custGeom>
            <a:solidFill>
              <a:srgbClr val="010E45"/>
            </a:solidFill>
          </p:spPr>
          <p:txBody>
            <a:bodyPr wrap="square" lIns="0" tIns="0" rIns="0" bIns="0" rtlCol="0"/>
            <a:lstStyle/>
            <a:p>
              <a:endParaRPr/>
            </a:p>
          </p:txBody>
        </p:sp>
        <p:sp>
          <p:nvSpPr>
            <p:cNvPr id="12" name="object 12"/>
            <p:cNvSpPr/>
            <p:nvPr/>
          </p:nvSpPr>
          <p:spPr>
            <a:xfrm>
              <a:off x="5195214" y="1136497"/>
              <a:ext cx="2512060" cy="2602230"/>
            </a:xfrm>
            <a:custGeom>
              <a:avLst/>
              <a:gdLst/>
              <a:ahLst/>
              <a:cxnLst/>
              <a:rect l="l" t="t" r="r" b="b"/>
              <a:pathLst>
                <a:path w="2512059" h="2602229">
                  <a:moveTo>
                    <a:pt x="2511602" y="2513203"/>
                  </a:moveTo>
                  <a:lnTo>
                    <a:pt x="2504694" y="2478925"/>
                  </a:lnTo>
                  <a:lnTo>
                    <a:pt x="2485847" y="2450922"/>
                  </a:lnTo>
                  <a:lnTo>
                    <a:pt x="2457920" y="2432012"/>
                  </a:lnTo>
                  <a:lnTo>
                    <a:pt x="2423769" y="2424988"/>
                  </a:lnTo>
                  <a:lnTo>
                    <a:pt x="89001" y="2424988"/>
                  </a:lnTo>
                  <a:lnTo>
                    <a:pt x="54470" y="2431999"/>
                  </a:lnTo>
                  <a:lnTo>
                    <a:pt x="26301" y="2450871"/>
                  </a:lnTo>
                  <a:lnTo>
                    <a:pt x="7226" y="2478748"/>
                  </a:lnTo>
                  <a:lnTo>
                    <a:pt x="0" y="2512771"/>
                  </a:lnTo>
                  <a:lnTo>
                    <a:pt x="7226" y="2547302"/>
                  </a:lnTo>
                  <a:lnTo>
                    <a:pt x="26301" y="2575483"/>
                  </a:lnTo>
                  <a:lnTo>
                    <a:pt x="54470" y="2594546"/>
                  </a:lnTo>
                  <a:lnTo>
                    <a:pt x="89001" y="2601772"/>
                  </a:lnTo>
                  <a:lnTo>
                    <a:pt x="2423757" y="2601772"/>
                  </a:lnTo>
                  <a:lnTo>
                    <a:pt x="2457920" y="2594559"/>
                  </a:lnTo>
                  <a:lnTo>
                    <a:pt x="2485847" y="2575534"/>
                  </a:lnTo>
                  <a:lnTo>
                    <a:pt x="2504694" y="2547480"/>
                  </a:lnTo>
                  <a:lnTo>
                    <a:pt x="2511602" y="2513203"/>
                  </a:lnTo>
                  <a:close/>
                </a:path>
                <a:path w="2512059" h="2602229">
                  <a:moveTo>
                    <a:pt x="2511602" y="2311057"/>
                  </a:moveTo>
                  <a:lnTo>
                    <a:pt x="2504694" y="2276779"/>
                  </a:lnTo>
                  <a:lnTo>
                    <a:pt x="2485847" y="2248751"/>
                  </a:lnTo>
                  <a:lnTo>
                    <a:pt x="2457920" y="2229764"/>
                  </a:lnTo>
                  <a:lnTo>
                    <a:pt x="2423769" y="2222601"/>
                  </a:lnTo>
                  <a:lnTo>
                    <a:pt x="89001" y="2222601"/>
                  </a:lnTo>
                  <a:lnTo>
                    <a:pt x="54470" y="2229764"/>
                  </a:lnTo>
                  <a:lnTo>
                    <a:pt x="26301" y="2248814"/>
                  </a:lnTo>
                  <a:lnTo>
                    <a:pt x="7226" y="2277008"/>
                  </a:lnTo>
                  <a:lnTo>
                    <a:pt x="0" y="2311603"/>
                  </a:lnTo>
                  <a:lnTo>
                    <a:pt x="7226" y="2345575"/>
                  </a:lnTo>
                  <a:lnTo>
                    <a:pt x="26301" y="2373426"/>
                  </a:lnTo>
                  <a:lnTo>
                    <a:pt x="54470" y="2392324"/>
                  </a:lnTo>
                  <a:lnTo>
                    <a:pt x="89001" y="2399385"/>
                  </a:lnTo>
                  <a:lnTo>
                    <a:pt x="2423757" y="2399385"/>
                  </a:lnTo>
                  <a:lnTo>
                    <a:pt x="2457920" y="2392311"/>
                  </a:lnTo>
                  <a:lnTo>
                    <a:pt x="2485847" y="2373363"/>
                  </a:lnTo>
                  <a:lnTo>
                    <a:pt x="2504694" y="2345347"/>
                  </a:lnTo>
                  <a:lnTo>
                    <a:pt x="2511602" y="2311057"/>
                  </a:lnTo>
                  <a:close/>
                </a:path>
                <a:path w="2512059" h="2602229">
                  <a:moveTo>
                    <a:pt x="2511602" y="2108924"/>
                  </a:moveTo>
                  <a:lnTo>
                    <a:pt x="2504694" y="2074659"/>
                  </a:lnTo>
                  <a:lnTo>
                    <a:pt x="2485847" y="2046732"/>
                  </a:lnTo>
                  <a:lnTo>
                    <a:pt x="2457920" y="2028024"/>
                  </a:lnTo>
                  <a:lnTo>
                    <a:pt x="2423769" y="2021433"/>
                  </a:lnTo>
                  <a:lnTo>
                    <a:pt x="89001" y="2021433"/>
                  </a:lnTo>
                  <a:lnTo>
                    <a:pt x="54470" y="2028037"/>
                  </a:lnTo>
                  <a:lnTo>
                    <a:pt x="26301" y="2046770"/>
                  </a:lnTo>
                  <a:lnTo>
                    <a:pt x="7226" y="2074786"/>
                  </a:lnTo>
                  <a:lnTo>
                    <a:pt x="0" y="2109216"/>
                  </a:lnTo>
                  <a:lnTo>
                    <a:pt x="7226" y="2143328"/>
                  </a:lnTo>
                  <a:lnTo>
                    <a:pt x="26301" y="2171230"/>
                  </a:lnTo>
                  <a:lnTo>
                    <a:pt x="54470" y="2190077"/>
                  </a:lnTo>
                  <a:lnTo>
                    <a:pt x="89001" y="2196998"/>
                  </a:lnTo>
                  <a:lnTo>
                    <a:pt x="2423757" y="2196998"/>
                  </a:lnTo>
                  <a:lnTo>
                    <a:pt x="2457920" y="2190064"/>
                  </a:lnTo>
                  <a:lnTo>
                    <a:pt x="2485847" y="2171192"/>
                  </a:lnTo>
                  <a:lnTo>
                    <a:pt x="2504694" y="2143201"/>
                  </a:lnTo>
                  <a:lnTo>
                    <a:pt x="2511602" y="2108924"/>
                  </a:lnTo>
                  <a:close/>
                </a:path>
                <a:path w="2512059" h="2602229">
                  <a:moveTo>
                    <a:pt x="2511602" y="1906778"/>
                  </a:moveTo>
                  <a:lnTo>
                    <a:pt x="2504694" y="1872513"/>
                  </a:lnTo>
                  <a:lnTo>
                    <a:pt x="2485847" y="1844560"/>
                  </a:lnTo>
                  <a:lnTo>
                    <a:pt x="2457920" y="1825790"/>
                  </a:lnTo>
                  <a:lnTo>
                    <a:pt x="2423769" y="1819046"/>
                  </a:lnTo>
                  <a:lnTo>
                    <a:pt x="89001" y="1819046"/>
                  </a:lnTo>
                  <a:lnTo>
                    <a:pt x="54470" y="1825790"/>
                  </a:lnTo>
                  <a:lnTo>
                    <a:pt x="26301" y="1844573"/>
                  </a:lnTo>
                  <a:lnTo>
                    <a:pt x="7226" y="1872538"/>
                  </a:lnTo>
                  <a:lnTo>
                    <a:pt x="0" y="1906828"/>
                  </a:lnTo>
                  <a:lnTo>
                    <a:pt x="7226" y="1941068"/>
                  </a:lnTo>
                  <a:lnTo>
                    <a:pt x="26301" y="1969020"/>
                  </a:lnTo>
                  <a:lnTo>
                    <a:pt x="54470" y="1987816"/>
                  </a:lnTo>
                  <a:lnTo>
                    <a:pt x="89001" y="1994611"/>
                  </a:lnTo>
                  <a:lnTo>
                    <a:pt x="2423757" y="1994611"/>
                  </a:lnTo>
                  <a:lnTo>
                    <a:pt x="2457920" y="1987816"/>
                  </a:lnTo>
                  <a:lnTo>
                    <a:pt x="2485847" y="1969020"/>
                  </a:lnTo>
                  <a:lnTo>
                    <a:pt x="2504694" y="1941055"/>
                  </a:lnTo>
                  <a:lnTo>
                    <a:pt x="2511602" y="1906778"/>
                  </a:lnTo>
                  <a:close/>
                </a:path>
                <a:path w="2512059" h="2602229">
                  <a:moveTo>
                    <a:pt x="2511602" y="1704644"/>
                  </a:moveTo>
                  <a:lnTo>
                    <a:pt x="2504694" y="1670367"/>
                  </a:lnTo>
                  <a:lnTo>
                    <a:pt x="2485847" y="1642389"/>
                  </a:lnTo>
                  <a:lnTo>
                    <a:pt x="2457920" y="1623542"/>
                  </a:lnTo>
                  <a:lnTo>
                    <a:pt x="2423769" y="1616659"/>
                  </a:lnTo>
                  <a:lnTo>
                    <a:pt x="89001" y="1616659"/>
                  </a:lnTo>
                  <a:lnTo>
                    <a:pt x="54470" y="1623542"/>
                  </a:lnTo>
                  <a:lnTo>
                    <a:pt x="26301" y="1642364"/>
                  </a:lnTo>
                  <a:lnTo>
                    <a:pt x="7226" y="1670291"/>
                  </a:lnTo>
                  <a:lnTo>
                    <a:pt x="0" y="1704441"/>
                  </a:lnTo>
                  <a:lnTo>
                    <a:pt x="7226" y="1738820"/>
                  </a:lnTo>
                  <a:lnTo>
                    <a:pt x="26301" y="1766824"/>
                  </a:lnTo>
                  <a:lnTo>
                    <a:pt x="54470" y="1785581"/>
                  </a:lnTo>
                  <a:lnTo>
                    <a:pt x="89001" y="1792224"/>
                  </a:lnTo>
                  <a:lnTo>
                    <a:pt x="2423757" y="1792224"/>
                  </a:lnTo>
                  <a:lnTo>
                    <a:pt x="2457920" y="1785581"/>
                  </a:lnTo>
                  <a:lnTo>
                    <a:pt x="2485847" y="1766849"/>
                  </a:lnTo>
                  <a:lnTo>
                    <a:pt x="2504694" y="1738909"/>
                  </a:lnTo>
                  <a:lnTo>
                    <a:pt x="2511602" y="1704644"/>
                  </a:lnTo>
                  <a:close/>
                </a:path>
                <a:path w="2512059" h="2602229">
                  <a:moveTo>
                    <a:pt x="2511602" y="1502498"/>
                  </a:moveTo>
                  <a:lnTo>
                    <a:pt x="2504694" y="1468221"/>
                  </a:lnTo>
                  <a:lnTo>
                    <a:pt x="2485847" y="1440218"/>
                  </a:lnTo>
                  <a:lnTo>
                    <a:pt x="2457920" y="1421295"/>
                  </a:lnTo>
                  <a:lnTo>
                    <a:pt x="2423769" y="1414272"/>
                  </a:lnTo>
                  <a:lnTo>
                    <a:pt x="89001" y="1414272"/>
                  </a:lnTo>
                  <a:lnTo>
                    <a:pt x="54470" y="1421295"/>
                  </a:lnTo>
                  <a:lnTo>
                    <a:pt x="26301" y="1440167"/>
                  </a:lnTo>
                  <a:lnTo>
                    <a:pt x="7226" y="1468043"/>
                  </a:lnTo>
                  <a:lnTo>
                    <a:pt x="0" y="1502054"/>
                  </a:lnTo>
                  <a:lnTo>
                    <a:pt x="7226" y="1536598"/>
                  </a:lnTo>
                  <a:lnTo>
                    <a:pt x="26301" y="1564767"/>
                  </a:lnTo>
                  <a:lnTo>
                    <a:pt x="54470" y="1583842"/>
                  </a:lnTo>
                  <a:lnTo>
                    <a:pt x="89001" y="1591056"/>
                  </a:lnTo>
                  <a:lnTo>
                    <a:pt x="2423757" y="1591056"/>
                  </a:lnTo>
                  <a:lnTo>
                    <a:pt x="2457920" y="1583855"/>
                  </a:lnTo>
                  <a:lnTo>
                    <a:pt x="2485847" y="1564830"/>
                  </a:lnTo>
                  <a:lnTo>
                    <a:pt x="2504694" y="1536788"/>
                  </a:lnTo>
                  <a:lnTo>
                    <a:pt x="2511602" y="1502498"/>
                  </a:lnTo>
                  <a:close/>
                </a:path>
                <a:path w="2512059" h="2602229">
                  <a:moveTo>
                    <a:pt x="2511602" y="1300365"/>
                  </a:moveTo>
                  <a:lnTo>
                    <a:pt x="2504694" y="1266075"/>
                  </a:lnTo>
                  <a:lnTo>
                    <a:pt x="2485847" y="1238046"/>
                  </a:lnTo>
                  <a:lnTo>
                    <a:pt x="2457920" y="1219047"/>
                  </a:lnTo>
                  <a:lnTo>
                    <a:pt x="2423769" y="1211884"/>
                  </a:lnTo>
                  <a:lnTo>
                    <a:pt x="89001" y="1211884"/>
                  </a:lnTo>
                  <a:lnTo>
                    <a:pt x="54470" y="1219060"/>
                  </a:lnTo>
                  <a:lnTo>
                    <a:pt x="26301" y="1238110"/>
                  </a:lnTo>
                  <a:lnTo>
                    <a:pt x="7226" y="1266304"/>
                  </a:lnTo>
                  <a:lnTo>
                    <a:pt x="0" y="1300886"/>
                  </a:lnTo>
                  <a:lnTo>
                    <a:pt x="7226" y="1334858"/>
                  </a:lnTo>
                  <a:lnTo>
                    <a:pt x="26301" y="1362722"/>
                  </a:lnTo>
                  <a:lnTo>
                    <a:pt x="54470" y="1381607"/>
                  </a:lnTo>
                  <a:lnTo>
                    <a:pt x="89001" y="1388668"/>
                  </a:lnTo>
                  <a:lnTo>
                    <a:pt x="2423757" y="1388668"/>
                  </a:lnTo>
                  <a:lnTo>
                    <a:pt x="2457920" y="1381607"/>
                  </a:lnTo>
                  <a:lnTo>
                    <a:pt x="2485847" y="1362659"/>
                  </a:lnTo>
                  <a:lnTo>
                    <a:pt x="2504694" y="1334643"/>
                  </a:lnTo>
                  <a:lnTo>
                    <a:pt x="2511602" y="1300365"/>
                  </a:lnTo>
                  <a:close/>
                </a:path>
                <a:path w="2512059" h="2602229">
                  <a:moveTo>
                    <a:pt x="2511602" y="1098219"/>
                  </a:moveTo>
                  <a:lnTo>
                    <a:pt x="2504694" y="1063955"/>
                  </a:lnTo>
                  <a:lnTo>
                    <a:pt x="2485847" y="1036027"/>
                  </a:lnTo>
                  <a:lnTo>
                    <a:pt x="2457920" y="1017320"/>
                  </a:lnTo>
                  <a:lnTo>
                    <a:pt x="2423769" y="1010716"/>
                  </a:lnTo>
                  <a:lnTo>
                    <a:pt x="89001" y="1010716"/>
                  </a:lnTo>
                  <a:lnTo>
                    <a:pt x="54470" y="1017320"/>
                  </a:lnTo>
                  <a:lnTo>
                    <a:pt x="26301" y="1036066"/>
                  </a:lnTo>
                  <a:lnTo>
                    <a:pt x="7226" y="1064082"/>
                  </a:lnTo>
                  <a:lnTo>
                    <a:pt x="0" y="1098499"/>
                  </a:lnTo>
                  <a:lnTo>
                    <a:pt x="7226" y="1132611"/>
                  </a:lnTo>
                  <a:lnTo>
                    <a:pt x="26301" y="1160513"/>
                  </a:lnTo>
                  <a:lnTo>
                    <a:pt x="54470" y="1179360"/>
                  </a:lnTo>
                  <a:lnTo>
                    <a:pt x="89001" y="1186281"/>
                  </a:lnTo>
                  <a:lnTo>
                    <a:pt x="2423757" y="1186281"/>
                  </a:lnTo>
                  <a:lnTo>
                    <a:pt x="2457920" y="1179360"/>
                  </a:lnTo>
                  <a:lnTo>
                    <a:pt x="2485847" y="1160475"/>
                  </a:lnTo>
                  <a:lnTo>
                    <a:pt x="2504694" y="1132497"/>
                  </a:lnTo>
                  <a:lnTo>
                    <a:pt x="2511602" y="1098219"/>
                  </a:lnTo>
                  <a:close/>
                </a:path>
                <a:path w="2512059" h="2602229">
                  <a:moveTo>
                    <a:pt x="2511602" y="896073"/>
                  </a:moveTo>
                  <a:lnTo>
                    <a:pt x="2504694" y="861809"/>
                  </a:lnTo>
                  <a:lnTo>
                    <a:pt x="2485847" y="833856"/>
                  </a:lnTo>
                  <a:lnTo>
                    <a:pt x="2457920" y="815073"/>
                  </a:lnTo>
                  <a:lnTo>
                    <a:pt x="2423769" y="808329"/>
                  </a:lnTo>
                  <a:lnTo>
                    <a:pt x="89001" y="808329"/>
                  </a:lnTo>
                  <a:lnTo>
                    <a:pt x="54470" y="815073"/>
                  </a:lnTo>
                  <a:lnTo>
                    <a:pt x="26301" y="833856"/>
                  </a:lnTo>
                  <a:lnTo>
                    <a:pt x="7226" y="861822"/>
                  </a:lnTo>
                  <a:lnTo>
                    <a:pt x="0" y="896112"/>
                  </a:lnTo>
                  <a:lnTo>
                    <a:pt x="7226" y="930363"/>
                  </a:lnTo>
                  <a:lnTo>
                    <a:pt x="26301" y="958316"/>
                  </a:lnTo>
                  <a:lnTo>
                    <a:pt x="54470" y="977112"/>
                  </a:lnTo>
                  <a:lnTo>
                    <a:pt x="89001" y="983894"/>
                  </a:lnTo>
                  <a:lnTo>
                    <a:pt x="2423757" y="983894"/>
                  </a:lnTo>
                  <a:lnTo>
                    <a:pt x="2457920" y="977112"/>
                  </a:lnTo>
                  <a:lnTo>
                    <a:pt x="2485847" y="958316"/>
                  </a:lnTo>
                  <a:lnTo>
                    <a:pt x="2504694" y="930351"/>
                  </a:lnTo>
                  <a:lnTo>
                    <a:pt x="2511602" y="896073"/>
                  </a:lnTo>
                  <a:close/>
                </a:path>
                <a:path w="2512059" h="2602229">
                  <a:moveTo>
                    <a:pt x="2511602" y="693928"/>
                  </a:moveTo>
                  <a:lnTo>
                    <a:pt x="2504694" y="659663"/>
                  </a:lnTo>
                  <a:lnTo>
                    <a:pt x="2485847" y="631685"/>
                  </a:lnTo>
                  <a:lnTo>
                    <a:pt x="2457920" y="612838"/>
                  </a:lnTo>
                  <a:lnTo>
                    <a:pt x="2423769" y="605942"/>
                  </a:lnTo>
                  <a:lnTo>
                    <a:pt x="89001" y="605942"/>
                  </a:lnTo>
                  <a:lnTo>
                    <a:pt x="54470" y="612825"/>
                  </a:lnTo>
                  <a:lnTo>
                    <a:pt x="26301" y="631659"/>
                  </a:lnTo>
                  <a:lnTo>
                    <a:pt x="7226" y="659574"/>
                  </a:lnTo>
                  <a:lnTo>
                    <a:pt x="0" y="693724"/>
                  </a:lnTo>
                  <a:lnTo>
                    <a:pt x="7226" y="728116"/>
                  </a:lnTo>
                  <a:lnTo>
                    <a:pt x="26301" y="756119"/>
                  </a:lnTo>
                  <a:lnTo>
                    <a:pt x="54470" y="774865"/>
                  </a:lnTo>
                  <a:lnTo>
                    <a:pt x="89001" y="781507"/>
                  </a:lnTo>
                  <a:lnTo>
                    <a:pt x="2423757" y="781507"/>
                  </a:lnTo>
                  <a:lnTo>
                    <a:pt x="2457920" y="774865"/>
                  </a:lnTo>
                  <a:lnTo>
                    <a:pt x="2485847" y="756145"/>
                  </a:lnTo>
                  <a:lnTo>
                    <a:pt x="2504694" y="728205"/>
                  </a:lnTo>
                  <a:lnTo>
                    <a:pt x="2511602" y="693928"/>
                  </a:lnTo>
                  <a:close/>
                </a:path>
                <a:path w="2512059" h="2602229">
                  <a:moveTo>
                    <a:pt x="2511602" y="491794"/>
                  </a:moveTo>
                  <a:lnTo>
                    <a:pt x="2504694" y="457517"/>
                  </a:lnTo>
                  <a:lnTo>
                    <a:pt x="2485847" y="429514"/>
                  </a:lnTo>
                  <a:lnTo>
                    <a:pt x="2457920" y="410591"/>
                  </a:lnTo>
                  <a:lnTo>
                    <a:pt x="2423769" y="403555"/>
                  </a:lnTo>
                  <a:lnTo>
                    <a:pt x="89001" y="403555"/>
                  </a:lnTo>
                  <a:lnTo>
                    <a:pt x="54470" y="410578"/>
                  </a:lnTo>
                  <a:lnTo>
                    <a:pt x="26301" y="429450"/>
                  </a:lnTo>
                  <a:lnTo>
                    <a:pt x="7226" y="457327"/>
                  </a:lnTo>
                  <a:lnTo>
                    <a:pt x="0" y="491337"/>
                  </a:lnTo>
                  <a:lnTo>
                    <a:pt x="7226" y="525881"/>
                  </a:lnTo>
                  <a:lnTo>
                    <a:pt x="26301" y="554062"/>
                  </a:lnTo>
                  <a:lnTo>
                    <a:pt x="54470" y="573125"/>
                  </a:lnTo>
                  <a:lnTo>
                    <a:pt x="89001" y="580339"/>
                  </a:lnTo>
                  <a:lnTo>
                    <a:pt x="2423757" y="580339"/>
                  </a:lnTo>
                  <a:lnTo>
                    <a:pt x="2457920" y="573138"/>
                  </a:lnTo>
                  <a:lnTo>
                    <a:pt x="2485847" y="554126"/>
                  </a:lnTo>
                  <a:lnTo>
                    <a:pt x="2504694" y="526084"/>
                  </a:lnTo>
                  <a:lnTo>
                    <a:pt x="2511602" y="491794"/>
                  </a:lnTo>
                  <a:close/>
                </a:path>
                <a:path w="2512059" h="2602229">
                  <a:moveTo>
                    <a:pt x="2511602" y="289661"/>
                  </a:moveTo>
                  <a:lnTo>
                    <a:pt x="2504694" y="255384"/>
                  </a:lnTo>
                  <a:lnTo>
                    <a:pt x="2485847" y="227342"/>
                  </a:lnTo>
                  <a:lnTo>
                    <a:pt x="2457920" y="208343"/>
                  </a:lnTo>
                  <a:lnTo>
                    <a:pt x="2423769" y="201168"/>
                  </a:lnTo>
                  <a:lnTo>
                    <a:pt x="89001" y="201168"/>
                  </a:lnTo>
                  <a:lnTo>
                    <a:pt x="54470" y="208356"/>
                  </a:lnTo>
                  <a:lnTo>
                    <a:pt x="26301" y="227406"/>
                  </a:lnTo>
                  <a:lnTo>
                    <a:pt x="7226" y="255600"/>
                  </a:lnTo>
                  <a:lnTo>
                    <a:pt x="0" y="290169"/>
                  </a:lnTo>
                  <a:lnTo>
                    <a:pt x="7226" y="324154"/>
                  </a:lnTo>
                  <a:lnTo>
                    <a:pt x="26301" y="352005"/>
                  </a:lnTo>
                  <a:lnTo>
                    <a:pt x="54470" y="370903"/>
                  </a:lnTo>
                  <a:lnTo>
                    <a:pt x="89001" y="377952"/>
                  </a:lnTo>
                  <a:lnTo>
                    <a:pt x="2423757" y="377952"/>
                  </a:lnTo>
                  <a:lnTo>
                    <a:pt x="2457920" y="370890"/>
                  </a:lnTo>
                  <a:lnTo>
                    <a:pt x="2485847" y="351942"/>
                  </a:lnTo>
                  <a:lnTo>
                    <a:pt x="2504694" y="323938"/>
                  </a:lnTo>
                  <a:lnTo>
                    <a:pt x="2511602" y="289661"/>
                  </a:lnTo>
                  <a:close/>
                </a:path>
                <a:path w="2512059" h="2602229">
                  <a:moveTo>
                    <a:pt x="2511602" y="87515"/>
                  </a:moveTo>
                  <a:lnTo>
                    <a:pt x="2504694" y="53251"/>
                  </a:lnTo>
                  <a:lnTo>
                    <a:pt x="2485847" y="25323"/>
                  </a:lnTo>
                  <a:lnTo>
                    <a:pt x="2457920" y="6616"/>
                  </a:lnTo>
                  <a:lnTo>
                    <a:pt x="2423769" y="0"/>
                  </a:lnTo>
                  <a:lnTo>
                    <a:pt x="89001" y="0"/>
                  </a:lnTo>
                  <a:lnTo>
                    <a:pt x="54470" y="6616"/>
                  </a:lnTo>
                  <a:lnTo>
                    <a:pt x="26301" y="25361"/>
                  </a:lnTo>
                  <a:lnTo>
                    <a:pt x="7226" y="53365"/>
                  </a:lnTo>
                  <a:lnTo>
                    <a:pt x="0" y="87782"/>
                  </a:lnTo>
                  <a:lnTo>
                    <a:pt x="7226" y="121907"/>
                  </a:lnTo>
                  <a:lnTo>
                    <a:pt x="26301" y="149809"/>
                  </a:lnTo>
                  <a:lnTo>
                    <a:pt x="54470" y="168656"/>
                  </a:lnTo>
                  <a:lnTo>
                    <a:pt x="89001" y="175564"/>
                  </a:lnTo>
                  <a:lnTo>
                    <a:pt x="2423757" y="175564"/>
                  </a:lnTo>
                  <a:lnTo>
                    <a:pt x="2457920" y="168656"/>
                  </a:lnTo>
                  <a:lnTo>
                    <a:pt x="2485847" y="149771"/>
                  </a:lnTo>
                  <a:lnTo>
                    <a:pt x="2504694" y="121793"/>
                  </a:lnTo>
                  <a:lnTo>
                    <a:pt x="2511602" y="87515"/>
                  </a:lnTo>
                  <a:close/>
                </a:path>
              </a:pathLst>
            </a:custGeom>
            <a:solidFill>
              <a:srgbClr val="FFFFFF">
                <a:alpha val="74899"/>
              </a:srgbClr>
            </a:solidFill>
          </p:spPr>
          <p:txBody>
            <a:bodyPr wrap="square" lIns="0" tIns="0" rIns="0" bIns="0" rtlCol="0"/>
            <a:lstStyle/>
            <a:p>
              <a:endParaRPr/>
            </a:p>
          </p:txBody>
        </p:sp>
      </p:grpSp>
      <p:sp>
        <p:nvSpPr>
          <p:cNvPr id="13" name="object 13"/>
          <p:cNvSpPr txBox="1"/>
          <p:nvPr/>
        </p:nvSpPr>
        <p:spPr>
          <a:xfrm>
            <a:off x="5199644" y="699129"/>
            <a:ext cx="1515110" cy="3053715"/>
          </a:xfrm>
          <a:prstGeom prst="rect">
            <a:avLst/>
          </a:prstGeom>
        </p:spPr>
        <p:txBody>
          <a:bodyPr vert="horz" wrap="square" lIns="0" tIns="11430" rIns="0" bIns="0" rtlCol="0">
            <a:spAutoFit/>
          </a:bodyPr>
          <a:lstStyle/>
          <a:p>
            <a:pPr marL="12700">
              <a:lnSpc>
                <a:spcPct val="100000"/>
              </a:lnSpc>
              <a:spcBef>
                <a:spcPts val="90"/>
              </a:spcBef>
            </a:pPr>
            <a:r>
              <a:rPr sz="1450" b="1" spc="-20" dirty="0">
                <a:solidFill>
                  <a:srgbClr val="FFFFFF"/>
                </a:solidFill>
                <a:latin typeface="微软雅黑" panose="020B0503020204020204" charset="-122"/>
                <a:cs typeface="微软雅黑" panose="020B0503020204020204" charset="-122"/>
              </a:rPr>
              <a:t>产</a:t>
            </a:r>
            <a:r>
              <a:rPr sz="1450" b="1" spc="-25" dirty="0">
                <a:solidFill>
                  <a:srgbClr val="FFFFFF"/>
                </a:solidFill>
                <a:latin typeface="Segoe Print" panose="02000600000000000000"/>
                <a:cs typeface="Segoe Print" panose="02000600000000000000"/>
              </a:rPr>
              <a:t>MBL</a:t>
            </a:r>
            <a:r>
              <a:rPr sz="1450" b="1" spc="-30" dirty="0">
                <a:solidFill>
                  <a:srgbClr val="FFFFFF"/>
                </a:solidFill>
                <a:latin typeface="微软雅黑" panose="020B0503020204020204" charset="-122"/>
                <a:cs typeface="微软雅黑" panose="020B0503020204020204" charset="-122"/>
              </a:rPr>
              <a:t>的病原菌</a:t>
            </a:r>
            <a:endParaRPr sz="1450">
              <a:latin typeface="微软雅黑" panose="020B0503020204020204" charset="-122"/>
              <a:cs typeface="微软雅黑" panose="020B0503020204020204" charset="-122"/>
            </a:endParaRPr>
          </a:p>
          <a:p>
            <a:pPr marL="181610" marR="5080">
              <a:lnSpc>
                <a:spcPct val="133000"/>
              </a:lnSpc>
              <a:spcBef>
                <a:spcPts val="1355"/>
              </a:spcBef>
            </a:pPr>
            <a:r>
              <a:rPr sz="1000" b="1" spc="-5" dirty="0">
                <a:latin typeface="微软雅黑" panose="020B0503020204020204" charset="-122"/>
                <a:cs typeface="微软雅黑" panose="020B0503020204020204" charset="-122"/>
              </a:rPr>
              <a:t>弗劳地枸橼酸杆菌菌群</a:t>
            </a:r>
            <a:r>
              <a:rPr sz="1000" b="1" spc="-10" dirty="0">
                <a:latin typeface="微软雅黑" panose="020B0503020204020204" charset="-122"/>
                <a:cs typeface="微软雅黑" panose="020B0503020204020204" charset="-122"/>
              </a:rPr>
              <a:t>克氏枸橼酸杆菌</a:t>
            </a:r>
            <a:endParaRPr sz="1000">
              <a:latin typeface="微软雅黑" panose="020B0503020204020204" charset="-122"/>
              <a:cs typeface="微软雅黑" panose="020B0503020204020204" charset="-122"/>
            </a:endParaRPr>
          </a:p>
          <a:p>
            <a:pPr marL="181610">
              <a:lnSpc>
                <a:spcPct val="100000"/>
              </a:lnSpc>
              <a:spcBef>
                <a:spcPts val="400"/>
              </a:spcBef>
            </a:pPr>
            <a:r>
              <a:rPr sz="1000" b="1" spc="-10" dirty="0">
                <a:solidFill>
                  <a:srgbClr val="0054CC"/>
                </a:solidFill>
                <a:latin typeface="微软雅黑" panose="020B0503020204020204" charset="-122"/>
                <a:cs typeface="微软雅黑" panose="020B0503020204020204" charset="-122"/>
              </a:rPr>
              <a:t>大肠埃希菌</a:t>
            </a:r>
            <a:endParaRPr sz="1000">
              <a:latin typeface="微软雅黑" panose="020B0503020204020204" charset="-122"/>
              <a:cs typeface="微软雅黑" panose="020B0503020204020204" charset="-122"/>
            </a:endParaRPr>
          </a:p>
          <a:p>
            <a:pPr marL="181610" marR="401320">
              <a:lnSpc>
                <a:spcPct val="133000"/>
              </a:lnSpc>
            </a:pPr>
            <a:r>
              <a:rPr sz="1000" b="1" spc="-10" dirty="0">
                <a:solidFill>
                  <a:srgbClr val="0054CC"/>
                </a:solidFill>
                <a:latin typeface="微软雅黑" panose="020B0503020204020204" charset="-122"/>
                <a:cs typeface="微软雅黑" panose="020B0503020204020204" charset="-122"/>
              </a:rPr>
              <a:t>阴沟肠杆菌菌群肺炎克雷伯菌</a:t>
            </a:r>
            <a:r>
              <a:rPr sz="1000" b="1" spc="500" dirty="0">
                <a:solidFill>
                  <a:srgbClr val="0054CC"/>
                </a:solidFill>
                <a:latin typeface="微软雅黑" panose="020B0503020204020204" charset="-122"/>
                <a:cs typeface="微软雅黑" panose="020B0503020204020204" charset="-122"/>
              </a:rPr>
              <a:t> </a:t>
            </a:r>
            <a:r>
              <a:rPr sz="1000" b="1" spc="-10" dirty="0">
                <a:latin typeface="微软雅黑" panose="020B0503020204020204" charset="-122"/>
                <a:cs typeface="微软雅黑" panose="020B0503020204020204" charset="-122"/>
              </a:rPr>
              <a:t>产酸克雷伯菌奇异变形杆菌普通</a:t>
            </a:r>
            <a:r>
              <a:rPr sz="1000" b="1" spc="-15" dirty="0">
                <a:latin typeface="微软雅黑" panose="020B0503020204020204" charset="-122"/>
                <a:cs typeface="微软雅黑" panose="020B0503020204020204" charset="-122"/>
              </a:rPr>
              <a:t>变形杆菌</a:t>
            </a:r>
            <a:endParaRPr sz="1000">
              <a:latin typeface="微软雅黑" panose="020B0503020204020204" charset="-122"/>
              <a:cs typeface="微软雅黑" panose="020B0503020204020204" charset="-122"/>
            </a:endParaRPr>
          </a:p>
          <a:p>
            <a:pPr marL="181610" marR="269240" algn="just">
              <a:lnSpc>
                <a:spcPct val="133000"/>
              </a:lnSpc>
            </a:pPr>
            <a:r>
              <a:rPr sz="1000" b="1" spc="-10" dirty="0">
                <a:latin typeface="微软雅黑" panose="020B0503020204020204" charset="-122"/>
                <a:cs typeface="微软雅黑" panose="020B0503020204020204" charset="-122"/>
              </a:rPr>
              <a:t>雷氏普罗威登斯菌斯氏普罗威登斯菌解鸟氨酸拉乌尔菌粘质沙雷菌</a:t>
            </a:r>
            <a:endParaRPr sz="1000">
              <a:latin typeface="微软雅黑" panose="020B0503020204020204" charset="-122"/>
              <a:cs typeface="微软雅黑" panose="020B0503020204020204" charset="-122"/>
            </a:endParaRPr>
          </a:p>
          <a:p>
            <a:pPr marL="181610">
              <a:lnSpc>
                <a:spcPct val="100000"/>
              </a:lnSpc>
              <a:spcBef>
                <a:spcPts val="395"/>
              </a:spcBef>
            </a:pPr>
            <a:r>
              <a:rPr sz="1000" b="1" spc="-10" dirty="0">
                <a:solidFill>
                  <a:srgbClr val="0054CC"/>
                </a:solidFill>
                <a:latin typeface="微软雅黑" panose="020B0503020204020204" charset="-122"/>
                <a:cs typeface="微软雅黑" panose="020B0503020204020204" charset="-122"/>
              </a:rPr>
              <a:t>嗜麦芽窄食单胞菌</a:t>
            </a:r>
            <a:endParaRPr sz="1000">
              <a:latin typeface="微软雅黑" panose="020B0503020204020204" charset="-122"/>
              <a:cs typeface="微软雅黑" panose="020B0503020204020204" charset="-122"/>
            </a:endParaRPr>
          </a:p>
        </p:txBody>
      </p:sp>
      <p:sp>
        <p:nvSpPr>
          <p:cNvPr id="14" name="object 14"/>
          <p:cNvSpPr txBox="1"/>
          <p:nvPr/>
        </p:nvSpPr>
        <p:spPr>
          <a:xfrm>
            <a:off x="4485660" y="4143644"/>
            <a:ext cx="5105400" cy="610870"/>
          </a:xfrm>
          <a:prstGeom prst="rect">
            <a:avLst/>
          </a:prstGeom>
        </p:spPr>
        <p:txBody>
          <a:bodyPr vert="horz" wrap="square" lIns="0" tIns="12065" rIns="0" bIns="0" rtlCol="0">
            <a:spAutoFit/>
          </a:bodyPr>
          <a:lstStyle/>
          <a:p>
            <a:pPr marL="12700" marR="5080">
              <a:lnSpc>
                <a:spcPct val="101000"/>
              </a:lnSpc>
              <a:spcBef>
                <a:spcPts val="95"/>
              </a:spcBef>
            </a:pPr>
            <a:r>
              <a:rPr sz="1900" dirty="0">
                <a:solidFill>
                  <a:srgbClr val="C00000"/>
                </a:solidFill>
                <a:latin typeface="Times New Roman" panose="02020603050405020304"/>
                <a:cs typeface="Times New Roman" panose="02020603050405020304"/>
              </a:rPr>
              <a:t>*</a:t>
            </a:r>
            <a:r>
              <a:rPr sz="1900" dirty="0">
                <a:solidFill>
                  <a:srgbClr val="C00000"/>
                </a:solidFill>
                <a:latin typeface="微软雅黑" panose="020B0503020204020204" charset="-122"/>
                <a:cs typeface="微软雅黑" panose="020B0503020204020204" charset="-122"/>
              </a:rPr>
              <a:t>氨曲南</a:t>
            </a:r>
            <a:r>
              <a:rPr sz="1900" dirty="0">
                <a:solidFill>
                  <a:srgbClr val="C00000"/>
                </a:solidFill>
                <a:latin typeface="Times New Roman" panose="02020603050405020304"/>
                <a:cs typeface="Times New Roman" panose="02020603050405020304"/>
              </a:rPr>
              <a:t>-</a:t>
            </a:r>
            <a:r>
              <a:rPr sz="1900" spc="-5" dirty="0">
                <a:solidFill>
                  <a:srgbClr val="C00000"/>
                </a:solidFill>
                <a:latin typeface="微软雅黑" panose="020B0503020204020204" charset="-122"/>
                <a:cs typeface="微软雅黑" panose="020B0503020204020204" charset="-122"/>
              </a:rPr>
              <a:t>阿维巴坦对铜绿假单胞菌呈可变活性，</a:t>
            </a:r>
            <a:r>
              <a:rPr sz="1900" dirty="0">
                <a:solidFill>
                  <a:srgbClr val="C00000"/>
                </a:solidFill>
                <a:latin typeface="微软雅黑" panose="020B0503020204020204" charset="-122"/>
                <a:cs typeface="微软雅黑" panose="020B0503020204020204" charset="-122"/>
              </a:rPr>
              <a:t>敏感率大约在</a:t>
            </a:r>
            <a:r>
              <a:rPr sz="1900" dirty="0">
                <a:solidFill>
                  <a:srgbClr val="C00000"/>
                </a:solidFill>
                <a:latin typeface="Times New Roman" panose="02020603050405020304"/>
                <a:cs typeface="Times New Roman" panose="02020603050405020304"/>
              </a:rPr>
              <a:t>30%-</a:t>
            </a:r>
            <a:r>
              <a:rPr sz="1900" spc="-25" dirty="0">
                <a:solidFill>
                  <a:srgbClr val="C00000"/>
                </a:solidFill>
                <a:latin typeface="Times New Roman" panose="02020603050405020304"/>
                <a:cs typeface="Times New Roman" panose="02020603050405020304"/>
              </a:rPr>
              <a:t>80%</a:t>
            </a:r>
            <a:endParaRPr sz="1900">
              <a:latin typeface="Times New Roman" panose="02020603050405020304"/>
              <a:cs typeface="Times New Roman" panose="02020603050405020304"/>
            </a:endParaRPr>
          </a:p>
        </p:txBody>
      </p:sp>
      <p:grpSp>
        <p:nvGrpSpPr>
          <p:cNvPr id="15" name="object 15"/>
          <p:cNvGrpSpPr/>
          <p:nvPr/>
        </p:nvGrpSpPr>
        <p:grpSpPr>
          <a:xfrm>
            <a:off x="121920" y="121919"/>
            <a:ext cx="9763760" cy="5496560"/>
            <a:chOff x="121920" y="121919"/>
            <a:chExt cx="9763760" cy="5496560"/>
          </a:xfrm>
        </p:grpSpPr>
        <p:pic>
          <p:nvPicPr>
            <p:cNvPr id="16" name="object 16"/>
            <p:cNvPicPr/>
            <p:nvPr/>
          </p:nvPicPr>
          <p:blipFill>
            <a:blip r:embed="rId2" cstate="print"/>
            <a:stretch>
              <a:fillRect/>
            </a:stretch>
          </p:blipFill>
          <p:spPr>
            <a:xfrm>
              <a:off x="1003879" y="1796196"/>
              <a:ext cx="166085" cy="84297"/>
            </a:xfrm>
            <a:prstGeom prst="rect">
              <a:avLst/>
            </a:prstGeom>
          </p:spPr>
        </p:pic>
        <p:pic>
          <p:nvPicPr>
            <p:cNvPr id="17" name="object 17"/>
            <p:cNvPicPr/>
            <p:nvPr/>
          </p:nvPicPr>
          <p:blipFill>
            <a:blip r:embed="rId3" cstate="print"/>
            <a:stretch>
              <a:fillRect/>
            </a:stretch>
          </p:blipFill>
          <p:spPr>
            <a:xfrm>
              <a:off x="1003879" y="1993148"/>
              <a:ext cx="166085" cy="84287"/>
            </a:xfrm>
            <a:prstGeom prst="rect">
              <a:avLst/>
            </a:prstGeom>
          </p:spPr>
        </p:pic>
        <p:pic>
          <p:nvPicPr>
            <p:cNvPr id="18" name="object 18"/>
            <p:cNvPicPr/>
            <p:nvPr/>
          </p:nvPicPr>
          <p:blipFill>
            <a:blip r:embed="rId4" cstate="print"/>
            <a:stretch>
              <a:fillRect/>
            </a:stretch>
          </p:blipFill>
          <p:spPr>
            <a:xfrm>
              <a:off x="1003066" y="2388900"/>
              <a:ext cx="166065" cy="84297"/>
            </a:xfrm>
            <a:prstGeom prst="rect">
              <a:avLst/>
            </a:prstGeom>
          </p:spPr>
        </p:pic>
        <p:pic>
          <p:nvPicPr>
            <p:cNvPr id="19" name="object 19"/>
            <p:cNvPicPr/>
            <p:nvPr/>
          </p:nvPicPr>
          <p:blipFill>
            <a:blip r:embed="rId5" cstate="print"/>
            <a:stretch>
              <a:fillRect/>
            </a:stretch>
          </p:blipFill>
          <p:spPr>
            <a:xfrm>
              <a:off x="1013988" y="2598704"/>
              <a:ext cx="166085" cy="84297"/>
            </a:xfrm>
            <a:prstGeom prst="rect">
              <a:avLst/>
            </a:prstGeom>
          </p:spPr>
        </p:pic>
        <p:pic>
          <p:nvPicPr>
            <p:cNvPr id="20" name="object 20"/>
            <p:cNvPicPr/>
            <p:nvPr/>
          </p:nvPicPr>
          <p:blipFill>
            <a:blip r:embed="rId6" cstate="print"/>
            <a:stretch>
              <a:fillRect/>
            </a:stretch>
          </p:blipFill>
          <p:spPr>
            <a:xfrm>
              <a:off x="979647" y="3002544"/>
              <a:ext cx="166065" cy="84297"/>
            </a:xfrm>
            <a:prstGeom prst="rect">
              <a:avLst/>
            </a:prstGeom>
          </p:spPr>
        </p:pic>
        <p:pic>
          <p:nvPicPr>
            <p:cNvPr id="21" name="object 21"/>
            <p:cNvPicPr/>
            <p:nvPr/>
          </p:nvPicPr>
          <p:blipFill>
            <a:blip r:embed="rId7" cstate="print"/>
            <a:stretch>
              <a:fillRect/>
            </a:stretch>
          </p:blipFill>
          <p:spPr>
            <a:xfrm>
              <a:off x="979637" y="4222871"/>
              <a:ext cx="166085" cy="84297"/>
            </a:xfrm>
            <a:prstGeom prst="rect">
              <a:avLst/>
            </a:prstGeom>
          </p:spPr>
        </p:pic>
        <p:pic>
          <p:nvPicPr>
            <p:cNvPr id="22" name="object 22"/>
            <p:cNvPicPr/>
            <p:nvPr/>
          </p:nvPicPr>
          <p:blipFill>
            <a:blip r:embed="rId8" cstate="print"/>
            <a:stretch>
              <a:fillRect/>
            </a:stretch>
          </p:blipFill>
          <p:spPr>
            <a:xfrm>
              <a:off x="1011438" y="1377797"/>
              <a:ext cx="166085" cy="84297"/>
            </a:xfrm>
            <a:prstGeom prst="rect">
              <a:avLst/>
            </a:prstGeom>
          </p:spPr>
        </p:pic>
        <p:pic>
          <p:nvPicPr>
            <p:cNvPr id="23" name="object 23"/>
            <p:cNvPicPr/>
            <p:nvPr/>
          </p:nvPicPr>
          <p:blipFill>
            <a:blip r:embed="rId9" cstate="print"/>
            <a:stretch>
              <a:fillRect/>
            </a:stretch>
          </p:blipFill>
          <p:spPr>
            <a:xfrm>
              <a:off x="1003879" y="1591228"/>
              <a:ext cx="166085" cy="84297"/>
            </a:xfrm>
            <a:prstGeom prst="rect">
              <a:avLst/>
            </a:prstGeom>
          </p:spPr>
        </p:pic>
        <p:sp>
          <p:nvSpPr>
            <p:cNvPr id="24" name="object 24"/>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grpSp>
      <p:sp>
        <p:nvSpPr>
          <p:cNvPr id="25" name="object 25"/>
          <p:cNvSpPr txBox="1"/>
          <p:nvPr/>
        </p:nvSpPr>
        <p:spPr>
          <a:xfrm>
            <a:off x="1331589" y="699129"/>
            <a:ext cx="1346200" cy="3682365"/>
          </a:xfrm>
          <a:prstGeom prst="rect">
            <a:avLst/>
          </a:prstGeom>
        </p:spPr>
        <p:txBody>
          <a:bodyPr vert="horz" wrap="square" lIns="0" tIns="11430" rIns="0" bIns="0" rtlCol="0">
            <a:spAutoFit/>
          </a:bodyPr>
          <a:lstStyle/>
          <a:p>
            <a:pPr marL="93345">
              <a:lnSpc>
                <a:spcPct val="100000"/>
              </a:lnSpc>
              <a:spcBef>
                <a:spcPts val="90"/>
              </a:spcBef>
            </a:pPr>
            <a:r>
              <a:rPr sz="1450" b="1" spc="-35" dirty="0">
                <a:solidFill>
                  <a:srgbClr val="FFFFFF"/>
                </a:solidFill>
                <a:latin typeface="微软雅黑" panose="020B0503020204020204" charset="-122"/>
                <a:cs typeface="微软雅黑" panose="020B0503020204020204" charset="-122"/>
              </a:rPr>
              <a:t>病原菌</a:t>
            </a:r>
            <a:endParaRPr sz="1450">
              <a:latin typeface="微软雅黑" panose="020B0503020204020204" charset="-122"/>
              <a:cs typeface="微软雅黑" panose="020B0503020204020204" charset="-122"/>
            </a:endParaRPr>
          </a:p>
          <a:p>
            <a:pPr marR="396875" algn="r">
              <a:lnSpc>
                <a:spcPts val="710"/>
              </a:lnSpc>
              <a:spcBef>
                <a:spcPts val="1055"/>
              </a:spcBef>
            </a:pPr>
            <a:endParaRPr sz="600">
              <a:latin typeface="Arial MT"/>
              <a:cs typeface="Arial MT"/>
            </a:endParaRPr>
          </a:p>
          <a:p>
            <a:pPr marL="12700">
              <a:lnSpc>
                <a:spcPts val="1190"/>
              </a:lnSpc>
            </a:pPr>
            <a:endParaRPr sz="1000">
              <a:latin typeface="微软雅黑" panose="020B0503020204020204" charset="-122"/>
              <a:cs typeface="微软雅黑" panose="020B0503020204020204" charset="-122"/>
            </a:endParaRPr>
          </a:p>
          <a:p>
            <a:pPr marL="12700" marR="5080">
              <a:lnSpc>
                <a:spcPct val="133000"/>
              </a:lnSpc>
            </a:pPr>
            <a:r>
              <a:rPr sz="1000" b="1" spc="-5" dirty="0">
                <a:latin typeface="微软雅黑" panose="020B0503020204020204" charset="-122"/>
                <a:cs typeface="微软雅黑" panose="020B0503020204020204" charset="-122"/>
              </a:rPr>
              <a:t>弗劳地枸橼酸杆菌菌群</a:t>
            </a:r>
            <a:r>
              <a:rPr sz="1000" b="1" spc="-10" dirty="0">
                <a:latin typeface="微软雅黑" panose="020B0503020204020204" charset="-122"/>
                <a:cs typeface="微软雅黑" panose="020B0503020204020204" charset="-122"/>
              </a:rPr>
              <a:t>克氏枸橼酸杆菌</a:t>
            </a:r>
            <a:endParaRPr sz="1000">
              <a:latin typeface="微软雅黑" panose="020B0503020204020204" charset="-122"/>
              <a:cs typeface="微软雅黑" panose="020B0503020204020204" charset="-122"/>
            </a:endParaRPr>
          </a:p>
          <a:p>
            <a:pPr marL="12700">
              <a:lnSpc>
                <a:spcPct val="100000"/>
              </a:lnSpc>
              <a:spcBef>
                <a:spcPts val="400"/>
              </a:spcBef>
            </a:pPr>
            <a:r>
              <a:rPr sz="1000" b="1" spc="-10" dirty="0">
                <a:solidFill>
                  <a:srgbClr val="0054CC"/>
                </a:solidFill>
                <a:latin typeface="微软雅黑" panose="020B0503020204020204" charset="-122"/>
                <a:cs typeface="微软雅黑" panose="020B0503020204020204" charset="-122"/>
              </a:rPr>
              <a:t>大肠埃希菌</a:t>
            </a:r>
            <a:endParaRPr sz="1000">
              <a:latin typeface="微软雅黑" panose="020B0503020204020204" charset="-122"/>
              <a:cs typeface="微软雅黑" panose="020B0503020204020204" charset="-122"/>
            </a:endParaRPr>
          </a:p>
          <a:p>
            <a:pPr marL="12700" marR="401320">
              <a:lnSpc>
                <a:spcPct val="133000"/>
              </a:lnSpc>
            </a:pPr>
            <a:r>
              <a:rPr sz="1000" b="1" spc="-10" dirty="0">
                <a:solidFill>
                  <a:srgbClr val="0054CC"/>
                </a:solidFill>
                <a:latin typeface="微软雅黑" panose="020B0503020204020204" charset="-122"/>
                <a:cs typeface="微软雅黑" panose="020B0503020204020204" charset="-122"/>
              </a:rPr>
              <a:t>阴沟肠杆菌菌群</a:t>
            </a:r>
            <a:r>
              <a:rPr sz="1000" b="1" spc="-10" dirty="0">
                <a:latin typeface="微软雅黑" panose="020B0503020204020204" charset="-122"/>
                <a:cs typeface="微软雅黑" panose="020B0503020204020204" charset="-122"/>
              </a:rPr>
              <a:t>产气克雷伯菌</a:t>
            </a:r>
            <a:r>
              <a:rPr sz="1000" b="1" spc="500" dirty="0">
                <a:latin typeface="微软雅黑" panose="020B0503020204020204" charset="-122"/>
                <a:cs typeface="微软雅黑" panose="020B0503020204020204" charset="-122"/>
              </a:rPr>
              <a:t> </a:t>
            </a:r>
            <a:r>
              <a:rPr sz="1000" b="1" dirty="0">
                <a:solidFill>
                  <a:srgbClr val="0054CC"/>
                </a:solidFill>
                <a:latin typeface="微软雅黑" panose="020B0503020204020204" charset="-122"/>
                <a:cs typeface="微软雅黑" panose="020B0503020204020204" charset="-122"/>
              </a:rPr>
              <a:t>肺炎克雷伯菌</a:t>
            </a:r>
            <a:r>
              <a:rPr sz="1000" b="1" spc="-50" dirty="0">
                <a:latin typeface="微软雅黑" panose="020B0503020204020204" charset="-122"/>
                <a:cs typeface="微软雅黑" panose="020B0503020204020204" charset="-122"/>
              </a:rPr>
              <a:t>产</a:t>
            </a:r>
            <a:r>
              <a:rPr sz="1000" b="1" spc="-10" dirty="0">
                <a:latin typeface="微软雅黑" panose="020B0503020204020204" charset="-122"/>
                <a:cs typeface="微软雅黑" panose="020B0503020204020204" charset="-122"/>
              </a:rPr>
              <a:t>酸克雷伯菌摩氏</a:t>
            </a:r>
            <a:r>
              <a:rPr sz="1000" b="1" spc="-20" dirty="0">
                <a:latin typeface="微软雅黑" panose="020B0503020204020204" charset="-122"/>
                <a:cs typeface="微软雅黑" panose="020B0503020204020204" charset="-122"/>
              </a:rPr>
              <a:t>摩根菌</a:t>
            </a:r>
            <a:endParaRPr sz="1000">
              <a:latin typeface="微软雅黑" panose="020B0503020204020204" charset="-122"/>
              <a:cs typeface="微软雅黑" panose="020B0503020204020204" charset="-122"/>
            </a:endParaRPr>
          </a:p>
          <a:p>
            <a:pPr marL="12700" marR="533400">
              <a:lnSpc>
                <a:spcPct val="133000"/>
              </a:lnSpc>
            </a:pPr>
            <a:r>
              <a:rPr sz="1000" b="1" spc="-10" dirty="0">
                <a:latin typeface="微软雅黑" panose="020B0503020204020204" charset="-122"/>
                <a:cs typeface="微软雅黑" panose="020B0503020204020204" charset="-122"/>
              </a:rPr>
              <a:t>奇异变形杆菌普通变形杆菌</a:t>
            </a:r>
            <a:endParaRPr sz="1000">
              <a:latin typeface="微软雅黑" panose="020B0503020204020204" charset="-122"/>
              <a:cs typeface="微软雅黑" panose="020B0503020204020204" charset="-122"/>
            </a:endParaRPr>
          </a:p>
          <a:p>
            <a:pPr marL="12700" marR="269240" algn="just">
              <a:lnSpc>
                <a:spcPct val="133000"/>
              </a:lnSpc>
            </a:pPr>
            <a:r>
              <a:rPr sz="1000" b="1" spc="-10" dirty="0">
                <a:latin typeface="微软雅黑" panose="020B0503020204020204" charset="-122"/>
                <a:cs typeface="微软雅黑" panose="020B0503020204020204" charset="-122"/>
              </a:rPr>
              <a:t>雷氏普罗威登斯菌斯氏普罗威登斯菌解鸟氨酸拉乌尔菌</a:t>
            </a:r>
            <a:r>
              <a:rPr sz="1000" b="1" spc="-15" dirty="0">
                <a:latin typeface="微软雅黑" panose="020B0503020204020204" charset="-122"/>
                <a:cs typeface="微软雅黑" panose="020B0503020204020204" charset="-122"/>
              </a:rPr>
              <a:t>沙雷菌属</a:t>
            </a:r>
            <a:endParaRPr sz="1000">
              <a:latin typeface="微软雅黑" panose="020B0503020204020204" charset="-122"/>
              <a:cs typeface="微软雅黑" panose="020B0503020204020204" charset="-122"/>
            </a:endParaRPr>
          </a:p>
          <a:p>
            <a:pPr marL="12700" marR="468630">
              <a:lnSpc>
                <a:spcPct val="133000"/>
              </a:lnSpc>
            </a:pPr>
            <a:r>
              <a:rPr sz="1000" b="1" dirty="0">
                <a:solidFill>
                  <a:srgbClr val="0054CC"/>
                </a:solidFill>
                <a:latin typeface="微软雅黑" panose="020B0503020204020204" charset="-122"/>
                <a:cs typeface="微软雅黑" panose="020B0503020204020204" charset="-122"/>
              </a:rPr>
              <a:t>铜绿假单胞菌</a:t>
            </a:r>
            <a:r>
              <a:rPr sz="1000" b="1" spc="-50" dirty="0">
                <a:solidFill>
                  <a:srgbClr val="0054CC"/>
                </a:solidFill>
                <a:latin typeface="微软雅黑" panose="020B0503020204020204" charset="-122"/>
                <a:cs typeface="微软雅黑" panose="020B0503020204020204" charset="-122"/>
              </a:rPr>
              <a:t>*</a:t>
            </a:r>
            <a:r>
              <a:rPr sz="1000" b="1" spc="-10" dirty="0">
                <a:latin typeface="微软雅黑" panose="020B0503020204020204" charset="-122"/>
                <a:cs typeface="微软雅黑" panose="020B0503020204020204" charset="-122"/>
              </a:rPr>
              <a:t>粘质沙雷菌</a:t>
            </a:r>
            <a:endParaRPr sz="1000">
              <a:latin typeface="微软雅黑" panose="020B0503020204020204" charset="-122"/>
              <a:cs typeface="微软雅黑" panose="020B0503020204020204" charset="-122"/>
            </a:endParaRPr>
          </a:p>
          <a:p>
            <a:pPr marL="12700">
              <a:lnSpc>
                <a:spcPct val="100000"/>
              </a:lnSpc>
              <a:spcBef>
                <a:spcPts val="395"/>
              </a:spcBef>
            </a:pPr>
            <a:r>
              <a:rPr sz="1000" b="1" spc="-10" dirty="0">
                <a:solidFill>
                  <a:srgbClr val="0054CC"/>
                </a:solidFill>
                <a:latin typeface="微软雅黑" panose="020B0503020204020204" charset="-122"/>
                <a:cs typeface="微软雅黑" panose="020B0503020204020204" charset="-122"/>
              </a:rPr>
              <a:t>嗜麦芽窄食单胞菌</a:t>
            </a:r>
            <a:endParaRPr sz="1000">
              <a:latin typeface="微软雅黑" panose="020B0503020204020204" charset="-122"/>
              <a:cs typeface="微软雅黑" panose="020B0503020204020204" charset="-122"/>
            </a:endParaRPr>
          </a:p>
        </p:txBody>
      </p:sp>
      <p:sp>
        <p:nvSpPr>
          <p:cNvPr id="27" name="object 27"/>
          <p:cNvSpPr txBox="1"/>
          <p:nvPr/>
        </p:nvSpPr>
        <p:spPr>
          <a:xfrm>
            <a:off x="5788786" y="4896484"/>
            <a:ext cx="67945" cy="116839"/>
          </a:xfrm>
          <a:prstGeom prst="rect">
            <a:avLst/>
          </a:prstGeom>
        </p:spPr>
        <p:txBody>
          <a:bodyPr vert="horz" wrap="square" lIns="0" tIns="12700" rIns="0" bIns="0" rtlCol="0">
            <a:spAutoFit/>
          </a:bodyPr>
          <a:lstStyle/>
          <a:p>
            <a:pPr marL="12700">
              <a:lnSpc>
                <a:spcPct val="100000"/>
              </a:lnSpc>
              <a:spcBef>
                <a:spcPts val="100"/>
              </a:spcBef>
            </a:pPr>
            <a:r>
              <a:rPr sz="600" spc="-50" dirty="0">
                <a:solidFill>
                  <a:srgbClr val="FF0000"/>
                </a:solidFill>
                <a:latin typeface="Arial MT"/>
                <a:cs typeface="Arial MT"/>
              </a:rPr>
              <a:t>2</a:t>
            </a:r>
            <a:endParaRPr sz="600">
              <a:latin typeface="Arial MT"/>
              <a:cs typeface="Arial MT"/>
            </a:endParaRPr>
          </a:p>
        </p:txBody>
      </p:sp>
      <p:sp>
        <p:nvSpPr>
          <p:cNvPr id="37" name="object 37"/>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16</a:t>
            </a:fld>
            <a:r>
              <a:rPr spc="-10" dirty="0"/>
              <a:t> </a:t>
            </a:r>
            <a:r>
              <a:rPr spc="-50" dirty="0"/>
              <a:t>-</a:t>
            </a:r>
          </a:p>
        </p:txBody>
      </p:sp>
      <p:sp>
        <p:nvSpPr>
          <p:cNvPr id="39" name="文本框 38"/>
          <p:cNvSpPr txBox="1"/>
          <p:nvPr/>
        </p:nvSpPr>
        <p:spPr>
          <a:xfrm>
            <a:off x="213360" y="6455410"/>
            <a:ext cx="2700020" cy="198755"/>
          </a:xfrm>
          <a:prstGeom prst="rect">
            <a:avLst/>
          </a:prstGeom>
          <a:noFill/>
        </p:spPr>
        <p:txBody>
          <a:bodyPr wrap="square" rtlCol="0">
            <a:spAutoFit/>
          </a:bodyPr>
          <a:lstStyle/>
          <a:p>
            <a:r>
              <a:rPr sz="700" spc="-20" dirty="0">
                <a:solidFill>
                  <a:schemeClr val="tx1"/>
                </a:solidFill>
                <a:latin typeface="微软雅黑" panose="020B0503020204020204" charset="-122"/>
                <a:cs typeface="微软雅黑" panose="020B0503020204020204" charset="-122"/>
                <a:sym typeface="+mn-ea"/>
              </a:rPr>
              <a:t>注射用氨曲南阿维巴坦钠说明书（核准日期：</a:t>
            </a:r>
            <a:r>
              <a:rPr sz="700" spc="-10" dirty="0">
                <a:solidFill>
                  <a:schemeClr val="tx1"/>
                </a:solidFill>
                <a:latin typeface="Times New Roman" panose="02020603050405020304"/>
                <a:cs typeface="Times New Roman" panose="02020603050405020304"/>
                <a:sym typeface="+mn-ea"/>
              </a:rPr>
              <a:t>2025</a:t>
            </a:r>
            <a:r>
              <a:rPr sz="700" spc="-20" dirty="0">
                <a:solidFill>
                  <a:schemeClr val="tx1"/>
                </a:solidFill>
                <a:latin typeface="微软雅黑" panose="020B0503020204020204" charset="-122"/>
                <a:cs typeface="微软雅黑" panose="020B0503020204020204" charset="-122"/>
                <a:sym typeface="+mn-ea"/>
              </a:rPr>
              <a:t>年</a:t>
            </a:r>
            <a:r>
              <a:rPr sz="700" spc="-10" dirty="0">
                <a:solidFill>
                  <a:schemeClr val="tx1"/>
                </a:solidFill>
                <a:latin typeface="Times New Roman" panose="02020603050405020304"/>
                <a:cs typeface="Times New Roman" panose="02020603050405020304"/>
                <a:sym typeface="+mn-ea"/>
              </a:rPr>
              <a:t>6</a:t>
            </a:r>
            <a:r>
              <a:rPr sz="700" spc="-20" dirty="0">
                <a:solidFill>
                  <a:schemeClr val="tx1"/>
                </a:solidFill>
                <a:latin typeface="微软雅黑" panose="020B0503020204020204" charset="-122"/>
                <a:cs typeface="微软雅黑" panose="020B0503020204020204" charset="-122"/>
                <a:sym typeface="+mn-ea"/>
              </a:rPr>
              <a:t>月</a:t>
            </a:r>
            <a:r>
              <a:rPr sz="700" spc="-10" dirty="0">
                <a:solidFill>
                  <a:schemeClr val="tx1"/>
                </a:solidFill>
                <a:latin typeface="Times New Roman" panose="02020603050405020304"/>
                <a:cs typeface="Times New Roman" panose="02020603050405020304"/>
                <a:sym typeface="+mn-ea"/>
              </a:rPr>
              <a:t>24</a:t>
            </a:r>
            <a:r>
              <a:rPr sz="700" spc="-20" dirty="0">
                <a:solidFill>
                  <a:schemeClr val="tx1"/>
                </a:solidFill>
                <a:latin typeface="微软雅黑" panose="020B0503020204020204" charset="-122"/>
                <a:cs typeface="微软雅黑" panose="020B0503020204020204" charset="-122"/>
                <a:sym typeface="+mn-ea"/>
              </a:rPr>
              <a:t>日</a:t>
            </a:r>
            <a:r>
              <a:rPr sz="700" spc="-50" dirty="0">
                <a:solidFill>
                  <a:schemeClr val="tx1"/>
                </a:solidFill>
                <a:latin typeface="微软雅黑" panose="020B0503020204020204" charset="-122"/>
                <a:cs typeface="微软雅黑" panose="020B0503020204020204" charset="-122"/>
                <a:sym typeface="+mn-ea"/>
              </a:rPr>
              <a:t>）</a:t>
            </a:r>
            <a:endParaRPr lang="zh-CN" altLang="en-US" sz="700" b="1" spc="-50" dirty="0">
              <a:solidFill>
                <a:schemeClr val="tx1"/>
              </a:solidFill>
              <a:latin typeface="微软雅黑" panose="020B0503020204020204" charset="-122"/>
              <a:ea typeface="宋体" panose="02010600030101010101" pitchFamily="2" charset="-122"/>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45720">
              <a:lnSpc>
                <a:spcPct val="100000"/>
              </a:lnSpc>
              <a:spcBef>
                <a:spcPts val="135"/>
              </a:spcBef>
            </a:pPr>
            <a:r>
              <a:rPr dirty="0"/>
              <a:t>PK特征—III期临床数据</a:t>
            </a:r>
            <a:r>
              <a:rPr spc="-10" dirty="0"/>
              <a:t>（CrCL＞50mL/min)</a:t>
            </a:r>
          </a:p>
        </p:txBody>
      </p:sp>
      <p:sp>
        <p:nvSpPr>
          <p:cNvPr id="3" name="object 3"/>
          <p:cNvSpPr txBox="1"/>
          <p:nvPr/>
        </p:nvSpPr>
        <p:spPr>
          <a:xfrm>
            <a:off x="162052" y="5406420"/>
            <a:ext cx="2882265" cy="196850"/>
          </a:xfrm>
          <a:prstGeom prst="rect">
            <a:avLst/>
          </a:prstGeom>
        </p:spPr>
        <p:txBody>
          <a:bodyPr vert="horz" wrap="square" lIns="0" tIns="15875" rIns="0" bIns="0" rtlCol="0">
            <a:spAutoFit/>
          </a:bodyPr>
          <a:lstStyle/>
          <a:p>
            <a:pPr marL="38100">
              <a:lnSpc>
                <a:spcPct val="100000"/>
              </a:lnSpc>
              <a:spcBef>
                <a:spcPts val="125"/>
              </a:spcBef>
            </a:pPr>
            <a:r>
              <a:rPr sz="1050" baseline="24000" dirty="0">
                <a:latin typeface="Times New Roman" panose="02020603050405020304"/>
                <a:cs typeface="Times New Roman" panose="02020603050405020304"/>
              </a:rPr>
              <a:t>a</a:t>
            </a:r>
            <a:r>
              <a:rPr sz="1050" spc="240" baseline="24000" dirty="0">
                <a:latin typeface="Times New Roman" panose="02020603050405020304"/>
                <a:cs typeface="Times New Roman" panose="02020603050405020304"/>
              </a:rPr>
              <a:t> </a:t>
            </a:r>
            <a:r>
              <a:rPr sz="1100" dirty="0">
                <a:latin typeface="微软雅黑" panose="020B0503020204020204" charset="-122"/>
                <a:cs typeface="微软雅黑" panose="020B0503020204020204" charset="-122"/>
              </a:rPr>
              <a:t>静滴</a:t>
            </a:r>
            <a:r>
              <a:rPr sz="1100" dirty="0">
                <a:latin typeface="Times New Roman" panose="02020603050405020304"/>
                <a:cs typeface="Times New Roman" panose="02020603050405020304"/>
              </a:rPr>
              <a:t>3</a:t>
            </a:r>
            <a:r>
              <a:rPr sz="1100" dirty="0">
                <a:latin typeface="微软雅黑" panose="020B0503020204020204" charset="-122"/>
                <a:cs typeface="微软雅黑" panose="020B0503020204020204" charset="-122"/>
              </a:rPr>
              <a:t>小时；</a:t>
            </a:r>
            <a:r>
              <a:rPr sz="1050" baseline="24000" dirty="0">
                <a:solidFill>
                  <a:srgbClr val="030E11"/>
                </a:solidFill>
                <a:latin typeface="Times New Roman" panose="02020603050405020304"/>
                <a:cs typeface="Times New Roman" panose="02020603050405020304"/>
              </a:rPr>
              <a:t>b</a:t>
            </a:r>
            <a:r>
              <a:rPr sz="1050" spc="240" baseline="24000" dirty="0">
                <a:solidFill>
                  <a:srgbClr val="030E11"/>
                </a:solidFill>
                <a:latin typeface="Times New Roman" panose="02020603050405020304"/>
                <a:cs typeface="Times New Roman" panose="02020603050405020304"/>
              </a:rPr>
              <a:t> </a:t>
            </a:r>
            <a:r>
              <a:rPr sz="1100" dirty="0">
                <a:solidFill>
                  <a:srgbClr val="030E11"/>
                </a:solidFill>
                <a:latin typeface="微软雅黑" panose="020B0503020204020204" charset="-122"/>
                <a:cs typeface="微软雅黑" panose="020B0503020204020204" charset="-122"/>
              </a:rPr>
              <a:t>氨曲南、阿维巴坦独立</a:t>
            </a:r>
            <a:r>
              <a:rPr sz="1100" dirty="0">
                <a:solidFill>
                  <a:srgbClr val="030E11"/>
                </a:solidFill>
                <a:latin typeface="Times New Roman" panose="02020603050405020304"/>
                <a:cs typeface="Times New Roman" panose="02020603050405020304"/>
              </a:rPr>
              <a:t>PK</a:t>
            </a:r>
            <a:r>
              <a:rPr sz="1100" spc="-25" dirty="0">
                <a:solidFill>
                  <a:srgbClr val="030E11"/>
                </a:solidFill>
                <a:latin typeface="微软雅黑" panose="020B0503020204020204" charset="-122"/>
                <a:cs typeface="微软雅黑" panose="020B0503020204020204" charset="-122"/>
              </a:rPr>
              <a:t>数据</a:t>
            </a:r>
            <a:endParaRPr sz="1100">
              <a:latin typeface="微软雅黑" panose="020B0503020204020204" charset="-122"/>
              <a:cs typeface="微软雅黑" panose="020B0503020204020204" charset="-122"/>
            </a:endParaRPr>
          </a:p>
        </p:txBody>
      </p:sp>
      <p:sp>
        <p:nvSpPr>
          <p:cNvPr id="4" name="object 4"/>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graphicFrame>
        <p:nvGraphicFramePr>
          <p:cNvPr id="5" name="object 5"/>
          <p:cNvGraphicFramePr>
            <a:graphicFrameLocks noGrp="1"/>
          </p:cNvGraphicFramePr>
          <p:nvPr/>
        </p:nvGraphicFramePr>
        <p:xfrm>
          <a:off x="1316573" y="739780"/>
          <a:ext cx="7305040" cy="4623434"/>
        </p:xfrm>
        <a:graphic>
          <a:graphicData uri="http://schemas.openxmlformats.org/drawingml/2006/table">
            <a:tbl>
              <a:tblPr firstRow="1" bandRow="1">
                <a:tableStyleId>{2D5ABB26-0587-4C30-8999-92F81FD0307C}</a:tableStyleId>
              </a:tblPr>
              <a:tblGrid>
                <a:gridCol w="2890520">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1369060">
                  <a:extLst>
                    <a:ext uri="{9D8B030D-6E8A-4147-A177-3AD203B41FA5}">
                      <a16:colId xmlns:a16="http://schemas.microsoft.com/office/drawing/2014/main" val="20002"/>
                    </a:ext>
                  </a:extLst>
                </a:gridCol>
                <a:gridCol w="2235835">
                  <a:extLst>
                    <a:ext uri="{9D8B030D-6E8A-4147-A177-3AD203B41FA5}">
                      <a16:colId xmlns:a16="http://schemas.microsoft.com/office/drawing/2014/main" val="20003"/>
                    </a:ext>
                  </a:extLst>
                </a:gridCol>
              </a:tblGrid>
              <a:tr h="505459">
                <a:tc>
                  <a:txBody>
                    <a:bodyPr/>
                    <a:lstStyle/>
                    <a:p>
                      <a:pPr marR="44450" algn="ctr">
                        <a:lnSpc>
                          <a:spcPct val="100000"/>
                        </a:lnSpc>
                        <a:spcBef>
                          <a:spcPts val="915"/>
                        </a:spcBef>
                      </a:pPr>
                      <a:r>
                        <a:rPr sz="1600" b="1" spc="-20" dirty="0">
                          <a:solidFill>
                            <a:srgbClr val="FFFFFF"/>
                          </a:solidFill>
                          <a:latin typeface="微软雅黑" panose="020B0503020204020204" charset="-122"/>
                          <a:cs typeface="微软雅黑" panose="020B0503020204020204" charset="-122"/>
                        </a:rPr>
                        <a:t>稳态参数</a:t>
                      </a:r>
                      <a:endParaRPr sz="1600">
                        <a:latin typeface="微软雅黑" panose="020B0503020204020204" charset="-122"/>
                        <a:cs typeface="微软雅黑" panose="020B0503020204020204" charset="-122"/>
                      </a:endParaRPr>
                    </a:p>
                  </a:txBody>
                  <a:tcPr marL="0" marR="0" marT="116205" marB="0">
                    <a:lnL w="6350">
                      <a:solidFill>
                        <a:srgbClr val="3895DE"/>
                      </a:solidFill>
                      <a:prstDash val="solid"/>
                    </a:lnL>
                    <a:solidFill>
                      <a:srgbClr val="3895DE"/>
                    </a:solidFill>
                  </a:tcPr>
                </a:tc>
                <a:tc gridSpan="2">
                  <a:txBody>
                    <a:bodyPr/>
                    <a:lstStyle/>
                    <a:p>
                      <a:pPr marL="465455">
                        <a:lnSpc>
                          <a:spcPct val="100000"/>
                        </a:lnSpc>
                        <a:spcBef>
                          <a:spcPts val="915"/>
                        </a:spcBef>
                      </a:pPr>
                      <a:r>
                        <a:rPr sz="1600" b="1" spc="-35" dirty="0">
                          <a:solidFill>
                            <a:srgbClr val="FFFFFF"/>
                          </a:solidFill>
                          <a:latin typeface="微软雅黑" panose="020B0503020204020204" charset="-122"/>
                          <a:cs typeface="微软雅黑" panose="020B0503020204020204" charset="-122"/>
                        </a:rPr>
                        <a:t>氨曲南 </a:t>
                      </a:r>
                      <a:r>
                        <a:rPr sz="1600" b="1" dirty="0">
                          <a:solidFill>
                            <a:srgbClr val="FFFFFF"/>
                          </a:solidFill>
                          <a:latin typeface="Times New Roman" panose="02020603050405020304"/>
                          <a:cs typeface="Times New Roman" panose="02020603050405020304"/>
                        </a:rPr>
                        <a:t>1.5g/6h</a:t>
                      </a:r>
                      <a:r>
                        <a:rPr sz="1600" b="1" spc="-15" dirty="0">
                          <a:solidFill>
                            <a:srgbClr val="FFFFFF"/>
                          </a:solidFill>
                          <a:latin typeface="Times New Roman" panose="02020603050405020304"/>
                          <a:cs typeface="Times New Roman" panose="02020603050405020304"/>
                        </a:rPr>
                        <a:t> </a:t>
                      </a:r>
                      <a:r>
                        <a:rPr sz="1500" b="1" spc="-75" baseline="22000" dirty="0">
                          <a:solidFill>
                            <a:srgbClr val="FFFFFF"/>
                          </a:solidFill>
                          <a:latin typeface="Times New Roman" panose="02020603050405020304"/>
                          <a:cs typeface="Times New Roman" panose="02020603050405020304"/>
                        </a:rPr>
                        <a:t>a</a:t>
                      </a:r>
                      <a:endParaRPr sz="1500" baseline="22000">
                        <a:latin typeface="Times New Roman" panose="02020603050405020304"/>
                        <a:cs typeface="Times New Roman" panose="02020603050405020304"/>
                      </a:endParaRPr>
                    </a:p>
                  </a:txBody>
                  <a:tcPr marL="0" marR="0" marT="116205" marB="0">
                    <a:solidFill>
                      <a:srgbClr val="3895DE"/>
                    </a:solidFill>
                  </a:tcPr>
                </a:tc>
                <a:tc hMerge="1">
                  <a:txBody>
                    <a:bodyPr/>
                    <a:lstStyle/>
                    <a:p>
                      <a:endParaRPr lang="zh-CN"/>
                    </a:p>
                  </a:txBody>
                  <a:tcPr marL="0" marR="0" marT="0" marB="0"/>
                </a:tc>
                <a:tc>
                  <a:txBody>
                    <a:bodyPr/>
                    <a:lstStyle/>
                    <a:p>
                      <a:pPr marL="208280" algn="ctr">
                        <a:lnSpc>
                          <a:spcPct val="100000"/>
                        </a:lnSpc>
                        <a:spcBef>
                          <a:spcPts val="915"/>
                        </a:spcBef>
                      </a:pPr>
                      <a:r>
                        <a:rPr sz="1600" b="1" spc="-30" dirty="0">
                          <a:solidFill>
                            <a:srgbClr val="FFFFFF"/>
                          </a:solidFill>
                          <a:latin typeface="微软雅黑" panose="020B0503020204020204" charset="-122"/>
                          <a:cs typeface="微软雅黑" panose="020B0503020204020204" charset="-122"/>
                        </a:rPr>
                        <a:t>阿维巴坦 </a:t>
                      </a:r>
                      <a:r>
                        <a:rPr sz="1600" b="1" dirty="0">
                          <a:solidFill>
                            <a:srgbClr val="FFFFFF"/>
                          </a:solidFill>
                          <a:latin typeface="Times New Roman" panose="02020603050405020304"/>
                          <a:cs typeface="Times New Roman" panose="02020603050405020304"/>
                        </a:rPr>
                        <a:t>500mg/6h</a:t>
                      </a:r>
                      <a:r>
                        <a:rPr sz="1600" b="1" spc="-25" dirty="0">
                          <a:solidFill>
                            <a:srgbClr val="FFFFFF"/>
                          </a:solidFill>
                          <a:latin typeface="Times New Roman" panose="02020603050405020304"/>
                          <a:cs typeface="Times New Roman" panose="02020603050405020304"/>
                        </a:rPr>
                        <a:t> </a:t>
                      </a:r>
                      <a:r>
                        <a:rPr sz="1500" b="1" spc="-75" baseline="22000" dirty="0">
                          <a:solidFill>
                            <a:srgbClr val="FFFFFF"/>
                          </a:solidFill>
                          <a:latin typeface="Times New Roman" panose="02020603050405020304"/>
                          <a:cs typeface="Times New Roman" panose="02020603050405020304"/>
                        </a:rPr>
                        <a:t>a</a:t>
                      </a:r>
                      <a:endParaRPr sz="1500" baseline="22000">
                        <a:latin typeface="Times New Roman" panose="02020603050405020304"/>
                        <a:cs typeface="Times New Roman" panose="02020603050405020304"/>
                      </a:endParaRPr>
                    </a:p>
                  </a:txBody>
                  <a:tcPr marL="0" marR="0" marT="116205" marB="0">
                    <a:lnR w="6350">
                      <a:solidFill>
                        <a:srgbClr val="3895DE"/>
                      </a:solidFill>
                      <a:prstDash val="solid"/>
                    </a:lnR>
                    <a:solidFill>
                      <a:srgbClr val="3895DE"/>
                    </a:solidFill>
                  </a:tcPr>
                </a:tc>
                <a:extLst>
                  <a:ext uri="{0D108BD9-81ED-4DB2-BD59-A6C34878D82A}">
                    <a16:rowId xmlns:a16="http://schemas.microsoft.com/office/drawing/2014/main" val="10000"/>
                  </a:ext>
                </a:extLst>
              </a:tr>
              <a:tr h="339725">
                <a:tc>
                  <a:txBody>
                    <a:bodyPr/>
                    <a:lstStyle/>
                    <a:p>
                      <a:pPr marR="45085" algn="ctr">
                        <a:lnSpc>
                          <a:spcPct val="100000"/>
                        </a:lnSpc>
                        <a:spcBef>
                          <a:spcPts val="190"/>
                        </a:spcBef>
                      </a:pPr>
                      <a:r>
                        <a:rPr sz="1450" b="1" dirty="0">
                          <a:solidFill>
                            <a:srgbClr val="030E11"/>
                          </a:solidFill>
                          <a:latin typeface="Times New Roman" panose="02020603050405020304"/>
                          <a:cs typeface="Times New Roman" panose="02020603050405020304"/>
                        </a:rPr>
                        <a:t>C</a:t>
                      </a:r>
                      <a:r>
                        <a:rPr sz="1425" b="1" baseline="-18000" dirty="0">
                          <a:solidFill>
                            <a:srgbClr val="030E11"/>
                          </a:solidFill>
                          <a:latin typeface="Times New Roman" panose="02020603050405020304"/>
                          <a:cs typeface="Times New Roman" panose="02020603050405020304"/>
                        </a:rPr>
                        <a:t>max</a:t>
                      </a:r>
                      <a:r>
                        <a:rPr sz="1425" b="1" spc="270" baseline="-18000" dirty="0">
                          <a:solidFill>
                            <a:srgbClr val="030E11"/>
                          </a:solidFill>
                          <a:latin typeface="Times New Roman" panose="02020603050405020304"/>
                          <a:cs typeface="Times New Roman" panose="02020603050405020304"/>
                        </a:rPr>
                        <a:t> </a:t>
                      </a:r>
                      <a:r>
                        <a:rPr sz="1450" b="1" spc="-10" dirty="0">
                          <a:solidFill>
                            <a:srgbClr val="030E11"/>
                          </a:solidFill>
                          <a:latin typeface="Times New Roman" panose="02020603050405020304"/>
                          <a:cs typeface="Times New Roman" panose="02020603050405020304"/>
                        </a:rPr>
                        <a:t>(µg/mL)</a:t>
                      </a:r>
                      <a:endParaRPr sz="1450">
                        <a:latin typeface="Times New Roman" panose="02020603050405020304"/>
                        <a:cs typeface="Times New Roman" panose="02020603050405020304"/>
                      </a:endParaRPr>
                    </a:p>
                  </a:txBody>
                  <a:tcPr marL="0" marR="0" marT="24130" marB="0">
                    <a:lnL w="6350">
                      <a:solidFill>
                        <a:srgbClr val="3895DE"/>
                      </a:solidFill>
                      <a:prstDash val="solid"/>
                    </a:lnL>
                    <a:lnB w="6350">
                      <a:solidFill>
                        <a:srgbClr val="3895DE"/>
                      </a:solidFill>
                      <a:prstDash val="solid"/>
                    </a:lnB>
                  </a:tcPr>
                </a:tc>
                <a:tc>
                  <a:txBody>
                    <a:bodyPr/>
                    <a:lstStyle/>
                    <a:p>
                      <a:pPr>
                        <a:lnSpc>
                          <a:spcPct val="100000"/>
                        </a:lnSpc>
                      </a:pPr>
                      <a:endParaRPr sz="1300">
                        <a:latin typeface="Times New Roman" panose="02020603050405020304"/>
                        <a:cs typeface="Times New Roman" panose="02020603050405020304"/>
                      </a:endParaRPr>
                    </a:p>
                  </a:txBody>
                  <a:tcPr marL="0" marR="0" marT="0" marB="0">
                    <a:lnB w="6350">
                      <a:solidFill>
                        <a:srgbClr val="3895DE"/>
                      </a:solidFill>
                      <a:prstDash val="solid"/>
                    </a:lnB>
                  </a:tcPr>
                </a:tc>
                <a:tc>
                  <a:txBody>
                    <a:bodyPr/>
                    <a:lstStyle/>
                    <a:p>
                      <a:pPr marR="644525" algn="ctr">
                        <a:lnSpc>
                          <a:spcPct val="100000"/>
                        </a:lnSpc>
                        <a:spcBef>
                          <a:spcPts val="190"/>
                        </a:spcBef>
                      </a:pPr>
                      <a:r>
                        <a:rPr sz="1450" spc="-20" dirty="0">
                          <a:solidFill>
                            <a:srgbClr val="030E11"/>
                          </a:solidFill>
                          <a:latin typeface="Times New Roman" panose="02020603050405020304"/>
                          <a:cs typeface="Times New Roman" panose="02020603050405020304"/>
                        </a:rPr>
                        <a:t>58.9</a:t>
                      </a:r>
                      <a:endParaRPr sz="1450">
                        <a:latin typeface="Times New Roman" panose="02020603050405020304"/>
                        <a:cs typeface="Times New Roman" panose="02020603050405020304"/>
                      </a:endParaRPr>
                    </a:p>
                  </a:txBody>
                  <a:tcPr marL="0" marR="0" marT="24130" marB="0">
                    <a:lnB w="6350">
                      <a:solidFill>
                        <a:srgbClr val="3895DE"/>
                      </a:solidFill>
                      <a:prstDash val="solid"/>
                    </a:lnB>
                  </a:tcPr>
                </a:tc>
                <a:tc>
                  <a:txBody>
                    <a:bodyPr/>
                    <a:lstStyle/>
                    <a:p>
                      <a:pPr marL="208280" algn="ctr">
                        <a:lnSpc>
                          <a:spcPct val="100000"/>
                        </a:lnSpc>
                        <a:spcBef>
                          <a:spcPts val="190"/>
                        </a:spcBef>
                      </a:pPr>
                      <a:r>
                        <a:rPr sz="1450" spc="-20" dirty="0">
                          <a:solidFill>
                            <a:srgbClr val="030E11"/>
                          </a:solidFill>
                          <a:latin typeface="Times New Roman" panose="02020603050405020304"/>
                          <a:cs typeface="Times New Roman" panose="02020603050405020304"/>
                        </a:rPr>
                        <a:t>11.3</a:t>
                      </a:r>
                      <a:endParaRPr sz="1450">
                        <a:latin typeface="Times New Roman" panose="02020603050405020304"/>
                        <a:cs typeface="Times New Roman" panose="02020603050405020304"/>
                      </a:endParaRPr>
                    </a:p>
                  </a:txBody>
                  <a:tcPr marL="0" marR="0" marT="24130" marB="0">
                    <a:lnR w="6350">
                      <a:solidFill>
                        <a:srgbClr val="3895DE"/>
                      </a:solidFill>
                      <a:prstDash val="solid"/>
                    </a:lnR>
                    <a:lnB w="6350">
                      <a:solidFill>
                        <a:srgbClr val="3895DE"/>
                      </a:solidFill>
                      <a:prstDash val="solid"/>
                    </a:lnB>
                  </a:tcPr>
                </a:tc>
                <a:extLst>
                  <a:ext uri="{0D108BD9-81ED-4DB2-BD59-A6C34878D82A}">
                    <a16:rowId xmlns:a16="http://schemas.microsoft.com/office/drawing/2014/main" val="10001"/>
                  </a:ext>
                </a:extLst>
              </a:tr>
              <a:tr h="350520">
                <a:tc>
                  <a:txBody>
                    <a:bodyPr/>
                    <a:lstStyle/>
                    <a:p>
                      <a:pPr marR="45720" algn="ctr">
                        <a:lnSpc>
                          <a:spcPct val="100000"/>
                        </a:lnSpc>
                        <a:spcBef>
                          <a:spcPts val="265"/>
                        </a:spcBef>
                      </a:pPr>
                      <a:r>
                        <a:rPr sz="1450" b="1" spc="-20" dirty="0">
                          <a:latin typeface="Times New Roman" panose="02020603050405020304"/>
                          <a:cs typeface="Times New Roman" panose="02020603050405020304"/>
                        </a:rPr>
                        <a:t>AUC</a:t>
                      </a:r>
                      <a:r>
                        <a:rPr sz="1425" b="1" spc="-30" baseline="-18000" dirty="0">
                          <a:latin typeface="Times New Roman" panose="02020603050405020304"/>
                          <a:cs typeface="Times New Roman" panose="02020603050405020304"/>
                        </a:rPr>
                        <a:t>0-</a:t>
                      </a:r>
                      <a:r>
                        <a:rPr sz="1425" b="1" baseline="-18000" dirty="0">
                          <a:latin typeface="Times New Roman" panose="02020603050405020304"/>
                          <a:cs typeface="Times New Roman" panose="02020603050405020304"/>
                        </a:rPr>
                        <a:t>24</a:t>
                      </a:r>
                      <a:r>
                        <a:rPr sz="1425" b="1" spc="382" baseline="-18000" dirty="0">
                          <a:latin typeface="Times New Roman" panose="02020603050405020304"/>
                          <a:cs typeface="Times New Roman" panose="02020603050405020304"/>
                        </a:rPr>
                        <a:t> </a:t>
                      </a:r>
                      <a:r>
                        <a:rPr sz="1450" b="1" spc="-10" dirty="0">
                          <a:latin typeface="Times New Roman" panose="02020603050405020304"/>
                          <a:cs typeface="Times New Roman" panose="02020603050405020304"/>
                        </a:rPr>
                        <a:t>(mg·h/L</a:t>
                      </a:r>
                      <a:r>
                        <a:rPr sz="1450" b="1" spc="-10" dirty="0">
                          <a:latin typeface="微软雅黑" panose="020B0503020204020204" charset="-122"/>
                          <a:cs typeface="微软雅黑" panose="020B0503020204020204" charset="-122"/>
                        </a:rPr>
                        <a:t>）</a:t>
                      </a:r>
                      <a:endParaRPr sz="1450">
                        <a:latin typeface="微软雅黑" panose="020B0503020204020204" charset="-122"/>
                        <a:cs typeface="微软雅黑" panose="020B0503020204020204" charset="-122"/>
                      </a:endParaRPr>
                    </a:p>
                  </a:txBody>
                  <a:tcPr marL="0" marR="0" marT="33655" marB="0">
                    <a:lnL w="6350">
                      <a:solidFill>
                        <a:srgbClr val="3895DE"/>
                      </a:solidFill>
                      <a:prstDash val="solid"/>
                    </a:lnL>
                    <a:lnT w="6350">
                      <a:solidFill>
                        <a:srgbClr val="3895DE"/>
                      </a:solidFill>
                      <a:prstDash val="solid"/>
                    </a:lnT>
                    <a:lnB w="6350">
                      <a:solidFill>
                        <a:srgbClr val="3895DE"/>
                      </a:solidFill>
                      <a:prstDash val="solid"/>
                    </a:lnB>
                  </a:tcPr>
                </a:tc>
                <a:tc>
                  <a:txBody>
                    <a:bodyPr/>
                    <a:lstStyle/>
                    <a:p>
                      <a:pPr>
                        <a:lnSpc>
                          <a:spcPct val="100000"/>
                        </a:lnSpc>
                      </a:pPr>
                      <a:endParaRPr sz="1300">
                        <a:latin typeface="Times New Roman" panose="02020603050405020304"/>
                        <a:cs typeface="Times New Roman" panose="02020603050405020304"/>
                      </a:endParaRPr>
                    </a:p>
                  </a:txBody>
                  <a:tcPr marL="0" marR="0" marT="0" marB="0">
                    <a:lnT w="6350">
                      <a:solidFill>
                        <a:srgbClr val="3895DE"/>
                      </a:solidFill>
                      <a:prstDash val="solid"/>
                    </a:lnT>
                    <a:lnB w="6350">
                      <a:solidFill>
                        <a:srgbClr val="3895DE"/>
                      </a:solidFill>
                      <a:prstDash val="solid"/>
                    </a:lnB>
                  </a:tcPr>
                </a:tc>
                <a:tc>
                  <a:txBody>
                    <a:bodyPr/>
                    <a:lstStyle/>
                    <a:p>
                      <a:pPr marR="644525" algn="ctr">
                        <a:lnSpc>
                          <a:spcPct val="100000"/>
                        </a:lnSpc>
                        <a:spcBef>
                          <a:spcPts val="210"/>
                        </a:spcBef>
                      </a:pPr>
                      <a:r>
                        <a:rPr sz="1450" spc="-25" dirty="0">
                          <a:latin typeface="Times New Roman" panose="02020603050405020304"/>
                          <a:cs typeface="Times New Roman" panose="02020603050405020304"/>
                        </a:rPr>
                        <a:t>982</a:t>
                      </a:r>
                      <a:endParaRPr sz="1450">
                        <a:latin typeface="Times New Roman" panose="02020603050405020304"/>
                        <a:cs typeface="Times New Roman" panose="02020603050405020304"/>
                      </a:endParaRPr>
                    </a:p>
                  </a:txBody>
                  <a:tcPr marL="0" marR="0" marT="26670" marB="0">
                    <a:lnT w="6350">
                      <a:solidFill>
                        <a:srgbClr val="3895DE"/>
                      </a:solidFill>
                      <a:prstDash val="solid"/>
                    </a:lnT>
                    <a:lnB w="6350">
                      <a:solidFill>
                        <a:srgbClr val="3895DE"/>
                      </a:solidFill>
                      <a:prstDash val="solid"/>
                    </a:lnB>
                  </a:tcPr>
                </a:tc>
                <a:tc>
                  <a:txBody>
                    <a:bodyPr/>
                    <a:lstStyle/>
                    <a:p>
                      <a:pPr marL="208280" algn="ctr">
                        <a:lnSpc>
                          <a:spcPct val="100000"/>
                        </a:lnSpc>
                        <a:spcBef>
                          <a:spcPts val="210"/>
                        </a:spcBef>
                      </a:pPr>
                      <a:r>
                        <a:rPr sz="1450" spc="-25" dirty="0">
                          <a:solidFill>
                            <a:srgbClr val="030E11"/>
                          </a:solidFill>
                          <a:latin typeface="Times New Roman" panose="02020603050405020304"/>
                          <a:cs typeface="Times New Roman" panose="02020603050405020304"/>
                        </a:rPr>
                        <a:t>175</a:t>
                      </a:r>
                      <a:endParaRPr sz="1450">
                        <a:latin typeface="Times New Roman" panose="02020603050405020304"/>
                        <a:cs typeface="Times New Roman" panose="02020603050405020304"/>
                      </a:endParaRPr>
                    </a:p>
                  </a:txBody>
                  <a:tcPr marL="0" marR="0" marT="26670" marB="0">
                    <a:lnR w="6350">
                      <a:solidFill>
                        <a:srgbClr val="3895DE"/>
                      </a:solidFill>
                      <a:prstDash val="solid"/>
                    </a:lnR>
                    <a:lnT w="6350">
                      <a:solidFill>
                        <a:srgbClr val="3895DE"/>
                      </a:solidFill>
                      <a:prstDash val="solid"/>
                    </a:lnT>
                    <a:lnB w="6350">
                      <a:solidFill>
                        <a:srgbClr val="3895DE"/>
                      </a:solidFill>
                      <a:prstDash val="solid"/>
                    </a:lnB>
                  </a:tcPr>
                </a:tc>
                <a:extLst>
                  <a:ext uri="{0D108BD9-81ED-4DB2-BD59-A6C34878D82A}">
                    <a16:rowId xmlns:a16="http://schemas.microsoft.com/office/drawing/2014/main" val="10002"/>
                  </a:ext>
                </a:extLst>
              </a:tr>
              <a:tr h="342900">
                <a:tc gridSpan="4">
                  <a:txBody>
                    <a:bodyPr/>
                    <a:lstStyle/>
                    <a:p>
                      <a:pPr marL="78105">
                        <a:lnSpc>
                          <a:spcPct val="100000"/>
                        </a:lnSpc>
                        <a:spcBef>
                          <a:spcPts val="265"/>
                        </a:spcBef>
                      </a:pPr>
                      <a:r>
                        <a:rPr sz="1450" b="1" spc="-35" dirty="0">
                          <a:latin typeface="微软雅黑" panose="020B0503020204020204" charset="-122"/>
                          <a:cs typeface="微软雅黑" panose="020B0503020204020204" charset="-122"/>
                        </a:rPr>
                        <a:t>分布</a:t>
                      </a:r>
                      <a:endParaRPr sz="1450">
                        <a:latin typeface="微软雅黑" panose="020B0503020204020204" charset="-122"/>
                        <a:cs typeface="微软雅黑" panose="020B0503020204020204" charset="-122"/>
                      </a:endParaRPr>
                    </a:p>
                  </a:txBody>
                  <a:tcPr marL="0" marR="0" marT="33655" marB="0">
                    <a:lnL w="6350">
                      <a:solidFill>
                        <a:srgbClr val="3895DE"/>
                      </a:solidFill>
                      <a:prstDash val="solid"/>
                    </a:lnL>
                    <a:lnR w="6350">
                      <a:solidFill>
                        <a:srgbClr val="3895DE"/>
                      </a:solidFill>
                      <a:prstDash val="solid"/>
                    </a:lnR>
                    <a:lnT w="6350">
                      <a:solidFill>
                        <a:srgbClr val="3895DE"/>
                      </a:solidFill>
                      <a:prstDash val="solid"/>
                    </a:lnT>
                    <a:lnB w="6350">
                      <a:solidFill>
                        <a:srgbClr val="3895DE"/>
                      </a:solidFill>
                      <a:prstDash val="solid"/>
                    </a:lnB>
                  </a:tcPr>
                </a:tc>
                <a:tc hMerge="1">
                  <a:txBody>
                    <a:bodyPr/>
                    <a:lstStyle/>
                    <a:p>
                      <a:endParaRPr lang="zh-CN"/>
                    </a:p>
                  </a:txBody>
                  <a:tcPr marL="0" marR="0" marT="0" marB="0"/>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03"/>
                  </a:ext>
                </a:extLst>
              </a:tr>
              <a:tr h="342265">
                <a:tc>
                  <a:txBody>
                    <a:bodyPr/>
                    <a:lstStyle/>
                    <a:p>
                      <a:pPr marR="45085" algn="ctr">
                        <a:lnSpc>
                          <a:spcPct val="100000"/>
                        </a:lnSpc>
                        <a:spcBef>
                          <a:spcPts val="265"/>
                        </a:spcBef>
                      </a:pPr>
                      <a:r>
                        <a:rPr sz="1450" b="1" spc="-25" dirty="0">
                          <a:latin typeface="微软雅黑" panose="020B0503020204020204" charset="-122"/>
                          <a:cs typeface="微软雅黑" panose="020B0503020204020204" charset="-122"/>
                        </a:rPr>
                        <a:t>人血浆蛋白结合</a:t>
                      </a:r>
                      <a:endParaRPr sz="1450">
                        <a:latin typeface="微软雅黑" panose="020B0503020204020204" charset="-122"/>
                        <a:cs typeface="微软雅黑" panose="020B0503020204020204" charset="-122"/>
                      </a:endParaRPr>
                    </a:p>
                  </a:txBody>
                  <a:tcPr marL="0" marR="0" marT="33655" marB="0">
                    <a:lnL w="6350">
                      <a:solidFill>
                        <a:srgbClr val="3895DE"/>
                      </a:solidFill>
                      <a:prstDash val="solid"/>
                    </a:lnL>
                    <a:lnT w="6350">
                      <a:solidFill>
                        <a:srgbClr val="3895DE"/>
                      </a:solidFill>
                      <a:prstDash val="solid"/>
                    </a:lnT>
                    <a:lnB w="6350">
                      <a:solidFill>
                        <a:srgbClr val="3895DE"/>
                      </a:solidFill>
                      <a:prstDash val="solid"/>
                    </a:lnB>
                  </a:tcPr>
                </a:tc>
                <a:tc>
                  <a:txBody>
                    <a:bodyPr/>
                    <a:lstStyle/>
                    <a:p>
                      <a:pPr>
                        <a:lnSpc>
                          <a:spcPct val="100000"/>
                        </a:lnSpc>
                      </a:pPr>
                      <a:endParaRPr sz="1300">
                        <a:latin typeface="Times New Roman" panose="02020603050405020304"/>
                        <a:cs typeface="Times New Roman" panose="02020603050405020304"/>
                      </a:endParaRPr>
                    </a:p>
                  </a:txBody>
                  <a:tcPr marL="0" marR="0" marT="0" marB="0">
                    <a:lnT w="6350">
                      <a:solidFill>
                        <a:srgbClr val="3895DE"/>
                      </a:solidFill>
                      <a:prstDash val="solid"/>
                    </a:lnT>
                    <a:lnB w="6350">
                      <a:solidFill>
                        <a:srgbClr val="3895DE"/>
                      </a:solidFill>
                      <a:prstDash val="solid"/>
                    </a:lnB>
                  </a:tcPr>
                </a:tc>
                <a:tc>
                  <a:txBody>
                    <a:bodyPr/>
                    <a:lstStyle/>
                    <a:p>
                      <a:pPr marR="644525" algn="ctr">
                        <a:lnSpc>
                          <a:spcPct val="100000"/>
                        </a:lnSpc>
                        <a:spcBef>
                          <a:spcPts val="215"/>
                        </a:spcBef>
                      </a:pPr>
                      <a:r>
                        <a:rPr sz="1450" spc="-25" dirty="0">
                          <a:latin typeface="Times New Roman" panose="02020603050405020304"/>
                          <a:cs typeface="Times New Roman" panose="02020603050405020304"/>
                        </a:rPr>
                        <a:t>38%</a:t>
                      </a:r>
                      <a:endParaRPr sz="1450">
                        <a:latin typeface="Times New Roman" panose="02020603050405020304"/>
                        <a:cs typeface="Times New Roman" panose="02020603050405020304"/>
                      </a:endParaRPr>
                    </a:p>
                  </a:txBody>
                  <a:tcPr marL="0" marR="0" marT="27305" marB="0">
                    <a:lnT w="6350">
                      <a:solidFill>
                        <a:srgbClr val="3895DE"/>
                      </a:solidFill>
                      <a:prstDash val="solid"/>
                    </a:lnT>
                    <a:lnB w="6350">
                      <a:solidFill>
                        <a:srgbClr val="3895DE"/>
                      </a:solidFill>
                      <a:prstDash val="solid"/>
                    </a:lnB>
                  </a:tcPr>
                </a:tc>
                <a:tc>
                  <a:txBody>
                    <a:bodyPr/>
                    <a:lstStyle/>
                    <a:p>
                      <a:pPr marL="208280" algn="ctr">
                        <a:lnSpc>
                          <a:spcPct val="100000"/>
                        </a:lnSpc>
                        <a:spcBef>
                          <a:spcPts val="215"/>
                        </a:spcBef>
                      </a:pPr>
                      <a:r>
                        <a:rPr sz="1450" spc="-25" dirty="0">
                          <a:latin typeface="Times New Roman" panose="02020603050405020304"/>
                          <a:cs typeface="Times New Roman" panose="02020603050405020304"/>
                        </a:rPr>
                        <a:t>8%</a:t>
                      </a:r>
                      <a:endParaRPr sz="1450">
                        <a:latin typeface="Times New Roman" panose="02020603050405020304"/>
                        <a:cs typeface="Times New Roman" panose="02020603050405020304"/>
                      </a:endParaRPr>
                    </a:p>
                  </a:txBody>
                  <a:tcPr marL="0" marR="0" marT="27305" marB="0">
                    <a:lnR w="6350">
                      <a:solidFill>
                        <a:srgbClr val="3895DE"/>
                      </a:solidFill>
                      <a:prstDash val="solid"/>
                    </a:lnR>
                    <a:lnT w="6350">
                      <a:solidFill>
                        <a:srgbClr val="3895DE"/>
                      </a:solidFill>
                      <a:prstDash val="solid"/>
                    </a:lnT>
                    <a:lnB w="6350">
                      <a:solidFill>
                        <a:srgbClr val="3895DE"/>
                      </a:solidFill>
                      <a:prstDash val="solid"/>
                    </a:lnB>
                  </a:tcPr>
                </a:tc>
                <a:extLst>
                  <a:ext uri="{0D108BD9-81ED-4DB2-BD59-A6C34878D82A}">
                    <a16:rowId xmlns:a16="http://schemas.microsoft.com/office/drawing/2014/main" val="10004"/>
                  </a:ext>
                </a:extLst>
              </a:tr>
              <a:tr h="342900">
                <a:tc>
                  <a:txBody>
                    <a:bodyPr/>
                    <a:lstStyle/>
                    <a:p>
                      <a:pPr marR="45085" algn="ctr">
                        <a:lnSpc>
                          <a:spcPct val="100000"/>
                        </a:lnSpc>
                        <a:spcBef>
                          <a:spcPts val="210"/>
                        </a:spcBef>
                      </a:pPr>
                      <a:r>
                        <a:rPr sz="1450" b="1" spc="-10" dirty="0">
                          <a:solidFill>
                            <a:srgbClr val="030E11"/>
                          </a:solidFill>
                          <a:latin typeface="Times New Roman" panose="02020603050405020304"/>
                          <a:cs typeface="Times New Roman" panose="02020603050405020304"/>
                        </a:rPr>
                        <a:t>Vd(L)</a:t>
                      </a:r>
                      <a:endParaRPr sz="1450">
                        <a:latin typeface="Times New Roman" panose="02020603050405020304"/>
                        <a:cs typeface="Times New Roman" panose="02020603050405020304"/>
                      </a:endParaRPr>
                    </a:p>
                  </a:txBody>
                  <a:tcPr marL="0" marR="0" marT="26670" marB="0">
                    <a:lnL w="6350">
                      <a:solidFill>
                        <a:srgbClr val="3895DE"/>
                      </a:solidFill>
                      <a:prstDash val="solid"/>
                    </a:lnL>
                    <a:lnT w="6350">
                      <a:solidFill>
                        <a:srgbClr val="3895DE"/>
                      </a:solidFill>
                      <a:prstDash val="solid"/>
                    </a:lnT>
                    <a:lnB w="6350">
                      <a:solidFill>
                        <a:srgbClr val="3895DE"/>
                      </a:solidFill>
                      <a:prstDash val="solid"/>
                    </a:lnB>
                  </a:tcPr>
                </a:tc>
                <a:tc>
                  <a:txBody>
                    <a:bodyPr/>
                    <a:lstStyle/>
                    <a:p>
                      <a:pPr>
                        <a:lnSpc>
                          <a:spcPct val="100000"/>
                        </a:lnSpc>
                      </a:pPr>
                      <a:endParaRPr sz="1300">
                        <a:latin typeface="Times New Roman" panose="02020603050405020304"/>
                        <a:cs typeface="Times New Roman" panose="02020603050405020304"/>
                      </a:endParaRPr>
                    </a:p>
                  </a:txBody>
                  <a:tcPr marL="0" marR="0" marT="0" marB="0">
                    <a:lnT w="6350">
                      <a:solidFill>
                        <a:srgbClr val="3895DE"/>
                      </a:solidFill>
                      <a:prstDash val="solid"/>
                    </a:lnT>
                    <a:lnB w="6350">
                      <a:solidFill>
                        <a:srgbClr val="3895DE"/>
                      </a:solidFill>
                      <a:prstDash val="solid"/>
                    </a:lnB>
                  </a:tcPr>
                </a:tc>
                <a:tc>
                  <a:txBody>
                    <a:bodyPr/>
                    <a:lstStyle/>
                    <a:p>
                      <a:pPr marR="644525" algn="ctr">
                        <a:lnSpc>
                          <a:spcPct val="100000"/>
                        </a:lnSpc>
                        <a:spcBef>
                          <a:spcPts val="210"/>
                        </a:spcBef>
                      </a:pPr>
                      <a:r>
                        <a:rPr sz="1450" spc="-20" dirty="0">
                          <a:solidFill>
                            <a:srgbClr val="030E11"/>
                          </a:solidFill>
                          <a:latin typeface="Times New Roman" panose="02020603050405020304"/>
                          <a:cs typeface="Times New Roman" panose="02020603050405020304"/>
                        </a:rPr>
                        <a:t>19.6</a:t>
                      </a:r>
                      <a:endParaRPr sz="1450">
                        <a:latin typeface="Times New Roman" panose="02020603050405020304"/>
                        <a:cs typeface="Times New Roman" panose="02020603050405020304"/>
                      </a:endParaRPr>
                    </a:p>
                  </a:txBody>
                  <a:tcPr marL="0" marR="0" marT="26670" marB="0">
                    <a:lnT w="6350">
                      <a:solidFill>
                        <a:srgbClr val="3895DE"/>
                      </a:solidFill>
                      <a:prstDash val="solid"/>
                    </a:lnT>
                    <a:lnB w="6350">
                      <a:solidFill>
                        <a:srgbClr val="3895DE"/>
                      </a:solidFill>
                      <a:prstDash val="solid"/>
                    </a:lnB>
                  </a:tcPr>
                </a:tc>
                <a:tc>
                  <a:txBody>
                    <a:bodyPr/>
                    <a:lstStyle/>
                    <a:p>
                      <a:pPr marL="208280" algn="ctr">
                        <a:lnSpc>
                          <a:spcPct val="100000"/>
                        </a:lnSpc>
                        <a:spcBef>
                          <a:spcPts val="210"/>
                        </a:spcBef>
                      </a:pPr>
                      <a:r>
                        <a:rPr sz="1450" spc="-20" dirty="0">
                          <a:solidFill>
                            <a:srgbClr val="030E11"/>
                          </a:solidFill>
                          <a:latin typeface="Times New Roman" panose="02020603050405020304"/>
                          <a:cs typeface="Times New Roman" panose="02020603050405020304"/>
                        </a:rPr>
                        <a:t>23.7</a:t>
                      </a:r>
                      <a:endParaRPr sz="1450">
                        <a:latin typeface="Times New Roman" panose="02020603050405020304"/>
                        <a:cs typeface="Times New Roman" panose="02020603050405020304"/>
                      </a:endParaRPr>
                    </a:p>
                  </a:txBody>
                  <a:tcPr marL="0" marR="0" marT="26670" marB="0">
                    <a:lnR w="6350">
                      <a:solidFill>
                        <a:srgbClr val="3895DE"/>
                      </a:solidFill>
                      <a:prstDash val="solid"/>
                    </a:lnR>
                    <a:lnT w="6350">
                      <a:solidFill>
                        <a:srgbClr val="3895DE"/>
                      </a:solidFill>
                      <a:prstDash val="solid"/>
                    </a:lnT>
                    <a:lnB w="6350">
                      <a:solidFill>
                        <a:srgbClr val="3895DE"/>
                      </a:solidFill>
                      <a:prstDash val="solid"/>
                    </a:lnB>
                  </a:tcPr>
                </a:tc>
                <a:extLst>
                  <a:ext uri="{0D108BD9-81ED-4DB2-BD59-A6C34878D82A}">
                    <a16:rowId xmlns:a16="http://schemas.microsoft.com/office/drawing/2014/main" val="10005"/>
                  </a:ext>
                </a:extLst>
              </a:tr>
              <a:tr h="342900">
                <a:tc>
                  <a:txBody>
                    <a:bodyPr/>
                    <a:lstStyle/>
                    <a:p>
                      <a:pPr marR="44450" algn="ctr">
                        <a:lnSpc>
                          <a:spcPct val="100000"/>
                        </a:lnSpc>
                        <a:spcBef>
                          <a:spcPts val="210"/>
                        </a:spcBef>
                      </a:pPr>
                      <a:r>
                        <a:rPr sz="1450" b="1" spc="-10" dirty="0">
                          <a:solidFill>
                            <a:srgbClr val="030E11"/>
                          </a:solidFill>
                          <a:latin typeface="Times New Roman" panose="02020603050405020304"/>
                          <a:cs typeface="Times New Roman" panose="02020603050405020304"/>
                        </a:rPr>
                        <a:t>ELF/plasma</a:t>
                      </a:r>
                      <a:r>
                        <a:rPr sz="1450" b="1" spc="-25" dirty="0">
                          <a:solidFill>
                            <a:srgbClr val="030E11"/>
                          </a:solidFill>
                          <a:latin typeface="Times New Roman" panose="02020603050405020304"/>
                          <a:cs typeface="Times New Roman" panose="02020603050405020304"/>
                        </a:rPr>
                        <a:t> </a:t>
                      </a:r>
                      <a:r>
                        <a:rPr sz="1425" b="1" spc="-75" baseline="20000" dirty="0">
                          <a:solidFill>
                            <a:srgbClr val="030E11"/>
                          </a:solidFill>
                          <a:latin typeface="Times New Roman" panose="02020603050405020304"/>
                          <a:cs typeface="Times New Roman" panose="02020603050405020304"/>
                        </a:rPr>
                        <a:t>b</a:t>
                      </a:r>
                      <a:endParaRPr sz="1425" baseline="20000">
                        <a:latin typeface="Times New Roman" panose="02020603050405020304"/>
                        <a:cs typeface="Times New Roman" panose="02020603050405020304"/>
                      </a:endParaRPr>
                    </a:p>
                  </a:txBody>
                  <a:tcPr marL="0" marR="0" marT="26670" marB="0">
                    <a:lnL w="6350">
                      <a:solidFill>
                        <a:srgbClr val="3895DE"/>
                      </a:solidFill>
                      <a:prstDash val="solid"/>
                    </a:lnL>
                    <a:lnT w="6350">
                      <a:solidFill>
                        <a:srgbClr val="3895DE"/>
                      </a:solidFill>
                      <a:prstDash val="solid"/>
                    </a:lnT>
                    <a:lnB w="6350">
                      <a:solidFill>
                        <a:srgbClr val="3895DE"/>
                      </a:solidFill>
                      <a:prstDash val="solid"/>
                    </a:lnB>
                  </a:tcPr>
                </a:tc>
                <a:tc>
                  <a:txBody>
                    <a:bodyPr/>
                    <a:lstStyle/>
                    <a:p>
                      <a:pPr>
                        <a:lnSpc>
                          <a:spcPct val="100000"/>
                        </a:lnSpc>
                      </a:pPr>
                      <a:endParaRPr sz="1300">
                        <a:latin typeface="Times New Roman" panose="02020603050405020304"/>
                        <a:cs typeface="Times New Roman" panose="02020603050405020304"/>
                      </a:endParaRPr>
                    </a:p>
                  </a:txBody>
                  <a:tcPr marL="0" marR="0" marT="0" marB="0">
                    <a:lnT w="6350">
                      <a:solidFill>
                        <a:srgbClr val="3895DE"/>
                      </a:solidFill>
                      <a:prstDash val="solid"/>
                    </a:lnT>
                    <a:lnB w="6350">
                      <a:solidFill>
                        <a:srgbClr val="3895DE"/>
                      </a:solidFill>
                      <a:prstDash val="solid"/>
                    </a:lnB>
                  </a:tcPr>
                </a:tc>
                <a:tc>
                  <a:txBody>
                    <a:bodyPr/>
                    <a:lstStyle/>
                    <a:p>
                      <a:pPr marR="644525" algn="ctr">
                        <a:lnSpc>
                          <a:spcPct val="100000"/>
                        </a:lnSpc>
                        <a:spcBef>
                          <a:spcPts val="210"/>
                        </a:spcBef>
                      </a:pPr>
                      <a:r>
                        <a:rPr sz="1450" spc="-10" dirty="0">
                          <a:solidFill>
                            <a:srgbClr val="030E11"/>
                          </a:solidFill>
                          <a:latin typeface="Times New Roman" panose="02020603050405020304"/>
                          <a:cs typeface="Times New Roman" panose="02020603050405020304"/>
                        </a:rPr>
                        <a:t>21-</a:t>
                      </a:r>
                      <a:r>
                        <a:rPr sz="1450" spc="-25" dirty="0">
                          <a:solidFill>
                            <a:srgbClr val="030E11"/>
                          </a:solidFill>
                          <a:latin typeface="Times New Roman" panose="02020603050405020304"/>
                          <a:cs typeface="Times New Roman" panose="02020603050405020304"/>
                        </a:rPr>
                        <a:t>60%</a:t>
                      </a:r>
                      <a:endParaRPr sz="1450">
                        <a:latin typeface="Times New Roman" panose="02020603050405020304"/>
                        <a:cs typeface="Times New Roman" panose="02020603050405020304"/>
                      </a:endParaRPr>
                    </a:p>
                  </a:txBody>
                  <a:tcPr marL="0" marR="0" marT="26670" marB="0">
                    <a:lnT w="6350">
                      <a:solidFill>
                        <a:srgbClr val="3895DE"/>
                      </a:solidFill>
                      <a:prstDash val="solid"/>
                    </a:lnT>
                    <a:lnB w="6350">
                      <a:solidFill>
                        <a:srgbClr val="3895DE"/>
                      </a:solidFill>
                      <a:prstDash val="solid"/>
                    </a:lnB>
                  </a:tcPr>
                </a:tc>
                <a:tc>
                  <a:txBody>
                    <a:bodyPr/>
                    <a:lstStyle/>
                    <a:p>
                      <a:pPr marL="208280" algn="ctr">
                        <a:lnSpc>
                          <a:spcPct val="100000"/>
                        </a:lnSpc>
                        <a:spcBef>
                          <a:spcPts val="210"/>
                        </a:spcBef>
                      </a:pPr>
                      <a:r>
                        <a:rPr sz="1450" spc="-25" dirty="0">
                          <a:solidFill>
                            <a:srgbClr val="030E11"/>
                          </a:solidFill>
                          <a:latin typeface="Times New Roman" panose="02020603050405020304"/>
                          <a:cs typeface="Times New Roman" panose="02020603050405020304"/>
                        </a:rPr>
                        <a:t>30%</a:t>
                      </a:r>
                      <a:endParaRPr sz="1450">
                        <a:latin typeface="Times New Roman" panose="02020603050405020304"/>
                        <a:cs typeface="Times New Roman" panose="02020603050405020304"/>
                      </a:endParaRPr>
                    </a:p>
                  </a:txBody>
                  <a:tcPr marL="0" marR="0" marT="26670" marB="0">
                    <a:lnR w="6350">
                      <a:solidFill>
                        <a:srgbClr val="3895DE"/>
                      </a:solidFill>
                      <a:prstDash val="solid"/>
                    </a:lnR>
                    <a:lnT w="6350">
                      <a:solidFill>
                        <a:srgbClr val="3895DE"/>
                      </a:solidFill>
                      <a:prstDash val="solid"/>
                    </a:lnT>
                    <a:lnB w="6350">
                      <a:solidFill>
                        <a:srgbClr val="3895DE"/>
                      </a:solidFill>
                      <a:prstDash val="solid"/>
                    </a:lnB>
                  </a:tcPr>
                </a:tc>
                <a:extLst>
                  <a:ext uri="{0D108BD9-81ED-4DB2-BD59-A6C34878D82A}">
                    <a16:rowId xmlns:a16="http://schemas.microsoft.com/office/drawing/2014/main" val="10006"/>
                  </a:ext>
                </a:extLst>
              </a:tr>
              <a:tr h="342900">
                <a:tc>
                  <a:txBody>
                    <a:bodyPr/>
                    <a:lstStyle/>
                    <a:p>
                      <a:pPr marR="44450" algn="ctr">
                        <a:lnSpc>
                          <a:spcPct val="100000"/>
                        </a:lnSpc>
                        <a:spcBef>
                          <a:spcPts val="210"/>
                        </a:spcBef>
                      </a:pPr>
                      <a:r>
                        <a:rPr sz="1450" b="1" spc="-10" dirty="0">
                          <a:solidFill>
                            <a:srgbClr val="030E11"/>
                          </a:solidFill>
                          <a:latin typeface="Times New Roman" panose="02020603050405020304"/>
                          <a:cs typeface="Times New Roman" panose="02020603050405020304"/>
                        </a:rPr>
                        <a:t>CSF</a:t>
                      </a:r>
                      <a:r>
                        <a:rPr sz="1450" b="1" spc="-75" dirty="0">
                          <a:solidFill>
                            <a:srgbClr val="030E11"/>
                          </a:solidFill>
                          <a:latin typeface="Times New Roman" panose="02020603050405020304"/>
                          <a:cs typeface="Times New Roman" panose="02020603050405020304"/>
                        </a:rPr>
                        <a:t> </a:t>
                      </a:r>
                      <a:r>
                        <a:rPr sz="1425" b="1" spc="-75" baseline="20000" dirty="0">
                          <a:solidFill>
                            <a:srgbClr val="030E11"/>
                          </a:solidFill>
                          <a:latin typeface="Times New Roman" panose="02020603050405020304"/>
                          <a:cs typeface="Times New Roman" panose="02020603050405020304"/>
                        </a:rPr>
                        <a:t>b</a:t>
                      </a:r>
                      <a:endParaRPr sz="1425" baseline="20000">
                        <a:latin typeface="Times New Roman" panose="02020603050405020304"/>
                        <a:cs typeface="Times New Roman" panose="02020603050405020304"/>
                      </a:endParaRPr>
                    </a:p>
                  </a:txBody>
                  <a:tcPr marL="0" marR="0" marT="26670" marB="0">
                    <a:lnL w="6350">
                      <a:solidFill>
                        <a:srgbClr val="3895DE"/>
                      </a:solidFill>
                      <a:prstDash val="solid"/>
                    </a:lnL>
                    <a:lnT w="6350">
                      <a:solidFill>
                        <a:srgbClr val="3895DE"/>
                      </a:solidFill>
                      <a:prstDash val="solid"/>
                    </a:lnT>
                    <a:lnB w="6350">
                      <a:solidFill>
                        <a:srgbClr val="3895DE"/>
                      </a:solidFill>
                      <a:prstDash val="solid"/>
                    </a:lnB>
                  </a:tcPr>
                </a:tc>
                <a:tc>
                  <a:txBody>
                    <a:bodyPr/>
                    <a:lstStyle/>
                    <a:p>
                      <a:pPr>
                        <a:lnSpc>
                          <a:spcPct val="100000"/>
                        </a:lnSpc>
                      </a:pPr>
                      <a:endParaRPr sz="1300">
                        <a:latin typeface="Times New Roman" panose="02020603050405020304"/>
                        <a:cs typeface="Times New Roman" panose="02020603050405020304"/>
                      </a:endParaRPr>
                    </a:p>
                  </a:txBody>
                  <a:tcPr marL="0" marR="0" marT="0" marB="0">
                    <a:lnT w="6350">
                      <a:solidFill>
                        <a:srgbClr val="3895DE"/>
                      </a:solidFill>
                      <a:prstDash val="solid"/>
                    </a:lnT>
                    <a:lnB w="6350">
                      <a:solidFill>
                        <a:srgbClr val="3895DE"/>
                      </a:solidFill>
                      <a:prstDash val="solid"/>
                    </a:lnB>
                  </a:tcPr>
                </a:tc>
                <a:tc>
                  <a:txBody>
                    <a:bodyPr/>
                    <a:lstStyle/>
                    <a:p>
                      <a:pPr marR="644525" algn="ctr">
                        <a:lnSpc>
                          <a:spcPct val="100000"/>
                        </a:lnSpc>
                        <a:spcBef>
                          <a:spcPts val="210"/>
                        </a:spcBef>
                      </a:pPr>
                      <a:r>
                        <a:rPr sz="1450" spc="-10" dirty="0">
                          <a:solidFill>
                            <a:srgbClr val="030E11"/>
                          </a:solidFill>
                          <a:latin typeface="Times New Roman" panose="02020603050405020304"/>
                          <a:cs typeface="Times New Roman" panose="02020603050405020304"/>
                        </a:rPr>
                        <a:t>1.5-</a:t>
                      </a:r>
                      <a:r>
                        <a:rPr sz="1450" spc="-25" dirty="0">
                          <a:solidFill>
                            <a:srgbClr val="030E11"/>
                          </a:solidFill>
                          <a:latin typeface="Times New Roman" panose="02020603050405020304"/>
                          <a:cs typeface="Times New Roman" panose="02020603050405020304"/>
                        </a:rPr>
                        <a:t>6%</a:t>
                      </a:r>
                      <a:endParaRPr sz="1450">
                        <a:latin typeface="Times New Roman" panose="02020603050405020304"/>
                        <a:cs typeface="Times New Roman" panose="02020603050405020304"/>
                      </a:endParaRPr>
                    </a:p>
                  </a:txBody>
                  <a:tcPr marL="0" marR="0" marT="26670" marB="0">
                    <a:lnT w="6350">
                      <a:solidFill>
                        <a:srgbClr val="3895DE"/>
                      </a:solidFill>
                      <a:prstDash val="solid"/>
                    </a:lnT>
                    <a:lnB w="6350">
                      <a:solidFill>
                        <a:srgbClr val="3895DE"/>
                      </a:solidFill>
                      <a:prstDash val="solid"/>
                    </a:lnB>
                  </a:tcPr>
                </a:tc>
                <a:tc>
                  <a:txBody>
                    <a:bodyPr/>
                    <a:lstStyle/>
                    <a:p>
                      <a:pPr marL="208280" algn="ctr">
                        <a:lnSpc>
                          <a:spcPct val="100000"/>
                        </a:lnSpc>
                        <a:spcBef>
                          <a:spcPts val="210"/>
                        </a:spcBef>
                      </a:pPr>
                      <a:r>
                        <a:rPr sz="1450" spc="-10" dirty="0">
                          <a:solidFill>
                            <a:srgbClr val="030E11"/>
                          </a:solidFill>
                          <a:latin typeface="Times New Roman" panose="02020603050405020304"/>
                          <a:cs typeface="Times New Roman" panose="02020603050405020304"/>
                        </a:rPr>
                        <a:t>38-</a:t>
                      </a:r>
                      <a:r>
                        <a:rPr sz="1450" spc="-25" dirty="0">
                          <a:solidFill>
                            <a:srgbClr val="030E11"/>
                          </a:solidFill>
                          <a:latin typeface="Times New Roman" panose="02020603050405020304"/>
                          <a:cs typeface="Times New Roman" panose="02020603050405020304"/>
                        </a:rPr>
                        <a:t>57%</a:t>
                      </a:r>
                      <a:endParaRPr sz="1450">
                        <a:latin typeface="Times New Roman" panose="02020603050405020304"/>
                        <a:cs typeface="Times New Roman" panose="02020603050405020304"/>
                      </a:endParaRPr>
                    </a:p>
                  </a:txBody>
                  <a:tcPr marL="0" marR="0" marT="26670" marB="0">
                    <a:lnR w="6350">
                      <a:solidFill>
                        <a:srgbClr val="3895DE"/>
                      </a:solidFill>
                      <a:prstDash val="solid"/>
                    </a:lnR>
                    <a:lnT w="6350">
                      <a:solidFill>
                        <a:srgbClr val="3895DE"/>
                      </a:solidFill>
                      <a:prstDash val="solid"/>
                    </a:lnT>
                    <a:lnB w="6350">
                      <a:solidFill>
                        <a:srgbClr val="3895DE"/>
                      </a:solidFill>
                      <a:prstDash val="solid"/>
                    </a:lnB>
                  </a:tcPr>
                </a:tc>
                <a:extLst>
                  <a:ext uri="{0D108BD9-81ED-4DB2-BD59-A6C34878D82A}">
                    <a16:rowId xmlns:a16="http://schemas.microsoft.com/office/drawing/2014/main" val="10007"/>
                  </a:ext>
                </a:extLst>
              </a:tr>
              <a:tr h="342900">
                <a:tc gridSpan="4">
                  <a:txBody>
                    <a:bodyPr/>
                    <a:lstStyle/>
                    <a:p>
                      <a:pPr marL="78105">
                        <a:lnSpc>
                          <a:spcPct val="100000"/>
                        </a:lnSpc>
                        <a:spcBef>
                          <a:spcPts val="265"/>
                        </a:spcBef>
                      </a:pPr>
                      <a:r>
                        <a:rPr sz="1450" b="1" spc="-35" dirty="0">
                          <a:solidFill>
                            <a:srgbClr val="030E11"/>
                          </a:solidFill>
                          <a:latin typeface="微软雅黑" panose="020B0503020204020204" charset="-122"/>
                          <a:cs typeface="微软雅黑" panose="020B0503020204020204" charset="-122"/>
                        </a:rPr>
                        <a:t>消除</a:t>
                      </a:r>
                      <a:endParaRPr sz="1450">
                        <a:latin typeface="微软雅黑" panose="020B0503020204020204" charset="-122"/>
                        <a:cs typeface="微软雅黑" panose="020B0503020204020204" charset="-122"/>
                      </a:endParaRPr>
                    </a:p>
                  </a:txBody>
                  <a:tcPr marL="0" marR="0" marT="33655" marB="0">
                    <a:lnL w="6350">
                      <a:solidFill>
                        <a:srgbClr val="3895DE"/>
                      </a:solidFill>
                      <a:prstDash val="solid"/>
                    </a:lnL>
                    <a:lnR w="6350">
                      <a:solidFill>
                        <a:srgbClr val="3895DE"/>
                      </a:solidFill>
                      <a:prstDash val="solid"/>
                    </a:lnR>
                    <a:lnT w="6350">
                      <a:solidFill>
                        <a:srgbClr val="3895DE"/>
                      </a:solidFill>
                      <a:prstDash val="solid"/>
                    </a:lnT>
                    <a:lnB w="6350">
                      <a:solidFill>
                        <a:srgbClr val="3895DE"/>
                      </a:solidFill>
                      <a:prstDash val="solid"/>
                    </a:lnB>
                  </a:tcPr>
                </a:tc>
                <a:tc hMerge="1">
                  <a:txBody>
                    <a:bodyPr/>
                    <a:lstStyle/>
                    <a:p>
                      <a:endParaRPr lang="zh-CN"/>
                    </a:p>
                  </a:txBody>
                  <a:tcPr marL="0" marR="0" marT="0" marB="0"/>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08"/>
                  </a:ext>
                </a:extLst>
              </a:tr>
              <a:tr h="342900">
                <a:tc>
                  <a:txBody>
                    <a:bodyPr/>
                    <a:lstStyle/>
                    <a:p>
                      <a:pPr marR="45720" algn="ctr">
                        <a:lnSpc>
                          <a:spcPct val="100000"/>
                        </a:lnSpc>
                        <a:spcBef>
                          <a:spcPts val="210"/>
                        </a:spcBef>
                      </a:pPr>
                      <a:r>
                        <a:rPr sz="1450" b="1" spc="-10" dirty="0">
                          <a:latin typeface="Times New Roman" panose="02020603050405020304"/>
                          <a:cs typeface="Times New Roman" panose="02020603050405020304"/>
                        </a:rPr>
                        <a:t>T</a:t>
                      </a:r>
                      <a:r>
                        <a:rPr sz="1425" b="1" spc="-15" baseline="-18000" dirty="0">
                          <a:latin typeface="Times New Roman" panose="02020603050405020304"/>
                          <a:cs typeface="Times New Roman" panose="02020603050405020304"/>
                        </a:rPr>
                        <a:t>1/2</a:t>
                      </a:r>
                      <a:r>
                        <a:rPr sz="1450" b="1" spc="-10" dirty="0">
                          <a:latin typeface="Times New Roman" panose="02020603050405020304"/>
                          <a:cs typeface="Times New Roman" panose="02020603050405020304"/>
                        </a:rPr>
                        <a:t>(h)</a:t>
                      </a:r>
                      <a:endParaRPr sz="1450">
                        <a:latin typeface="Times New Roman" panose="02020603050405020304"/>
                        <a:cs typeface="Times New Roman" panose="02020603050405020304"/>
                      </a:endParaRPr>
                    </a:p>
                  </a:txBody>
                  <a:tcPr marL="0" marR="0" marT="26670" marB="0">
                    <a:lnL w="6350">
                      <a:solidFill>
                        <a:srgbClr val="3895DE"/>
                      </a:solidFill>
                      <a:prstDash val="solid"/>
                    </a:lnL>
                    <a:lnT w="6350">
                      <a:solidFill>
                        <a:srgbClr val="3895DE"/>
                      </a:solidFill>
                      <a:prstDash val="solid"/>
                    </a:lnT>
                    <a:lnB w="6350">
                      <a:solidFill>
                        <a:srgbClr val="3895DE"/>
                      </a:solidFill>
                      <a:prstDash val="solid"/>
                    </a:lnB>
                  </a:tcPr>
                </a:tc>
                <a:tc>
                  <a:txBody>
                    <a:bodyPr/>
                    <a:lstStyle/>
                    <a:p>
                      <a:pPr>
                        <a:lnSpc>
                          <a:spcPct val="100000"/>
                        </a:lnSpc>
                      </a:pPr>
                      <a:endParaRPr sz="1300">
                        <a:latin typeface="Times New Roman" panose="02020603050405020304"/>
                        <a:cs typeface="Times New Roman" panose="02020603050405020304"/>
                      </a:endParaRPr>
                    </a:p>
                  </a:txBody>
                  <a:tcPr marL="0" marR="0" marT="0" marB="0">
                    <a:lnT w="6350">
                      <a:solidFill>
                        <a:srgbClr val="3895DE"/>
                      </a:solidFill>
                      <a:prstDash val="solid"/>
                    </a:lnT>
                    <a:lnB w="6350">
                      <a:solidFill>
                        <a:srgbClr val="3895DE"/>
                      </a:solidFill>
                      <a:prstDash val="solid"/>
                    </a:lnB>
                  </a:tcPr>
                </a:tc>
                <a:tc>
                  <a:txBody>
                    <a:bodyPr/>
                    <a:lstStyle/>
                    <a:p>
                      <a:pPr marR="644525" algn="ctr">
                        <a:lnSpc>
                          <a:spcPct val="100000"/>
                        </a:lnSpc>
                        <a:spcBef>
                          <a:spcPts val="210"/>
                        </a:spcBef>
                      </a:pPr>
                      <a:r>
                        <a:rPr sz="1450" spc="-25" dirty="0">
                          <a:latin typeface="Times New Roman" panose="02020603050405020304"/>
                          <a:cs typeface="Times New Roman" panose="02020603050405020304"/>
                        </a:rPr>
                        <a:t>2.8</a:t>
                      </a:r>
                      <a:endParaRPr sz="1450">
                        <a:latin typeface="Times New Roman" panose="02020603050405020304"/>
                        <a:cs typeface="Times New Roman" panose="02020603050405020304"/>
                      </a:endParaRPr>
                    </a:p>
                  </a:txBody>
                  <a:tcPr marL="0" marR="0" marT="26670" marB="0">
                    <a:lnT w="6350">
                      <a:solidFill>
                        <a:srgbClr val="3895DE"/>
                      </a:solidFill>
                      <a:prstDash val="solid"/>
                    </a:lnT>
                    <a:lnB w="6350">
                      <a:solidFill>
                        <a:srgbClr val="3895DE"/>
                      </a:solidFill>
                      <a:prstDash val="solid"/>
                    </a:lnB>
                  </a:tcPr>
                </a:tc>
                <a:tc>
                  <a:txBody>
                    <a:bodyPr/>
                    <a:lstStyle/>
                    <a:p>
                      <a:pPr marL="208280" algn="ctr">
                        <a:lnSpc>
                          <a:spcPct val="100000"/>
                        </a:lnSpc>
                        <a:spcBef>
                          <a:spcPts val="210"/>
                        </a:spcBef>
                      </a:pPr>
                      <a:r>
                        <a:rPr sz="1450" spc="-25" dirty="0">
                          <a:latin typeface="Times New Roman" panose="02020603050405020304"/>
                          <a:cs typeface="Times New Roman" panose="02020603050405020304"/>
                        </a:rPr>
                        <a:t>2.2</a:t>
                      </a:r>
                      <a:endParaRPr sz="1450">
                        <a:latin typeface="Times New Roman" panose="02020603050405020304"/>
                        <a:cs typeface="Times New Roman" panose="02020603050405020304"/>
                      </a:endParaRPr>
                    </a:p>
                  </a:txBody>
                  <a:tcPr marL="0" marR="0" marT="26670" marB="0">
                    <a:lnR w="6350">
                      <a:solidFill>
                        <a:srgbClr val="3895DE"/>
                      </a:solidFill>
                      <a:prstDash val="solid"/>
                    </a:lnR>
                    <a:lnT w="6350">
                      <a:solidFill>
                        <a:srgbClr val="3895DE"/>
                      </a:solidFill>
                      <a:prstDash val="solid"/>
                    </a:lnT>
                    <a:lnB w="6350">
                      <a:solidFill>
                        <a:srgbClr val="3895DE"/>
                      </a:solidFill>
                      <a:prstDash val="solid"/>
                    </a:lnB>
                  </a:tcPr>
                </a:tc>
                <a:extLst>
                  <a:ext uri="{0D108BD9-81ED-4DB2-BD59-A6C34878D82A}">
                    <a16:rowId xmlns:a16="http://schemas.microsoft.com/office/drawing/2014/main" val="10009"/>
                  </a:ext>
                </a:extLst>
              </a:tr>
              <a:tr h="342900">
                <a:tc gridSpan="4">
                  <a:txBody>
                    <a:bodyPr/>
                    <a:lstStyle/>
                    <a:p>
                      <a:pPr marL="78105">
                        <a:lnSpc>
                          <a:spcPct val="100000"/>
                        </a:lnSpc>
                        <a:spcBef>
                          <a:spcPts val="375"/>
                        </a:spcBef>
                      </a:pPr>
                      <a:r>
                        <a:rPr sz="1450" b="1" spc="-35" dirty="0">
                          <a:solidFill>
                            <a:srgbClr val="030E11"/>
                          </a:solidFill>
                          <a:latin typeface="微软雅黑" panose="020B0503020204020204" charset="-122"/>
                          <a:cs typeface="微软雅黑" panose="020B0503020204020204" charset="-122"/>
                        </a:rPr>
                        <a:t>排泄</a:t>
                      </a:r>
                      <a:endParaRPr sz="1450">
                        <a:latin typeface="微软雅黑" panose="020B0503020204020204" charset="-122"/>
                        <a:cs typeface="微软雅黑" panose="020B0503020204020204" charset="-122"/>
                      </a:endParaRPr>
                    </a:p>
                  </a:txBody>
                  <a:tcPr marL="0" marR="0" marT="47625" marB="0">
                    <a:lnL w="6350">
                      <a:solidFill>
                        <a:srgbClr val="3895DE"/>
                      </a:solidFill>
                      <a:prstDash val="solid"/>
                    </a:lnL>
                    <a:lnR w="6350">
                      <a:solidFill>
                        <a:srgbClr val="3895DE"/>
                      </a:solidFill>
                      <a:prstDash val="solid"/>
                    </a:lnR>
                    <a:lnT w="6350">
                      <a:solidFill>
                        <a:srgbClr val="3895DE"/>
                      </a:solidFill>
                      <a:prstDash val="solid"/>
                    </a:lnT>
                    <a:lnB w="6350">
                      <a:solidFill>
                        <a:srgbClr val="3895DE"/>
                      </a:solidFill>
                      <a:prstDash val="solid"/>
                    </a:lnB>
                  </a:tcPr>
                </a:tc>
                <a:tc hMerge="1">
                  <a:txBody>
                    <a:bodyPr/>
                    <a:lstStyle/>
                    <a:p>
                      <a:endParaRPr lang="zh-CN"/>
                    </a:p>
                  </a:txBody>
                  <a:tcPr marL="0" marR="0" marT="0" marB="0"/>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10"/>
                  </a:ext>
                </a:extLst>
              </a:tr>
              <a:tr h="342900">
                <a:tc>
                  <a:txBody>
                    <a:bodyPr/>
                    <a:lstStyle/>
                    <a:p>
                      <a:pPr marR="45085" algn="ctr">
                        <a:lnSpc>
                          <a:spcPct val="100000"/>
                        </a:lnSpc>
                        <a:spcBef>
                          <a:spcPts val="375"/>
                        </a:spcBef>
                      </a:pPr>
                      <a:r>
                        <a:rPr sz="1450" b="1" spc="-25" dirty="0">
                          <a:latin typeface="微软雅黑" panose="020B0503020204020204" charset="-122"/>
                          <a:cs typeface="微软雅黑" panose="020B0503020204020204" charset="-122"/>
                        </a:rPr>
                        <a:t>主要消除途径</a:t>
                      </a:r>
                      <a:endParaRPr sz="1450">
                        <a:latin typeface="微软雅黑" panose="020B0503020204020204" charset="-122"/>
                        <a:cs typeface="微软雅黑" panose="020B0503020204020204" charset="-122"/>
                      </a:endParaRPr>
                    </a:p>
                  </a:txBody>
                  <a:tcPr marL="0" marR="0" marT="47625" marB="0">
                    <a:lnL w="6350">
                      <a:solidFill>
                        <a:srgbClr val="3895DE"/>
                      </a:solidFill>
                      <a:prstDash val="solid"/>
                    </a:lnL>
                    <a:lnT w="6350">
                      <a:solidFill>
                        <a:srgbClr val="3895DE"/>
                      </a:solidFill>
                      <a:prstDash val="solid"/>
                    </a:lnT>
                    <a:lnB w="6350">
                      <a:solidFill>
                        <a:srgbClr val="3895DE"/>
                      </a:solidFill>
                      <a:prstDash val="solid"/>
                    </a:lnB>
                  </a:tcPr>
                </a:tc>
                <a:tc>
                  <a:txBody>
                    <a:bodyPr/>
                    <a:lstStyle/>
                    <a:p>
                      <a:pPr>
                        <a:lnSpc>
                          <a:spcPct val="100000"/>
                        </a:lnSpc>
                      </a:pPr>
                      <a:endParaRPr sz="1300">
                        <a:latin typeface="Times New Roman" panose="02020603050405020304"/>
                        <a:cs typeface="Times New Roman" panose="02020603050405020304"/>
                      </a:endParaRPr>
                    </a:p>
                  </a:txBody>
                  <a:tcPr marL="0" marR="0" marT="0" marB="0">
                    <a:lnT w="6350">
                      <a:solidFill>
                        <a:srgbClr val="3895DE"/>
                      </a:solidFill>
                      <a:prstDash val="solid"/>
                    </a:lnT>
                    <a:lnB w="6350">
                      <a:solidFill>
                        <a:srgbClr val="3895DE"/>
                      </a:solidFill>
                      <a:prstDash val="solid"/>
                    </a:lnB>
                  </a:tcPr>
                </a:tc>
                <a:tc>
                  <a:txBody>
                    <a:bodyPr/>
                    <a:lstStyle/>
                    <a:p>
                      <a:pPr marR="644525" algn="ctr">
                        <a:lnSpc>
                          <a:spcPct val="100000"/>
                        </a:lnSpc>
                        <a:spcBef>
                          <a:spcPts val="375"/>
                        </a:spcBef>
                      </a:pPr>
                      <a:r>
                        <a:rPr sz="1450" spc="-35" dirty="0">
                          <a:latin typeface="微软雅黑" panose="020B0503020204020204" charset="-122"/>
                          <a:cs typeface="微软雅黑" panose="020B0503020204020204" charset="-122"/>
                        </a:rPr>
                        <a:t>肾脏</a:t>
                      </a:r>
                      <a:endParaRPr sz="1450">
                        <a:latin typeface="微软雅黑" panose="020B0503020204020204" charset="-122"/>
                        <a:cs typeface="微软雅黑" panose="020B0503020204020204" charset="-122"/>
                      </a:endParaRPr>
                    </a:p>
                  </a:txBody>
                  <a:tcPr marL="0" marR="0" marT="47625" marB="0">
                    <a:lnT w="6350">
                      <a:solidFill>
                        <a:srgbClr val="3895DE"/>
                      </a:solidFill>
                      <a:prstDash val="solid"/>
                    </a:lnT>
                    <a:lnB w="6350">
                      <a:solidFill>
                        <a:srgbClr val="3895DE"/>
                      </a:solidFill>
                      <a:prstDash val="solid"/>
                    </a:lnB>
                  </a:tcPr>
                </a:tc>
                <a:tc>
                  <a:txBody>
                    <a:bodyPr/>
                    <a:lstStyle/>
                    <a:p>
                      <a:pPr marL="208280" algn="ctr">
                        <a:lnSpc>
                          <a:spcPct val="100000"/>
                        </a:lnSpc>
                        <a:spcBef>
                          <a:spcPts val="375"/>
                        </a:spcBef>
                      </a:pPr>
                      <a:r>
                        <a:rPr sz="1450" spc="-35" dirty="0">
                          <a:latin typeface="微软雅黑" panose="020B0503020204020204" charset="-122"/>
                          <a:cs typeface="微软雅黑" panose="020B0503020204020204" charset="-122"/>
                        </a:rPr>
                        <a:t>肾脏</a:t>
                      </a:r>
                      <a:endParaRPr sz="1450">
                        <a:latin typeface="微软雅黑" panose="020B0503020204020204" charset="-122"/>
                        <a:cs typeface="微软雅黑" panose="020B0503020204020204" charset="-122"/>
                      </a:endParaRPr>
                    </a:p>
                  </a:txBody>
                  <a:tcPr marL="0" marR="0" marT="47625" marB="0">
                    <a:lnR w="6350">
                      <a:solidFill>
                        <a:srgbClr val="3895DE"/>
                      </a:solidFill>
                      <a:prstDash val="solid"/>
                    </a:lnR>
                    <a:lnT w="6350">
                      <a:solidFill>
                        <a:srgbClr val="3895DE"/>
                      </a:solidFill>
                      <a:prstDash val="solid"/>
                    </a:lnT>
                    <a:lnB w="6350">
                      <a:solidFill>
                        <a:srgbClr val="3895DE"/>
                      </a:solidFill>
                      <a:prstDash val="solid"/>
                    </a:lnB>
                  </a:tcPr>
                </a:tc>
                <a:extLst>
                  <a:ext uri="{0D108BD9-81ED-4DB2-BD59-A6C34878D82A}">
                    <a16:rowId xmlns:a16="http://schemas.microsoft.com/office/drawing/2014/main" val="10011"/>
                  </a:ext>
                </a:extLst>
              </a:tr>
              <a:tr h="342265">
                <a:tc>
                  <a:txBody>
                    <a:bodyPr/>
                    <a:lstStyle/>
                    <a:p>
                      <a:pPr marR="45085" algn="ctr">
                        <a:lnSpc>
                          <a:spcPct val="100000"/>
                        </a:lnSpc>
                        <a:spcBef>
                          <a:spcPts val="375"/>
                        </a:spcBef>
                      </a:pPr>
                      <a:r>
                        <a:rPr sz="1450" b="1" spc="-25" dirty="0">
                          <a:latin typeface="微软雅黑" panose="020B0503020204020204" charset="-122"/>
                          <a:cs typeface="微软雅黑" panose="020B0503020204020204" charset="-122"/>
                        </a:rPr>
                        <a:t>原形经尿液排泄的百分比</a:t>
                      </a:r>
                      <a:endParaRPr sz="1450">
                        <a:latin typeface="微软雅黑" panose="020B0503020204020204" charset="-122"/>
                        <a:cs typeface="微软雅黑" panose="020B0503020204020204" charset="-122"/>
                      </a:endParaRPr>
                    </a:p>
                  </a:txBody>
                  <a:tcPr marL="0" marR="0" marT="47625" marB="0">
                    <a:lnL w="6350">
                      <a:solidFill>
                        <a:srgbClr val="3895DE"/>
                      </a:solidFill>
                      <a:prstDash val="solid"/>
                    </a:lnL>
                    <a:lnT w="6350">
                      <a:solidFill>
                        <a:srgbClr val="3895DE"/>
                      </a:solidFill>
                      <a:prstDash val="solid"/>
                    </a:lnT>
                    <a:lnB w="6350">
                      <a:solidFill>
                        <a:srgbClr val="3895DE"/>
                      </a:solidFill>
                      <a:prstDash val="solid"/>
                    </a:lnB>
                  </a:tcPr>
                </a:tc>
                <a:tc>
                  <a:txBody>
                    <a:bodyPr/>
                    <a:lstStyle/>
                    <a:p>
                      <a:pPr>
                        <a:lnSpc>
                          <a:spcPct val="100000"/>
                        </a:lnSpc>
                      </a:pPr>
                      <a:endParaRPr sz="600">
                        <a:latin typeface="Times New Roman" panose="02020603050405020304"/>
                        <a:cs typeface="Times New Roman" panose="02020603050405020304"/>
                      </a:endParaRPr>
                    </a:p>
                    <a:p>
                      <a:pPr>
                        <a:lnSpc>
                          <a:spcPct val="100000"/>
                        </a:lnSpc>
                      </a:pPr>
                      <a:endParaRPr sz="600">
                        <a:latin typeface="Times New Roman" panose="02020603050405020304"/>
                        <a:cs typeface="Times New Roman" panose="02020603050405020304"/>
                      </a:endParaRPr>
                    </a:p>
                    <a:p>
                      <a:pPr>
                        <a:lnSpc>
                          <a:spcPct val="100000"/>
                        </a:lnSpc>
                        <a:spcBef>
                          <a:spcPts val="5"/>
                        </a:spcBef>
                      </a:pPr>
                      <a:endParaRPr sz="600">
                        <a:latin typeface="Times New Roman" panose="02020603050405020304"/>
                        <a:cs typeface="Times New Roman" panose="02020603050405020304"/>
                      </a:endParaRPr>
                    </a:p>
                    <a:p>
                      <a:pPr marR="60325" algn="r">
                        <a:lnSpc>
                          <a:spcPts val="520"/>
                        </a:lnSpc>
                      </a:pPr>
                      <a:r>
                        <a:rPr sz="600" spc="-50" dirty="0">
                          <a:solidFill>
                            <a:srgbClr val="FF0000"/>
                          </a:solidFill>
                          <a:latin typeface="Arial MT"/>
                          <a:cs typeface="Arial MT"/>
                        </a:rPr>
                        <a:t>1</a:t>
                      </a:r>
                      <a:endParaRPr sz="600">
                        <a:latin typeface="Arial MT"/>
                        <a:cs typeface="Arial MT"/>
                      </a:endParaRPr>
                    </a:p>
                  </a:txBody>
                  <a:tcPr marL="0" marR="0" marT="0" marB="0">
                    <a:lnT w="6350">
                      <a:solidFill>
                        <a:srgbClr val="3895DE"/>
                      </a:solidFill>
                      <a:prstDash val="solid"/>
                    </a:lnT>
                    <a:lnB w="6350">
                      <a:solidFill>
                        <a:srgbClr val="3895DE"/>
                      </a:solidFill>
                      <a:prstDash val="solid"/>
                    </a:lnB>
                  </a:tcPr>
                </a:tc>
                <a:tc>
                  <a:txBody>
                    <a:bodyPr/>
                    <a:lstStyle/>
                    <a:p>
                      <a:pPr marR="644525" algn="ctr">
                        <a:lnSpc>
                          <a:spcPct val="100000"/>
                        </a:lnSpc>
                        <a:spcBef>
                          <a:spcPts val="385"/>
                        </a:spcBef>
                      </a:pPr>
                      <a:r>
                        <a:rPr sz="1450" spc="-25" dirty="0">
                          <a:latin typeface="Times New Roman" panose="02020603050405020304"/>
                          <a:cs typeface="Times New Roman" panose="02020603050405020304"/>
                        </a:rPr>
                        <a:t>70%</a:t>
                      </a:r>
                      <a:endParaRPr sz="1450">
                        <a:latin typeface="Times New Roman" panose="02020603050405020304"/>
                        <a:cs typeface="Times New Roman" panose="02020603050405020304"/>
                      </a:endParaRPr>
                    </a:p>
                  </a:txBody>
                  <a:tcPr marL="0" marR="0" marT="48895" marB="0">
                    <a:lnT w="6350">
                      <a:solidFill>
                        <a:srgbClr val="3895DE"/>
                      </a:solidFill>
                      <a:prstDash val="solid"/>
                    </a:lnT>
                    <a:lnB w="6350">
                      <a:solidFill>
                        <a:srgbClr val="3895DE"/>
                      </a:solidFill>
                      <a:prstDash val="solid"/>
                    </a:lnB>
                  </a:tcPr>
                </a:tc>
                <a:tc>
                  <a:txBody>
                    <a:bodyPr/>
                    <a:lstStyle/>
                    <a:p>
                      <a:pPr marL="208915" algn="ctr">
                        <a:lnSpc>
                          <a:spcPct val="100000"/>
                        </a:lnSpc>
                        <a:spcBef>
                          <a:spcPts val="385"/>
                        </a:spcBef>
                      </a:pPr>
                      <a:r>
                        <a:rPr sz="1450" spc="-20" dirty="0">
                          <a:latin typeface="Times New Roman" panose="02020603050405020304"/>
                          <a:cs typeface="Times New Roman" panose="02020603050405020304"/>
                        </a:rPr>
                        <a:t>&gt;97%</a:t>
                      </a:r>
                      <a:endParaRPr sz="1450">
                        <a:latin typeface="Times New Roman" panose="02020603050405020304"/>
                        <a:cs typeface="Times New Roman" panose="02020603050405020304"/>
                      </a:endParaRPr>
                    </a:p>
                  </a:txBody>
                  <a:tcPr marL="0" marR="0" marT="48895" marB="0">
                    <a:lnR w="6350">
                      <a:solidFill>
                        <a:srgbClr val="3895DE"/>
                      </a:solidFill>
                      <a:prstDash val="solid"/>
                    </a:lnR>
                    <a:lnT w="6350">
                      <a:solidFill>
                        <a:srgbClr val="3895DE"/>
                      </a:solidFill>
                      <a:prstDash val="solid"/>
                    </a:lnT>
                    <a:lnB w="6350">
                      <a:solidFill>
                        <a:srgbClr val="3895DE"/>
                      </a:solidFill>
                      <a:prstDash val="solid"/>
                    </a:lnB>
                  </a:tcPr>
                </a:tc>
                <a:extLst>
                  <a:ext uri="{0D108BD9-81ED-4DB2-BD59-A6C34878D82A}">
                    <a16:rowId xmlns:a16="http://schemas.microsoft.com/office/drawing/2014/main" val="10012"/>
                  </a:ext>
                </a:extLst>
              </a:tr>
            </a:tbl>
          </a:graphicData>
        </a:graphic>
      </p:graphicFrame>
      <p:sp>
        <p:nvSpPr>
          <p:cNvPr id="6" name="object 6"/>
          <p:cNvSpPr/>
          <p:nvPr/>
        </p:nvSpPr>
        <p:spPr>
          <a:xfrm>
            <a:off x="4591177" y="5376671"/>
            <a:ext cx="304800" cy="304800"/>
          </a:xfrm>
          <a:custGeom>
            <a:avLst/>
            <a:gdLst/>
            <a:ahLst/>
            <a:cxnLst/>
            <a:rect l="l" t="t" r="r" b="b"/>
            <a:pathLst>
              <a:path w="304800" h="304800">
                <a:moveTo>
                  <a:pt x="0" y="0"/>
                </a:moveTo>
                <a:lnTo>
                  <a:pt x="304800" y="0"/>
                </a:lnTo>
                <a:lnTo>
                  <a:pt x="304800" y="304799"/>
                </a:lnTo>
                <a:lnTo>
                  <a:pt x="0" y="304799"/>
                </a:lnTo>
                <a:lnTo>
                  <a:pt x="0" y="0"/>
                </a:lnTo>
                <a:close/>
              </a:path>
            </a:pathLst>
          </a:custGeom>
          <a:ln w="12700">
            <a:solidFill>
              <a:srgbClr val="DF5F5F"/>
            </a:solidFill>
            <a:prstDash val="dot"/>
          </a:ln>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17</a:t>
            </a:fld>
            <a:r>
              <a:rPr spc="-10" dirty="0"/>
              <a:t> </a:t>
            </a:r>
            <a:r>
              <a:rPr spc="-50" dirty="0"/>
              <a:t>-</a:t>
            </a:r>
          </a:p>
        </p:txBody>
      </p:sp>
      <p:sp>
        <p:nvSpPr>
          <p:cNvPr id="9" name="文本框 8"/>
          <p:cNvSpPr txBox="1"/>
          <p:nvPr/>
        </p:nvSpPr>
        <p:spPr>
          <a:xfrm>
            <a:off x="213360" y="6455410"/>
            <a:ext cx="2700020" cy="198755"/>
          </a:xfrm>
          <a:prstGeom prst="rect">
            <a:avLst/>
          </a:prstGeom>
          <a:noFill/>
        </p:spPr>
        <p:txBody>
          <a:bodyPr wrap="square" rtlCol="0">
            <a:spAutoFit/>
          </a:bodyPr>
          <a:lstStyle/>
          <a:p>
            <a:r>
              <a:rPr sz="700" spc="-20" dirty="0">
                <a:solidFill>
                  <a:schemeClr val="tx1"/>
                </a:solidFill>
                <a:latin typeface="微软雅黑" panose="020B0503020204020204" charset="-122"/>
                <a:cs typeface="微软雅黑" panose="020B0503020204020204" charset="-122"/>
                <a:sym typeface="+mn-ea"/>
              </a:rPr>
              <a:t>注射用氨曲南阿维巴坦钠说明书（核准日期：</a:t>
            </a:r>
            <a:r>
              <a:rPr sz="700" spc="-10" dirty="0">
                <a:solidFill>
                  <a:schemeClr val="tx1"/>
                </a:solidFill>
                <a:latin typeface="Times New Roman" panose="02020603050405020304"/>
                <a:cs typeface="Times New Roman" panose="02020603050405020304"/>
                <a:sym typeface="+mn-ea"/>
              </a:rPr>
              <a:t>2025</a:t>
            </a:r>
            <a:r>
              <a:rPr sz="700" spc="-20" dirty="0">
                <a:solidFill>
                  <a:schemeClr val="tx1"/>
                </a:solidFill>
                <a:latin typeface="微软雅黑" panose="020B0503020204020204" charset="-122"/>
                <a:cs typeface="微软雅黑" panose="020B0503020204020204" charset="-122"/>
                <a:sym typeface="+mn-ea"/>
              </a:rPr>
              <a:t>年</a:t>
            </a:r>
            <a:r>
              <a:rPr sz="700" spc="-10" dirty="0">
                <a:solidFill>
                  <a:schemeClr val="tx1"/>
                </a:solidFill>
                <a:latin typeface="Times New Roman" panose="02020603050405020304"/>
                <a:cs typeface="Times New Roman" panose="02020603050405020304"/>
                <a:sym typeface="+mn-ea"/>
              </a:rPr>
              <a:t>6</a:t>
            </a:r>
            <a:r>
              <a:rPr sz="700" spc="-20" dirty="0">
                <a:solidFill>
                  <a:schemeClr val="tx1"/>
                </a:solidFill>
                <a:latin typeface="微软雅黑" panose="020B0503020204020204" charset="-122"/>
                <a:cs typeface="微软雅黑" panose="020B0503020204020204" charset="-122"/>
                <a:sym typeface="+mn-ea"/>
              </a:rPr>
              <a:t>月</a:t>
            </a:r>
            <a:r>
              <a:rPr sz="700" spc="-10" dirty="0">
                <a:solidFill>
                  <a:schemeClr val="tx1"/>
                </a:solidFill>
                <a:latin typeface="Times New Roman" panose="02020603050405020304"/>
                <a:cs typeface="Times New Roman" panose="02020603050405020304"/>
                <a:sym typeface="+mn-ea"/>
              </a:rPr>
              <a:t>24</a:t>
            </a:r>
            <a:r>
              <a:rPr sz="700" spc="-20" dirty="0">
                <a:solidFill>
                  <a:schemeClr val="tx1"/>
                </a:solidFill>
                <a:latin typeface="微软雅黑" panose="020B0503020204020204" charset="-122"/>
                <a:cs typeface="微软雅黑" panose="020B0503020204020204" charset="-122"/>
                <a:sym typeface="+mn-ea"/>
              </a:rPr>
              <a:t>日</a:t>
            </a:r>
            <a:r>
              <a:rPr sz="700" spc="-50" dirty="0">
                <a:solidFill>
                  <a:schemeClr val="tx1"/>
                </a:solidFill>
                <a:latin typeface="微软雅黑" panose="020B0503020204020204" charset="-122"/>
                <a:cs typeface="微软雅黑" panose="020B0503020204020204" charset="-122"/>
                <a:sym typeface="+mn-ea"/>
              </a:rPr>
              <a:t>）</a:t>
            </a:r>
            <a:endParaRPr lang="zh-CN" altLang="en-US" sz="700" b="1" spc="-50" dirty="0">
              <a:solidFill>
                <a:schemeClr val="tx1"/>
              </a:solidFill>
              <a:latin typeface="微软雅黑" panose="020B0503020204020204" charset="-122"/>
              <a:ea typeface="宋体" panose="02010600030101010101" pitchFamily="2" charset="-122"/>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45720">
              <a:lnSpc>
                <a:spcPct val="100000"/>
              </a:lnSpc>
              <a:spcBef>
                <a:spcPts val="135"/>
              </a:spcBef>
            </a:pPr>
            <a:r>
              <a:rPr dirty="0"/>
              <a:t>III期临床研究—</a:t>
            </a:r>
            <a:r>
              <a:rPr spc="-10" dirty="0"/>
              <a:t>REVISIT</a:t>
            </a:r>
          </a:p>
        </p:txBody>
      </p:sp>
      <p:pic>
        <p:nvPicPr>
          <p:cNvPr id="3" name="object 3"/>
          <p:cNvPicPr/>
          <p:nvPr/>
        </p:nvPicPr>
        <p:blipFill>
          <a:blip r:embed="rId2" cstate="print"/>
          <a:stretch>
            <a:fillRect/>
          </a:stretch>
        </p:blipFill>
        <p:spPr>
          <a:xfrm>
            <a:off x="549000" y="849965"/>
            <a:ext cx="5955984" cy="1044889"/>
          </a:xfrm>
          <a:prstGeom prst="rect">
            <a:avLst/>
          </a:prstGeom>
        </p:spPr>
      </p:pic>
      <p:sp>
        <p:nvSpPr>
          <p:cNvPr id="4" name="object 4"/>
          <p:cNvSpPr txBox="1"/>
          <p:nvPr/>
        </p:nvSpPr>
        <p:spPr>
          <a:xfrm>
            <a:off x="624961" y="2187336"/>
            <a:ext cx="7063105" cy="2200275"/>
          </a:xfrm>
          <a:prstGeom prst="rect">
            <a:avLst/>
          </a:prstGeom>
        </p:spPr>
        <p:txBody>
          <a:bodyPr vert="horz" wrap="square" lIns="0" tIns="13335" rIns="0" bIns="0" rtlCol="0">
            <a:spAutoFit/>
          </a:bodyPr>
          <a:lstStyle/>
          <a:p>
            <a:pPr marL="12700">
              <a:lnSpc>
                <a:spcPct val="100000"/>
              </a:lnSpc>
              <a:spcBef>
                <a:spcPts val="105"/>
              </a:spcBef>
            </a:pPr>
            <a:r>
              <a:rPr sz="1600" b="1" spc="-10" dirty="0">
                <a:latin typeface="微软雅黑" panose="020B0503020204020204" charset="-122"/>
                <a:cs typeface="微软雅黑" panose="020B0503020204020204" charset="-122"/>
              </a:rPr>
              <a:t>研究设计：</a:t>
            </a:r>
            <a:r>
              <a:rPr sz="1600" spc="-15" dirty="0">
                <a:latin typeface="微软雅黑" panose="020B0503020204020204" charset="-122"/>
                <a:cs typeface="微软雅黑" panose="020B0503020204020204" charset="-122"/>
              </a:rPr>
              <a:t>多中心、多国、开放、随机对照试验</a:t>
            </a:r>
            <a:endParaRPr sz="1600">
              <a:latin typeface="微软雅黑" panose="020B0503020204020204" charset="-122"/>
              <a:cs typeface="微软雅黑" panose="020B0503020204020204" charset="-122"/>
            </a:endParaRPr>
          </a:p>
          <a:p>
            <a:pPr marL="12700" marR="5080">
              <a:lnSpc>
                <a:spcPct val="142000"/>
              </a:lnSpc>
              <a:spcBef>
                <a:spcPts val="1115"/>
              </a:spcBef>
            </a:pPr>
            <a:r>
              <a:rPr sz="1600" b="1" spc="-10" dirty="0">
                <a:latin typeface="微软雅黑" panose="020B0503020204020204" charset="-122"/>
                <a:cs typeface="微软雅黑" panose="020B0503020204020204" charset="-122"/>
              </a:rPr>
              <a:t>P：复杂腹腔感染或HAP-</a:t>
            </a:r>
            <a:r>
              <a:rPr sz="1600" b="1" spc="-45" dirty="0">
                <a:latin typeface="微软雅黑" panose="020B0503020204020204" charset="-122"/>
                <a:cs typeface="微软雅黑" panose="020B0503020204020204" charset="-122"/>
              </a:rPr>
              <a:t>VAP</a:t>
            </a:r>
            <a:r>
              <a:rPr sz="1600" b="1" spc="-10" dirty="0">
                <a:latin typeface="微软雅黑" panose="020B0503020204020204" charset="-122"/>
                <a:cs typeface="微软雅黑" panose="020B0503020204020204" charset="-122"/>
              </a:rPr>
              <a:t>住院的成年患者，按感染类型以2：1</a:t>
            </a:r>
            <a:r>
              <a:rPr sz="1600" b="1" spc="-20" dirty="0">
                <a:latin typeface="微软雅黑" panose="020B0503020204020204" charset="-122"/>
                <a:cs typeface="微软雅黑" panose="020B0503020204020204" charset="-122"/>
              </a:rPr>
              <a:t>的比例分组</a:t>
            </a:r>
            <a:r>
              <a:rPr sz="1600" b="1" spc="-50" dirty="0">
                <a:latin typeface="微软雅黑" panose="020B0503020204020204" charset="-122"/>
                <a:cs typeface="微软雅黑" panose="020B0503020204020204" charset="-122"/>
              </a:rPr>
              <a:t> </a:t>
            </a:r>
            <a:r>
              <a:rPr sz="1600" b="1" dirty="0">
                <a:latin typeface="微软雅黑" panose="020B0503020204020204" charset="-122"/>
                <a:cs typeface="微软雅黑" panose="020B0503020204020204" charset="-122"/>
              </a:rPr>
              <a:t>I</a:t>
            </a:r>
            <a:r>
              <a:rPr sz="1600" b="1" spc="40" dirty="0">
                <a:latin typeface="微软雅黑" panose="020B0503020204020204" charset="-122"/>
                <a:cs typeface="微软雅黑" panose="020B0503020204020204" charset="-122"/>
              </a:rPr>
              <a:t>： </a:t>
            </a:r>
            <a:r>
              <a:rPr sz="1600" spc="-10" dirty="0">
                <a:latin typeface="微软雅黑" panose="020B0503020204020204" charset="-122"/>
                <a:cs typeface="微软雅黑" panose="020B0503020204020204" charset="-122"/>
              </a:rPr>
              <a:t>氨曲南-阿维巴坦（复杂腹腔感染联合甲硝唑</a:t>
            </a:r>
            <a:r>
              <a:rPr sz="1600" spc="-50" dirty="0">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a:p>
            <a:pPr marL="12700">
              <a:lnSpc>
                <a:spcPct val="100000"/>
              </a:lnSpc>
              <a:spcBef>
                <a:spcPts val="960"/>
              </a:spcBef>
            </a:pPr>
            <a:r>
              <a:rPr sz="1600" b="1" spc="-10" dirty="0">
                <a:latin typeface="微软雅黑" panose="020B0503020204020204" charset="-122"/>
                <a:cs typeface="微软雅黑" panose="020B0503020204020204" charset="-122"/>
              </a:rPr>
              <a:t>C：</a:t>
            </a:r>
            <a:r>
              <a:rPr sz="1600" spc="-10" dirty="0">
                <a:latin typeface="微软雅黑" panose="020B0503020204020204" charset="-122"/>
                <a:cs typeface="微软雅黑" panose="020B0503020204020204" charset="-122"/>
              </a:rPr>
              <a:t>美罗培南 </a:t>
            </a:r>
            <a:r>
              <a:rPr sz="1600" spc="60" dirty="0">
                <a:latin typeface="Calibri" panose="020F0502020204030204"/>
                <a:cs typeface="Calibri" panose="020F0502020204030204"/>
              </a:rPr>
              <a:t>± </a:t>
            </a:r>
            <a:r>
              <a:rPr sz="1600" spc="-20" dirty="0">
                <a:latin typeface="微软雅黑" panose="020B0503020204020204" charset="-122"/>
                <a:cs typeface="微软雅黑" panose="020B0503020204020204" charset="-122"/>
              </a:rPr>
              <a:t>多粘菌素</a:t>
            </a:r>
            <a:endParaRPr sz="1600">
              <a:latin typeface="微软雅黑" panose="020B0503020204020204" charset="-122"/>
              <a:cs typeface="微软雅黑" panose="020B0503020204020204" charset="-122"/>
            </a:endParaRPr>
          </a:p>
          <a:p>
            <a:pPr marL="372110" marR="2083435" indent="-360045">
              <a:lnSpc>
                <a:spcPct val="150000"/>
              </a:lnSpc>
            </a:pPr>
            <a:r>
              <a:rPr sz="1600" b="1" spc="-5" dirty="0">
                <a:latin typeface="微软雅黑" panose="020B0503020204020204" charset="-122"/>
                <a:cs typeface="微软雅黑" panose="020B0503020204020204" charset="-122"/>
              </a:rPr>
              <a:t>O：</a:t>
            </a:r>
            <a:r>
              <a:rPr sz="1600" spc="-5" dirty="0">
                <a:latin typeface="微软雅黑" panose="020B0503020204020204" charset="-122"/>
                <a:cs typeface="微软雅黑" panose="020B0503020204020204" charset="-122"/>
              </a:rPr>
              <a:t>主要终点：意向治疗</a:t>
            </a:r>
            <a:r>
              <a:rPr sz="1600" dirty="0">
                <a:latin typeface="微软雅黑" panose="020B0503020204020204" charset="-122"/>
                <a:cs typeface="微软雅黑" panose="020B0503020204020204" charset="-122"/>
              </a:rPr>
              <a:t>（ITT）</a:t>
            </a:r>
            <a:r>
              <a:rPr sz="1600" spc="-5" dirty="0">
                <a:latin typeface="微软雅黑" panose="020B0503020204020204" charset="-122"/>
                <a:cs typeface="微软雅黑" panose="020B0503020204020204" charset="-122"/>
              </a:rPr>
              <a:t>人群28天临床疗效。次要终点：</a:t>
            </a:r>
            <a:r>
              <a:rPr sz="1600" dirty="0">
                <a:latin typeface="微软雅黑" panose="020B0503020204020204" charset="-122"/>
                <a:cs typeface="微软雅黑" panose="020B0503020204020204" charset="-122"/>
              </a:rPr>
              <a:t>ITT</a:t>
            </a:r>
            <a:r>
              <a:rPr sz="1600" spc="-5" dirty="0">
                <a:latin typeface="微软雅黑" panose="020B0503020204020204" charset="-122"/>
                <a:cs typeface="微软雅黑" panose="020B0503020204020204" charset="-122"/>
              </a:rPr>
              <a:t>人群28天死亡率及所有患者安全性。</a:t>
            </a:r>
            <a:endParaRPr sz="1600">
              <a:latin typeface="微软雅黑" panose="020B0503020204020204" charset="-122"/>
              <a:cs typeface="微软雅黑" panose="020B0503020204020204" charset="-122"/>
            </a:endParaRPr>
          </a:p>
        </p:txBody>
      </p:sp>
      <p:grpSp>
        <p:nvGrpSpPr>
          <p:cNvPr id="5" name="object 5"/>
          <p:cNvGrpSpPr/>
          <p:nvPr/>
        </p:nvGrpSpPr>
        <p:grpSpPr>
          <a:xfrm>
            <a:off x="121920" y="121919"/>
            <a:ext cx="9763760" cy="5496560"/>
            <a:chOff x="121920" y="121919"/>
            <a:chExt cx="9763760" cy="5496560"/>
          </a:xfrm>
        </p:grpSpPr>
        <p:sp>
          <p:nvSpPr>
            <p:cNvPr id="6" name="object 6"/>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7" name="object 7"/>
            <p:cNvSpPr/>
            <p:nvPr/>
          </p:nvSpPr>
          <p:spPr>
            <a:xfrm>
              <a:off x="5003673" y="4562855"/>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12700">
              <a:solidFill>
                <a:srgbClr val="DF5F5F"/>
              </a:solidFill>
              <a:prstDash val="dot"/>
            </a:ln>
          </p:spPr>
          <p:txBody>
            <a:bodyPr wrap="square" lIns="0" tIns="0" rIns="0" bIns="0" rtlCol="0"/>
            <a:lstStyle/>
            <a:p>
              <a:endParaRPr/>
            </a:p>
          </p:txBody>
        </p:sp>
      </p:grpSp>
      <p:sp>
        <p:nvSpPr>
          <p:cNvPr id="8" name="object 8"/>
          <p:cNvSpPr txBox="1"/>
          <p:nvPr/>
        </p:nvSpPr>
        <p:spPr>
          <a:xfrm>
            <a:off x="5308472" y="4461255"/>
            <a:ext cx="67945" cy="116839"/>
          </a:xfrm>
          <a:prstGeom prst="rect">
            <a:avLst/>
          </a:prstGeom>
        </p:spPr>
        <p:txBody>
          <a:bodyPr vert="horz" wrap="square" lIns="0" tIns="12700" rIns="0" bIns="0" rtlCol="0">
            <a:spAutoFit/>
          </a:bodyPr>
          <a:lstStyle/>
          <a:p>
            <a:pPr marL="12700">
              <a:lnSpc>
                <a:spcPct val="100000"/>
              </a:lnSpc>
              <a:spcBef>
                <a:spcPts val="100"/>
              </a:spcBef>
            </a:pPr>
            <a:r>
              <a:rPr sz="600" spc="-50" dirty="0">
                <a:solidFill>
                  <a:srgbClr val="FF0000"/>
                </a:solidFill>
                <a:latin typeface="Arial MT"/>
                <a:cs typeface="Arial MT"/>
              </a:rPr>
              <a:t>1</a:t>
            </a:r>
            <a:endParaRPr sz="600">
              <a:latin typeface="Arial MT"/>
              <a:cs typeface="Arial MT"/>
            </a:endParaRPr>
          </a:p>
        </p:txBody>
      </p:sp>
      <p:sp>
        <p:nvSpPr>
          <p:cNvPr id="11" name="object 11"/>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18</a:t>
            </a:fld>
            <a:r>
              <a:rPr spc="-10" dirty="0"/>
              <a:t> </a:t>
            </a:r>
            <a:r>
              <a:rPr spc="-50" dirty="0"/>
              <a:t>-</a:t>
            </a:r>
          </a:p>
        </p:txBody>
      </p:sp>
      <p:sp>
        <p:nvSpPr>
          <p:cNvPr id="12" name="文本框 11"/>
          <p:cNvSpPr txBox="1"/>
          <p:nvPr/>
        </p:nvSpPr>
        <p:spPr>
          <a:xfrm>
            <a:off x="213360" y="6455410"/>
            <a:ext cx="2700020" cy="198755"/>
          </a:xfrm>
          <a:prstGeom prst="rect">
            <a:avLst/>
          </a:prstGeom>
          <a:noFill/>
        </p:spPr>
        <p:txBody>
          <a:bodyPr wrap="square" rtlCol="0">
            <a:spAutoFit/>
          </a:bodyPr>
          <a:lstStyle/>
          <a:p>
            <a:r>
              <a:rPr sz="700" spc="-20" dirty="0">
                <a:solidFill>
                  <a:schemeClr val="tx1"/>
                </a:solidFill>
                <a:latin typeface="微软雅黑" panose="020B0503020204020204" charset="-122"/>
                <a:cs typeface="微软雅黑" panose="020B0503020204020204" charset="-122"/>
                <a:sym typeface="+mn-ea"/>
              </a:rPr>
              <a:t>注射用氨曲南阿维巴坦钠说明书（核准日期：</a:t>
            </a:r>
            <a:r>
              <a:rPr sz="700" spc="-10" dirty="0">
                <a:solidFill>
                  <a:schemeClr val="tx1"/>
                </a:solidFill>
                <a:latin typeface="Times New Roman" panose="02020603050405020304"/>
                <a:cs typeface="Times New Roman" panose="02020603050405020304"/>
                <a:sym typeface="+mn-ea"/>
              </a:rPr>
              <a:t>2025</a:t>
            </a:r>
            <a:r>
              <a:rPr sz="700" spc="-20" dirty="0">
                <a:solidFill>
                  <a:schemeClr val="tx1"/>
                </a:solidFill>
                <a:latin typeface="微软雅黑" panose="020B0503020204020204" charset="-122"/>
                <a:cs typeface="微软雅黑" panose="020B0503020204020204" charset="-122"/>
                <a:sym typeface="+mn-ea"/>
              </a:rPr>
              <a:t>年</a:t>
            </a:r>
            <a:r>
              <a:rPr sz="700" spc="-10" dirty="0">
                <a:solidFill>
                  <a:schemeClr val="tx1"/>
                </a:solidFill>
                <a:latin typeface="Times New Roman" panose="02020603050405020304"/>
                <a:cs typeface="Times New Roman" panose="02020603050405020304"/>
                <a:sym typeface="+mn-ea"/>
              </a:rPr>
              <a:t>6</a:t>
            </a:r>
            <a:r>
              <a:rPr sz="700" spc="-20" dirty="0">
                <a:solidFill>
                  <a:schemeClr val="tx1"/>
                </a:solidFill>
                <a:latin typeface="微软雅黑" panose="020B0503020204020204" charset="-122"/>
                <a:cs typeface="微软雅黑" panose="020B0503020204020204" charset="-122"/>
                <a:sym typeface="+mn-ea"/>
              </a:rPr>
              <a:t>月</a:t>
            </a:r>
            <a:r>
              <a:rPr sz="700" spc="-10" dirty="0">
                <a:solidFill>
                  <a:schemeClr val="tx1"/>
                </a:solidFill>
                <a:latin typeface="Times New Roman" panose="02020603050405020304"/>
                <a:cs typeface="Times New Roman" panose="02020603050405020304"/>
                <a:sym typeface="+mn-ea"/>
              </a:rPr>
              <a:t>24</a:t>
            </a:r>
            <a:r>
              <a:rPr sz="700" spc="-20" dirty="0">
                <a:solidFill>
                  <a:schemeClr val="tx1"/>
                </a:solidFill>
                <a:latin typeface="微软雅黑" panose="020B0503020204020204" charset="-122"/>
                <a:cs typeface="微软雅黑" panose="020B0503020204020204" charset="-122"/>
                <a:sym typeface="+mn-ea"/>
              </a:rPr>
              <a:t>日</a:t>
            </a:r>
            <a:r>
              <a:rPr sz="700" spc="-50" dirty="0">
                <a:solidFill>
                  <a:schemeClr val="tx1"/>
                </a:solidFill>
                <a:latin typeface="微软雅黑" panose="020B0503020204020204" charset="-122"/>
                <a:cs typeface="微软雅黑" panose="020B0503020204020204" charset="-122"/>
                <a:sym typeface="+mn-ea"/>
              </a:rPr>
              <a:t>）</a:t>
            </a:r>
            <a:endParaRPr lang="zh-CN" altLang="en-US" sz="700" b="1" spc="-50" dirty="0">
              <a:solidFill>
                <a:schemeClr val="tx1"/>
              </a:solidFill>
              <a:latin typeface="微软雅黑" panose="020B0503020204020204" charset="-122"/>
              <a:ea typeface="宋体" panose="02010600030101010101" pitchFamily="2" charset="-122"/>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7145" rIns="0" bIns="0" rtlCol="0">
            <a:spAutoFit/>
          </a:bodyPr>
          <a:lstStyle/>
          <a:p>
            <a:pPr marL="12700">
              <a:lnSpc>
                <a:spcPct val="100000"/>
              </a:lnSpc>
              <a:spcBef>
                <a:spcPts val="135"/>
              </a:spcBef>
            </a:pPr>
            <a:r>
              <a:rPr dirty="0"/>
              <a:t>III期临床研究—</a:t>
            </a:r>
            <a:r>
              <a:rPr spc="-10" dirty="0"/>
              <a:t>REVISIT</a:t>
            </a:r>
          </a:p>
        </p:txBody>
      </p:sp>
      <p:sp>
        <p:nvSpPr>
          <p:cNvPr id="3" name="object 3"/>
          <p:cNvSpPr txBox="1"/>
          <p:nvPr/>
        </p:nvSpPr>
        <p:spPr>
          <a:xfrm>
            <a:off x="4287520" y="787907"/>
            <a:ext cx="1042035" cy="269875"/>
          </a:xfrm>
          <a:prstGeom prst="rect">
            <a:avLst/>
          </a:prstGeom>
        </p:spPr>
        <p:txBody>
          <a:bodyPr vert="horz" wrap="square" lIns="0" tIns="13335" rIns="0" bIns="0" rtlCol="0">
            <a:spAutoFit/>
          </a:bodyPr>
          <a:lstStyle/>
          <a:p>
            <a:pPr marL="12700">
              <a:lnSpc>
                <a:spcPct val="100000"/>
              </a:lnSpc>
              <a:spcBef>
                <a:spcPts val="105"/>
              </a:spcBef>
            </a:pPr>
            <a:r>
              <a:rPr sz="1600" b="1" spc="-20" dirty="0">
                <a:latin typeface="微软雅黑" panose="020B0503020204020204" charset="-122"/>
                <a:cs typeface="微软雅黑" panose="020B0503020204020204" charset="-122"/>
              </a:rPr>
              <a:t>受试者组成</a:t>
            </a:r>
            <a:endParaRPr sz="1600">
              <a:latin typeface="微软雅黑" panose="020B0503020204020204" charset="-122"/>
              <a:cs typeface="微软雅黑" panose="020B0503020204020204" charset="-122"/>
            </a:endParaRPr>
          </a:p>
        </p:txBody>
      </p:sp>
      <p:grpSp>
        <p:nvGrpSpPr>
          <p:cNvPr id="4" name="object 4"/>
          <p:cNvGrpSpPr/>
          <p:nvPr/>
        </p:nvGrpSpPr>
        <p:grpSpPr>
          <a:xfrm>
            <a:off x="121920" y="121919"/>
            <a:ext cx="9763760" cy="5509895"/>
            <a:chOff x="121920" y="121919"/>
            <a:chExt cx="9763760" cy="5509895"/>
          </a:xfrm>
        </p:grpSpPr>
        <p:pic>
          <p:nvPicPr>
            <p:cNvPr id="5" name="object 5"/>
            <p:cNvPicPr/>
            <p:nvPr/>
          </p:nvPicPr>
          <p:blipFill>
            <a:blip r:embed="rId2" cstate="print"/>
            <a:stretch>
              <a:fillRect/>
            </a:stretch>
          </p:blipFill>
          <p:spPr>
            <a:xfrm>
              <a:off x="795893" y="1282700"/>
              <a:ext cx="8119508" cy="3872522"/>
            </a:xfrm>
            <a:prstGeom prst="rect">
              <a:avLst/>
            </a:prstGeom>
          </p:spPr>
        </p:pic>
        <p:sp>
          <p:nvSpPr>
            <p:cNvPr id="6" name="object 6"/>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7" name="object 7"/>
            <p:cNvSpPr/>
            <p:nvPr/>
          </p:nvSpPr>
          <p:spPr>
            <a:xfrm>
              <a:off x="3065399" y="5320156"/>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12700">
              <a:solidFill>
                <a:srgbClr val="DF5F5F"/>
              </a:solidFill>
              <a:prstDash val="dot"/>
            </a:ln>
          </p:spPr>
          <p:txBody>
            <a:bodyPr wrap="square" lIns="0" tIns="0" rIns="0" bIns="0" rtlCol="0"/>
            <a:lstStyle/>
            <a:p>
              <a:endParaRPr/>
            </a:p>
          </p:txBody>
        </p:sp>
      </p:grpSp>
      <p:sp>
        <p:nvSpPr>
          <p:cNvPr id="8" name="object 8"/>
          <p:cNvSpPr txBox="1"/>
          <p:nvPr/>
        </p:nvSpPr>
        <p:spPr>
          <a:xfrm>
            <a:off x="3370198" y="5218557"/>
            <a:ext cx="67945" cy="116839"/>
          </a:xfrm>
          <a:prstGeom prst="rect">
            <a:avLst/>
          </a:prstGeom>
        </p:spPr>
        <p:txBody>
          <a:bodyPr vert="horz" wrap="square" lIns="0" tIns="12700" rIns="0" bIns="0" rtlCol="0">
            <a:spAutoFit/>
          </a:bodyPr>
          <a:lstStyle/>
          <a:p>
            <a:pPr marL="12700">
              <a:lnSpc>
                <a:spcPct val="100000"/>
              </a:lnSpc>
              <a:spcBef>
                <a:spcPts val="100"/>
              </a:spcBef>
            </a:pPr>
            <a:r>
              <a:rPr sz="600" spc="-50" dirty="0">
                <a:solidFill>
                  <a:srgbClr val="FF0000"/>
                </a:solidFill>
                <a:latin typeface="Arial MT"/>
                <a:cs typeface="Arial MT"/>
              </a:rPr>
              <a:t>1</a:t>
            </a:r>
            <a:endParaRPr sz="600">
              <a:latin typeface="Arial MT"/>
              <a:cs typeface="Arial MT"/>
            </a:endParaRPr>
          </a:p>
        </p:txBody>
      </p:sp>
      <p:sp>
        <p:nvSpPr>
          <p:cNvPr id="11" name="object 11"/>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19</a:t>
            </a:fld>
            <a:r>
              <a:rPr spc="-10" dirty="0"/>
              <a:t> </a:t>
            </a:r>
            <a:r>
              <a:rPr spc="-50" dirty="0"/>
              <a:t>-</a:t>
            </a:r>
          </a:p>
        </p:txBody>
      </p:sp>
      <p:sp>
        <p:nvSpPr>
          <p:cNvPr id="12" name="文本框 11"/>
          <p:cNvSpPr txBox="1"/>
          <p:nvPr/>
        </p:nvSpPr>
        <p:spPr>
          <a:xfrm>
            <a:off x="213360" y="6455410"/>
            <a:ext cx="2700020" cy="198755"/>
          </a:xfrm>
          <a:prstGeom prst="rect">
            <a:avLst/>
          </a:prstGeom>
          <a:noFill/>
        </p:spPr>
        <p:txBody>
          <a:bodyPr wrap="square" rtlCol="0">
            <a:spAutoFit/>
          </a:bodyPr>
          <a:lstStyle/>
          <a:p>
            <a:r>
              <a:rPr sz="700" spc="-20" dirty="0">
                <a:solidFill>
                  <a:schemeClr val="tx1"/>
                </a:solidFill>
                <a:latin typeface="微软雅黑" panose="020B0503020204020204" charset="-122"/>
                <a:cs typeface="微软雅黑" panose="020B0503020204020204" charset="-122"/>
                <a:sym typeface="+mn-ea"/>
              </a:rPr>
              <a:t>注射用氨曲南阿维巴坦钠说明书（核准日期：</a:t>
            </a:r>
            <a:r>
              <a:rPr sz="700" spc="-10" dirty="0">
                <a:solidFill>
                  <a:schemeClr val="tx1"/>
                </a:solidFill>
                <a:latin typeface="Times New Roman" panose="02020603050405020304"/>
                <a:cs typeface="Times New Roman" panose="02020603050405020304"/>
                <a:sym typeface="+mn-ea"/>
              </a:rPr>
              <a:t>2025</a:t>
            </a:r>
            <a:r>
              <a:rPr sz="700" spc="-20" dirty="0">
                <a:solidFill>
                  <a:schemeClr val="tx1"/>
                </a:solidFill>
                <a:latin typeface="微软雅黑" panose="020B0503020204020204" charset="-122"/>
                <a:cs typeface="微软雅黑" panose="020B0503020204020204" charset="-122"/>
                <a:sym typeface="+mn-ea"/>
              </a:rPr>
              <a:t>年</a:t>
            </a:r>
            <a:r>
              <a:rPr sz="700" spc="-10" dirty="0">
                <a:solidFill>
                  <a:schemeClr val="tx1"/>
                </a:solidFill>
                <a:latin typeface="Times New Roman" panose="02020603050405020304"/>
                <a:cs typeface="Times New Roman" panose="02020603050405020304"/>
                <a:sym typeface="+mn-ea"/>
              </a:rPr>
              <a:t>6</a:t>
            </a:r>
            <a:r>
              <a:rPr sz="700" spc="-20" dirty="0">
                <a:solidFill>
                  <a:schemeClr val="tx1"/>
                </a:solidFill>
                <a:latin typeface="微软雅黑" panose="020B0503020204020204" charset="-122"/>
                <a:cs typeface="微软雅黑" panose="020B0503020204020204" charset="-122"/>
                <a:sym typeface="+mn-ea"/>
              </a:rPr>
              <a:t>月</a:t>
            </a:r>
            <a:r>
              <a:rPr sz="700" spc="-10" dirty="0">
                <a:solidFill>
                  <a:schemeClr val="tx1"/>
                </a:solidFill>
                <a:latin typeface="Times New Roman" panose="02020603050405020304"/>
                <a:cs typeface="Times New Roman" panose="02020603050405020304"/>
                <a:sym typeface="+mn-ea"/>
              </a:rPr>
              <a:t>24</a:t>
            </a:r>
            <a:r>
              <a:rPr sz="700" spc="-20" dirty="0">
                <a:solidFill>
                  <a:schemeClr val="tx1"/>
                </a:solidFill>
                <a:latin typeface="微软雅黑" panose="020B0503020204020204" charset="-122"/>
                <a:cs typeface="微软雅黑" panose="020B0503020204020204" charset="-122"/>
                <a:sym typeface="+mn-ea"/>
              </a:rPr>
              <a:t>日</a:t>
            </a:r>
            <a:r>
              <a:rPr sz="700" spc="-50" dirty="0">
                <a:solidFill>
                  <a:schemeClr val="tx1"/>
                </a:solidFill>
                <a:latin typeface="微软雅黑" panose="020B0503020204020204" charset="-122"/>
                <a:cs typeface="微软雅黑" panose="020B0503020204020204" charset="-122"/>
                <a:sym typeface="+mn-ea"/>
              </a:rPr>
              <a:t>）</a:t>
            </a:r>
            <a:endParaRPr lang="zh-CN" altLang="en-US" sz="700" b="1" spc="-50" dirty="0">
              <a:solidFill>
                <a:schemeClr val="tx1"/>
              </a:solidFill>
              <a:latin typeface="微软雅黑" panose="020B0503020204020204" charset="-122"/>
              <a:ea typeface="宋体" panose="02010600030101010101" pitchFamily="2" charset="-122"/>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45720">
              <a:lnSpc>
                <a:spcPct val="100000"/>
              </a:lnSpc>
              <a:spcBef>
                <a:spcPts val="135"/>
              </a:spcBef>
            </a:pPr>
            <a:r>
              <a:rPr dirty="0"/>
              <a:t>III期临床研究—</a:t>
            </a:r>
            <a:r>
              <a:rPr spc="-10" dirty="0"/>
              <a:t>REVISIT</a:t>
            </a:r>
          </a:p>
        </p:txBody>
      </p:sp>
      <p:sp>
        <p:nvSpPr>
          <p:cNvPr id="3" name="object 3"/>
          <p:cNvSpPr txBox="1"/>
          <p:nvPr/>
        </p:nvSpPr>
        <p:spPr>
          <a:xfrm>
            <a:off x="479044" y="4689855"/>
            <a:ext cx="6360160" cy="245110"/>
          </a:xfrm>
          <a:prstGeom prst="rect">
            <a:avLst/>
          </a:prstGeom>
        </p:spPr>
        <p:txBody>
          <a:bodyPr vert="horz" wrap="square" lIns="0" tIns="11430" rIns="0" bIns="0" rtlCol="0">
            <a:spAutoFit/>
          </a:bodyPr>
          <a:lstStyle/>
          <a:p>
            <a:pPr marL="240665" indent="-227965">
              <a:lnSpc>
                <a:spcPct val="100000"/>
              </a:lnSpc>
              <a:spcBef>
                <a:spcPts val="90"/>
              </a:spcBef>
              <a:buFont typeface="Wingdings" panose="05000000000000000000"/>
              <a:buChar char=""/>
              <a:tabLst>
                <a:tab pos="240665" algn="l"/>
              </a:tabLst>
            </a:pPr>
            <a:r>
              <a:rPr sz="1450" spc="-20" dirty="0">
                <a:latin typeface="微软雅黑" panose="020B0503020204020204" charset="-122"/>
                <a:cs typeface="微软雅黑" panose="020B0503020204020204" charset="-122"/>
              </a:rPr>
              <a:t>腹腔感染</a:t>
            </a:r>
            <a:r>
              <a:rPr sz="1450" dirty="0">
                <a:latin typeface="微软雅黑" panose="020B0503020204020204" charset="-122"/>
                <a:cs typeface="微软雅黑" panose="020B0503020204020204" charset="-122"/>
              </a:rPr>
              <a:t>ITT</a:t>
            </a:r>
            <a:r>
              <a:rPr sz="1450" spc="-20" dirty="0">
                <a:latin typeface="微软雅黑" panose="020B0503020204020204" charset="-122"/>
                <a:cs typeface="微软雅黑" panose="020B0503020204020204" charset="-122"/>
              </a:rPr>
              <a:t>总数</a:t>
            </a:r>
            <a:r>
              <a:rPr sz="1450" b="1" spc="-25" dirty="0">
                <a:latin typeface="微软雅黑" panose="020B0503020204020204" charset="-122"/>
                <a:cs typeface="微软雅黑" panose="020B0503020204020204" charset="-122"/>
              </a:rPr>
              <a:t>312</a:t>
            </a:r>
            <a:r>
              <a:rPr sz="1450" b="1" spc="-20" dirty="0">
                <a:latin typeface="微软雅黑" panose="020B0503020204020204" charset="-122"/>
                <a:cs typeface="微软雅黑" panose="020B0503020204020204" charset="-122"/>
              </a:rPr>
              <a:t>人</a:t>
            </a:r>
            <a:r>
              <a:rPr sz="1450" spc="-20" dirty="0">
                <a:latin typeface="微软雅黑" panose="020B0503020204020204" charset="-122"/>
                <a:cs typeface="微软雅黑" panose="020B0503020204020204" charset="-122"/>
              </a:rPr>
              <a:t>（氨曲南-阿维巴坦组</a:t>
            </a:r>
            <a:r>
              <a:rPr sz="1450" dirty="0">
                <a:latin typeface="微软雅黑" panose="020B0503020204020204" charset="-122"/>
                <a:cs typeface="微软雅黑" panose="020B0503020204020204" charset="-122"/>
              </a:rPr>
              <a:t>208</a:t>
            </a:r>
            <a:r>
              <a:rPr sz="1450" spc="20" dirty="0">
                <a:latin typeface="微软雅黑" panose="020B0503020204020204" charset="-122"/>
                <a:cs typeface="微软雅黑" panose="020B0503020204020204" charset="-122"/>
              </a:rPr>
              <a:t> </a:t>
            </a:r>
            <a:r>
              <a:rPr sz="1450" dirty="0">
                <a:latin typeface="微软雅黑" panose="020B0503020204020204" charset="-122"/>
                <a:cs typeface="微软雅黑" panose="020B0503020204020204" charset="-122"/>
              </a:rPr>
              <a:t>VS</a:t>
            </a:r>
            <a:r>
              <a:rPr sz="1450" spc="-15" dirty="0">
                <a:latin typeface="微软雅黑" panose="020B0503020204020204" charset="-122"/>
                <a:cs typeface="微软雅黑" panose="020B0503020204020204" charset="-122"/>
              </a:rPr>
              <a:t> 美罗培南组 </a:t>
            </a:r>
            <a:r>
              <a:rPr sz="1450" spc="-20" dirty="0">
                <a:latin typeface="微软雅黑" panose="020B0503020204020204" charset="-122"/>
                <a:cs typeface="微软雅黑" panose="020B0503020204020204" charset="-122"/>
              </a:rPr>
              <a:t>104人</a:t>
            </a:r>
            <a:r>
              <a:rPr sz="1450" spc="-25" dirty="0">
                <a:latin typeface="微软雅黑" panose="020B0503020204020204" charset="-122"/>
                <a:cs typeface="微软雅黑" panose="020B0503020204020204" charset="-122"/>
              </a:rPr>
              <a:t>）；</a:t>
            </a:r>
            <a:endParaRPr sz="1450">
              <a:latin typeface="微软雅黑" panose="020B0503020204020204" charset="-122"/>
              <a:cs typeface="微软雅黑" panose="020B0503020204020204" charset="-122"/>
            </a:endParaRPr>
          </a:p>
        </p:txBody>
      </p:sp>
      <p:sp>
        <p:nvSpPr>
          <p:cNvPr id="4" name="object 4"/>
          <p:cNvSpPr txBox="1"/>
          <p:nvPr/>
        </p:nvSpPr>
        <p:spPr>
          <a:xfrm>
            <a:off x="479044" y="4909312"/>
            <a:ext cx="6281420" cy="683895"/>
          </a:xfrm>
          <a:prstGeom prst="rect">
            <a:avLst/>
          </a:prstGeom>
        </p:spPr>
        <p:txBody>
          <a:bodyPr vert="horz" wrap="square" lIns="0" tIns="120650" rIns="0" bIns="0" rtlCol="0">
            <a:spAutoFit/>
          </a:bodyPr>
          <a:lstStyle/>
          <a:p>
            <a:pPr marL="240665" indent="-227965">
              <a:lnSpc>
                <a:spcPct val="100000"/>
              </a:lnSpc>
              <a:spcBef>
                <a:spcPts val="950"/>
              </a:spcBef>
              <a:buFont typeface="Wingdings" panose="05000000000000000000"/>
              <a:buChar char=""/>
              <a:tabLst>
                <a:tab pos="240665" algn="l"/>
              </a:tabLst>
            </a:pPr>
            <a:r>
              <a:rPr sz="1450" spc="-25" dirty="0">
                <a:latin typeface="微软雅黑" panose="020B0503020204020204" charset="-122"/>
                <a:cs typeface="微软雅黑" panose="020B0503020204020204" charset="-122"/>
              </a:rPr>
              <a:t>HAP-</a:t>
            </a:r>
            <a:r>
              <a:rPr sz="1450" spc="-20" dirty="0">
                <a:latin typeface="微软雅黑" panose="020B0503020204020204" charset="-122"/>
                <a:cs typeface="微软雅黑" panose="020B0503020204020204" charset="-122"/>
              </a:rPr>
              <a:t>VAP</a:t>
            </a:r>
            <a:r>
              <a:rPr sz="1450" dirty="0">
                <a:latin typeface="微软雅黑" panose="020B0503020204020204" charset="-122"/>
                <a:cs typeface="微软雅黑" panose="020B0503020204020204" charset="-122"/>
              </a:rPr>
              <a:t> ITT</a:t>
            </a:r>
            <a:r>
              <a:rPr sz="1450" spc="-20" dirty="0">
                <a:latin typeface="微软雅黑" panose="020B0503020204020204" charset="-122"/>
                <a:cs typeface="微软雅黑" panose="020B0503020204020204" charset="-122"/>
              </a:rPr>
              <a:t>总数</a:t>
            </a:r>
            <a:r>
              <a:rPr sz="1450" b="1" spc="-25" dirty="0">
                <a:latin typeface="微软雅黑" panose="020B0503020204020204" charset="-122"/>
                <a:cs typeface="微软雅黑" panose="020B0503020204020204" charset="-122"/>
              </a:rPr>
              <a:t>120</a:t>
            </a:r>
            <a:r>
              <a:rPr sz="1450" b="1" spc="-20" dirty="0">
                <a:latin typeface="微软雅黑" panose="020B0503020204020204" charset="-122"/>
                <a:cs typeface="微软雅黑" panose="020B0503020204020204" charset="-122"/>
              </a:rPr>
              <a:t>人</a:t>
            </a:r>
            <a:r>
              <a:rPr sz="1450" spc="-20" dirty="0">
                <a:latin typeface="微软雅黑" panose="020B0503020204020204" charset="-122"/>
                <a:cs typeface="微软雅黑" panose="020B0503020204020204" charset="-122"/>
              </a:rPr>
              <a:t>（氨曲南-阿维巴坦组</a:t>
            </a:r>
            <a:r>
              <a:rPr sz="1450" dirty="0">
                <a:latin typeface="微软雅黑" panose="020B0503020204020204" charset="-122"/>
                <a:cs typeface="微软雅黑" panose="020B0503020204020204" charset="-122"/>
              </a:rPr>
              <a:t>74 VS</a:t>
            </a:r>
            <a:r>
              <a:rPr sz="1450" spc="-20" dirty="0">
                <a:latin typeface="微软雅黑" panose="020B0503020204020204" charset="-122"/>
                <a:cs typeface="微软雅黑" panose="020B0503020204020204" charset="-122"/>
              </a:rPr>
              <a:t> 美罗培南组 36人</a:t>
            </a:r>
            <a:r>
              <a:rPr sz="1450" spc="-25" dirty="0">
                <a:latin typeface="微软雅黑" panose="020B0503020204020204" charset="-122"/>
                <a:cs typeface="微软雅黑" panose="020B0503020204020204" charset="-122"/>
              </a:rPr>
              <a:t>）；</a:t>
            </a:r>
            <a:endParaRPr sz="1450">
              <a:latin typeface="微软雅黑" panose="020B0503020204020204" charset="-122"/>
              <a:cs typeface="微软雅黑" panose="020B0503020204020204" charset="-122"/>
            </a:endParaRPr>
          </a:p>
          <a:p>
            <a:pPr marL="240665" indent="-227965">
              <a:lnSpc>
                <a:spcPct val="100000"/>
              </a:lnSpc>
              <a:spcBef>
                <a:spcPts val="855"/>
              </a:spcBef>
              <a:buFont typeface="Wingdings" panose="05000000000000000000"/>
              <a:buChar char=""/>
              <a:tabLst>
                <a:tab pos="240665" algn="l"/>
              </a:tabLst>
            </a:pPr>
            <a:r>
              <a:rPr sz="1450" spc="-20" dirty="0">
                <a:latin typeface="Times New Roman" panose="02020603050405020304"/>
                <a:cs typeface="Times New Roman" panose="02020603050405020304"/>
              </a:rPr>
              <a:t>90%</a:t>
            </a:r>
            <a:r>
              <a:rPr sz="1450" spc="-30" dirty="0">
                <a:latin typeface="微软雅黑" panose="020B0503020204020204" charset="-122"/>
                <a:cs typeface="微软雅黑" panose="020B0503020204020204" charset="-122"/>
              </a:rPr>
              <a:t>以上 </a:t>
            </a:r>
            <a:r>
              <a:rPr sz="1450" spc="-10" dirty="0">
                <a:latin typeface="Times New Roman" panose="02020603050405020304"/>
                <a:cs typeface="Times New Roman" panose="02020603050405020304"/>
              </a:rPr>
              <a:t>CLcr</a:t>
            </a:r>
            <a:r>
              <a:rPr sz="1450" spc="-10" dirty="0">
                <a:latin typeface="微软雅黑" panose="020B0503020204020204" charset="-122"/>
                <a:cs typeface="微软雅黑" panose="020B0503020204020204" charset="-122"/>
              </a:rPr>
              <a:t>＞</a:t>
            </a:r>
            <a:r>
              <a:rPr sz="1450" spc="-10" dirty="0">
                <a:latin typeface="Times New Roman" panose="02020603050405020304"/>
                <a:cs typeface="Times New Roman" panose="02020603050405020304"/>
              </a:rPr>
              <a:t>50mL/min</a:t>
            </a:r>
            <a:endParaRPr sz="1450">
              <a:latin typeface="Times New Roman" panose="02020603050405020304"/>
              <a:cs typeface="Times New Roman" panose="02020603050405020304"/>
            </a:endParaRPr>
          </a:p>
        </p:txBody>
      </p:sp>
      <p:grpSp>
        <p:nvGrpSpPr>
          <p:cNvPr id="5" name="object 5"/>
          <p:cNvGrpSpPr/>
          <p:nvPr/>
        </p:nvGrpSpPr>
        <p:grpSpPr>
          <a:xfrm>
            <a:off x="121920" y="121919"/>
            <a:ext cx="9763760" cy="5496560"/>
            <a:chOff x="121920" y="121919"/>
            <a:chExt cx="9763760" cy="5496560"/>
          </a:xfrm>
        </p:grpSpPr>
        <p:pic>
          <p:nvPicPr>
            <p:cNvPr id="6" name="object 6"/>
            <p:cNvPicPr/>
            <p:nvPr/>
          </p:nvPicPr>
          <p:blipFill>
            <a:blip r:embed="rId2" cstate="print"/>
            <a:stretch>
              <a:fillRect/>
            </a:stretch>
          </p:blipFill>
          <p:spPr>
            <a:xfrm>
              <a:off x="2052173" y="799866"/>
              <a:ext cx="5657935" cy="3758600"/>
            </a:xfrm>
            <a:prstGeom prst="rect">
              <a:avLst/>
            </a:prstGeom>
          </p:spPr>
        </p:pic>
        <p:sp>
          <p:nvSpPr>
            <p:cNvPr id="7" name="object 7"/>
            <p:cNvSpPr/>
            <p:nvPr/>
          </p:nvSpPr>
          <p:spPr>
            <a:xfrm>
              <a:off x="3216211" y="2037422"/>
              <a:ext cx="2886710" cy="332740"/>
            </a:xfrm>
            <a:custGeom>
              <a:avLst/>
              <a:gdLst/>
              <a:ahLst/>
              <a:cxnLst/>
              <a:rect l="l" t="t" r="r" b="b"/>
              <a:pathLst>
                <a:path w="2886710" h="332739">
                  <a:moveTo>
                    <a:pt x="1338440" y="165938"/>
                  </a:moveTo>
                  <a:lnTo>
                    <a:pt x="1337919" y="162547"/>
                  </a:lnTo>
                  <a:lnTo>
                    <a:pt x="1336916" y="158610"/>
                  </a:lnTo>
                  <a:lnTo>
                    <a:pt x="1335519" y="154787"/>
                  </a:lnTo>
                  <a:lnTo>
                    <a:pt x="1335125" y="153987"/>
                  </a:lnTo>
                  <a:lnTo>
                    <a:pt x="1305039" y="153987"/>
                  </a:lnTo>
                  <a:lnTo>
                    <a:pt x="1305560" y="154292"/>
                  </a:lnTo>
                  <a:lnTo>
                    <a:pt x="1306588" y="154787"/>
                  </a:lnTo>
                  <a:lnTo>
                    <a:pt x="1307134" y="155168"/>
                  </a:lnTo>
                  <a:lnTo>
                    <a:pt x="1308150" y="155790"/>
                  </a:lnTo>
                  <a:lnTo>
                    <a:pt x="1308620" y="156210"/>
                  </a:lnTo>
                  <a:lnTo>
                    <a:pt x="1309560" y="156908"/>
                  </a:lnTo>
                  <a:lnTo>
                    <a:pt x="1309992" y="157378"/>
                  </a:lnTo>
                  <a:lnTo>
                    <a:pt x="1310843" y="158153"/>
                  </a:lnTo>
                  <a:lnTo>
                    <a:pt x="1311186" y="158610"/>
                  </a:lnTo>
                  <a:lnTo>
                    <a:pt x="1311948" y="159512"/>
                  </a:lnTo>
                  <a:lnTo>
                    <a:pt x="1313053" y="160985"/>
                  </a:lnTo>
                  <a:lnTo>
                    <a:pt x="1313345" y="161569"/>
                  </a:lnTo>
                  <a:lnTo>
                    <a:pt x="1313929" y="162547"/>
                  </a:lnTo>
                  <a:lnTo>
                    <a:pt x="1314183" y="163182"/>
                  </a:lnTo>
                  <a:lnTo>
                    <a:pt x="1314678" y="164211"/>
                  </a:lnTo>
                  <a:lnTo>
                    <a:pt x="1314856" y="164858"/>
                  </a:lnTo>
                  <a:lnTo>
                    <a:pt x="1315250" y="165938"/>
                  </a:lnTo>
                  <a:lnTo>
                    <a:pt x="1315364" y="166611"/>
                  </a:lnTo>
                  <a:lnTo>
                    <a:pt x="1315656" y="167728"/>
                  </a:lnTo>
                  <a:lnTo>
                    <a:pt x="1315707" y="168452"/>
                  </a:lnTo>
                  <a:lnTo>
                    <a:pt x="1315885" y="169595"/>
                  </a:lnTo>
                  <a:lnTo>
                    <a:pt x="1315758" y="293662"/>
                  </a:lnTo>
                  <a:lnTo>
                    <a:pt x="1315593" y="294386"/>
                  </a:lnTo>
                  <a:lnTo>
                    <a:pt x="1315453" y="295402"/>
                  </a:lnTo>
                  <a:lnTo>
                    <a:pt x="1315186" y="296189"/>
                  </a:lnTo>
                  <a:lnTo>
                    <a:pt x="1314907" y="297256"/>
                  </a:lnTo>
                  <a:lnTo>
                    <a:pt x="1314615" y="297916"/>
                  </a:lnTo>
                  <a:lnTo>
                    <a:pt x="1314234" y="298932"/>
                  </a:lnTo>
                  <a:lnTo>
                    <a:pt x="1313345" y="300545"/>
                  </a:lnTo>
                  <a:lnTo>
                    <a:pt x="1312430" y="302044"/>
                  </a:lnTo>
                  <a:lnTo>
                    <a:pt x="1311948" y="302602"/>
                  </a:lnTo>
                  <a:lnTo>
                    <a:pt x="1311313" y="303453"/>
                  </a:lnTo>
                  <a:lnTo>
                    <a:pt x="1310779" y="303961"/>
                  </a:lnTo>
                  <a:lnTo>
                    <a:pt x="1310068" y="304736"/>
                  </a:lnTo>
                  <a:lnTo>
                    <a:pt x="1309484" y="305206"/>
                  </a:lnTo>
                  <a:lnTo>
                    <a:pt x="1308709" y="305904"/>
                  </a:lnTo>
                  <a:lnTo>
                    <a:pt x="1308061" y="306324"/>
                  </a:lnTo>
                  <a:lnTo>
                    <a:pt x="1307236" y="306946"/>
                  </a:lnTo>
                  <a:lnTo>
                    <a:pt x="1306537" y="307301"/>
                  </a:lnTo>
                  <a:lnTo>
                    <a:pt x="1305674" y="307822"/>
                  </a:lnTo>
                  <a:lnTo>
                    <a:pt x="1304925" y="308127"/>
                  </a:lnTo>
                  <a:lnTo>
                    <a:pt x="1304569" y="308305"/>
                  </a:lnTo>
                  <a:lnTo>
                    <a:pt x="1303223" y="308800"/>
                  </a:lnTo>
                  <a:lnTo>
                    <a:pt x="1303362" y="308800"/>
                  </a:lnTo>
                  <a:lnTo>
                    <a:pt x="1302880" y="308927"/>
                  </a:lnTo>
                  <a:lnTo>
                    <a:pt x="1301356" y="309321"/>
                  </a:lnTo>
                  <a:lnTo>
                    <a:pt x="1301610" y="309321"/>
                  </a:lnTo>
                  <a:lnTo>
                    <a:pt x="1301000" y="309422"/>
                  </a:lnTo>
                  <a:lnTo>
                    <a:pt x="1300149" y="309549"/>
                  </a:lnTo>
                  <a:lnTo>
                    <a:pt x="38290" y="309549"/>
                  </a:lnTo>
                  <a:lnTo>
                    <a:pt x="37439" y="309422"/>
                  </a:lnTo>
                  <a:lnTo>
                    <a:pt x="36830" y="309321"/>
                  </a:lnTo>
                  <a:lnTo>
                    <a:pt x="37084" y="309321"/>
                  </a:lnTo>
                  <a:lnTo>
                    <a:pt x="36410" y="309143"/>
                  </a:lnTo>
                  <a:lnTo>
                    <a:pt x="35547" y="308927"/>
                  </a:lnTo>
                  <a:lnTo>
                    <a:pt x="35077" y="308800"/>
                  </a:lnTo>
                  <a:lnTo>
                    <a:pt x="35217" y="308800"/>
                  </a:lnTo>
                  <a:lnTo>
                    <a:pt x="34582" y="308571"/>
                  </a:lnTo>
                  <a:lnTo>
                    <a:pt x="33515" y="308127"/>
                  </a:lnTo>
                  <a:lnTo>
                    <a:pt x="32766" y="307822"/>
                  </a:lnTo>
                  <a:lnTo>
                    <a:pt x="31902" y="307301"/>
                  </a:lnTo>
                  <a:lnTo>
                    <a:pt x="31203" y="306946"/>
                  </a:lnTo>
                  <a:lnTo>
                    <a:pt x="30378" y="306324"/>
                  </a:lnTo>
                  <a:lnTo>
                    <a:pt x="29730" y="305904"/>
                  </a:lnTo>
                  <a:lnTo>
                    <a:pt x="28956" y="305206"/>
                  </a:lnTo>
                  <a:lnTo>
                    <a:pt x="28371" y="304736"/>
                  </a:lnTo>
                  <a:lnTo>
                    <a:pt x="27660" y="303961"/>
                  </a:lnTo>
                  <a:lnTo>
                    <a:pt x="27127" y="303453"/>
                  </a:lnTo>
                  <a:lnTo>
                    <a:pt x="26492" y="302602"/>
                  </a:lnTo>
                  <a:lnTo>
                    <a:pt x="26009" y="302044"/>
                  </a:lnTo>
                  <a:lnTo>
                    <a:pt x="25095" y="300545"/>
                  </a:lnTo>
                  <a:lnTo>
                    <a:pt x="24206" y="298932"/>
                  </a:lnTo>
                  <a:lnTo>
                    <a:pt x="23825" y="297916"/>
                  </a:lnTo>
                  <a:lnTo>
                    <a:pt x="23533" y="297256"/>
                  </a:lnTo>
                  <a:lnTo>
                    <a:pt x="23253" y="296189"/>
                  </a:lnTo>
                  <a:lnTo>
                    <a:pt x="22999" y="295402"/>
                  </a:lnTo>
                  <a:lnTo>
                    <a:pt x="22847" y="294386"/>
                  </a:lnTo>
                  <a:lnTo>
                    <a:pt x="22682" y="293662"/>
                  </a:lnTo>
                  <a:lnTo>
                    <a:pt x="22796" y="167728"/>
                  </a:lnTo>
                  <a:lnTo>
                    <a:pt x="23075" y="166611"/>
                  </a:lnTo>
                  <a:lnTo>
                    <a:pt x="23190" y="165938"/>
                  </a:lnTo>
                  <a:lnTo>
                    <a:pt x="23583" y="164858"/>
                  </a:lnTo>
                  <a:lnTo>
                    <a:pt x="23761" y="164211"/>
                  </a:lnTo>
                  <a:lnTo>
                    <a:pt x="24257" y="163182"/>
                  </a:lnTo>
                  <a:lnTo>
                    <a:pt x="24511" y="162547"/>
                  </a:lnTo>
                  <a:lnTo>
                    <a:pt x="25095" y="161569"/>
                  </a:lnTo>
                  <a:lnTo>
                    <a:pt x="25387" y="160985"/>
                  </a:lnTo>
                  <a:lnTo>
                    <a:pt x="26492" y="159512"/>
                  </a:lnTo>
                  <a:lnTo>
                    <a:pt x="27254" y="158610"/>
                  </a:lnTo>
                  <a:lnTo>
                    <a:pt x="27597" y="158153"/>
                  </a:lnTo>
                  <a:lnTo>
                    <a:pt x="28448" y="157378"/>
                  </a:lnTo>
                  <a:lnTo>
                    <a:pt x="28892" y="156908"/>
                  </a:lnTo>
                  <a:lnTo>
                    <a:pt x="29819" y="156210"/>
                  </a:lnTo>
                  <a:lnTo>
                    <a:pt x="30289" y="155790"/>
                  </a:lnTo>
                  <a:lnTo>
                    <a:pt x="31305" y="155168"/>
                  </a:lnTo>
                  <a:lnTo>
                    <a:pt x="31851" y="154787"/>
                  </a:lnTo>
                  <a:lnTo>
                    <a:pt x="32880" y="154292"/>
                  </a:lnTo>
                  <a:lnTo>
                    <a:pt x="33401" y="153987"/>
                  </a:lnTo>
                  <a:lnTo>
                    <a:pt x="34582" y="153543"/>
                  </a:lnTo>
                  <a:lnTo>
                    <a:pt x="35217" y="153314"/>
                  </a:lnTo>
                  <a:lnTo>
                    <a:pt x="35077" y="153314"/>
                  </a:lnTo>
                  <a:lnTo>
                    <a:pt x="35547" y="153200"/>
                  </a:lnTo>
                  <a:lnTo>
                    <a:pt x="36410" y="152971"/>
                  </a:lnTo>
                  <a:lnTo>
                    <a:pt x="37084" y="152793"/>
                  </a:lnTo>
                  <a:lnTo>
                    <a:pt x="36830" y="152793"/>
                  </a:lnTo>
                  <a:lnTo>
                    <a:pt x="40017" y="152311"/>
                  </a:lnTo>
                  <a:lnTo>
                    <a:pt x="1298422" y="152311"/>
                  </a:lnTo>
                  <a:lnTo>
                    <a:pt x="1301610" y="152793"/>
                  </a:lnTo>
                  <a:lnTo>
                    <a:pt x="1301356" y="152793"/>
                  </a:lnTo>
                  <a:lnTo>
                    <a:pt x="1302029" y="152971"/>
                  </a:lnTo>
                  <a:lnTo>
                    <a:pt x="1302296" y="152971"/>
                  </a:lnTo>
                  <a:lnTo>
                    <a:pt x="1302905" y="153200"/>
                  </a:lnTo>
                  <a:lnTo>
                    <a:pt x="1303858" y="153543"/>
                  </a:lnTo>
                  <a:lnTo>
                    <a:pt x="1304023" y="153543"/>
                  </a:lnTo>
                  <a:lnTo>
                    <a:pt x="1334909" y="153543"/>
                  </a:lnTo>
                  <a:lnTo>
                    <a:pt x="1334808" y="153314"/>
                  </a:lnTo>
                  <a:lnTo>
                    <a:pt x="1334643" y="152971"/>
                  </a:lnTo>
                  <a:lnTo>
                    <a:pt x="1334554" y="152793"/>
                  </a:lnTo>
                  <a:lnTo>
                    <a:pt x="1334312" y="152311"/>
                  </a:lnTo>
                  <a:lnTo>
                    <a:pt x="1301508" y="129667"/>
                  </a:lnTo>
                  <a:lnTo>
                    <a:pt x="1297571" y="129463"/>
                  </a:lnTo>
                  <a:lnTo>
                    <a:pt x="40881" y="129463"/>
                  </a:lnTo>
                  <a:lnTo>
                    <a:pt x="6756" y="147739"/>
                  </a:lnTo>
                  <a:lnTo>
                    <a:pt x="0" y="165938"/>
                  </a:lnTo>
                  <a:lnTo>
                    <a:pt x="0" y="296189"/>
                  </a:lnTo>
                  <a:lnTo>
                    <a:pt x="25006" y="329412"/>
                  </a:lnTo>
                  <a:lnTo>
                    <a:pt x="40881" y="332663"/>
                  </a:lnTo>
                  <a:lnTo>
                    <a:pt x="1297571" y="332663"/>
                  </a:lnTo>
                  <a:lnTo>
                    <a:pt x="1331683" y="314375"/>
                  </a:lnTo>
                  <a:lnTo>
                    <a:pt x="1334439" y="309549"/>
                  </a:lnTo>
                  <a:lnTo>
                    <a:pt x="1334554" y="309321"/>
                  </a:lnTo>
                  <a:lnTo>
                    <a:pt x="1334643" y="309143"/>
                  </a:lnTo>
                  <a:lnTo>
                    <a:pt x="1334808" y="308800"/>
                  </a:lnTo>
                  <a:lnTo>
                    <a:pt x="1334909" y="308571"/>
                  </a:lnTo>
                  <a:lnTo>
                    <a:pt x="1335519" y="307301"/>
                  </a:lnTo>
                  <a:lnTo>
                    <a:pt x="1336929" y="303453"/>
                  </a:lnTo>
                  <a:lnTo>
                    <a:pt x="1337932" y="299516"/>
                  </a:lnTo>
                  <a:lnTo>
                    <a:pt x="1338021" y="298932"/>
                  </a:lnTo>
                  <a:lnTo>
                    <a:pt x="1338440" y="296189"/>
                  </a:lnTo>
                  <a:lnTo>
                    <a:pt x="1338440" y="165938"/>
                  </a:lnTo>
                  <a:close/>
                </a:path>
                <a:path w="2886710" h="332739">
                  <a:moveTo>
                    <a:pt x="2886316" y="55880"/>
                  </a:moveTo>
                  <a:lnTo>
                    <a:pt x="2886113" y="54610"/>
                  </a:lnTo>
                  <a:lnTo>
                    <a:pt x="2863138" y="54610"/>
                  </a:lnTo>
                  <a:lnTo>
                    <a:pt x="2862910" y="53340"/>
                  </a:lnTo>
                  <a:lnTo>
                    <a:pt x="2863024" y="54610"/>
                  </a:lnTo>
                  <a:lnTo>
                    <a:pt x="2863367" y="55880"/>
                  </a:lnTo>
                  <a:lnTo>
                    <a:pt x="2863608" y="58420"/>
                  </a:lnTo>
                  <a:lnTo>
                    <a:pt x="2863545" y="273050"/>
                  </a:lnTo>
                  <a:lnTo>
                    <a:pt x="2863278" y="275590"/>
                  </a:lnTo>
                  <a:lnTo>
                    <a:pt x="2863367" y="274320"/>
                  </a:lnTo>
                  <a:lnTo>
                    <a:pt x="2862453" y="279400"/>
                  </a:lnTo>
                  <a:lnTo>
                    <a:pt x="2862592" y="278130"/>
                  </a:lnTo>
                  <a:lnTo>
                    <a:pt x="2861894" y="280670"/>
                  </a:lnTo>
                  <a:lnTo>
                    <a:pt x="2862059" y="280670"/>
                  </a:lnTo>
                  <a:lnTo>
                    <a:pt x="2861246" y="283210"/>
                  </a:lnTo>
                  <a:lnTo>
                    <a:pt x="2861449" y="281940"/>
                  </a:lnTo>
                  <a:lnTo>
                    <a:pt x="2860522" y="284480"/>
                  </a:lnTo>
                  <a:lnTo>
                    <a:pt x="2860852" y="284480"/>
                  </a:lnTo>
                  <a:lnTo>
                    <a:pt x="2858681" y="288290"/>
                  </a:lnTo>
                  <a:lnTo>
                    <a:pt x="2857322" y="290728"/>
                  </a:lnTo>
                  <a:lnTo>
                    <a:pt x="2854261" y="294640"/>
                  </a:lnTo>
                  <a:lnTo>
                    <a:pt x="2854960" y="294640"/>
                  </a:lnTo>
                  <a:lnTo>
                    <a:pt x="2851632" y="297180"/>
                  </a:lnTo>
                  <a:lnTo>
                    <a:pt x="2852394" y="297180"/>
                  </a:lnTo>
                  <a:lnTo>
                    <a:pt x="2848724" y="299720"/>
                  </a:lnTo>
                  <a:lnTo>
                    <a:pt x="2849562" y="299720"/>
                  </a:lnTo>
                  <a:lnTo>
                    <a:pt x="2845600" y="302260"/>
                  </a:lnTo>
                  <a:lnTo>
                    <a:pt x="2846514" y="302260"/>
                  </a:lnTo>
                  <a:lnTo>
                    <a:pt x="2842247" y="304800"/>
                  </a:lnTo>
                  <a:lnTo>
                    <a:pt x="2843212" y="303530"/>
                  </a:lnTo>
                  <a:lnTo>
                    <a:pt x="2838704" y="306070"/>
                  </a:lnTo>
                  <a:lnTo>
                    <a:pt x="2839478" y="306070"/>
                  </a:lnTo>
                  <a:lnTo>
                    <a:pt x="2837129" y="307340"/>
                  </a:lnTo>
                  <a:lnTo>
                    <a:pt x="2837662" y="306070"/>
                  </a:lnTo>
                  <a:lnTo>
                    <a:pt x="2835262" y="307340"/>
                  </a:lnTo>
                  <a:lnTo>
                    <a:pt x="2835795" y="307340"/>
                  </a:lnTo>
                  <a:lnTo>
                    <a:pt x="2833357" y="308610"/>
                  </a:lnTo>
                  <a:lnTo>
                    <a:pt x="2833903" y="307340"/>
                  </a:lnTo>
                  <a:lnTo>
                    <a:pt x="2831401" y="308610"/>
                  </a:lnTo>
                  <a:lnTo>
                    <a:pt x="1581962" y="308610"/>
                  </a:lnTo>
                  <a:lnTo>
                    <a:pt x="1579460" y="307340"/>
                  </a:lnTo>
                  <a:lnTo>
                    <a:pt x="1580019" y="308610"/>
                  </a:lnTo>
                  <a:lnTo>
                    <a:pt x="1577568" y="307340"/>
                  </a:lnTo>
                  <a:lnTo>
                    <a:pt x="1578102" y="307340"/>
                  </a:lnTo>
                  <a:lnTo>
                    <a:pt x="1575701" y="306070"/>
                  </a:lnTo>
                  <a:lnTo>
                    <a:pt x="1576235" y="307340"/>
                  </a:lnTo>
                  <a:lnTo>
                    <a:pt x="1573885" y="306070"/>
                  </a:lnTo>
                  <a:lnTo>
                    <a:pt x="1574660" y="306070"/>
                  </a:lnTo>
                  <a:lnTo>
                    <a:pt x="1572399" y="304800"/>
                  </a:lnTo>
                  <a:lnTo>
                    <a:pt x="1570151" y="303530"/>
                  </a:lnTo>
                  <a:lnTo>
                    <a:pt x="1571117" y="304800"/>
                  </a:lnTo>
                  <a:lnTo>
                    <a:pt x="1566862" y="302260"/>
                  </a:lnTo>
                  <a:lnTo>
                    <a:pt x="1567776" y="302260"/>
                  </a:lnTo>
                  <a:lnTo>
                    <a:pt x="1563801" y="299720"/>
                  </a:lnTo>
                  <a:lnTo>
                    <a:pt x="1564640" y="299720"/>
                  </a:lnTo>
                  <a:lnTo>
                    <a:pt x="1560969" y="297180"/>
                  </a:lnTo>
                  <a:lnTo>
                    <a:pt x="1561731" y="297180"/>
                  </a:lnTo>
                  <a:lnTo>
                    <a:pt x="1558404" y="294640"/>
                  </a:lnTo>
                  <a:lnTo>
                    <a:pt x="1559102" y="294640"/>
                  </a:lnTo>
                  <a:lnTo>
                    <a:pt x="1557096" y="292100"/>
                  </a:lnTo>
                  <a:lnTo>
                    <a:pt x="1556042" y="290728"/>
                  </a:lnTo>
                  <a:lnTo>
                    <a:pt x="1554683" y="288290"/>
                  </a:lnTo>
                  <a:lnTo>
                    <a:pt x="1552511" y="284480"/>
                  </a:lnTo>
                  <a:lnTo>
                    <a:pt x="1552841" y="284480"/>
                  </a:lnTo>
                  <a:lnTo>
                    <a:pt x="1552384" y="283210"/>
                  </a:lnTo>
                  <a:lnTo>
                    <a:pt x="1551927" y="281940"/>
                  </a:lnTo>
                  <a:lnTo>
                    <a:pt x="1552117" y="283210"/>
                  </a:lnTo>
                  <a:lnTo>
                    <a:pt x="1551305" y="280670"/>
                  </a:lnTo>
                  <a:lnTo>
                    <a:pt x="1551470" y="280670"/>
                  </a:lnTo>
                  <a:lnTo>
                    <a:pt x="1551127" y="279400"/>
                  </a:lnTo>
                  <a:lnTo>
                    <a:pt x="1550771" y="278130"/>
                  </a:lnTo>
                  <a:lnTo>
                    <a:pt x="1550911" y="279400"/>
                  </a:lnTo>
                  <a:lnTo>
                    <a:pt x="1550339" y="276860"/>
                  </a:lnTo>
                  <a:lnTo>
                    <a:pt x="1550098" y="275590"/>
                  </a:lnTo>
                  <a:lnTo>
                    <a:pt x="1549755" y="273050"/>
                  </a:lnTo>
                  <a:lnTo>
                    <a:pt x="1549819" y="58420"/>
                  </a:lnTo>
                  <a:lnTo>
                    <a:pt x="1550098" y="55880"/>
                  </a:lnTo>
                  <a:lnTo>
                    <a:pt x="1550339" y="54610"/>
                  </a:lnTo>
                  <a:lnTo>
                    <a:pt x="1550631" y="53340"/>
                  </a:lnTo>
                  <a:lnTo>
                    <a:pt x="1550911" y="52070"/>
                  </a:lnTo>
                  <a:lnTo>
                    <a:pt x="1550771" y="52070"/>
                  </a:lnTo>
                  <a:lnTo>
                    <a:pt x="1551470" y="49530"/>
                  </a:lnTo>
                  <a:lnTo>
                    <a:pt x="1551305" y="50800"/>
                  </a:lnTo>
                  <a:lnTo>
                    <a:pt x="1551711" y="49530"/>
                  </a:lnTo>
                  <a:lnTo>
                    <a:pt x="1552117" y="48260"/>
                  </a:lnTo>
                  <a:lnTo>
                    <a:pt x="1551927" y="48260"/>
                  </a:lnTo>
                  <a:lnTo>
                    <a:pt x="1552841" y="46990"/>
                  </a:lnTo>
                  <a:lnTo>
                    <a:pt x="1552511" y="46990"/>
                  </a:lnTo>
                  <a:lnTo>
                    <a:pt x="1554683" y="43180"/>
                  </a:lnTo>
                  <a:lnTo>
                    <a:pt x="1554162" y="43180"/>
                  </a:lnTo>
                  <a:lnTo>
                    <a:pt x="1556753" y="39370"/>
                  </a:lnTo>
                  <a:lnTo>
                    <a:pt x="1556131" y="40640"/>
                  </a:lnTo>
                  <a:lnTo>
                    <a:pt x="1557121" y="39370"/>
                  </a:lnTo>
                  <a:lnTo>
                    <a:pt x="1559102" y="36830"/>
                  </a:lnTo>
                  <a:lnTo>
                    <a:pt x="1558404" y="36830"/>
                  </a:lnTo>
                  <a:lnTo>
                    <a:pt x="1561731" y="33020"/>
                  </a:lnTo>
                  <a:lnTo>
                    <a:pt x="1560969" y="34290"/>
                  </a:lnTo>
                  <a:lnTo>
                    <a:pt x="1562201" y="33020"/>
                  </a:lnTo>
                  <a:lnTo>
                    <a:pt x="1564640" y="30480"/>
                  </a:lnTo>
                  <a:lnTo>
                    <a:pt x="1563801" y="31750"/>
                  </a:lnTo>
                  <a:lnTo>
                    <a:pt x="1565783" y="30480"/>
                  </a:lnTo>
                  <a:lnTo>
                    <a:pt x="1567776" y="29210"/>
                  </a:lnTo>
                  <a:lnTo>
                    <a:pt x="1566862" y="29210"/>
                  </a:lnTo>
                  <a:lnTo>
                    <a:pt x="1571117" y="26670"/>
                  </a:lnTo>
                  <a:lnTo>
                    <a:pt x="1570151" y="26670"/>
                  </a:lnTo>
                  <a:lnTo>
                    <a:pt x="1574660" y="25400"/>
                  </a:lnTo>
                  <a:lnTo>
                    <a:pt x="1573885" y="25400"/>
                  </a:lnTo>
                  <a:lnTo>
                    <a:pt x="1576235" y="24130"/>
                  </a:lnTo>
                  <a:lnTo>
                    <a:pt x="1577568" y="24130"/>
                  </a:lnTo>
                  <a:lnTo>
                    <a:pt x="1580019" y="22860"/>
                  </a:lnTo>
                  <a:lnTo>
                    <a:pt x="1585391" y="22860"/>
                  </a:lnTo>
                  <a:lnTo>
                    <a:pt x="1588008" y="21590"/>
                  </a:lnTo>
                  <a:lnTo>
                    <a:pt x="2825356" y="21590"/>
                  </a:lnTo>
                  <a:lnTo>
                    <a:pt x="2827972" y="22860"/>
                  </a:lnTo>
                  <a:lnTo>
                    <a:pt x="2833357" y="22860"/>
                  </a:lnTo>
                  <a:lnTo>
                    <a:pt x="2835795" y="24130"/>
                  </a:lnTo>
                  <a:lnTo>
                    <a:pt x="2837129" y="24130"/>
                  </a:lnTo>
                  <a:lnTo>
                    <a:pt x="2839478" y="25400"/>
                  </a:lnTo>
                  <a:lnTo>
                    <a:pt x="2838704" y="25400"/>
                  </a:lnTo>
                  <a:lnTo>
                    <a:pt x="2843212" y="26670"/>
                  </a:lnTo>
                  <a:lnTo>
                    <a:pt x="2842247" y="26670"/>
                  </a:lnTo>
                  <a:lnTo>
                    <a:pt x="2846514" y="29210"/>
                  </a:lnTo>
                  <a:lnTo>
                    <a:pt x="2845600" y="29210"/>
                  </a:lnTo>
                  <a:lnTo>
                    <a:pt x="2849562" y="31750"/>
                  </a:lnTo>
                  <a:lnTo>
                    <a:pt x="2848724" y="30480"/>
                  </a:lnTo>
                  <a:lnTo>
                    <a:pt x="2852394" y="34290"/>
                  </a:lnTo>
                  <a:lnTo>
                    <a:pt x="2851632" y="33020"/>
                  </a:lnTo>
                  <a:lnTo>
                    <a:pt x="2854960" y="36830"/>
                  </a:lnTo>
                  <a:lnTo>
                    <a:pt x="2854261" y="36830"/>
                  </a:lnTo>
                  <a:lnTo>
                    <a:pt x="2857233" y="40640"/>
                  </a:lnTo>
                  <a:lnTo>
                    <a:pt x="2856623" y="39370"/>
                  </a:lnTo>
                  <a:lnTo>
                    <a:pt x="2859214" y="43180"/>
                  </a:lnTo>
                  <a:lnTo>
                    <a:pt x="2858681" y="43180"/>
                  </a:lnTo>
                  <a:lnTo>
                    <a:pt x="2860852" y="46990"/>
                  </a:lnTo>
                  <a:lnTo>
                    <a:pt x="2860522" y="46990"/>
                  </a:lnTo>
                  <a:lnTo>
                    <a:pt x="2861449" y="48260"/>
                  </a:lnTo>
                  <a:lnTo>
                    <a:pt x="2861246" y="48260"/>
                  </a:lnTo>
                  <a:lnTo>
                    <a:pt x="2862059" y="50800"/>
                  </a:lnTo>
                  <a:lnTo>
                    <a:pt x="2861894" y="49530"/>
                  </a:lnTo>
                  <a:lnTo>
                    <a:pt x="2862592" y="52070"/>
                  </a:lnTo>
                  <a:lnTo>
                    <a:pt x="2862453" y="52070"/>
                  </a:lnTo>
                  <a:lnTo>
                    <a:pt x="2862745" y="53340"/>
                  </a:lnTo>
                  <a:lnTo>
                    <a:pt x="2862910" y="53340"/>
                  </a:lnTo>
                  <a:lnTo>
                    <a:pt x="2885922" y="53340"/>
                  </a:lnTo>
                  <a:lnTo>
                    <a:pt x="2885363" y="49530"/>
                  </a:lnTo>
                  <a:lnTo>
                    <a:pt x="2884665" y="46990"/>
                  </a:lnTo>
                  <a:lnTo>
                    <a:pt x="2883801" y="43180"/>
                  </a:lnTo>
                  <a:lnTo>
                    <a:pt x="2882811" y="40640"/>
                  </a:lnTo>
                  <a:lnTo>
                    <a:pt x="2882227" y="39370"/>
                  </a:lnTo>
                  <a:lnTo>
                    <a:pt x="2881630" y="38100"/>
                  </a:lnTo>
                  <a:lnTo>
                    <a:pt x="2879547" y="33020"/>
                  </a:lnTo>
                  <a:lnTo>
                    <a:pt x="2879026" y="31750"/>
                  </a:lnTo>
                  <a:lnTo>
                    <a:pt x="2878239" y="30480"/>
                  </a:lnTo>
                  <a:lnTo>
                    <a:pt x="2875877" y="26670"/>
                  </a:lnTo>
                  <a:lnTo>
                    <a:pt x="2872244" y="22860"/>
                  </a:lnTo>
                  <a:lnTo>
                    <a:pt x="2871228" y="21590"/>
                  </a:lnTo>
                  <a:lnTo>
                    <a:pt x="2868168" y="17780"/>
                  </a:lnTo>
                  <a:lnTo>
                    <a:pt x="2845244" y="2540"/>
                  </a:lnTo>
                  <a:lnTo>
                    <a:pt x="2842310" y="2540"/>
                  </a:lnTo>
                  <a:lnTo>
                    <a:pt x="2836265" y="0"/>
                  </a:lnTo>
                  <a:lnTo>
                    <a:pt x="1577098" y="0"/>
                  </a:lnTo>
                  <a:lnTo>
                    <a:pt x="1571053" y="2540"/>
                  </a:lnTo>
                  <a:lnTo>
                    <a:pt x="1568119" y="2540"/>
                  </a:lnTo>
                  <a:lnTo>
                    <a:pt x="1541119" y="22860"/>
                  </a:lnTo>
                  <a:lnTo>
                    <a:pt x="1537500" y="26670"/>
                  </a:lnTo>
                  <a:lnTo>
                    <a:pt x="1534337" y="31750"/>
                  </a:lnTo>
                  <a:lnTo>
                    <a:pt x="1531734" y="38100"/>
                  </a:lnTo>
                  <a:lnTo>
                    <a:pt x="1530553" y="40640"/>
                  </a:lnTo>
                  <a:lnTo>
                    <a:pt x="1529562" y="43180"/>
                  </a:lnTo>
                  <a:lnTo>
                    <a:pt x="1528711" y="46990"/>
                  </a:lnTo>
                  <a:lnTo>
                    <a:pt x="1528000" y="49530"/>
                  </a:lnTo>
                  <a:lnTo>
                    <a:pt x="1527441" y="53340"/>
                  </a:lnTo>
                  <a:lnTo>
                    <a:pt x="1527048" y="55880"/>
                  </a:lnTo>
                  <a:lnTo>
                    <a:pt x="1526882" y="58420"/>
                  </a:lnTo>
                  <a:lnTo>
                    <a:pt x="1526971" y="274320"/>
                  </a:lnTo>
                  <a:lnTo>
                    <a:pt x="1527048" y="275590"/>
                  </a:lnTo>
                  <a:lnTo>
                    <a:pt x="1527441" y="278130"/>
                  </a:lnTo>
                  <a:lnTo>
                    <a:pt x="1528000" y="281940"/>
                  </a:lnTo>
                  <a:lnTo>
                    <a:pt x="1528711" y="284480"/>
                  </a:lnTo>
                  <a:lnTo>
                    <a:pt x="1529562" y="288290"/>
                  </a:lnTo>
                  <a:lnTo>
                    <a:pt x="1530515" y="290728"/>
                  </a:lnTo>
                  <a:lnTo>
                    <a:pt x="1531734" y="293370"/>
                  </a:lnTo>
                  <a:lnTo>
                    <a:pt x="1534337" y="298450"/>
                  </a:lnTo>
                  <a:lnTo>
                    <a:pt x="1537500" y="304800"/>
                  </a:lnTo>
                  <a:lnTo>
                    <a:pt x="1541119" y="308610"/>
                  </a:lnTo>
                  <a:lnTo>
                    <a:pt x="1545196" y="313690"/>
                  </a:lnTo>
                  <a:lnTo>
                    <a:pt x="1549666" y="317500"/>
                  </a:lnTo>
                  <a:lnTo>
                    <a:pt x="1554518" y="321310"/>
                  </a:lnTo>
                  <a:lnTo>
                    <a:pt x="1559725" y="323850"/>
                  </a:lnTo>
                  <a:lnTo>
                    <a:pt x="1565122" y="326390"/>
                  </a:lnTo>
                  <a:lnTo>
                    <a:pt x="1574050" y="330200"/>
                  </a:lnTo>
                  <a:lnTo>
                    <a:pt x="1577098" y="330200"/>
                  </a:lnTo>
                  <a:lnTo>
                    <a:pt x="1580210" y="331470"/>
                  </a:lnTo>
                  <a:lnTo>
                    <a:pt x="2833154" y="331470"/>
                  </a:lnTo>
                  <a:lnTo>
                    <a:pt x="2836265" y="330200"/>
                  </a:lnTo>
                  <a:lnTo>
                    <a:pt x="2839313" y="330200"/>
                  </a:lnTo>
                  <a:lnTo>
                    <a:pt x="2872244" y="308610"/>
                  </a:lnTo>
                  <a:lnTo>
                    <a:pt x="2875877" y="304800"/>
                  </a:lnTo>
                  <a:lnTo>
                    <a:pt x="2879026" y="298450"/>
                  </a:lnTo>
                  <a:lnTo>
                    <a:pt x="2881630" y="293370"/>
                  </a:lnTo>
                  <a:lnTo>
                    <a:pt x="2882227" y="292100"/>
                  </a:lnTo>
                  <a:lnTo>
                    <a:pt x="2882849" y="290728"/>
                  </a:lnTo>
                  <a:lnTo>
                    <a:pt x="2883801" y="288290"/>
                  </a:lnTo>
                  <a:lnTo>
                    <a:pt x="2884665" y="284480"/>
                  </a:lnTo>
                  <a:lnTo>
                    <a:pt x="2885008" y="283210"/>
                  </a:lnTo>
                  <a:lnTo>
                    <a:pt x="2885363" y="281940"/>
                  </a:lnTo>
                  <a:lnTo>
                    <a:pt x="2885732" y="279400"/>
                  </a:lnTo>
                  <a:lnTo>
                    <a:pt x="2886316" y="275590"/>
                  </a:lnTo>
                  <a:lnTo>
                    <a:pt x="2886316" y="55880"/>
                  </a:lnTo>
                  <a:close/>
                </a:path>
              </a:pathLst>
            </a:custGeom>
            <a:solidFill>
              <a:srgbClr val="FF0000"/>
            </a:solidFill>
          </p:spPr>
          <p:txBody>
            <a:bodyPr wrap="square" lIns="0" tIns="0" rIns="0" bIns="0" rtlCol="0"/>
            <a:lstStyle/>
            <a:p>
              <a:endParaRPr/>
            </a:p>
          </p:txBody>
        </p:sp>
        <p:sp>
          <p:nvSpPr>
            <p:cNvPr id="8" name="object 8"/>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9" name="object 9"/>
            <p:cNvSpPr/>
            <p:nvPr/>
          </p:nvSpPr>
          <p:spPr>
            <a:xfrm>
              <a:off x="7286625" y="5286248"/>
              <a:ext cx="304800" cy="304800"/>
            </a:xfrm>
            <a:custGeom>
              <a:avLst/>
              <a:gdLst/>
              <a:ahLst/>
              <a:cxnLst/>
              <a:rect l="l" t="t" r="r" b="b"/>
              <a:pathLst>
                <a:path w="304800" h="304800">
                  <a:moveTo>
                    <a:pt x="0" y="0"/>
                  </a:moveTo>
                  <a:lnTo>
                    <a:pt x="304800" y="0"/>
                  </a:lnTo>
                  <a:lnTo>
                    <a:pt x="304800" y="304799"/>
                  </a:lnTo>
                  <a:lnTo>
                    <a:pt x="0" y="304799"/>
                  </a:lnTo>
                  <a:lnTo>
                    <a:pt x="0" y="0"/>
                  </a:lnTo>
                  <a:close/>
                </a:path>
              </a:pathLst>
            </a:custGeom>
            <a:ln w="12700">
              <a:solidFill>
                <a:srgbClr val="DF5F5F"/>
              </a:solidFill>
              <a:prstDash val="dot"/>
            </a:ln>
          </p:spPr>
          <p:txBody>
            <a:bodyPr wrap="square" lIns="0" tIns="0" rIns="0" bIns="0" rtlCol="0"/>
            <a:lstStyle/>
            <a:p>
              <a:endParaRPr/>
            </a:p>
          </p:txBody>
        </p:sp>
      </p:grpSp>
      <p:sp>
        <p:nvSpPr>
          <p:cNvPr id="10" name="object 10"/>
          <p:cNvSpPr txBox="1"/>
          <p:nvPr/>
        </p:nvSpPr>
        <p:spPr>
          <a:xfrm>
            <a:off x="7591425" y="5184647"/>
            <a:ext cx="67945" cy="116839"/>
          </a:xfrm>
          <a:prstGeom prst="rect">
            <a:avLst/>
          </a:prstGeom>
        </p:spPr>
        <p:txBody>
          <a:bodyPr vert="horz" wrap="square" lIns="0" tIns="12700" rIns="0" bIns="0" rtlCol="0">
            <a:spAutoFit/>
          </a:bodyPr>
          <a:lstStyle/>
          <a:p>
            <a:pPr marL="12700">
              <a:lnSpc>
                <a:spcPct val="100000"/>
              </a:lnSpc>
              <a:spcBef>
                <a:spcPts val="100"/>
              </a:spcBef>
            </a:pPr>
            <a:r>
              <a:rPr sz="600" spc="-50" dirty="0">
                <a:solidFill>
                  <a:srgbClr val="FF0000"/>
                </a:solidFill>
                <a:latin typeface="Arial MT"/>
                <a:cs typeface="Arial MT"/>
              </a:rPr>
              <a:t>1</a:t>
            </a:r>
            <a:endParaRPr sz="600">
              <a:latin typeface="Arial MT"/>
              <a:cs typeface="Arial MT"/>
            </a:endParaRPr>
          </a:p>
        </p:txBody>
      </p:sp>
      <p:sp>
        <p:nvSpPr>
          <p:cNvPr id="14" name="object 14"/>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20</a:t>
            </a:fld>
            <a:r>
              <a:rPr spc="-10" dirty="0"/>
              <a:t> </a:t>
            </a:r>
            <a:r>
              <a:rPr spc="-50" dirty="0"/>
              <a:t>-</a:t>
            </a:r>
          </a:p>
        </p:txBody>
      </p:sp>
      <p:sp>
        <p:nvSpPr>
          <p:cNvPr id="15" name="文本框 14"/>
          <p:cNvSpPr txBox="1"/>
          <p:nvPr/>
        </p:nvSpPr>
        <p:spPr>
          <a:xfrm>
            <a:off x="213360" y="6455410"/>
            <a:ext cx="2700020" cy="198755"/>
          </a:xfrm>
          <a:prstGeom prst="rect">
            <a:avLst/>
          </a:prstGeom>
          <a:noFill/>
        </p:spPr>
        <p:txBody>
          <a:bodyPr wrap="square" rtlCol="0">
            <a:spAutoFit/>
          </a:bodyPr>
          <a:lstStyle/>
          <a:p>
            <a:r>
              <a:rPr sz="700" spc="-20" dirty="0">
                <a:solidFill>
                  <a:schemeClr val="tx1"/>
                </a:solidFill>
                <a:latin typeface="微软雅黑" panose="020B0503020204020204" charset="-122"/>
                <a:cs typeface="微软雅黑" panose="020B0503020204020204" charset="-122"/>
                <a:sym typeface="+mn-ea"/>
              </a:rPr>
              <a:t>注射用氨曲南阿维巴坦钠说明书（核准日期：</a:t>
            </a:r>
            <a:r>
              <a:rPr sz="700" spc="-10" dirty="0">
                <a:solidFill>
                  <a:schemeClr val="tx1"/>
                </a:solidFill>
                <a:latin typeface="Times New Roman" panose="02020603050405020304"/>
                <a:cs typeface="Times New Roman" panose="02020603050405020304"/>
                <a:sym typeface="+mn-ea"/>
              </a:rPr>
              <a:t>2025</a:t>
            </a:r>
            <a:r>
              <a:rPr sz="700" spc="-20" dirty="0">
                <a:solidFill>
                  <a:schemeClr val="tx1"/>
                </a:solidFill>
                <a:latin typeface="微软雅黑" panose="020B0503020204020204" charset="-122"/>
                <a:cs typeface="微软雅黑" panose="020B0503020204020204" charset="-122"/>
                <a:sym typeface="+mn-ea"/>
              </a:rPr>
              <a:t>年</a:t>
            </a:r>
            <a:r>
              <a:rPr sz="700" spc="-10" dirty="0">
                <a:solidFill>
                  <a:schemeClr val="tx1"/>
                </a:solidFill>
                <a:latin typeface="Times New Roman" panose="02020603050405020304"/>
                <a:cs typeface="Times New Roman" panose="02020603050405020304"/>
                <a:sym typeface="+mn-ea"/>
              </a:rPr>
              <a:t>6</a:t>
            </a:r>
            <a:r>
              <a:rPr sz="700" spc="-20" dirty="0">
                <a:solidFill>
                  <a:schemeClr val="tx1"/>
                </a:solidFill>
                <a:latin typeface="微软雅黑" panose="020B0503020204020204" charset="-122"/>
                <a:cs typeface="微软雅黑" panose="020B0503020204020204" charset="-122"/>
                <a:sym typeface="+mn-ea"/>
              </a:rPr>
              <a:t>月</a:t>
            </a:r>
            <a:r>
              <a:rPr sz="700" spc="-10" dirty="0">
                <a:solidFill>
                  <a:schemeClr val="tx1"/>
                </a:solidFill>
                <a:latin typeface="Times New Roman" panose="02020603050405020304"/>
                <a:cs typeface="Times New Roman" panose="02020603050405020304"/>
                <a:sym typeface="+mn-ea"/>
              </a:rPr>
              <a:t>24</a:t>
            </a:r>
            <a:r>
              <a:rPr sz="700" spc="-20" dirty="0">
                <a:solidFill>
                  <a:schemeClr val="tx1"/>
                </a:solidFill>
                <a:latin typeface="微软雅黑" panose="020B0503020204020204" charset="-122"/>
                <a:cs typeface="微软雅黑" panose="020B0503020204020204" charset="-122"/>
                <a:sym typeface="+mn-ea"/>
              </a:rPr>
              <a:t>日</a:t>
            </a:r>
            <a:r>
              <a:rPr sz="700" spc="-50" dirty="0">
                <a:solidFill>
                  <a:schemeClr val="tx1"/>
                </a:solidFill>
                <a:latin typeface="微软雅黑" panose="020B0503020204020204" charset="-122"/>
                <a:cs typeface="微软雅黑" panose="020B0503020204020204" charset="-122"/>
                <a:sym typeface="+mn-ea"/>
              </a:rPr>
              <a:t>）</a:t>
            </a:r>
            <a:endParaRPr lang="zh-CN" altLang="en-US" sz="700" b="1" spc="-50" dirty="0">
              <a:solidFill>
                <a:schemeClr val="tx1"/>
              </a:solidFill>
              <a:latin typeface="微软雅黑" panose="020B0503020204020204" charset="-122"/>
              <a:ea typeface="宋体" panose="02010600030101010101" pitchFamily="2" charset="-122"/>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40640">
              <a:lnSpc>
                <a:spcPct val="100000"/>
              </a:lnSpc>
              <a:spcBef>
                <a:spcPts val="135"/>
              </a:spcBef>
            </a:pPr>
            <a:r>
              <a:rPr dirty="0"/>
              <a:t>III期临床研究—</a:t>
            </a:r>
            <a:r>
              <a:rPr spc="-10" dirty="0"/>
              <a:t>REVISIT</a:t>
            </a:r>
          </a:p>
        </p:txBody>
      </p:sp>
      <p:pic>
        <p:nvPicPr>
          <p:cNvPr id="3" name="object 3"/>
          <p:cNvPicPr/>
          <p:nvPr/>
        </p:nvPicPr>
        <p:blipFill>
          <a:blip r:embed="rId2" cstate="print"/>
          <a:stretch>
            <a:fillRect/>
          </a:stretch>
        </p:blipFill>
        <p:spPr>
          <a:xfrm>
            <a:off x="1975358" y="1052250"/>
            <a:ext cx="6025742" cy="3753910"/>
          </a:xfrm>
          <a:prstGeom prst="rect">
            <a:avLst/>
          </a:prstGeom>
        </p:spPr>
      </p:pic>
      <p:sp>
        <p:nvSpPr>
          <p:cNvPr id="4" name="object 4"/>
          <p:cNvSpPr txBox="1"/>
          <p:nvPr/>
        </p:nvSpPr>
        <p:spPr>
          <a:xfrm>
            <a:off x="297688" y="4894549"/>
            <a:ext cx="8666480" cy="683895"/>
          </a:xfrm>
          <a:prstGeom prst="rect">
            <a:avLst/>
          </a:prstGeom>
        </p:spPr>
        <p:txBody>
          <a:bodyPr vert="horz" wrap="square" lIns="0" tIns="11430" rIns="0" bIns="0" rtlCol="0">
            <a:spAutoFit/>
          </a:bodyPr>
          <a:lstStyle/>
          <a:p>
            <a:pPr marL="240665" indent="-227965">
              <a:lnSpc>
                <a:spcPts val="1735"/>
              </a:lnSpc>
              <a:spcBef>
                <a:spcPts val="90"/>
              </a:spcBef>
              <a:buFont typeface="Wingdings" panose="05000000000000000000"/>
              <a:buChar char=""/>
              <a:tabLst>
                <a:tab pos="240665" algn="l"/>
              </a:tabLst>
            </a:pPr>
            <a:r>
              <a:rPr sz="1450" spc="-20" dirty="0">
                <a:latin typeface="微软雅黑" panose="020B0503020204020204" charset="-122"/>
                <a:cs typeface="微软雅黑" panose="020B0503020204020204" charset="-122"/>
              </a:rPr>
              <a:t>肠杆菌最多（</a:t>
            </a:r>
            <a:r>
              <a:rPr sz="1450" spc="-20" dirty="0">
                <a:latin typeface="Times New Roman" panose="02020603050405020304"/>
                <a:cs typeface="Times New Roman" panose="02020603050405020304"/>
              </a:rPr>
              <a:t>93%</a:t>
            </a:r>
            <a:r>
              <a:rPr sz="1450" spc="-20" dirty="0">
                <a:latin typeface="微软雅黑" panose="020B0503020204020204" charset="-122"/>
                <a:cs typeface="微软雅黑" panose="020B0503020204020204" charset="-122"/>
              </a:rPr>
              <a:t>），</a:t>
            </a:r>
            <a:r>
              <a:rPr sz="1450" spc="-20" dirty="0">
                <a:latin typeface="Times New Roman" panose="02020603050405020304"/>
                <a:cs typeface="Times New Roman" panose="02020603050405020304"/>
              </a:rPr>
              <a:t>99%</a:t>
            </a:r>
            <a:r>
              <a:rPr sz="1450" spc="-25" dirty="0">
                <a:latin typeface="微软雅黑" panose="020B0503020204020204" charset="-122"/>
                <a:cs typeface="微软雅黑" panose="020B0503020204020204" charset="-122"/>
              </a:rPr>
              <a:t>患者合并多种病原菌</a:t>
            </a:r>
            <a:endParaRPr sz="1450">
              <a:latin typeface="微软雅黑" panose="020B0503020204020204" charset="-122"/>
              <a:cs typeface="微软雅黑" panose="020B0503020204020204" charset="-122"/>
            </a:endParaRPr>
          </a:p>
          <a:p>
            <a:pPr marL="240665" indent="-227965">
              <a:lnSpc>
                <a:spcPts val="1730"/>
              </a:lnSpc>
              <a:buFont typeface="Wingdings" panose="05000000000000000000"/>
              <a:buChar char=""/>
              <a:tabLst>
                <a:tab pos="240665" algn="l"/>
              </a:tabLst>
            </a:pPr>
            <a:r>
              <a:rPr sz="1450" spc="-20" dirty="0">
                <a:latin typeface="微软雅黑" panose="020B0503020204020204" charset="-122"/>
                <a:cs typeface="微软雅黑" panose="020B0503020204020204" charset="-122"/>
              </a:rPr>
              <a:t>非发酵革兰氏阴性菌（包括嗜麦芽窄食单胞菌）数量较少，且临床评价分析集中</a:t>
            </a:r>
            <a:r>
              <a:rPr sz="1450" b="1" spc="-25" dirty="0">
                <a:solidFill>
                  <a:srgbClr val="FF0000"/>
                </a:solidFill>
                <a:latin typeface="微软雅黑" panose="020B0503020204020204" charset="-122"/>
                <a:cs typeface="微软雅黑" panose="020B0503020204020204" charset="-122"/>
              </a:rPr>
              <a:t>排除了铜绿假单胞菌患者</a:t>
            </a:r>
            <a:endParaRPr sz="1450">
              <a:latin typeface="微软雅黑" panose="020B0503020204020204" charset="-122"/>
              <a:cs typeface="微软雅黑" panose="020B0503020204020204" charset="-122"/>
            </a:endParaRPr>
          </a:p>
          <a:p>
            <a:pPr marL="240665" indent="-227965">
              <a:lnSpc>
                <a:spcPts val="1735"/>
              </a:lnSpc>
              <a:buFont typeface="Wingdings" panose="05000000000000000000"/>
              <a:buChar char=""/>
              <a:tabLst>
                <a:tab pos="240665" algn="l"/>
              </a:tabLst>
            </a:pPr>
            <a:r>
              <a:rPr sz="1450" b="1" spc="-20" dirty="0">
                <a:solidFill>
                  <a:srgbClr val="014D94"/>
                </a:solidFill>
                <a:latin typeface="微软雅黑" panose="020B0503020204020204" charset="-122"/>
                <a:cs typeface="微软雅黑" panose="020B0503020204020204" charset="-122"/>
              </a:rPr>
              <a:t>产</a:t>
            </a:r>
            <a:r>
              <a:rPr sz="1450" b="1" spc="-25" dirty="0">
                <a:solidFill>
                  <a:srgbClr val="014D94"/>
                </a:solidFill>
                <a:latin typeface="Times New Roman" panose="02020603050405020304"/>
                <a:cs typeface="Times New Roman" panose="02020603050405020304"/>
              </a:rPr>
              <a:t>ESBL</a:t>
            </a:r>
            <a:r>
              <a:rPr sz="1450" b="1" spc="-20" dirty="0">
                <a:solidFill>
                  <a:srgbClr val="014D94"/>
                </a:solidFill>
                <a:latin typeface="微软雅黑" panose="020B0503020204020204" charset="-122"/>
                <a:cs typeface="微软雅黑" panose="020B0503020204020204" charset="-122"/>
              </a:rPr>
              <a:t>和碳青霉烯酶阳性菌株数量相对较少，</a:t>
            </a:r>
            <a:r>
              <a:rPr sz="1450" b="1" spc="-20" dirty="0">
                <a:solidFill>
                  <a:srgbClr val="014D94"/>
                </a:solidFill>
                <a:latin typeface="Times New Roman" panose="02020603050405020304"/>
                <a:cs typeface="Times New Roman" panose="02020603050405020304"/>
              </a:rPr>
              <a:t>MBL</a:t>
            </a:r>
            <a:r>
              <a:rPr sz="1450" b="1" spc="-20" dirty="0">
                <a:solidFill>
                  <a:srgbClr val="014D94"/>
                </a:solidFill>
                <a:latin typeface="微软雅黑" panose="020B0503020204020204" charset="-122"/>
                <a:cs typeface="微软雅黑" panose="020B0503020204020204" charset="-122"/>
              </a:rPr>
              <a:t>少（氨曲南</a:t>
            </a:r>
            <a:r>
              <a:rPr sz="1450" b="1" spc="-10" dirty="0">
                <a:solidFill>
                  <a:srgbClr val="014D94"/>
                </a:solidFill>
                <a:latin typeface="Times New Roman" panose="02020603050405020304"/>
                <a:cs typeface="Times New Roman" panose="02020603050405020304"/>
              </a:rPr>
              <a:t>-</a:t>
            </a:r>
            <a:r>
              <a:rPr sz="1450" b="1" spc="-20" dirty="0">
                <a:solidFill>
                  <a:srgbClr val="014D94"/>
                </a:solidFill>
                <a:latin typeface="微软雅黑" panose="020B0503020204020204" charset="-122"/>
                <a:cs typeface="微软雅黑" panose="020B0503020204020204" charset="-122"/>
              </a:rPr>
              <a:t>阿维巴坦组</a:t>
            </a:r>
            <a:r>
              <a:rPr sz="1450" b="1" spc="-10" dirty="0">
                <a:solidFill>
                  <a:srgbClr val="014D94"/>
                </a:solidFill>
                <a:latin typeface="Times New Roman" panose="02020603050405020304"/>
                <a:cs typeface="Times New Roman" panose="02020603050405020304"/>
              </a:rPr>
              <a:t>7</a:t>
            </a:r>
            <a:r>
              <a:rPr sz="1450" b="1" spc="-20" dirty="0">
                <a:solidFill>
                  <a:srgbClr val="014D94"/>
                </a:solidFill>
                <a:latin typeface="微软雅黑" panose="020B0503020204020204" charset="-122"/>
                <a:cs typeface="微软雅黑" panose="020B0503020204020204" charset="-122"/>
              </a:rPr>
              <a:t>例，美罗培南组</a:t>
            </a:r>
            <a:r>
              <a:rPr sz="1450" b="1" spc="-10" dirty="0">
                <a:solidFill>
                  <a:srgbClr val="014D94"/>
                </a:solidFill>
                <a:latin typeface="Times New Roman" panose="02020603050405020304"/>
                <a:cs typeface="Times New Roman" panose="02020603050405020304"/>
              </a:rPr>
              <a:t>3</a:t>
            </a:r>
            <a:r>
              <a:rPr sz="1450" b="1" spc="-20" dirty="0">
                <a:solidFill>
                  <a:srgbClr val="014D94"/>
                </a:solidFill>
                <a:latin typeface="微软雅黑" panose="020B0503020204020204" charset="-122"/>
                <a:cs typeface="微软雅黑" panose="020B0503020204020204" charset="-122"/>
              </a:rPr>
              <a:t>例</a:t>
            </a:r>
            <a:r>
              <a:rPr sz="1450" b="1" spc="-50" dirty="0">
                <a:solidFill>
                  <a:srgbClr val="014D94"/>
                </a:solidFill>
                <a:latin typeface="微软雅黑" panose="020B0503020204020204" charset="-122"/>
                <a:cs typeface="微软雅黑" panose="020B0503020204020204" charset="-122"/>
              </a:rPr>
              <a:t>）</a:t>
            </a:r>
            <a:endParaRPr sz="1450">
              <a:latin typeface="微软雅黑" panose="020B0503020204020204" charset="-122"/>
              <a:cs typeface="微软雅黑" panose="020B0503020204020204" charset="-122"/>
            </a:endParaRPr>
          </a:p>
        </p:txBody>
      </p:sp>
      <p:sp>
        <p:nvSpPr>
          <p:cNvPr id="5" name="object 5"/>
          <p:cNvSpPr txBox="1"/>
          <p:nvPr/>
        </p:nvSpPr>
        <p:spPr>
          <a:xfrm>
            <a:off x="4698248" y="668151"/>
            <a:ext cx="635635" cy="269875"/>
          </a:xfrm>
          <a:prstGeom prst="rect">
            <a:avLst/>
          </a:prstGeom>
        </p:spPr>
        <p:txBody>
          <a:bodyPr vert="horz" wrap="square" lIns="0" tIns="13335" rIns="0" bIns="0" rtlCol="0">
            <a:spAutoFit/>
          </a:bodyPr>
          <a:lstStyle/>
          <a:p>
            <a:pPr marL="12700">
              <a:lnSpc>
                <a:spcPct val="100000"/>
              </a:lnSpc>
              <a:spcBef>
                <a:spcPts val="105"/>
              </a:spcBef>
            </a:pPr>
            <a:r>
              <a:rPr sz="1600" b="1" spc="-25" dirty="0">
                <a:latin typeface="微软雅黑" panose="020B0503020204020204" charset="-122"/>
                <a:cs typeface="微软雅黑" panose="020B0503020204020204" charset="-122"/>
              </a:rPr>
              <a:t>病原菌</a:t>
            </a:r>
            <a:endParaRPr sz="1600">
              <a:latin typeface="微软雅黑" panose="020B0503020204020204" charset="-122"/>
              <a:cs typeface="微软雅黑" panose="020B0503020204020204" charset="-122"/>
            </a:endParaRPr>
          </a:p>
        </p:txBody>
      </p:sp>
      <p:grpSp>
        <p:nvGrpSpPr>
          <p:cNvPr id="6" name="object 6"/>
          <p:cNvGrpSpPr/>
          <p:nvPr/>
        </p:nvGrpSpPr>
        <p:grpSpPr>
          <a:xfrm>
            <a:off x="127000" y="126999"/>
            <a:ext cx="9753600" cy="5486400"/>
            <a:chOff x="127000" y="126999"/>
            <a:chExt cx="9753600" cy="5486400"/>
          </a:xfrm>
        </p:grpSpPr>
        <p:sp>
          <p:nvSpPr>
            <p:cNvPr id="7" name="object 7"/>
            <p:cNvSpPr/>
            <p:nvPr/>
          </p:nvSpPr>
          <p:spPr>
            <a:xfrm>
              <a:off x="4029659" y="637844"/>
              <a:ext cx="1972310" cy="358775"/>
            </a:xfrm>
            <a:custGeom>
              <a:avLst/>
              <a:gdLst/>
              <a:ahLst/>
              <a:cxnLst/>
              <a:rect l="l" t="t" r="r" b="b"/>
              <a:pathLst>
                <a:path w="1972310" h="358775">
                  <a:moveTo>
                    <a:pt x="1792224" y="358444"/>
                  </a:moveTo>
                  <a:lnTo>
                    <a:pt x="179222" y="358444"/>
                  </a:lnTo>
                  <a:lnTo>
                    <a:pt x="131598" y="352150"/>
                  </a:lnTo>
                  <a:lnTo>
                    <a:pt x="88780" y="334130"/>
                  </a:lnTo>
                  <a:lnTo>
                    <a:pt x="52490" y="306106"/>
                  </a:lnTo>
                  <a:lnTo>
                    <a:pt x="24449" y="269799"/>
                  </a:lnTo>
                  <a:lnTo>
                    <a:pt x="6378" y="226931"/>
                  </a:lnTo>
                  <a:lnTo>
                    <a:pt x="0" y="179222"/>
                  </a:lnTo>
                  <a:lnTo>
                    <a:pt x="6378" y="131453"/>
                  </a:lnTo>
                  <a:lnTo>
                    <a:pt x="24449" y="88547"/>
                  </a:lnTo>
                  <a:lnTo>
                    <a:pt x="52490" y="52227"/>
                  </a:lnTo>
                  <a:lnTo>
                    <a:pt x="88780" y="24214"/>
                  </a:lnTo>
                  <a:lnTo>
                    <a:pt x="131598" y="6231"/>
                  </a:lnTo>
                  <a:lnTo>
                    <a:pt x="179222" y="0"/>
                  </a:lnTo>
                  <a:lnTo>
                    <a:pt x="1792224" y="0"/>
                  </a:lnTo>
                  <a:lnTo>
                    <a:pt x="1839943" y="6231"/>
                  </a:lnTo>
                  <a:lnTo>
                    <a:pt x="1882829" y="24212"/>
                  </a:lnTo>
                  <a:lnTo>
                    <a:pt x="1919166" y="52218"/>
                  </a:lnTo>
                  <a:lnTo>
                    <a:pt x="1947243" y="88526"/>
                  </a:lnTo>
                  <a:lnTo>
                    <a:pt x="1965346" y="131412"/>
                  </a:lnTo>
                  <a:lnTo>
                    <a:pt x="1971761" y="179151"/>
                  </a:lnTo>
                  <a:lnTo>
                    <a:pt x="1965346" y="226890"/>
                  </a:lnTo>
                  <a:lnTo>
                    <a:pt x="1947243" y="269778"/>
                  </a:lnTo>
                  <a:lnTo>
                    <a:pt x="1919166" y="306097"/>
                  </a:lnTo>
                  <a:lnTo>
                    <a:pt x="1882829" y="334128"/>
                  </a:lnTo>
                  <a:lnTo>
                    <a:pt x="1839943" y="352150"/>
                  </a:lnTo>
                  <a:lnTo>
                    <a:pt x="1792224" y="358444"/>
                  </a:lnTo>
                  <a:close/>
                </a:path>
              </a:pathLst>
            </a:custGeom>
            <a:solidFill>
              <a:srgbClr val="44536A">
                <a:alpha val="30198"/>
              </a:srgbClr>
            </a:solidFill>
          </p:spPr>
          <p:txBody>
            <a:bodyPr wrap="square" lIns="0" tIns="0" rIns="0" bIns="0" rtlCol="0"/>
            <a:lstStyle/>
            <a:p>
              <a:endParaRPr/>
            </a:p>
          </p:txBody>
        </p:sp>
        <p:sp>
          <p:nvSpPr>
            <p:cNvPr id="8" name="object 8"/>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grpSp>
      <p:sp>
        <p:nvSpPr>
          <p:cNvPr id="13" name="object 13"/>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21</a:t>
            </a:fld>
            <a:r>
              <a:rPr spc="-10" dirty="0"/>
              <a:t> </a:t>
            </a:r>
            <a:r>
              <a:rPr spc="-50" dirty="0"/>
              <a:t>-</a:t>
            </a:r>
          </a:p>
        </p:txBody>
      </p:sp>
      <p:sp>
        <p:nvSpPr>
          <p:cNvPr id="14" name="文本框 13"/>
          <p:cNvSpPr txBox="1"/>
          <p:nvPr/>
        </p:nvSpPr>
        <p:spPr>
          <a:xfrm>
            <a:off x="213360" y="6455410"/>
            <a:ext cx="2700020" cy="198755"/>
          </a:xfrm>
          <a:prstGeom prst="rect">
            <a:avLst/>
          </a:prstGeom>
          <a:noFill/>
        </p:spPr>
        <p:txBody>
          <a:bodyPr wrap="square" rtlCol="0">
            <a:spAutoFit/>
          </a:bodyPr>
          <a:lstStyle/>
          <a:p>
            <a:r>
              <a:rPr sz="700" spc="-20" dirty="0">
                <a:solidFill>
                  <a:schemeClr val="tx1"/>
                </a:solidFill>
                <a:latin typeface="微软雅黑" panose="020B0503020204020204" charset="-122"/>
                <a:cs typeface="微软雅黑" panose="020B0503020204020204" charset="-122"/>
                <a:sym typeface="+mn-ea"/>
              </a:rPr>
              <a:t>注射用氨曲南阿维巴坦钠说明书（核准日期：</a:t>
            </a:r>
            <a:r>
              <a:rPr sz="700" spc="-10" dirty="0">
                <a:solidFill>
                  <a:schemeClr val="tx1"/>
                </a:solidFill>
                <a:latin typeface="Times New Roman" panose="02020603050405020304"/>
                <a:cs typeface="Times New Roman" panose="02020603050405020304"/>
                <a:sym typeface="+mn-ea"/>
              </a:rPr>
              <a:t>2025</a:t>
            </a:r>
            <a:r>
              <a:rPr sz="700" spc="-20" dirty="0">
                <a:solidFill>
                  <a:schemeClr val="tx1"/>
                </a:solidFill>
                <a:latin typeface="微软雅黑" panose="020B0503020204020204" charset="-122"/>
                <a:cs typeface="微软雅黑" panose="020B0503020204020204" charset="-122"/>
                <a:sym typeface="+mn-ea"/>
              </a:rPr>
              <a:t>年</a:t>
            </a:r>
            <a:r>
              <a:rPr sz="700" spc="-10" dirty="0">
                <a:solidFill>
                  <a:schemeClr val="tx1"/>
                </a:solidFill>
                <a:latin typeface="Times New Roman" panose="02020603050405020304"/>
                <a:cs typeface="Times New Roman" panose="02020603050405020304"/>
                <a:sym typeface="+mn-ea"/>
              </a:rPr>
              <a:t>6</a:t>
            </a:r>
            <a:r>
              <a:rPr sz="700" spc="-20" dirty="0">
                <a:solidFill>
                  <a:schemeClr val="tx1"/>
                </a:solidFill>
                <a:latin typeface="微软雅黑" panose="020B0503020204020204" charset="-122"/>
                <a:cs typeface="微软雅黑" panose="020B0503020204020204" charset="-122"/>
                <a:sym typeface="+mn-ea"/>
              </a:rPr>
              <a:t>月</a:t>
            </a:r>
            <a:r>
              <a:rPr sz="700" spc="-10" dirty="0">
                <a:solidFill>
                  <a:schemeClr val="tx1"/>
                </a:solidFill>
                <a:latin typeface="Times New Roman" panose="02020603050405020304"/>
                <a:cs typeface="Times New Roman" panose="02020603050405020304"/>
                <a:sym typeface="+mn-ea"/>
              </a:rPr>
              <a:t>24</a:t>
            </a:r>
            <a:r>
              <a:rPr sz="700" spc="-20" dirty="0">
                <a:solidFill>
                  <a:schemeClr val="tx1"/>
                </a:solidFill>
                <a:latin typeface="微软雅黑" panose="020B0503020204020204" charset="-122"/>
                <a:cs typeface="微软雅黑" panose="020B0503020204020204" charset="-122"/>
                <a:sym typeface="+mn-ea"/>
              </a:rPr>
              <a:t>日</a:t>
            </a:r>
            <a:r>
              <a:rPr sz="700" spc="-50" dirty="0">
                <a:solidFill>
                  <a:schemeClr val="tx1"/>
                </a:solidFill>
                <a:latin typeface="微软雅黑" panose="020B0503020204020204" charset="-122"/>
                <a:cs typeface="微软雅黑" panose="020B0503020204020204" charset="-122"/>
                <a:sym typeface="+mn-ea"/>
              </a:rPr>
              <a:t>）</a:t>
            </a:r>
            <a:endParaRPr lang="zh-CN" altLang="en-US" sz="700" b="1" spc="-50" dirty="0">
              <a:solidFill>
                <a:schemeClr val="tx1"/>
              </a:solidFill>
              <a:latin typeface="微软雅黑" panose="020B0503020204020204" charset="-122"/>
              <a:ea typeface="宋体" panose="02010600030101010101" pitchFamily="2" charset="-122"/>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45720">
              <a:lnSpc>
                <a:spcPct val="100000"/>
              </a:lnSpc>
              <a:spcBef>
                <a:spcPts val="135"/>
              </a:spcBef>
            </a:pPr>
            <a:r>
              <a:rPr dirty="0"/>
              <a:t>III期临床研究—</a:t>
            </a:r>
            <a:r>
              <a:rPr spc="-10" dirty="0"/>
              <a:t>REVISIT</a:t>
            </a:r>
          </a:p>
        </p:txBody>
      </p:sp>
      <p:pic>
        <p:nvPicPr>
          <p:cNvPr id="3" name="object 3"/>
          <p:cNvPicPr/>
          <p:nvPr/>
        </p:nvPicPr>
        <p:blipFill>
          <a:blip r:embed="rId2" cstate="print"/>
          <a:stretch>
            <a:fillRect/>
          </a:stretch>
        </p:blipFill>
        <p:spPr>
          <a:xfrm>
            <a:off x="179323" y="1319408"/>
            <a:ext cx="9638019" cy="2377709"/>
          </a:xfrm>
          <a:prstGeom prst="rect">
            <a:avLst/>
          </a:prstGeom>
        </p:spPr>
      </p:pic>
      <p:sp>
        <p:nvSpPr>
          <p:cNvPr id="4" name="object 4"/>
          <p:cNvSpPr txBox="1"/>
          <p:nvPr/>
        </p:nvSpPr>
        <p:spPr>
          <a:xfrm>
            <a:off x="519683" y="3792250"/>
            <a:ext cx="8052434" cy="1013460"/>
          </a:xfrm>
          <a:prstGeom prst="rect">
            <a:avLst/>
          </a:prstGeom>
        </p:spPr>
        <p:txBody>
          <a:bodyPr vert="horz" wrap="square" lIns="0" tIns="120650" rIns="0" bIns="0" rtlCol="0">
            <a:spAutoFit/>
          </a:bodyPr>
          <a:lstStyle/>
          <a:p>
            <a:pPr marL="12700">
              <a:lnSpc>
                <a:spcPct val="100000"/>
              </a:lnSpc>
              <a:spcBef>
                <a:spcPts val="950"/>
              </a:spcBef>
            </a:pPr>
            <a:r>
              <a:rPr sz="1450" b="1" spc="-25" dirty="0">
                <a:latin typeface="微软雅黑" panose="020B0503020204020204" charset="-122"/>
                <a:cs typeface="微软雅黑" panose="020B0503020204020204" charset="-122"/>
              </a:rPr>
              <a:t>临床有效率，2组无显著性差异</a:t>
            </a:r>
            <a:endParaRPr sz="1450">
              <a:latin typeface="微软雅黑" panose="020B0503020204020204" charset="-122"/>
              <a:cs typeface="微软雅黑" panose="020B0503020204020204" charset="-122"/>
            </a:endParaRPr>
          </a:p>
          <a:p>
            <a:pPr marL="240665" indent="-227965">
              <a:lnSpc>
                <a:spcPct val="100000"/>
              </a:lnSpc>
              <a:spcBef>
                <a:spcPts val="855"/>
              </a:spcBef>
              <a:buFont typeface="Wingdings" panose="05000000000000000000"/>
              <a:buChar char=""/>
              <a:tabLst>
                <a:tab pos="240665" algn="l"/>
              </a:tabLst>
            </a:pPr>
            <a:r>
              <a:rPr sz="1450" spc="-20" dirty="0">
                <a:latin typeface="微软雅黑" panose="020B0503020204020204" charset="-122"/>
                <a:cs typeface="微软雅黑" panose="020B0503020204020204" charset="-122"/>
              </a:rPr>
              <a:t>总体样本</a:t>
            </a:r>
            <a:r>
              <a:rPr sz="1450" b="1" spc="-20" dirty="0">
                <a:latin typeface="微软雅黑" panose="020B0503020204020204" charset="-122"/>
                <a:cs typeface="微软雅黑" panose="020B0503020204020204" charset="-122"/>
              </a:rPr>
              <a:t>：</a:t>
            </a:r>
            <a:r>
              <a:rPr sz="1450" spc="-15" dirty="0">
                <a:latin typeface="微软雅黑" panose="020B0503020204020204" charset="-122"/>
                <a:cs typeface="微软雅黑" panose="020B0503020204020204" charset="-122"/>
              </a:rPr>
              <a:t>氨曲南-阿维巴坦组 </a:t>
            </a:r>
            <a:r>
              <a:rPr sz="1450" spc="-20" dirty="0">
                <a:latin typeface="微软雅黑" panose="020B0503020204020204" charset="-122"/>
                <a:cs typeface="微软雅黑" panose="020B0503020204020204" charset="-122"/>
              </a:rPr>
              <a:t>68.4%（193/282），</a:t>
            </a:r>
            <a:r>
              <a:rPr sz="1450" spc="-5" dirty="0">
                <a:latin typeface="微软雅黑" panose="020B0503020204020204" charset="-122"/>
                <a:cs typeface="微软雅黑" panose="020B0503020204020204" charset="-122"/>
              </a:rPr>
              <a:t>美罗培南组 </a:t>
            </a:r>
            <a:r>
              <a:rPr sz="1450" spc="-10" dirty="0">
                <a:latin typeface="微软雅黑" panose="020B0503020204020204" charset="-122"/>
                <a:cs typeface="微软雅黑" panose="020B0503020204020204" charset="-122"/>
              </a:rPr>
              <a:t>65.7%（92/140）;</a:t>
            </a:r>
            <a:endParaRPr sz="1450">
              <a:latin typeface="微软雅黑" panose="020B0503020204020204" charset="-122"/>
              <a:cs typeface="微软雅黑" panose="020B0503020204020204" charset="-122"/>
            </a:endParaRPr>
          </a:p>
          <a:p>
            <a:pPr marL="240665" indent="-227965">
              <a:lnSpc>
                <a:spcPct val="100000"/>
              </a:lnSpc>
              <a:spcBef>
                <a:spcPts val="850"/>
              </a:spcBef>
              <a:buFont typeface="Wingdings" panose="05000000000000000000"/>
              <a:buChar char=""/>
              <a:tabLst>
                <a:tab pos="240665" algn="l"/>
              </a:tabLst>
            </a:pPr>
            <a:r>
              <a:rPr sz="1450" spc="-20" dirty="0">
                <a:latin typeface="微软雅黑" panose="020B0503020204020204" charset="-122"/>
                <a:cs typeface="微软雅黑" panose="020B0503020204020204" charset="-122"/>
              </a:rPr>
              <a:t>复杂性腹腔内感染：氨曲南-阿维巴坦组 </a:t>
            </a:r>
            <a:r>
              <a:rPr sz="1450" spc="-10" dirty="0">
                <a:latin typeface="微软雅黑" panose="020B0503020204020204" charset="-122"/>
                <a:cs typeface="微软雅黑" panose="020B0503020204020204" charset="-122"/>
              </a:rPr>
              <a:t>76.4%（159/208）VS</a:t>
            </a:r>
            <a:r>
              <a:rPr sz="1450" spc="-20" dirty="0">
                <a:latin typeface="微软雅黑" panose="020B0503020204020204" charset="-122"/>
                <a:cs typeface="微软雅黑" panose="020B0503020204020204" charset="-122"/>
              </a:rPr>
              <a:t> 美罗培南组 </a:t>
            </a:r>
            <a:r>
              <a:rPr sz="1450" spc="-10" dirty="0">
                <a:latin typeface="微软雅黑" panose="020B0503020204020204" charset="-122"/>
                <a:cs typeface="微软雅黑" panose="020B0503020204020204" charset="-122"/>
              </a:rPr>
              <a:t>74.0%（77/104）；</a:t>
            </a:r>
            <a:endParaRPr sz="1450">
              <a:latin typeface="微软雅黑" panose="020B0503020204020204" charset="-122"/>
              <a:cs typeface="微软雅黑" panose="020B0503020204020204" charset="-122"/>
            </a:endParaRPr>
          </a:p>
        </p:txBody>
      </p:sp>
      <p:sp>
        <p:nvSpPr>
          <p:cNvPr id="5" name="object 5"/>
          <p:cNvSpPr txBox="1"/>
          <p:nvPr/>
        </p:nvSpPr>
        <p:spPr>
          <a:xfrm>
            <a:off x="519683" y="4889530"/>
            <a:ext cx="6898005" cy="245110"/>
          </a:xfrm>
          <a:prstGeom prst="rect">
            <a:avLst/>
          </a:prstGeom>
        </p:spPr>
        <p:txBody>
          <a:bodyPr vert="horz" wrap="square" lIns="0" tIns="11430" rIns="0" bIns="0" rtlCol="0">
            <a:spAutoFit/>
          </a:bodyPr>
          <a:lstStyle/>
          <a:p>
            <a:pPr marL="240665" indent="-227965">
              <a:lnSpc>
                <a:spcPct val="100000"/>
              </a:lnSpc>
              <a:spcBef>
                <a:spcPts val="90"/>
              </a:spcBef>
              <a:buFont typeface="Wingdings" panose="05000000000000000000"/>
              <a:buChar char=""/>
              <a:tabLst>
                <a:tab pos="240665" algn="l"/>
              </a:tabLst>
            </a:pPr>
            <a:r>
              <a:rPr sz="1450" spc="-25" dirty="0">
                <a:latin typeface="微软雅黑" panose="020B0503020204020204" charset="-122"/>
                <a:cs typeface="微软雅黑" panose="020B0503020204020204" charset="-122"/>
              </a:rPr>
              <a:t>HAP-</a:t>
            </a:r>
            <a:r>
              <a:rPr sz="1450" spc="-45" dirty="0">
                <a:latin typeface="微软雅黑" panose="020B0503020204020204" charset="-122"/>
                <a:cs typeface="微软雅黑" panose="020B0503020204020204" charset="-122"/>
              </a:rPr>
              <a:t>VAP</a:t>
            </a:r>
            <a:r>
              <a:rPr sz="1450" spc="-30" dirty="0">
                <a:latin typeface="微软雅黑" panose="020B0503020204020204" charset="-122"/>
                <a:cs typeface="微软雅黑" panose="020B0503020204020204" charset="-122"/>
              </a:rPr>
              <a:t>：氨曲南-阿维巴坦组 </a:t>
            </a:r>
            <a:r>
              <a:rPr sz="1450" spc="-10" dirty="0">
                <a:latin typeface="微软雅黑" panose="020B0503020204020204" charset="-122"/>
                <a:cs typeface="微软雅黑" panose="020B0503020204020204" charset="-122"/>
              </a:rPr>
              <a:t>45.9%（34/74）VS</a:t>
            </a:r>
            <a:r>
              <a:rPr sz="1450" spc="-20" dirty="0">
                <a:latin typeface="微软雅黑" panose="020B0503020204020204" charset="-122"/>
                <a:cs typeface="微软雅黑" panose="020B0503020204020204" charset="-122"/>
              </a:rPr>
              <a:t> 美罗培南组 </a:t>
            </a:r>
            <a:r>
              <a:rPr sz="1450" spc="-10" dirty="0">
                <a:latin typeface="微软雅黑" panose="020B0503020204020204" charset="-122"/>
                <a:cs typeface="微软雅黑" panose="020B0503020204020204" charset="-122"/>
              </a:rPr>
              <a:t>41.7%（15/36）</a:t>
            </a:r>
            <a:endParaRPr sz="1450">
              <a:latin typeface="微软雅黑" panose="020B0503020204020204" charset="-122"/>
              <a:cs typeface="微软雅黑" panose="020B0503020204020204" charset="-122"/>
            </a:endParaRPr>
          </a:p>
        </p:txBody>
      </p:sp>
      <p:sp>
        <p:nvSpPr>
          <p:cNvPr id="6" name="object 6"/>
          <p:cNvSpPr txBox="1"/>
          <p:nvPr/>
        </p:nvSpPr>
        <p:spPr>
          <a:xfrm>
            <a:off x="4458309" y="894395"/>
            <a:ext cx="1245235" cy="269875"/>
          </a:xfrm>
          <a:prstGeom prst="rect">
            <a:avLst/>
          </a:prstGeom>
        </p:spPr>
        <p:txBody>
          <a:bodyPr vert="horz" wrap="square" lIns="0" tIns="13335" rIns="0" bIns="0" rtlCol="0">
            <a:spAutoFit/>
          </a:bodyPr>
          <a:lstStyle/>
          <a:p>
            <a:pPr marL="12700">
              <a:lnSpc>
                <a:spcPct val="100000"/>
              </a:lnSpc>
              <a:spcBef>
                <a:spcPts val="105"/>
              </a:spcBef>
            </a:pPr>
            <a:r>
              <a:rPr sz="1600" b="1" spc="-20" dirty="0">
                <a:latin typeface="微软雅黑" panose="020B0503020204020204" charset="-122"/>
                <a:cs typeface="微软雅黑" panose="020B0503020204020204" charset="-122"/>
              </a:rPr>
              <a:t>临床疗效比较</a:t>
            </a:r>
            <a:endParaRPr sz="1600">
              <a:latin typeface="微软雅黑" panose="020B0503020204020204" charset="-122"/>
              <a:cs typeface="微软雅黑" panose="020B0503020204020204" charset="-122"/>
            </a:endParaRPr>
          </a:p>
        </p:txBody>
      </p:sp>
      <p:grpSp>
        <p:nvGrpSpPr>
          <p:cNvPr id="7" name="object 7"/>
          <p:cNvGrpSpPr/>
          <p:nvPr/>
        </p:nvGrpSpPr>
        <p:grpSpPr>
          <a:xfrm>
            <a:off x="127000" y="126999"/>
            <a:ext cx="9753600" cy="5486400"/>
            <a:chOff x="127000" y="126999"/>
            <a:chExt cx="9753600" cy="5486400"/>
          </a:xfrm>
        </p:grpSpPr>
        <p:sp>
          <p:nvSpPr>
            <p:cNvPr id="8" name="object 8"/>
            <p:cNvSpPr/>
            <p:nvPr/>
          </p:nvSpPr>
          <p:spPr>
            <a:xfrm>
              <a:off x="4094276" y="863396"/>
              <a:ext cx="1972310" cy="360045"/>
            </a:xfrm>
            <a:custGeom>
              <a:avLst/>
              <a:gdLst/>
              <a:ahLst/>
              <a:cxnLst/>
              <a:rect l="l" t="t" r="r" b="b"/>
              <a:pathLst>
                <a:path w="1972310" h="360044">
                  <a:moveTo>
                    <a:pt x="1792224" y="359664"/>
                  </a:moveTo>
                  <a:lnTo>
                    <a:pt x="180441" y="359664"/>
                  </a:lnTo>
                  <a:lnTo>
                    <a:pt x="132514" y="353153"/>
                  </a:lnTo>
                  <a:lnTo>
                    <a:pt x="89477" y="335002"/>
                  </a:lnTo>
                  <a:lnTo>
                    <a:pt x="53019" y="306933"/>
                  </a:lnTo>
                  <a:lnTo>
                    <a:pt x="24828" y="270669"/>
                  </a:lnTo>
                  <a:lnTo>
                    <a:pt x="6592" y="227931"/>
                  </a:lnTo>
                  <a:lnTo>
                    <a:pt x="0" y="180441"/>
                  </a:lnTo>
                  <a:lnTo>
                    <a:pt x="6592" y="132446"/>
                  </a:lnTo>
                  <a:lnTo>
                    <a:pt x="24828" y="89369"/>
                  </a:lnTo>
                  <a:lnTo>
                    <a:pt x="53019" y="52898"/>
                  </a:lnTo>
                  <a:lnTo>
                    <a:pt x="89477" y="24720"/>
                  </a:lnTo>
                  <a:lnTo>
                    <a:pt x="132514" y="6524"/>
                  </a:lnTo>
                  <a:lnTo>
                    <a:pt x="180441" y="0"/>
                  </a:lnTo>
                  <a:lnTo>
                    <a:pt x="1792224" y="0"/>
                  </a:lnTo>
                  <a:lnTo>
                    <a:pt x="1840153" y="6522"/>
                  </a:lnTo>
                  <a:lnTo>
                    <a:pt x="1883179" y="24698"/>
                  </a:lnTo>
                  <a:lnTo>
                    <a:pt x="1919602" y="52823"/>
                  </a:lnTo>
                  <a:lnTo>
                    <a:pt x="1947723" y="89192"/>
                  </a:lnTo>
                  <a:lnTo>
                    <a:pt x="1965841" y="132099"/>
                  </a:lnTo>
                  <a:lnTo>
                    <a:pt x="1972259" y="179842"/>
                  </a:lnTo>
                  <a:lnTo>
                    <a:pt x="1965841" y="227584"/>
                  </a:lnTo>
                  <a:lnTo>
                    <a:pt x="1947723" y="270491"/>
                  </a:lnTo>
                  <a:lnTo>
                    <a:pt x="1919602" y="306858"/>
                  </a:lnTo>
                  <a:lnTo>
                    <a:pt x="1883179" y="334980"/>
                  </a:lnTo>
                  <a:lnTo>
                    <a:pt x="1840153" y="353150"/>
                  </a:lnTo>
                  <a:lnTo>
                    <a:pt x="1792224" y="359664"/>
                  </a:lnTo>
                  <a:close/>
                </a:path>
              </a:pathLst>
            </a:custGeom>
            <a:solidFill>
              <a:srgbClr val="44536A">
                <a:alpha val="30198"/>
              </a:srgbClr>
            </a:solidFill>
          </p:spPr>
          <p:txBody>
            <a:bodyPr wrap="square" lIns="0" tIns="0" rIns="0" bIns="0" rtlCol="0"/>
            <a:lstStyle/>
            <a:p>
              <a:endParaRPr/>
            </a:p>
          </p:txBody>
        </p:sp>
        <p:sp>
          <p:nvSpPr>
            <p:cNvPr id="9" name="object 9"/>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grpSp>
      <p:sp>
        <p:nvSpPr>
          <p:cNvPr id="11" name="object 11"/>
          <p:cNvSpPr txBox="1"/>
          <p:nvPr/>
        </p:nvSpPr>
        <p:spPr>
          <a:xfrm>
            <a:off x="8569070" y="5026405"/>
            <a:ext cx="67945" cy="116839"/>
          </a:xfrm>
          <a:prstGeom prst="rect">
            <a:avLst/>
          </a:prstGeom>
        </p:spPr>
        <p:txBody>
          <a:bodyPr vert="horz" wrap="square" lIns="0" tIns="12700" rIns="0" bIns="0" rtlCol="0">
            <a:spAutoFit/>
          </a:bodyPr>
          <a:lstStyle/>
          <a:p>
            <a:pPr marL="12700">
              <a:lnSpc>
                <a:spcPct val="100000"/>
              </a:lnSpc>
              <a:spcBef>
                <a:spcPts val="100"/>
              </a:spcBef>
            </a:pPr>
            <a:r>
              <a:rPr sz="600" spc="-50" dirty="0">
                <a:solidFill>
                  <a:srgbClr val="FF0000"/>
                </a:solidFill>
                <a:latin typeface="Arial MT"/>
                <a:cs typeface="Arial MT"/>
              </a:rPr>
              <a:t>1</a:t>
            </a:r>
            <a:endParaRPr sz="600">
              <a:latin typeface="Arial MT"/>
              <a:cs typeface="Arial MT"/>
            </a:endParaRPr>
          </a:p>
        </p:txBody>
      </p:sp>
      <p:sp>
        <p:nvSpPr>
          <p:cNvPr id="14" name="object 14"/>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22</a:t>
            </a:fld>
            <a:r>
              <a:rPr spc="-10" dirty="0"/>
              <a:t> </a:t>
            </a:r>
            <a:r>
              <a:rPr spc="-50" dirty="0"/>
              <a:t>-</a:t>
            </a:r>
          </a:p>
        </p:txBody>
      </p:sp>
      <p:sp>
        <p:nvSpPr>
          <p:cNvPr id="15" name="文本框 14"/>
          <p:cNvSpPr txBox="1"/>
          <p:nvPr/>
        </p:nvSpPr>
        <p:spPr>
          <a:xfrm>
            <a:off x="213360" y="6455410"/>
            <a:ext cx="2700020" cy="198755"/>
          </a:xfrm>
          <a:prstGeom prst="rect">
            <a:avLst/>
          </a:prstGeom>
          <a:noFill/>
        </p:spPr>
        <p:txBody>
          <a:bodyPr wrap="square" rtlCol="0">
            <a:spAutoFit/>
          </a:bodyPr>
          <a:lstStyle/>
          <a:p>
            <a:r>
              <a:rPr sz="700" spc="-20" dirty="0">
                <a:solidFill>
                  <a:schemeClr val="tx1"/>
                </a:solidFill>
                <a:latin typeface="微软雅黑" panose="020B0503020204020204" charset="-122"/>
                <a:cs typeface="微软雅黑" panose="020B0503020204020204" charset="-122"/>
                <a:sym typeface="+mn-ea"/>
              </a:rPr>
              <a:t>注射用氨曲南阿维巴坦钠说明书（核准日期：</a:t>
            </a:r>
            <a:r>
              <a:rPr sz="700" spc="-10" dirty="0">
                <a:solidFill>
                  <a:schemeClr val="tx1"/>
                </a:solidFill>
                <a:latin typeface="Times New Roman" panose="02020603050405020304"/>
                <a:cs typeface="Times New Roman" panose="02020603050405020304"/>
                <a:sym typeface="+mn-ea"/>
              </a:rPr>
              <a:t>2025</a:t>
            </a:r>
            <a:r>
              <a:rPr sz="700" spc="-20" dirty="0">
                <a:solidFill>
                  <a:schemeClr val="tx1"/>
                </a:solidFill>
                <a:latin typeface="微软雅黑" panose="020B0503020204020204" charset="-122"/>
                <a:cs typeface="微软雅黑" panose="020B0503020204020204" charset="-122"/>
                <a:sym typeface="+mn-ea"/>
              </a:rPr>
              <a:t>年</a:t>
            </a:r>
            <a:r>
              <a:rPr sz="700" spc="-10" dirty="0">
                <a:solidFill>
                  <a:schemeClr val="tx1"/>
                </a:solidFill>
                <a:latin typeface="Times New Roman" panose="02020603050405020304"/>
                <a:cs typeface="Times New Roman" panose="02020603050405020304"/>
                <a:sym typeface="+mn-ea"/>
              </a:rPr>
              <a:t>6</a:t>
            </a:r>
            <a:r>
              <a:rPr sz="700" spc="-20" dirty="0">
                <a:solidFill>
                  <a:schemeClr val="tx1"/>
                </a:solidFill>
                <a:latin typeface="微软雅黑" panose="020B0503020204020204" charset="-122"/>
                <a:cs typeface="微软雅黑" panose="020B0503020204020204" charset="-122"/>
                <a:sym typeface="+mn-ea"/>
              </a:rPr>
              <a:t>月</a:t>
            </a:r>
            <a:r>
              <a:rPr sz="700" spc="-10" dirty="0">
                <a:solidFill>
                  <a:schemeClr val="tx1"/>
                </a:solidFill>
                <a:latin typeface="Times New Roman" panose="02020603050405020304"/>
                <a:cs typeface="Times New Roman" panose="02020603050405020304"/>
                <a:sym typeface="+mn-ea"/>
              </a:rPr>
              <a:t>24</a:t>
            </a:r>
            <a:r>
              <a:rPr sz="700" spc="-20" dirty="0">
                <a:solidFill>
                  <a:schemeClr val="tx1"/>
                </a:solidFill>
                <a:latin typeface="微软雅黑" panose="020B0503020204020204" charset="-122"/>
                <a:cs typeface="微软雅黑" panose="020B0503020204020204" charset="-122"/>
                <a:sym typeface="+mn-ea"/>
              </a:rPr>
              <a:t>日</a:t>
            </a:r>
            <a:r>
              <a:rPr sz="700" spc="-50" dirty="0">
                <a:solidFill>
                  <a:schemeClr val="tx1"/>
                </a:solidFill>
                <a:latin typeface="微软雅黑" panose="020B0503020204020204" charset="-122"/>
                <a:cs typeface="微软雅黑" panose="020B0503020204020204" charset="-122"/>
                <a:sym typeface="+mn-ea"/>
              </a:rPr>
              <a:t>）</a:t>
            </a:r>
            <a:endParaRPr lang="zh-CN" altLang="en-US" sz="700" b="1" spc="-50" dirty="0">
              <a:solidFill>
                <a:schemeClr val="tx1"/>
              </a:solidFill>
              <a:latin typeface="微软雅黑" panose="020B0503020204020204" charset="-122"/>
              <a:ea typeface="宋体" panose="02010600030101010101" pitchFamily="2" charset="-122"/>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75716" y="3811422"/>
            <a:ext cx="7861934" cy="377190"/>
            <a:chOff x="375716" y="3811422"/>
            <a:chExt cx="7861934" cy="377190"/>
          </a:xfrm>
        </p:grpSpPr>
        <p:sp>
          <p:nvSpPr>
            <p:cNvPr id="3" name="object 3"/>
            <p:cNvSpPr/>
            <p:nvPr/>
          </p:nvSpPr>
          <p:spPr>
            <a:xfrm>
              <a:off x="375716" y="3811422"/>
              <a:ext cx="7861934" cy="377190"/>
            </a:xfrm>
            <a:custGeom>
              <a:avLst/>
              <a:gdLst/>
              <a:ahLst/>
              <a:cxnLst/>
              <a:rect l="l" t="t" r="r" b="b"/>
              <a:pathLst>
                <a:path w="7861934" h="377189">
                  <a:moveTo>
                    <a:pt x="1673948" y="0"/>
                  </a:moveTo>
                  <a:lnTo>
                    <a:pt x="0" y="0"/>
                  </a:lnTo>
                  <a:lnTo>
                    <a:pt x="0" y="376732"/>
                  </a:lnTo>
                  <a:lnTo>
                    <a:pt x="1673948" y="376732"/>
                  </a:lnTo>
                  <a:lnTo>
                    <a:pt x="1673948" y="0"/>
                  </a:lnTo>
                  <a:close/>
                </a:path>
                <a:path w="7861934" h="377189">
                  <a:moveTo>
                    <a:pt x="7861401" y="0"/>
                  </a:moveTo>
                  <a:lnTo>
                    <a:pt x="5603443" y="0"/>
                  </a:lnTo>
                  <a:lnTo>
                    <a:pt x="3505200" y="0"/>
                  </a:lnTo>
                  <a:lnTo>
                    <a:pt x="1673961" y="0"/>
                  </a:lnTo>
                  <a:lnTo>
                    <a:pt x="1673961" y="376732"/>
                  </a:lnTo>
                  <a:lnTo>
                    <a:pt x="3505200" y="376732"/>
                  </a:lnTo>
                  <a:lnTo>
                    <a:pt x="5603443" y="376732"/>
                  </a:lnTo>
                  <a:lnTo>
                    <a:pt x="7861401" y="376732"/>
                  </a:lnTo>
                  <a:lnTo>
                    <a:pt x="7861401" y="0"/>
                  </a:lnTo>
                  <a:close/>
                </a:path>
              </a:pathLst>
            </a:custGeom>
            <a:solidFill>
              <a:srgbClr val="E7E9EE"/>
            </a:solidFill>
          </p:spPr>
          <p:txBody>
            <a:bodyPr wrap="square" lIns="0" tIns="0" rIns="0" bIns="0" rtlCol="0"/>
            <a:lstStyle/>
            <a:p>
              <a:endParaRPr/>
            </a:p>
          </p:txBody>
        </p:sp>
        <p:sp>
          <p:nvSpPr>
            <p:cNvPr id="4" name="object 4"/>
            <p:cNvSpPr/>
            <p:nvPr/>
          </p:nvSpPr>
          <p:spPr>
            <a:xfrm>
              <a:off x="459089" y="3820607"/>
              <a:ext cx="7583170" cy="345440"/>
            </a:xfrm>
            <a:custGeom>
              <a:avLst/>
              <a:gdLst/>
              <a:ahLst/>
              <a:cxnLst/>
              <a:rect l="l" t="t" r="r" b="b"/>
              <a:pathLst>
                <a:path w="7583170" h="345439">
                  <a:moveTo>
                    <a:pt x="7538801" y="2540"/>
                  </a:moveTo>
                  <a:lnTo>
                    <a:pt x="44033" y="2540"/>
                  </a:lnTo>
                  <a:lnTo>
                    <a:pt x="50058" y="0"/>
                  </a:lnTo>
                  <a:lnTo>
                    <a:pt x="7532776" y="0"/>
                  </a:lnTo>
                  <a:lnTo>
                    <a:pt x="7538801" y="2540"/>
                  </a:lnTo>
                  <a:close/>
                </a:path>
                <a:path w="7583170" h="345439">
                  <a:moveTo>
                    <a:pt x="7538801" y="342900"/>
                  </a:moveTo>
                  <a:lnTo>
                    <a:pt x="44033" y="342900"/>
                  </a:lnTo>
                  <a:lnTo>
                    <a:pt x="38262" y="340360"/>
                  </a:lnTo>
                  <a:lnTo>
                    <a:pt x="7548" y="312420"/>
                  </a:lnTo>
                  <a:lnTo>
                    <a:pt x="2743" y="300990"/>
                  </a:lnTo>
                  <a:lnTo>
                    <a:pt x="1899" y="298450"/>
                  </a:lnTo>
                  <a:lnTo>
                    <a:pt x="1198" y="295910"/>
                  </a:lnTo>
                  <a:lnTo>
                    <a:pt x="640" y="292100"/>
                  </a:lnTo>
                  <a:lnTo>
                    <a:pt x="243" y="289560"/>
                  </a:lnTo>
                  <a:lnTo>
                    <a:pt x="162" y="288290"/>
                  </a:lnTo>
                  <a:lnTo>
                    <a:pt x="81" y="287020"/>
                  </a:lnTo>
                  <a:lnTo>
                    <a:pt x="0" y="58420"/>
                  </a:lnTo>
                  <a:lnTo>
                    <a:pt x="640" y="52070"/>
                  </a:lnTo>
                  <a:lnTo>
                    <a:pt x="1198" y="49530"/>
                  </a:lnTo>
                  <a:lnTo>
                    <a:pt x="1899" y="46990"/>
                  </a:lnTo>
                  <a:lnTo>
                    <a:pt x="2743" y="43180"/>
                  </a:lnTo>
                  <a:lnTo>
                    <a:pt x="3728" y="40640"/>
                  </a:lnTo>
                  <a:lnTo>
                    <a:pt x="4856" y="38100"/>
                  </a:lnTo>
                  <a:lnTo>
                    <a:pt x="6116" y="34290"/>
                  </a:lnTo>
                  <a:lnTo>
                    <a:pt x="32684" y="6350"/>
                  </a:lnTo>
                  <a:lnTo>
                    <a:pt x="41117" y="2540"/>
                  </a:lnTo>
                  <a:lnTo>
                    <a:pt x="7541717" y="2540"/>
                  </a:lnTo>
                  <a:lnTo>
                    <a:pt x="7544572" y="3810"/>
                  </a:lnTo>
                  <a:lnTo>
                    <a:pt x="7550150" y="6350"/>
                  </a:lnTo>
                  <a:lnTo>
                    <a:pt x="7555250" y="10160"/>
                  </a:lnTo>
                  <a:lnTo>
                    <a:pt x="7560076" y="13970"/>
                  </a:lnTo>
                  <a:lnTo>
                    <a:pt x="60441" y="13970"/>
                  </a:lnTo>
                  <a:lnTo>
                    <a:pt x="57637" y="15240"/>
                  </a:lnTo>
                  <a:lnTo>
                    <a:pt x="53299" y="15240"/>
                  </a:lnTo>
                  <a:lnTo>
                    <a:pt x="50627" y="16510"/>
                  </a:lnTo>
                  <a:lnTo>
                    <a:pt x="48737" y="16510"/>
                  </a:lnTo>
                  <a:lnTo>
                    <a:pt x="46177" y="17780"/>
                  </a:lnTo>
                  <a:lnTo>
                    <a:pt x="44368" y="17780"/>
                  </a:lnTo>
                  <a:lnTo>
                    <a:pt x="41930" y="19050"/>
                  </a:lnTo>
                  <a:lnTo>
                    <a:pt x="42265" y="19050"/>
                  </a:lnTo>
                  <a:lnTo>
                    <a:pt x="39888" y="20320"/>
                  </a:lnTo>
                  <a:lnTo>
                    <a:pt x="40365" y="20320"/>
                  </a:lnTo>
                  <a:lnTo>
                    <a:pt x="35814" y="22860"/>
                  </a:lnTo>
                  <a:lnTo>
                    <a:pt x="36423" y="22860"/>
                  </a:lnTo>
                  <a:lnTo>
                    <a:pt x="32176" y="25400"/>
                  </a:lnTo>
                  <a:lnTo>
                    <a:pt x="32745" y="25400"/>
                  </a:lnTo>
                  <a:lnTo>
                    <a:pt x="30131" y="27940"/>
                  </a:lnTo>
                  <a:lnTo>
                    <a:pt x="29342" y="27940"/>
                  </a:lnTo>
                  <a:lnTo>
                    <a:pt x="25775" y="31750"/>
                  </a:lnTo>
                  <a:lnTo>
                    <a:pt x="26243" y="31750"/>
                  </a:lnTo>
                  <a:lnTo>
                    <a:pt x="23063" y="35560"/>
                  </a:lnTo>
                  <a:lnTo>
                    <a:pt x="23479" y="35560"/>
                  </a:lnTo>
                  <a:lnTo>
                    <a:pt x="20716" y="39370"/>
                  </a:lnTo>
                  <a:lnTo>
                    <a:pt x="20980" y="39370"/>
                  </a:lnTo>
                  <a:lnTo>
                    <a:pt x="19761" y="41910"/>
                  </a:lnTo>
                  <a:lnTo>
                    <a:pt x="19923" y="41910"/>
                  </a:lnTo>
                  <a:lnTo>
                    <a:pt x="18826" y="43180"/>
                  </a:lnTo>
                  <a:lnTo>
                    <a:pt x="18968" y="43180"/>
                  </a:lnTo>
                  <a:lnTo>
                    <a:pt x="17353" y="48260"/>
                  </a:lnTo>
                  <a:lnTo>
                    <a:pt x="16982" y="49530"/>
                  </a:lnTo>
                  <a:lnTo>
                    <a:pt x="16703" y="49530"/>
                  </a:lnTo>
                  <a:lnTo>
                    <a:pt x="16164" y="52070"/>
                  </a:lnTo>
                  <a:lnTo>
                    <a:pt x="15737" y="54610"/>
                  </a:lnTo>
                  <a:lnTo>
                    <a:pt x="15422" y="57150"/>
                  </a:lnTo>
                  <a:lnTo>
                    <a:pt x="15422" y="288290"/>
                  </a:lnTo>
                  <a:lnTo>
                    <a:pt x="15676" y="289560"/>
                  </a:lnTo>
                  <a:lnTo>
                    <a:pt x="16093" y="292100"/>
                  </a:lnTo>
                  <a:lnTo>
                    <a:pt x="16611" y="294640"/>
                  </a:lnTo>
                  <a:lnTo>
                    <a:pt x="17241" y="297180"/>
                  </a:lnTo>
                  <a:lnTo>
                    <a:pt x="18105" y="299720"/>
                  </a:lnTo>
                  <a:lnTo>
                    <a:pt x="18475" y="299720"/>
                  </a:lnTo>
                  <a:lnTo>
                    <a:pt x="18968" y="300990"/>
                  </a:lnTo>
                  <a:lnTo>
                    <a:pt x="18826" y="300990"/>
                  </a:lnTo>
                  <a:lnTo>
                    <a:pt x="19923" y="303530"/>
                  </a:lnTo>
                  <a:lnTo>
                    <a:pt x="19761" y="303530"/>
                  </a:lnTo>
                  <a:lnTo>
                    <a:pt x="20980" y="306070"/>
                  </a:lnTo>
                  <a:lnTo>
                    <a:pt x="21407" y="306070"/>
                  </a:lnTo>
                  <a:lnTo>
                    <a:pt x="23479" y="309880"/>
                  </a:lnTo>
                  <a:lnTo>
                    <a:pt x="23858" y="309880"/>
                  </a:lnTo>
                  <a:lnTo>
                    <a:pt x="26243" y="313690"/>
                  </a:lnTo>
                  <a:lnTo>
                    <a:pt x="26964" y="313690"/>
                  </a:lnTo>
                  <a:lnTo>
                    <a:pt x="29342" y="316230"/>
                  </a:lnTo>
                  <a:lnTo>
                    <a:pt x="28823" y="316230"/>
                  </a:lnTo>
                  <a:lnTo>
                    <a:pt x="32745" y="320040"/>
                  </a:lnTo>
                  <a:lnTo>
                    <a:pt x="33592" y="320040"/>
                  </a:lnTo>
                  <a:lnTo>
                    <a:pt x="36423" y="322580"/>
                  </a:lnTo>
                  <a:lnTo>
                    <a:pt x="37331" y="322580"/>
                  </a:lnTo>
                  <a:lnTo>
                    <a:pt x="40365" y="325120"/>
                  </a:lnTo>
                  <a:lnTo>
                    <a:pt x="41930" y="325120"/>
                  </a:lnTo>
                  <a:lnTo>
                    <a:pt x="44368" y="326390"/>
                  </a:lnTo>
                  <a:lnTo>
                    <a:pt x="44023" y="326390"/>
                  </a:lnTo>
                  <a:lnTo>
                    <a:pt x="46532" y="327660"/>
                  </a:lnTo>
                  <a:lnTo>
                    <a:pt x="48381" y="327660"/>
                  </a:lnTo>
                  <a:lnTo>
                    <a:pt x="50993" y="328930"/>
                  </a:lnTo>
                  <a:lnTo>
                    <a:pt x="52923" y="328930"/>
                  </a:lnTo>
                  <a:lnTo>
                    <a:pt x="55636" y="330200"/>
                  </a:lnTo>
                  <a:lnTo>
                    <a:pt x="7561563" y="330200"/>
                  </a:lnTo>
                  <a:lnTo>
                    <a:pt x="7560076" y="331470"/>
                  </a:lnTo>
                  <a:lnTo>
                    <a:pt x="7555250" y="335280"/>
                  </a:lnTo>
                  <a:lnTo>
                    <a:pt x="7550150" y="337820"/>
                  </a:lnTo>
                  <a:lnTo>
                    <a:pt x="7544572" y="340360"/>
                  </a:lnTo>
                  <a:lnTo>
                    <a:pt x="7538801" y="342900"/>
                  </a:lnTo>
                  <a:close/>
                </a:path>
                <a:path w="7583170" h="345439">
                  <a:moveTo>
                    <a:pt x="7554011" y="29210"/>
                  </a:moveTo>
                  <a:lnTo>
                    <a:pt x="7550099" y="25400"/>
                  </a:lnTo>
                  <a:lnTo>
                    <a:pt x="7550658" y="25400"/>
                  </a:lnTo>
                  <a:lnTo>
                    <a:pt x="7546411" y="22860"/>
                  </a:lnTo>
                  <a:lnTo>
                    <a:pt x="7547020" y="22860"/>
                  </a:lnTo>
                  <a:lnTo>
                    <a:pt x="7542469" y="20320"/>
                  </a:lnTo>
                  <a:lnTo>
                    <a:pt x="7542956" y="20320"/>
                  </a:lnTo>
                  <a:lnTo>
                    <a:pt x="7540579" y="19050"/>
                  </a:lnTo>
                  <a:lnTo>
                    <a:pt x="7540914" y="19050"/>
                  </a:lnTo>
                  <a:lnTo>
                    <a:pt x="7538466" y="17780"/>
                  </a:lnTo>
                  <a:lnTo>
                    <a:pt x="7536657" y="17780"/>
                  </a:lnTo>
                  <a:lnTo>
                    <a:pt x="7534097" y="16510"/>
                  </a:lnTo>
                  <a:lnTo>
                    <a:pt x="7532207" y="16510"/>
                  </a:lnTo>
                  <a:lnTo>
                    <a:pt x="7529535" y="15240"/>
                  </a:lnTo>
                  <a:lnTo>
                    <a:pt x="7525197" y="15240"/>
                  </a:lnTo>
                  <a:lnTo>
                    <a:pt x="7522403" y="13970"/>
                  </a:lnTo>
                  <a:lnTo>
                    <a:pt x="7560076" y="13970"/>
                  </a:lnTo>
                  <a:lnTo>
                    <a:pt x="7564536" y="17780"/>
                  </a:lnTo>
                  <a:lnTo>
                    <a:pt x="7568580" y="21590"/>
                  </a:lnTo>
                  <a:lnTo>
                    <a:pt x="7572197" y="26670"/>
                  </a:lnTo>
                  <a:lnTo>
                    <a:pt x="7572972" y="27940"/>
                  </a:lnTo>
                  <a:lnTo>
                    <a:pt x="7553503" y="27940"/>
                  </a:lnTo>
                  <a:lnTo>
                    <a:pt x="7554011" y="29210"/>
                  </a:lnTo>
                  <a:close/>
                </a:path>
                <a:path w="7583170" h="345439">
                  <a:moveTo>
                    <a:pt x="28823" y="29210"/>
                  </a:moveTo>
                  <a:lnTo>
                    <a:pt x="29342" y="27940"/>
                  </a:lnTo>
                  <a:lnTo>
                    <a:pt x="30131" y="27940"/>
                  </a:lnTo>
                  <a:lnTo>
                    <a:pt x="28823" y="29210"/>
                  </a:lnTo>
                  <a:close/>
                </a:path>
                <a:path w="7583170" h="345439">
                  <a:moveTo>
                    <a:pt x="7566223" y="50800"/>
                  </a:moveTo>
                  <a:lnTo>
                    <a:pt x="7565593" y="48260"/>
                  </a:lnTo>
                  <a:lnTo>
                    <a:pt x="7564729" y="45720"/>
                  </a:lnTo>
                  <a:lnTo>
                    <a:pt x="7564861" y="45720"/>
                  </a:lnTo>
                  <a:lnTo>
                    <a:pt x="7563866" y="43180"/>
                  </a:lnTo>
                  <a:lnTo>
                    <a:pt x="7564018" y="43180"/>
                  </a:lnTo>
                  <a:lnTo>
                    <a:pt x="7562911" y="41910"/>
                  </a:lnTo>
                  <a:lnTo>
                    <a:pt x="7563073" y="41910"/>
                  </a:lnTo>
                  <a:lnTo>
                    <a:pt x="7561854" y="39370"/>
                  </a:lnTo>
                  <a:lnTo>
                    <a:pt x="7562128" y="39370"/>
                  </a:lnTo>
                  <a:lnTo>
                    <a:pt x="7559365" y="35560"/>
                  </a:lnTo>
                  <a:lnTo>
                    <a:pt x="7559771" y="35560"/>
                  </a:lnTo>
                  <a:lnTo>
                    <a:pt x="7556591" y="31750"/>
                  </a:lnTo>
                  <a:lnTo>
                    <a:pt x="7557059" y="31750"/>
                  </a:lnTo>
                  <a:lnTo>
                    <a:pt x="7553503" y="27940"/>
                  </a:lnTo>
                  <a:lnTo>
                    <a:pt x="7572972" y="27940"/>
                  </a:lnTo>
                  <a:lnTo>
                    <a:pt x="7575296" y="31750"/>
                  </a:lnTo>
                  <a:lnTo>
                    <a:pt x="7576718" y="34290"/>
                  </a:lnTo>
                  <a:lnTo>
                    <a:pt x="7577978" y="38100"/>
                  </a:lnTo>
                  <a:lnTo>
                    <a:pt x="7579106" y="40640"/>
                  </a:lnTo>
                  <a:lnTo>
                    <a:pt x="7579990" y="42919"/>
                  </a:lnTo>
                  <a:lnTo>
                    <a:pt x="7580091" y="43180"/>
                  </a:lnTo>
                  <a:lnTo>
                    <a:pt x="7580935" y="46990"/>
                  </a:lnTo>
                  <a:lnTo>
                    <a:pt x="7581636" y="49530"/>
                  </a:lnTo>
                  <a:lnTo>
                    <a:pt x="7566131" y="49530"/>
                  </a:lnTo>
                  <a:lnTo>
                    <a:pt x="7566223" y="50800"/>
                  </a:lnTo>
                  <a:close/>
                </a:path>
                <a:path w="7583170" h="345439">
                  <a:moveTo>
                    <a:pt x="18968" y="43180"/>
                  </a:moveTo>
                  <a:lnTo>
                    <a:pt x="18826" y="43180"/>
                  </a:lnTo>
                  <a:lnTo>
                    <a:pt x="19051" y="42919"/>
                  </a:lnTo>
                  <a:lnTo>
                    <a:pt x="18968" y="43180"/>
                  </a:lnTo>
                  <a:close/>
                </a:path>
                <a:path w="7583170" h="345439">
                  <a:moveTo>
                    <a:pt x="16611" y="50800"/>
                  </a:moveTo>
                  <a:lnTo>
                    <a:pt x="16703" y="49530"/>
                  </a:lnTo>
                  <a:lnTo>
                    <a:pt x="16982" y="49530"/>
                  </a:lnTo>
                  <a:lnTo>
                    <a:pt x="16611" y="50800"/>
                  </a:lnTo>
                  <a:close/>
                </a:path>
                <a:path w="7583170" h="345439">
                  <a:moveTo>
                    <a:pt x="7582672" y="288290"/>
                  </a:moveTo>
                  <a:lnTo>
                    <a:pt x="7567412" y="288290"/>
                  </a:lnTo>
                  <a:lnTo>
                    <a:pt x="7567452" y="57150"/>
                  </a:lnTo>
                  <a:lnTo>
                    <a:pt x="7567158" y="54610"/>
                  </a:lnTo>
                  <a:lnTo>
                    <a:pt x="7566751" y="52070"/>
                  </a:lnTo>
                  <a:lnTo>
                    <a:pt x="7566131" y="49530"/>
                  </a:lnTo>
                  <a:lnTo>
                    <a:pt x="7581636" y="49530"/>
                  </a:lnTo>
                  <a:lnTo>
                    <a:pt x="7582194" y="52070"/>
                  </a:lnTo>
                  <a:lnTo>
                    <a:pt x="7582834" y="58420"/>
                  </a:lnTo>
                  <a:lnTo>
                    <a:pt x="7582753" y="287020"/>
                  </a:lnTo>
                  <a:lnTo>
                    <a:pt x="7582672" y="288290"/>
                  </a:lnTo>
                  <a:close/>
                </a:path>
                <a:path w="7583170" h="345439">
                  <a:moveTo>
                    <a:pt x="7580513" y="299720"/>
                  </a:moveTo>
                  <a:lnTo>
                    <a:pt x="7564729" y="299720"/>
                  </a:lnTo>
                  <a:lnTo>
                    <a:pt x="7566131" y="294640"/>
                  </a:lnTo>
                  <a:lnTo>
                    <a:pt x="7566670" y="292100"/>
                  </a:lnTo>
                  <a:lnTo>
                    <a:pt x="7567097" y="289560"/>
                  </a:lnTo>
                  <a:lnTo>
                    <a:pt x="7567452" y="287020"/>
                  </a:lnTo>
                  <a:lnTo>
                    <a:pt x="7567412" y="288290"/>
                  </a:lnTo>
                  <a:lnTo>
                    <a:pt x="7582672" y="288290"/>
                  </a:lnTo>
                  <a:lnTo>
                    <a:pt x="7582591" y="289560"/>
                  </a:lnTo>
                  <a:lnTo>
                    <a:pt x="7582194" y="292100"/>
                  </a:lnTo>
                  <a:lnTo>
                    <a:pt x="7581636" y="295910"/>
                  </a:lnTo>
                  <a:lnTo>
                    <a:pt x="7580935" y="298450"/>
                  </a:lnTo>
                  <a:lnTo>
                    <a:pt x="7580513" y="299720"/>
                  </a:lnTo>
                  <a:close/>
                </a:path>
                <a:path w="7583170" h="345439">
                  <a:moveTo>
                    <a:pt x="18475" y="299720"/>
                  </a:moveTo>
                  <a:lnTo>
                    <a:pt x="18105" y="299720"/>
                  </a:lnTo>
                  <a:lnTo>
                    <a:pt x="17983" y="298450"/>
                  </a:lnTo>
                  <a:lnTo>
                    <a:pt x="18475" y="299720"/>
                  </a:lnTo>
                  <a:close/>
                </a:path>
                <a:path w="7583170" h="345439">
                  <a:moveTo>
                    <a:pt x="7578542" y="306070"/>
                  </a:moveTo>
                  <a:lnTo>
                    <a:pt x="7561854" y="306070"/>
                  </a:lnTo>
                  <a:lnTo>
                    <a:pt x="7563073" y="303530"/>
                  </a:lnTo>
                  <a:lnTo>
                    <a:pt x="7562911" y="303530"/>
                  </a:lnTo>
                  <a:lnTo>
                    <a:pt x="7564018" y="300990"/>
                  </a:lnTo>
                  <a:lnTo>
                    <a:pt x="7563866" y="300990"/>
                  </a:lnTo>
                  <a:lnTo>
                    <a:pt x="7564861" y="298450"/>
                  </a:lnTo>
                  <a:lnTo>
                    <a:pt x="7564729" y="299720"/>
                  </a:lnTo>
                  <a:lnTo>
                    <a:pt x="7580513" y="299720"/>
                  </a:lnTo>
                  <a:lnTo>
                    <a:pt x="7580091" y="300990"/>
                  </a:lnTo>
                  <a:lnTo>
                    <a:pt x="7579106" y="304800"/>
                  </a:lnTo>
                  <a:lnTo>
                    <a:pt x="7578542" y="306070"/>
                  </a:lnTo>
                  <a:close/>
                </a:path>
                <a:path w="7583170" h="345439">
                  <a:moveTo>
                    <a:pt x="21407" y="306070"/>
                  </a:moveTo>
                  <a:lnTo>
                    <a:pt x="20980" y="306070"/>
                  </a:lnTo>
                  <a:lnTo>
                    <a:pt x="20716" y="304800"/>
                  </a:lnTo>
                  <a:lnTo>
                    <a:pt x="21407" y="306070"/>
                  </a:lnTo>
                  <a:close/>
                </a:path>
                <a:path w="7583170" h="345439">
                  <a:moveTo>
                    <a:pt x="7576718" y="309880"/>
                  </a:moveTo>
                  <a:lnTo>
                    <a:pt x="7559365" y="309880"/>
                  </a:lnTo>
                  <a:lnTo>
                    <a:pt x="7562128" y="304800"/>
                  </a:lnTo>
                  <a:lnTo>
                    <a:pt x="7561854" y="306070"/>
                  </a:lnTo>
                  <a:lnTo>
                    <a:pt x="7578542" y="306070"/>
                  </a:lnTo>
                  <a:lnTo>
                    <a:pt x="7577978" y="307340"/>
                  </a:lnTo>
                  <a:lnTo>
                    <a:pt x="7576718" y="309880"/>
                  </a:lnTo>
                  <a:close/>
                </a:path>
                <a:path w="7583170" h="345439">
                  <a:moveTo>
                    <a:pt x="23858" y="309880"/>
                  </a:moveTo>
                  <a:lnTo>
                    <a:pt x="23479" y="309880"/>
                  </a:lnTo>
                  <a:lnTo>
                    <a:pt x="23063" y="308610"/>
                  </a:lnTo>
                  <a:lnTo>
                    <a:pt x="23858" y="309880"/>
                  </a:lnTo>
                  <a:close/>
                </a:path>
                <a:path w="7583170" h="345439">
                  <a:moveTo>
                    <a:pt x="7574521" y="313690"/>
                  </a:moveTo>
                  <a:lnTo>
                    <a:pt x="7556591" y="313690"/>
                  </a:lnTo>
                  <a:lnTo>
                    <a:pt x="7559771" y="308610"/>
                  </a:lnTo>
                  <a:lnTo>
                    <a:pt x="7559365" y="309880"/>
                  </a:lnTo>
                  <a:lnTo>
                    <a:pt x="7576718" y="309880"/>
                  </a:lnTo>
                  <a:lnTo>
                    <a:pt x="7575296" y="312420"/>
                  </a:lnTo>
                  <a:lnTo>
                    <a:pt x="7574521" y="313690"/>
                  </a:lnTo>
                  <a:close/>
                </a:path>
                <a:path w="7583170" h="345439">
                  <a:moveTo>
                    <a:pt x="26964" y="313690"/>
                  </a:moveTo>
                  <a:lnTo>
                    <a:pt x="26243" y="313690"/>
                  </a:lnTo>
                  <a:lnTo>
                    <a:pt x="25775" y="312420"/>
                  </a:lnTo>
                  <a:lnTo>
                    <a:pt x="26964" y="313690"/>
                  </a:lnTo>
                  <a:close/>
                </a:path>
                <a:path w="7583170" h="345439">
                  <a:moveTo>
                    <a:pt x="7570388" y="320040"/>
                  </a:moveTo>
                  <a:lnTo>
                    <a:pt x="7550099" y="320040"/>
                  </a:lnTo>
                  <a:lnTo>
                    <a:pt x="7554011" y="316230"/>
                  </a:lnTo>
                  <a:lnTo>
                    <a:pt x="7553503" y="316230"/>
                  </a:lnTo>
                  <a:lnTo>
                    <a:pt x="7557059" y="312420"/>
                  </a:lnTo>
                  <a:lnTo>
                    <a:pt x="7556591" y="313690"/>
                  </a:lnTo>
                  <a:lnTo>
                    <a:pt x="7574521" y="313690"/>
                  </a:lnTo>
                  <a:lnTo>
                    <a:pt x="7572197" y="317500"/>
                  </a:lnTo>
                  <a:lnTo>
                    <a:pt x="7570388" y="320040"/>
                  </a:lnTo>
                  <a:close/>
                </a:path>
                <a:path w="7583170" h="345439">
                  <a:moveTo>
                    <a:pt x="33592" y="320040"/>
                  </a:moveTo>
                  <a:lnTo>
                    <a:pt x="32745" y="320040"/>
                  </a:lnTo>
                  <a:lnTo>
                    <a:pt x="32176" y="318770"/>
                  </a:lnTo>
                  <a:lnTo>
                    <a:pt x="33592" y="320040"/>
                  </a:lnTo>
                  <a:close/>
                </a:path>
                <a:path w="7583170" h="345439">
                  <a:moveTo>
                    <a:pt x="7568580" y="322580"/>
                  </a:moveTo>
                  <a:lnTo>
                    <a:pt x="7546411" y="322580"/>
                  </a:lnTo>
                  <a:lnTo>
                    <a:pt x="7550658" y="318770"/>
                  </a:lnTo>
                  <a:lnTo>
                    <a:pt x="7550099" y="320040"/>
                  </a:lnTo>
                  <a:lnTo>
                    <a:pt x="7570388" y="320040"/>
                  </a:lnTo>
                  <a:lnTo>
                    <a:pt x="7568580" y="322580"/>
                  </a:lnTo>
                  <a:close/>
                </a:path>
                <a:path w="7583170" h="345439">
                  <a:moveTo>
                    <a:pt x="37331" y="322580"/>
                  </a:moveTo>
                  <a:lnTo>
                    <a:pt x="36423" y="322580"/>
                  </a:lnTo>
                  <a:lnTo>
                    <a:pt x="35814" y="321310"/>
                  </a:lnTo>
                  <a:lnTo>
                    <a:pt x="37331" y="322580"/>
                  </a:lnTo>
                  <a:close/>
                </a:path>
                <a:path w="7583170" h="345439">
                  <a:moveTo>
                    <a:pt x="7561563" y="330200"/>
                  </a:moveTo>
                  <a:lnTo>
                    <a:pt x="7527198" y="330200"/>
                  </a:lnTo>
                  <a:lnTo>
                    <a:pt x="7529911" y="328930"/>
                  </a:lnTo>
                  <a:lnTo>
                    <a:pt x="7531841" y="328930"/>
                  </a:lnTo>
                  <a:lnTo>
                    <a:pt x="7534453" y="327660"/>
                  </a:lnTo>
                  <a:lnTo>
                    <a:pt x="7536302" y="327660"/>
                  </a:lnTo>
                  <a:lnTo>
                    <a:pt x="7538811" y="326390"/>
                  </a:lnTo>
                  <a:lnTo>
                    <a:pt x="7538466" y="326390"/>
                  </a:lnTo>
                  <a:lnTo>
                    <a:pt x="7540914" y="325120"/>
                  </a:lnTo>
                  <a:lnTo>
                    <a:pt x="7542469" y="325120"/>
                  </a:lnTo>
                  <a:lnTo>
                    <a:pt x="7547020" y="321310"/>
                  </a:lnTo>
                  <a:lnTo>
                    <a:pt x="7546411" y="322580"/>
                  </a:lnTo>
                  <a:lnTo>
                    <a:pt x="7568580" y="322580"/>
                  </a:lnTo>
                  <a:lnTo>
                    <a:pt x="7564536" y="327660"/>
                  </a:lnTo>
                  <a:lnTo>
                    <a:pt x="7561563" y="330200"/>
                  </a:lnTo>
                  <a:close/>
                </a:path>
                <a:path w="7583170" h="345439">
                  <a:moveTo>
                    <a:pt x="42265" y="325120"/>
                  </a:moveTo>
                  <a:lnTo>
                    <a:pt x="40365" y="325120"/>
                  </a:lnTo>
                  <a:lnTo>
                    <a:pt x="39888" y="323850"/>
                  </a:lnTo>
                  <a:lnTo>
                    <a:pt x="42265" y="325120"/>
                  </a:lnTo>
                  <a:close/>
                </a:path>
                <a:path w="7583170" h="345439">
                  <a:moveTo>
                    <a:pt x="7542469" y="325120"/>
                  </a:moveTo>
                  <a:lnTo>
                    <a:pt x="7540579" y="325120"/>
                  </a:lnTo>
                  <a:lnTo>
                    <a:pt x="7542956" y="323850"/>
                  </a:lnTo>
                  <a:lnTo>
                    <a:pt x="7542469" y="325120"/>
                  </a:lnTo>
                  <a:close/>
                </a:path>
                <a:path w="7583170" h="345439">
                  <a:moveTo>
                    <a:pt x="7532776" y="344170"/>
                  </a:moveTo>
                  <a:lnTo>
                    <a:pt x="50058" y="344170"/>
                  </a:lnTo>
                  <a:lnTo>
                    <a:pt x="47020" y="342900"/>
                  </a:lnTo>
                  <a:lnTo>
                    <a:pt x="7535824" y="342900"/>
                  </a:lnTo>
                  <a:lnTo>
                    <a:pt x="7532776" y="344170"/>
                  </a:lnTo>
                  <a:close/>
                </a:path>
                <a:path w="7583170" h="345439">
                  <a:moveTo>
                    <a:pt x="7526548" y="345440"/>
                  </a:moveTo>
                  <a:lnTo>
                    <a:pt x="56286" y="345440"/>
                  </a:lnTo>
                  <a:lnTo>
                    <a:pt x="53146" y="344170"/>
                  </a:lnTo>
                  <a:lnTo>
                    <a:pt x="7529687" y="344170"/>
                  </a:lnTo>
                  <a:lnTo>
                    <a:pt x="7526548" y="345440"/>
                  </a:lnTo>
                  <a:close/>
                </a:path>
              </a:pathLst>
            </a:custGeom>
            <a:solidFill>
              <a:srgbClr val="001B3B"/>
            </a:solidFill>
          </p:spPr>
          <p:txBody>
            <a:bodyPr wrap="square" lIns="0" tIns="0" rIns="0" bIns="0" rtlCol="0"/>
            <a:lstStyle/>
            <a:p>
              <a:endParaRPr/>
            </a:p>
          </p:txBody>
        </p:sp>
      </p:grpSp>
      <p:graphicFrame>
        <p:nvGraphicFramePr>
          <p:cNvPr id="5" name="object 5"/>
          <p:cNvGraphicFramePr>
            <a:graphicFrameLocks noGrp="1"/>
          </p:cNvGraphicFramePr>
          <p:nvPr/>
        </p:nvGraphicFramePr>
        <p:xfrm>
          <a:off x="121919" y="121919"/>
          <a:ext cx="9755504" cy="5476875"/>
        </p:xfrm>
        <a:graphic>
          <a:graphicData uri="http://schemas.openxmlformats.org/drawingml/2006/table">
            <a:tbl>
              <a:tblPr firstRow="1" bandRow="1">
                <a:tableStyleId>{2D5ABB26-0587-4C30-8999-92F81FD0307C}</a:tableStyleId>
              </a:tblPr>
              <a:tblGrid>
                <a:gridCol w="248285">
                  <a:extLst>
                    <a:ext uri="{9D8B030D-6E8A-4147-A177-3AD203B41FA5}">
                      <a16:colId xmlns:a16="http://schemas.microsoft.com/office/drawing/2014/main" val="20000"/>
                    </a:ext>
                  </a:extLst>
                </a:gridCol>
                <a:gridCol w="1673860">
                  <a:extLst>
                    <a:ext uri="{9D8B030D-6E8A-4147-A177-3AD203B41FA5}">
                      <a16:colId xmlns:a16="http://schemas.microsoft.com/office/drawing/2014/main" val="20001"/>
                    </a:ext>
                  </a:extLst>
                </a:gridCol>
                <a:gridCol w="1832610">
                  <a:extLst>
                    <a:ext uri="{9D8B030D-6E8A-4147-A177-3AD203B41FA5}">
                      <a16:colId xmlns:a16="http://schemas.microsoft.com/office/drawing/2014/main" val="20002"/>
                    </a:ext>
                  </a:extLst>
                </a:gridCol>
                <a:gridCol w="2098040">
                  <a:extLst>
                    <a:ext uri="{9D8B030D-6E8A-4147-A177-3AD203B41FA5}">
                      <a16:colId xmlns:a16="http://schemas.microsoft.com/office/drawing/2014/main" val="20003"/>
                    </a:ext>
                  </a:extLst>
                </a:gridCol>
                <a:gridCol w="2258060">
                  <a:extLst>
                    <a:ext uri="{9D8B030D-6E8A-4147-A177-3AD203B41FA5}">
                      <a16:colId xmlns:a16="http://schemas.microsoft.com/office/drawing/2014/main" val="20004"/>
                    </a:ext>
                  </a:extLst>
                </a:gridCol>
                <a:gridCol w="1396365">
                  <a:extLst>
                    <a:ext uri="{9D8B030D-6E8A-4147-A177-3AD203B41FA5}">
                      <a16:colId xmlns:a16="http://schemas.microsoft.com/office/drawing/2014/main" val="20005"/>
                    </a:ext>
                  </a:extLst>
                </a:gridCol>
                <a:gridCol w="248284">
                  <a:extLst>
                    <a:ext uri="{9D8B030D-6E8A-4147-A177-3AD203B41FA5}">
                      <a16:colId xmlns:a16="http://schemas.microsoft.com/office/drawing/2014/main" val="20006"/>
                    </a:ext>
                  </a:extLst>
                </a:gridCol>
              </a:tblGrid>
              <a:tr h="629285">
                <a:tc gridSpan="7">
                  <a:txBody>
                    <a:bodyPr/>
                    <a:lstStyle/>
                    <a:p>
                      <a:pPr marL="572135">
                        <a:lnSpc>
                          <a:spcPct val="100000"/>
                        </a:lnSpc>
                        <a:spcBef>
                          <a:spcPts val="1530"/>
                        </a:spcBef>
                      </a:pPr>
                      <a:r>
                        <a:rPr sz="2200" b="1" spc="-20" dirty="0">
                          <a:latin typeface="微软雅黑" panose="020B0503020204020204" charset="-122"/>
                          <a:cs typeface="微软雅黑" panose="020B0503020204020204" charset="-122"/>
                        </a:rPr>
                        <a:t>安全性</a:t>
                      </a:r>
                      <a:endParaRPr sz="2200">
                        <a:latin typeface="微软雅黑" panose="020B0503020204020204" charset="-122"/>
                        <a:cs typeface="微软雅黑" panose="020B0503020204020204" charset="-122"/>
                      </a:endParaRPr>
                    </a:p>
                  </a:txBody>
                  <a:tcPr marL="0" marR="0" marT="194310" marB="0">
                    <a:lnL w="12700">
                      <a:solidFill>
                        <a:srgbClr val="CCCCCC"/>
                      </a:solidFill>
                      <a:prstDash val="solid"/>
                    </a:lnL>
                    <a:lnR w="12700">
                      <a:solidFill>
                        <a:srgbClr val="CCCCCC"/>
                      </a:solidFill>
                      <a:prstDash val="solid"/>
                    </a:lnR>
                    <a:lnT w="12700">
                      <a:solidFill>
                        <a:srgbClr val="CCCCCC"/>
                      </a:solidFill>
                      <a:prstDash val="solid"/>
                    </a:lnT>
                  </a:tcPr>
                </a:tc>
                <a:tc hMerge="1">
                  <a:txBody>
                    <a:bodyPr/>
                    <a:lstStyle/>
                    <a:p>
                      <a:endParaRPr lang="zh-CN"/>
                    </a:p>
                  </a:txBody>
                  <a:tcPr marL="0" marR="0" marT="0" marB="0"/>
                </a:tc>
                <a:tc hMerge="1">
                  <a:txBody>
                    <a:bodyPr/>
                    <a:lstStyle/>
                    <a:p>
                      <a:endParaRPr lang="zh-CN"/>
                    </a:p>
                  </a:txBody>
                  <a:tcPr marL="0" marR="0" marT="0" marB="0"/>
                </a:tc>
                <a:tc hMerge="1">
                  <a:txBody>
                    <a:bodyPr/>
                    <a:lstStyle/>
                    <a:p>
                      <a:endParaRPr lang="zh-CN"/>
                    </a:p>
                  </a:txBody>
                  <a:tcPr marL="0" marR="0" marT="0" marB="0"/>
                </a:tc>
                <a:tc hMerge="1">
                  <a:txBody>
                    <a:bodyPr/>
                    <a:lstStyle/>
                    <a:p>
                      <a:endParaRPr lang="zh-CN"/>
                    </a:p>
                  </a:txBody>
                  <a:tcPr marL="0" marR="0" marT="0" marB="0"/>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00"/>
                  </a:ext>
                </a:extLst>
              </a:tr>
              <a:tr h="325120">
                <a:tc rowSpan="18">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750"/>
                        </a:spcBef>
                      </a:pPr>
                      <a:r>
                        <a:rPr sz="800" b="1" spc="-20" dirty="0">
                          <a:solidFill>
                            <a:srgbClr val="FFFFFF"/>
                          </a:solidFill>
                          <a:latin typeface="微软雅黑" panose="020B0503020204020204" charset="-122"/>
                          <a:cs typeface="微软雅黑" panose="020B0503020204020204" charset="-122"/>
                        </a:rPr>
                        <a:t>系统器官分类</a:t>
                      </a:r>
                      <a:endParaRPr sz="800">
                        <a:latin typeface="微软雅黑" panose="020B0503020204020204" charset="-122"/>
                        <a:cs typeface="微软雅黑" panose="020B0503020204020204" charset="-122"/>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14D94"/>
                    </a:solidFill>
                  </a:tcPr>
                </a:tc>
                <a:tc>
                  <a:txBody>
                    <a:bodyPr/>
                    <a:lstStyle/>
                    <a:p>
                      <a:pPr algn="ctr">
                        <a:lnSpc>
                          <a:spcPct val="100000"/>
                        </a:lnSpc>
                        <a:spcBef>
                          <a:spcPts val="270"/>
                        </a:spcBef>
                      </a:pPr>
                      <a:r>
                        <a:rPr sz="800" b="1" spc="-30" dirty="0">
                          <a:solidFill>
                            <a:srgbClr val="FFFFFF"/>
                          </a:solidFill>
                          <a:latin typeface="微软雅黑" panose="020B0503020204020204" charset="-122"/>
                          <a:cs typeface="微软雅黑" panose="020B0503020204020204" charset="-122"/>
                        </a:rPr>
                        <a:t>常见</a:t>
                      </a:r>
                      <a:endParaRPr sz="800">
                        <a:latin typeface="微软雅黑" panose="020B0503020204020204" charset="-122"/>
                        <a:cs typeface="微软雅黑" panose="020B0503020204020204" charset="-122"/>
                      </a:endParaRPr>
                    </a:p>
                    <a:p>
                      <a:pPr algn="ctr">
                        <a:lnSpc>
                          <a:spcPct val="100000"/>
                        </a:lnSpc>
                      </a:pPr>
                      <a:r>
                        <a:rPr sz="800" b="1" spc="-5" dirty="0">
                          <a:solidFill>
                            <a:srgbClr val="FFFFFF"/>
                          </a:solidFill>
                          <a:latin typeface="微软雅黑" panose="020B0503020204020204" charset="-122"/>
                          <a:cs typeface="微软雅黑" panose="020B0503020204020204" charset="-122"/>
                        </a:rPr>
                        <a:t>≥ </a:t>
                      </a:r>
                      <a:r>
                        <a:rPr sz="800" b="1" dirty="0">
                          <a:solidFill>
                            <a:srgbClr val="FFFFFF"/>
                          </a:solidFill>
                          <a:latin typeface="微软雅黑" panose="020B0503020204020204" charset="-122"/>
                          <a:cs typeface="微软雅黑" panose="020B0503020204020204" charset="-122"/>
                        </a:rPr>
                        <a:t>1/100</a:t>
                      </a:r>
                      <a:r>
                        <a:rPr sz="800" b="1" spc="-10" dirty="0">
                          <a:solidFill>
                            <a:srgbClr val="FFFFFF"/>
                          </a:solidFill>
                          <a:latin typeface="微软雅黑" panose="020B0503020204020204" charset="-122"/>
                          <a:cs typeface="微软雅黑" panose="020B0503020204020204" charset="-122"/>
                        </a:rPr>
                        <a:t> 至&lt; </a:t>
                      </a:r>
                      <a:r>
                        <a:rPr sz="800" b="1" spc="-20" dirty="0">
                          <a:solidFill>
                            <a:srgbClr val="FFFFFF"/>
                          </a:solidFill>
                          <a:latin typeface="微软雅黑" panose="020B0503020204020204" charset="-122"/>
                          <a:cs typeface="微软雅黑" panose="020B0503020204020204" charset="-122"/>
                        </a:rPr>
                        <a:t>1/10</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14D94"/>
                    </a:solidFill>
                  </a:tcPr>
                </a:tc>
                <a:tc>
                  <a:txBody>
                    <a:bodyPr/>
                    <a:lstStyle/>
                    <a:p>
                      <a:pPr algn="ctr">
                        <a:lnSpc>
                          <a:spcPct val="100000"/>
                        </a:lnSpc>
                        <a:spcBef>
                          <a:spcPts val="270"/>
                        </a:spcBef>
                      </a:pPr>
                      <a:r>
                        <a:rPr sz="800" b="1" spc="-30" dirty="0">
                          <a:solidFill>
                            <a:srgbClr val="FFFFFF"/>
                          </a:solidFill>
                          <a:latin typeface="微软雅黑" panose="020B0503020204020204" charset="-122"/>
                          <a:cs typeface="微软雅黑" panose="020B0503020204020204" charset="-122"/>
                        </a:rPr>
                        <a:t>少见</a:t>
                      </a:r>
                      <a:endParaRPr sz="800">
                        <a:latin typeface="微软雅黑" panose="020B0503020204020204" charset="-122"/>
                        <a:cs typeface="微软雅黑" panose="020B0503020204020204" charset="-122"/>
                      </a:endParaRPr>
                    </a:p>
                    <a:p>
                      <a:pPr algn="ctr">
                        <a:lnSpc>
                          <a:spcPct val="100000"/>
                        </a:lnSpc>
                      </a:pPr>
                      <a:r>
                        <a:rPr sz="800" b="1" spc="-5" dirty="0">
                          <a:solidFill>
                            <a:srgbClr val="FFFFFF"/>
                          </a:solidFill>
                          <a:latin typeface="微软雅黑" panose="020B0503020204020204" charset="-122"/>
                          <a:cs typeface="微软雅黑" panose="020B0503020204020204" charset="-122"/>
                        </a:rPr>
                        <a:t>≥ </a:t>
                      </a:r>
                      <a:r>
                        <a:rPr sz="800" b="1" dirty="0">
                          <a:solidFill>
                            <a:srgbClr val="FFFFFF"/>
                          </a:solidFill>
                          <a:latin typeface="微软雅黑" panose="020B0503020204020204" charset="-122"/>
                          <a:cs typeface="微软雅黑" panose="020B0503020204020204" charset="-122"/>
                        </a:rPr>
                        <a:t>1/1000</a:t>
                      </a:r>
                      <a:r>
                        <a:rPr sz="800" b="1" spc="-10" dirty="0">
                          <a:solidFill>
                            <a:srgbClr val="FFFFFF"/>
                          </a:solidFill>
                          <a:latin typeface="微软雅黑" panose="020B0503020204020204" charset="-122"/>
                          <a:cs typeface="微软雅黑" panose="020B0503020204020204" charset="-122"/>
                        </a:rPr>
                        <a:t> 至 &lt; 1/100</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14D94"/>
                    </a:solidFill>
                  </a:tcPr>
                </a:tc>
                <a:tc>
                  <a:txBody>
                    <a:bodyPr/>
                    <a:lstStyle/>
                    <a:p>
                      <a:pPr algn="ctr">
                        <a:lnSpc>
                          <a:spcPct val="100000"/>
                        </a:lnSpc>
                        <a:spcBef>
                          <a:spcPts val="270"/>
                        </a:spcBef>
                      </a:pPr>
                      <a:r>
                        <a:rPr sz="800" b="1" spc="-30" dirty="0">
                          <a:solidFill>
                            <a:srgbClr val="FFFFFF"/>
                          </a:solidFill>
                          <a:latin typeface="微软雅黑" panose="020B0503020204020204" charset="-122"/>
                          <a:cs typeface="微软雅黑" panose="020B0503020204020204" charset="-122"/>
                        </a:rPr>
                        <a:t>罕见</a:t>
                      </a:r>
                      <a:endParaRPr sz="800">
                        <a:latin typeface="微软雅黑" panose="020B0503020204020204" charset="-122"/>
                        <a:cs typeface="微软雅黑" panose="020B0503020204020204" charset="-122"/>
                      </a:endParaRPr>
                    </a:p>
                    <a:p>
                      <a:pPr marL="29210" algn="ctr">
                        <a:lnSpc>
                          <a:spcPct val="100000"/>
                        </a:lnSpc>
                      </a:pPr>
                      <a:r>
                        <a:rPr sz="800" b="1" spc="-5" dirty="0">
                          <a:solidFill>
                            <a:srgbClr val="FFFFFF"/>
                          </a:solidFill>
                          <a:latin typeface="微软雅黑" panose="020B0503020204020204" charset="-122"/>
                          <a:cs typeface="微软雅黑" panose="020B0503020204020204" charset="-122"/>
                        </a:rPr>
                        <a:t>≥ </a:t>
                      </a:r>
                      <a:r>
                        <a:rPr sz="800" b="1" dirty="0">
                          <a:solidFill>
                            <a:srgbClr val="FFFFFF"/>
                          </a:solidFill>
                          <a:latin typeface="微软雅黑" panose="020B0503020204020204" charset="-122"/>
                          <a:cs typeface="微软雅黑" panose="020B0503020204020204" charset="-122"/>
                        </a:rPr>
                        <a:t>1/10000</a:t>
                      </a:r>
                      <a:r>
                        <a:rPr sz="800" b="1" spc="-10" dirty="0">
                          <a:solidFill>
                            <a:srgbClr val="FFFFFF"/>
                          </a:solidFill>
                          <a:latin typeface="微软雅黑" panose="020B0503020204020204" charset="-122"/>
                          <a:cs typeface="微软雅黑" panose="020B0503020204020204" charset="-122"/>
                        </a:rPr>
                        <a:t> 至 &lt; 1/1000</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14D94"/>
                    </a:solidFill>
                  </a:tcPr>
                </a:tc>
                <a:tc>
                  <a:txBody>
                    <a:bodyPr/>
                    <a:lstStyle/>
                    <a:p>
                      <a:pPr algn="ctr">
                        <a:lnSpc>
                          <a:spcPct val="100000"/>
                        </a:lnSpc>
                        <a:spcBef>
                          <a:spcPts val="270"/>
                        </a:spcBef>
                      </a:pPr>
                      <a:r>
                        <a:rPr sz="800" b="1" spc="-20" dirty="0">
                          <a:solidFill>
                            <a:srgbClr val="FFFFFF"/>
                          </a:solidFill>
                          <a:latin typeface="微软雅黑" panose="020B0503020204020204" charset="-122"/>
                          <a:cs typeface="微软雅黑" panose="020B0503020204020204" charset="-122"/>
                        </a:rPr>
                        <a:t>频率未知</a:t>
                      </a:r>
                      <a:endParaRPr sz="800">
                        <a:latin typeface="微软雅黑" panose="020B0503020204020204" charset="-122"/>
                        <a:cs typeface="微软雅黑" panose="020B0503020204020204" charset="-122"/>
                      </a:endParaRPr>
                    </a:p>
                    <a:p>
                      <a:pPr algn="ctr">
                        <a:lnSpc>
                          <a:spcPct val="100000"/>
                        </a:lnSpc>
                      </a:pPr>
                      <a:r>
                        <a:rPr sz="800" b="1" spc="-10" dirty="0">
                          <a:solidFill>
                            <a:srgbClr val="FFFFFF"/>
                          </a:solidFill>
                          <a:latin typeface="微软雅黑" panose="020B0503020204020204" charset="-122"/>
                          <a:cs typeface="微软雅黑" panose="020B0503020204020204" charset="-122"/>
                        </a:rPr>
                        <a:t>（无法从已有数据中估测</a:t>
                      </a:r>
                      <a:r>
                        <a:rPr sz="800" b="1" spc="-50" dirty="0">
                          <a:solidFill>
                            <a:srgbClr val="FFFFFF"/>
                          </a:solidFill>
                          <a:latin typeface="微软雅黑" panose="020B0503020204020204" charset="-122"/>
                          <a:cs typeface="微软雅黑" panose="020B0503020204020204" charset="-122"/>
                        </a:rPr>
                        <a:t>）</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14D94"/>
                    </a:solidFill>
                  </a:tcPr>
                </a:tc>
                <a:tc rowSpan="18">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01"/>
                  </a:ext>
                </a:extLst>
              </a:tr>
              <a:tr h="20320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感染及侵染类疾病</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0DD"/>
                    </a:solidFill>
                  </a:tcPr>
                </a:tc>
                <a:tc>
                  <a:txBody>
                    <a:bodyPr/>
                    <a:lstStyle/>
                    <a:p>
                      <a:pPr marL="467995">
                        <a:lnSpc>
                          <a:spcPct val="100000"/>
                        </a:lnSpc>
                        <a:spcBef>
                          <a:spcPts val="270"/>
                        </a:spcBef>
                      </a:pPr>
                      <a:r>
                        <a:rPr sz="800" spc="-15" dirty="0">
                          <a:latin typeface="微软雅黑" panose="020B0503020204020204" charset="-122"/>
                          <a:cs typeface="微软雅黑" panose="020B0503020204020204" charset="-122"/>
                        </a:rPr>
                        <a:t>外阴阴道念珠菌病、阴道感染</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0DD"/>
                    </a:solidFill>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双重感染</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0DD"/>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02"/>
                  </a:ext>
                </a:extLst>
              </a:tr>
              <a:tr h="56896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nSpc>
                          <a:spcPct val="100000"/>
                        </a:lnSpc>
                        <a:spcBef>
                          <a:spcPts val="790"/>
                        </a:spcBef>
                      </a:pPr>
                      <a:endParaRPr sz="800">
                        <a:latin typeface="Times New Roman" panose="02020603050405020304"/>
                        <a:cs typeface="Times New Roman" panose="02020603050405020304"/>
                      </a:endParaRPr>
                    </a:p>
                    <a:p>
                      <a:pPr algn="ctr">
                        <a:lnSpc>
                          <a:spcPct val="100000"/>
                        </a:lnSpc>
                      </a:pPr>
                      <a:r>
                        <a:rPr sz="800" spc="-20" dirty="0">
                          <a:latin typeface="微软雅黑" panose="020B0503020204020204" charset="-122"/>
                          <a:cs typeface="微软雅黑" panose="020B0503020204020204" charset="-122"/>
                        </a:rPr>
                        <a:t>血液及淋巴系统疾病</a:t>
                      </a:r>
                      <a:endParaRPr sz="800">
                        <a:latin typeface="微软雅黑" panose="020B0503020204020204" charset="-122"/>
                        <a:cs typeface="微软雅黑" panose="020B0503020204020204" charset="-122"/>
                      </a:endParaRPr>
                    </a:p>
                  </a:txBody>
                  <a:tcPr marL="0" marR="0" marT="1003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spcBef>
                          <a:spcPts val="790"/>
                        </a:spcBef>
                      </a:pPr>
                      <a:endParaRPr sz="800">
                        <a:latin typeface="Times New Roman" panose="02020603050405020304"/>
                        <a:cs typeface="Times New Roman" panose="02020603050405020304"/>
                      </a:endParaRPr>
                    </a:p>
                    <a:p>
                      <a:pPr algn="ctr">
                        <a:lnSpc>
                          <a:spcPct val="100000"/>
                        </a:lnSpc>
                      </a:pPr>
                      <a:r>
                        <a:rPr sz="800" spc="-15" dirty="0">
                          <a:latin typeface="微软雅黑" panose="020B0503020204020204" charset="-122"/>
                          <a:cs typeface="微软雅黑" panose="020B0503020204020204" charset="-122"/>
                        </a:rPr>
                        <a:t>贫血、血小板增多症、血小板减少症</a:t>
                      </a:r>
                      <a:endParaRPr sz="800">
                        <a:latin typeface="微软雅黑" panose="020B0503020204020204" charset="-122"/>
                        <a:cs typeface="微软雅黑" panose="020B0503020204020204" charset="-122"/>
                      </a:endParaRPr>
                    </a:p>
                  </a:txBody>
                  <a:tcPr marL="0" marR="0" marT="1003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spcBef>
                          <a:spcPts val="790"/>
                        </a:spcBef>
                      </a:pPr>
                      <a:endParaRPr sz="800">
                        <a:latin typeface="Times New Roman" panose="02020603050405020304"/>
                        <a:cs typeface="Times New Roman" panose="02020603050405020304"/>
                      </a:endParaRPr>
                    </a:p>
                    <a:p>
                      <a:pPr algn="ctr">
                        <a:lnSpc>
                          <a:spcPct val="100000"/>
                        </a:lnSpc>
                      </a:pPr>
                      <a:r>
                        <a:rPr sz="800" spc="-15" dirty="0">
                          <a:latin typeface="微软雅黑" panose="020B0503020204020204" charset="-122"/>
                          <a:cs typeface="微软雅黑" panose="020B0503020204020204" charset="-122"/>
                        </a:rPr>
                        <a:t>嗜酸粒细胞计数增多、白细胞增多症</a:t>
                      </a:r>
                      <a:endParaRPr sz="800">
                        <a:latin typeface="微软雅黑" panose="020B0503020204020204" charset="-122"/>
                        <a:cs typeface="微软雅黑" panose="020B0503020204020204" charset="-122"/>
                      </a:endParaRPr>
                    </a:p>
                  </a:txBody>
                  <a:tcPr marL="0" marR="0" marT="1003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marL="82550" marR="75565" algn="ctr">
                        <a:lnSpc>
                          <a:spcPct val="100000"/>
                        </a:lnSpc>
                        <a:spcBef>
                          <a:spcPts val="270"/>
                        </a:spcBef>
                      </a:pPr>
                      <a:r>
                        <a:rPr sz="800" spc="-15" dirty="0">
                          <a:latin typeface="微软雅黑" panose="020B0503020204020204" charset="-122"/>
                          <a:cs typeface="微软雅黑" panose="020B0503020204020204" charset="-122"/>
                        </a:rPr>
                        <a:t>全血细胞减少症、中性粒细胞减少症、凝血酶原时间延长、活化部分凝血活酶时间延长、 库姆斯试验阳性、 直接库姆斯试验 阳性、间接库</a:t>
                      </a:r>
                      <a:r>
                        <a:rPr sz="800" spc="-20" dirty="0">
                          <a:latin typeface="微软雅黑" panose="020B0503020204020204" charset="-122"/>
                          <a:cs typeface="微软雅黑" panose="020B0503020204020204" charset="-122"/>
                        </a:rPr>
                        <a:t>姆斯试验阳性</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03"/>
                  </a:ext>
                </a:extLst>
              </a:tr>
              <a:tr h="20320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免疫系统疾病</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gn="ctr">
                        <a:lnSpc>
                          <a:spcPct val="100000"/>
                        </a:lnSpc>
                        <a:spcBef>
                          <a:spcPts val="270"/>
                        </a:spcBef>
                      </a:pPr>
                      <a:r>
                        <a:rPr sz="800" spc="-15" dirty="0">
                          <a:latin typeface="微软雅黑" panose="020B0503020204020204" charset="-122"/>
                          <a:cs typeface="微软雅黑" panose="020B0503020204020204" charset="-122"/>
                        </a:rPr>
                        <a:t>速发严重过敏反应、药物性超敏反应</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04"/>
                  </a:ext>
                </a:extLst>
              </a:tr>
              <a:tr h="20320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精神病类</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意识模糊状态</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gn="ctr">
                        <a:lnSpc>
                          <a:spcPct val="100000"/>
                        </a:lnSpc>
                        <a:spcBef>
                          <a:spcPts val="270"/>
                        </a:spcBef>
                      </a:pPr>
                      <a:r>
                        <a:rPr sz="800" spc="-30" dirty="0">
                          <a:latin typeface="微软雅黑" panose="020B0503020204020204" charset="-122"/>
                          <a:cs typeface="微软雅黑" panose="020B0503020204020204" charset="-122"/>
                        </a:rPr>
                        <a:t>失眠</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05"/>
                  </a:ext>
                </a:extLst>
              </a:tr>
              <a:tr h="20320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各类神经系统疾病</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gn="ctr">
                        <a:lnSpc>
                          <a:spcPct val="100000"/>
                        </a:lnSpc>
                        <a:spcBef>
                          <a:spcPts val="270"/>
                        </a:spcBef>
                      </a:pPr>
                      <a:r>
                        <a:rPr sz="800" spc="-30" dirty="0">
                          <a:latin typeface="微软雅黑" panose="020B0503020204020204" charset="-122"/>
                          <a:cs typeface="微软雅黑" panose="020B0503020204020204" charset="-122"/>
                        </a:rPr>
                        <a:t>头晕</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gn="ctr">
                        <a:lnSpc>
                          <a:spcPct val="100000"/>
                        </a:lnSpc>
                        <a:spcBef>
                          <a:spcPts val="270"/>
                        </a:spcBef>
                      </a:pPr>
                      <a:r>
                        <a:rPr sz="800" spc="-15" dirty="0">
                          <a:latin typeface="微软雅黑" panose="020B0503020204020204" charset="-122"/>
                          <a:cs typeface="微软雅黑" panose="020B0503020204020204" charset="-122"/>
                        </a:rPr>
                        <a:t>脑病、头痛、口腔感觉减退、 味觉倒错</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marL="569595">
                        <a:lnSpc>
                          <a:spcPct val="100000"/>
                        </a:lnSpc>
                        <a:spcBef>
                          <a:spcPts val="270"/>
                        </a:spcBef>
                      </a:pPr>
                      <a:r>
                        <a:rPr sz="800" spc="-15" dirty="0">
                          <a:latin typeface="微软雅黑" panose="020B0503020204020204" charset="-122"/>
                          <a:cs typeface="微软雅黑" panose="020B0503020204020204" charset="-122"/>
                        </a:rPr>
                        <a:t>痫性发作、皮肤异常感觉</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06"/>
                  </a:ext>
                </a:extLst>
              </a:tr>
              <a:tr h="20320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眼器官疾病</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gn="ctr">
                        <a:lnSpc>
                          <a:spcPct val="100000"/>
                        </a:lnSpc>
                        <a:spcBef>
                          <a:spcPts val="270"/>
                        </a:spcBef>
                      </a:pPr>
                      <a:r>
                        <a:rPr sz="800" spc="-30" dirty="0">
                          <a:latin typeface="微软雅黑" panose="020B0503020204020204" charset="-122"/>
                          <a:cs typeface="微软雅黑" panose="020B0503020204020204" charset="-122"/>
                        </a:rPr>
                        <a:t>复视</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07"/>
                  </a:ext>
                </a:extLst>
              </a:tr>
              <a:tr h="20320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耳及迷路类疾病</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眩晕、耳鸣</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08"/>
                  </a:ext>
                </a:extLst>
              </a:tr>
              <a:tr h="20320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心脏器官疾病</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期外收缩</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09"/>
                  </a:ext>
                </a:extLst>
              </a:tr>
              <a:tr h="20320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血管与淋巴管类疾病</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出血、低血压、潮红</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10"/>
                  </a:ext>
                </a:extLst>
              </a:tr>
              <a:tr h="20320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270"/>
                        </a:spcBef>
                      </a:pPr>
                      <a:r>
                        <a:rPr sz="800" spc="-15" dirty="0">
                          <a:latin typeface="微软雅黑" panose="020B0503020204020204" charset="-122"/>
                          <a:cs typeface="微软雅黑" panose="020B0503020204020204" charset="-122"/>
                        </a:rPr>
                        <a:t>呼吸系统、胸及纵隔疾病</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支气管痉挛</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marL="417195">
                        <a:lnSpc>
                          <a:spcPct val="100000"/>
                        </a:lnSpc>
                        <a:spcBef>
                          <a:spcPts val="270"/>
                        </a:spcBef>
                      </a:pPr>
                      <a:r>
                        <a:rPr sz="800" spc="-15" dirty="0">
                          <a:latin typeface="微软雅黑" panose="020B0503020204020204" charset="-122"/>
                          <a:cs typeface="微软雅黑" panose="020B0503020204020204" charset="-122"/>
                        </a:rPr>
                        <a:t>呼吸困难、哮鸣、喷嚏、鼻充血</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11"/>
                  </a:ext>
                </a:extLst>
              </a:tr>
              <a:tr h="32512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750"/>
                        </a:spcBef>
                      </a:pPr>
                      <a:r>
                        <a:rPr sz="800" spc="-20" dirty="0">
                          <a:latin typeface="微软雅黑" panose="020B0503020204020204" charset="-122"/>
                          <a:cs typeface="微软雅黑" panose="020B0503020204020204" charset="-122"/>
                        </a:rPr>
                        <a:t>胃肠系统疾病</a:t>
                      </a:r>
                      <a:endParaRPr sz="800">
                        <a:latin typeface="微软雅黑" panose="020B0503020204020204" charset="-122"/>
                        <a:cs typeface="微软雅黑" panose="020B0503020204020204" charset="-122"/>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gn="ctr">
                        <a:lnSpc>
                          <a:spcPct val="100000"/>
                        </a:lnSpc>
                        <a:spcBef>
                          <a:spcPts val="750"/>
                        </a:spcBef>
                      </a:pPr>
                      <a:r>
                        <a:rPr sz="800" spc="-15" dirty="0">
                          <a:latin typeface="微软雅黑" panose="020B0503020204020204" charset="-122"/>
                          <a:cs typeface="微软雅黑" panose="020B0503020204020204" charset="-122"/>
                        </a:rPr>
                        <a:t>腹泻、恶心、呕吐、腹痛</a:t>
                      </a:r>
                      <a:endParaRPr sz="800">
                        <a:latin typeface="微软雅黑" panose="020B0503020204020204" charset="-122"/>
                        <a:cs typeface="微软雅黑" panose="020B0503020204020204" charset="-122"/>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marL="845185" marR="76200" indent="-762000">
                        <a:lnSpc>
                          <a:spcPct val="100000"/>
                        </a:lnSpc>
                        <a:spcBef>
                          <a:spcPts val="270"/>
                        </a:spcBef>
                      </a:pPr>
                      <a:r>
                        <a:rPr sz="800" spc="-15" dirty="0">
                          <a:latin typeface="微软雅黑" panose="020B0503020204020204" charset="-122"/>
                          <a:cs typeface="微软雅黑" panose="020B0503020204020204" charset="-122"/>
                        </a:rPr>
                        <a:t>艰难梭状芽胞杆菌性结肠炎、胃肠道出血、</a:t>
                      </a:r>
                      <a:r>
                        <a:rPr sz="800" spc="-20" dirty="0">
                          <a:latin typeface="微软雅黑" panose="020B0503020204020204" charset="-122"/>
                          <a:cs typeface="微软雅黑" panose="020B0503020204020204" charset="-122"/>
                        </a:rPr>
                        <a:t>口腔溃疡</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marL="671195">
                        <a:lnSpc>
                          <a:spcPct val="100000"/>
                        </a:lnSpc>
                        <a:spcBef>
                          <a:spcPts val="750"/>
                        </a:spcBef>
                      </a:pPr>
                      <a:r>
                        <a:rPr sz="800" spc="-20" dirty="0">
                          <a:latin typeface="微软雅黑" panose="020B0503020204020204" charset="-122"/>
                          <a:cs typeface="微软雅黑" panose="020B0503020204020204" charset="-122"/>
                        </a:rPr>
                        <a:t>假膜性结肠炎、口臭</a:t>
                      </a:r>
                      <a:endParaRPr sz="800">
                        <a:latin typeface="微软雅黑" panose="020B0503020204020204" charset="-122"/>
                        <a:cs typeface="微软雅黑" panose="020B0503020204020204" charset="-122"/>
                      </a:endParaRPr>
                    </a:p>
                  </a:txBody>
                  <a:tcPr marL="0" marR="0" marT="952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12"/>
                  </a:ext>
                </a:extLst>
              </a:tr>
              <a:tr h="376555">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nSpc>
                          <a:spcPct val="100000"/>
                        </a:lnSpc>
                        <a:spcBef>
                          <a:spcPts val="30"/>
                        </a:spcBef>
                      </a:pPr>
                      <a:endParaRPr sz="800">
                        <a:latin typeface="Times New Roman" panose="02020603050405020304"/>
                        <a:cs typeface="Times New Roman" panose="02020603050405020304"/>
                      </a:endParaRPr>
                    </a:p>
                    <a:p>
                      <a:pPr algn="ctr">
                        <a:lnSpc>
                          <a:spcPct val="100000"/>
                        </a:lnSpc>
                      </a:pPr>
                      <a:r>
                        <a:rPr sz="800" spc="-20" dirty="0">
                          <a:latin typeface="微软雅黑" panose="020B0503020204020204" charset="-122"/>
                          <a:cs typeface="微软雅黑" panose="020B0503020204020204" charset="-122"/>
                        </a:rPr>
                        <a:t>肝胆系统疾病</a:t>
                      </a:r>
                      <a:endParaRPr sz="800">
                        <a:latin typeface="微软雅黑" panose="020B0503020204020204" charset="-122"/>
                        <a:cs typeface="微软雅黑" panose="020B0503020204020204" charset="-122"/>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marL="240665" marR="97155" indent="-137795">
                        <a:lnSpc>
                          <a:spcPct val="100000"/>
                        </a:lnSpc>
                        <a:spcBef>
                          <a:spcPts val="470"/>
                        </a:spcBef>
                      </a:pPr>
                      <a:r>
                        <a:rPr sz="800" spc="-15" dirty="0">
                          <a:latin typeface="微软雅黑" panose="020B0503020204020204" charset="-122"/>
                          <a:cs typeface="微软雅黑" panose="020B0503020204020204" charset="-122"/>
                        </a:rPr>
                        <a:t>天门冬氨酸氨基转移酶升高、丙氨酸氨基转移酶升高、 转氨酶升高</a:t>
                      </a:r>
                      <a:endParaRPr sz="800">
                        <a:latin typeface="微软雅黑" panose="020B0503020204020204" charset="-122"/>
                        <a:cs typeface="微软雅黑" panose="020B0503020204020204" charset="-122"/>
                      </a:endParaRPr>
                    </a:p>
                  </a:txBody>
                  <a:tcPr marL="0" marR="0" marT="596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nSpc>
                          <a:spcPct val="100000"/>
                        </a:lnSpc>
                        <a:spcBef>
                          <a:spcPts val="30"/>
                        </a:spcBef>
                      </a:pPr>
                      <a:endParaRPr sz="800">
                        <a:latin typeface="Times New Roman" panose="02020603050405020304"/>
                        <a:cs typeface="Times New Roman" panose="02020603050405020304"/>
                      </a:endParaRPr>
                    </a:p>
                    <a:p>
                      <a:pPr algn="ctr">
                        <a:lnSpc>
                          <a:spcPct val="100000"/>
                        </a:lnSpc>
                      </a:pPr>
                      <a:r>
                        <a:rPr sz="800" spc="-10" dirty="0">
                          <a:latin typeface="微软雅黑" panose="020B0503020204020204" charset="-122"/>
                          <a:cs typeface="微软雅黑" panose="020B0503020204020204" charset="-122"/>
                        </a:rPr>
                        <a:t>γ</a:t>
                      </a:r>
                      <a:r>
                        <a:rPr sz="800" spc="-15" dirty="0">
                          <a:latin typeface="微软雅黑" panose="020B0503020204020204" charset="-122"/>
                          <a:cs typeface="微软雅黑" panose="020B0503020204020204" charset="-122"/>
                        </a:rPr>
                        <a:t>-谷氨酰转移 酶升高、血碱 性磷酸酶升高</a:t>
                      </a:r>
                      <a:endParaRPr sz="800">
                        <a:latin typeface="微软雅黑" panose="020B0503020204020204" charset="-122"/>
                        <a:cs typeface="微软雅黑" panose="020B0503020204020204" charset="-122"/>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nSpc>
                          <a:spcPct val="100000"/>
                        </a:lnSpc>
                        <a:spcBef>
                          <a:spcPts val="30"/>
                        </a:spcBef>
                      </a:pPr>
                      <a:endParaRPr sz="800">
                        <a:latin typeface="Times New Roman" panose="02020603050405020304"/>
                        <a:cs typeface="Times New Roman" panose="02020603050405020304"/>
                      </a:endParaRPr>
                    </a:p>
                    <a:p>
                      <a:pPr algn="ctr">
                        <a:lnSpc>
                          <a:spcPct val="100000"/>
                        </a:lnSpc>
                      </a:pPr>
                      <a:r>
                        <a:rPr sz="800" spc="-20" dirty="0">
                          <a:latin typeface="微软雅黑" panose="020B0503020204020204" charset="-122"/>
                          <a:cs typeface="微软雅黑" panose="020B0503020204020204" charset="-122"/>
                        </a:rPr>
                        <a:t>肝炎、黄疸</a:t>
                      </a:r>
                      <a:endParaRPr sz="800">
                        <a:latin typeface="微软雅黑" panose="020B0503020204020204" charset="-122"/>
                        <a:cs typeface="微软雅黑" panose="020B0503020204020204" charset="-122"/>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13"/>
                  </a:ext>
                </a:extLst>
              </a:tr>
              <a:tr h="44704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nSpc>
                          <a:spcPct val="100000"/>
                        </a:lnSpc>
                        <a:spcBef>
                          <a:spcPts val="310"/>
                        </a:spcBef>
                      </a:pPr>
                      <a:endParaRPr sz="800">
                        <a:latin typeface="Times New Roman" panose="02020603050405020304"/>
                        <a:cs typeface="Times New Roman" panose="02020603050405020304"/>
                      </a:endParaRPr>
                    </a:p>
                    <a:p>
                      <a:pPr algn="ctr">
                        <a:lnSpc>
                          <a:spcPct val="100000"/>
                        </a:lnSpc>
                      </a:pPr>
                      <a:r>
                        <a:rPr sz="800" spc="-15" dirty="0">
                          <a:latin typeface="微软雅黑" panose="020B0503020204020204" charset="-122"/>
                          <a:cs typeface="微软雅黑" panose="020B0503020204020204" charset="-122"/>
                        </a:rPr>
                        <a:t>皮肤及皮下组织类疾病</a:t>
                      </a:r>
                      <a:endParaRPr sz="800">
                        <a:latin typeface="微软雅黑" panose="020B0503020204020204" charset="-122"/>
                        <a:cs typeface="微软雅黑" panose="020B0503020204020204" charset="-122"/>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spcBef>
                          <a:spcPts val="310"/>
                        </a:spcBef>
                      </a:pPr>
                      <a:endParaRPr sz="800">
                        <a:latin typeface="Times New Roman" panose="02020603050405020304"/>
                        <a:cs typeface="Times New Roman" panose="02020603050405020304"/>
                      </a:endParaRPr>
                    </a:p>
                    <a:p>
                      <a:pPr algn="ctr">
                        <a:lnSpc>
                          <a:spcPct val="100000"/>
                        </a:lnSpc>
                      </a:pPr>
                      <a:r>
                        <a:rPr sz="800" spc="-30" dirty="0">
                          <a:latin typeface="微软雅黑" panose="020B0503020204020204" charset="-122"/>
                          <a:cs typeface="微软雅黑" panose="020B0503020204020204" charset="-122"/>
                        </a:rPr>
                        <a:t>皮疹</a:t>
                      </a:r>
                      <a:endParaRPr sz="800">
                        <a:latin typeface="微软雅黑" panose="020B0503020204020204" charset="-122"/>
                        <a:cs typeface="微软雅黑" panose="020B0503020204020204" charset="-122"/>
                      </a:endParaRPr>
                    </a:p>
                  </a:txBody>
                  <a:tcPr marL="0" marR="0" marT="393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marL="83185" marR="76200" algn="ctr">
                        <a:lnSpc>
                          <a:spcPct val="100000"/>
                        </a:lnSpc>
                        <a:spcBef>
                          <a:spcPts val="270"/>
                        </a:spcBef>
                      </a:pPr>
                      <a:r>
                        <a:rPr sz="800" spc="-15" dirty="0">
                          <a:latin typeface="微软雅黑" panose="020B0503020204020204" charset="-122"/>
                          <a:cs typeface="微软雅黑" panose="020B0503020204020204" charset="-122"/>
                        </a:rPr>
                        <a:t>血管性水肿、中毒性表皮坏死松解症、剥脱性皮炎、多形性红斑、紫癜、 荨麻疹、 瘀</a:t>
                      </a:r>
                      <a:r>
                        <a:rPr sz="800" spc="-20" dirty="0">
                          <a:latin typeface="微软雅黑" panose="020B0503020204020204" charset="-122"/>
                          <a:cs typeface="微软雅黑" panose="020B0503020204020204" charset="-122"/>
                        </a:rPr>
                        <a:t>点、瘙痒、多汗</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14"/>
                  </a:ext>
                </a:extLst>
              </a:tr>
              <a:tr h="20320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270"/>
                        </a:spcBef>
                      </a:pPr>
                      <a:r>
                        <a:rPr sz="800" spc="-15" dirty="0">
                          <a:latin typeface="微软雅黑" panose="020B0503020204020204" charset="-122"/>
                          <a:cs typeface="微软雅黑" panose="020B0503020204020204" charset="-122"/>
                        </a:rPr>
                        <a:t>各种肌肉骨骼及结缔组织疾病</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gn="ctr">
                        <a:lnSpc>
                          <a:spcPct val="100000"/>
                        </a:lnSpc>
                        <a:spcBef>
                          <a:spcPts val="270"/>
                        </a:spcBef>
                      </a:pPr>
                      <a:r>
                        <a:rPr sz="800" spc="-30" dirty="0">
                          <a:latin typeface="微软雅黑" panose="020B0503020204020204" charset="-122"/>
                          <a:cs typeface="微软雅黑" panose="020B0503020204020204" charset="-122"/>
                        </a:rPr>
                        <a:t>肌痛</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15"/>
                  </a:ext>
                </a:extLst>
              </a:tr>
              <a:tr h="20320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肾脏及泌尿系统疾病</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血肌酐升高</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16"/>
                  </a:ext>
                </a:extLst>
              </a:tr>
              <a:tr h="203200">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生殖系统及乳腺疾病</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gn="ctr">
                        <a:lnSpc>
                          <a:spcPct val="100000"/>
                        </a:lnSpc>
                        <a:spcBef>
                          <a:spcPts val="270"/>
                        </a:spcBef>
                      </a:pPr>
                      <a:r>
                        <a:rPr sz="800" spc="-20" dirty="0">
                          <a:latin typeface="微软雅黑" panose="020B0503020204020204" charset="-122"/>
                          <a:cs typeface="微软雅黑" panose="020B0503020204020204" charset="-122"/>
                        </a:rPr>
                        <a:t>乳房压痛</a:t>
                      </a:r>
                      <a:endParaRPr sz="800">
                        <a:latin typeface="微软雅黑" panose="020B0503020204020204" charset="-122"/>
                        <a:cs typeface="微软雅黑" panose="020B0503020204020204" charset="-122"/>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17"/>
                  </a:ext>
                </a:extLst>
              </a:tr>
              <a:tr h="366395">
                <a:tc vMerge="1">
                  <a:txBody>
                    <a:bodyPr/>
                    <a:lstStyle/>
                    <a:p>
                      <a:endParaRPr lang="zh-CN"/>
                    </a:p>
                  </a:txBody>
                  <a:tcPr marL="0" marR="0" marT="0" marB="0">
                    <a:lnL w="12700">
                      <a:solidFill>
                        <a:srgbClr val="CCCCCC"/>
                      </a:solidFill>
                      <a:prstDash val="solid"/>
                    </a:lnL>
                    <a:lnR w="12700">
                      <a:solidFill>
                        <a:srgbClr val="FFFFFF"/>
                      </a:solidFill>
                      <a:prstDash val="solid"/>
                    </a:lnR>
                    <a:lnB w="12700">
                      <a:solidFill>
                        <a:srgbClr val="CCCCCC"/>
                      </a:solidFill>
                      <a:prstDash val="solid"/>
                    </a:lnB>
                  </a:tcPr>
                </a:tc>
                <a:tc>
                  <a:txBody>
                    <a:bodyPr/>
                    <a:lstStyle/>
                    <a:p>
                      <a:pPr>
                        <a:lnSpc>
                          <a:spcPct val="100000"/>
                        </a:lnSpc>
                        <a:spcBef>
                          <a:spcPts val="30"/>
                        </a:spcBef>
                      </a:pPr>
                      <a:endParaRPr sz="800">
                        <a:latin typeface="Times New Roman" panose="02020603050405020304"/>
                        <a:cs typeface="Times New Roman" panose="02020603050405020304"/>
                      </a:endParaRPr>
                    </a:p>
                    <a:p>
                      <a:pPr algn="ctr">
                        <a:lnSpc>
                          <a:spcPct val="100000"/>
                        </a:lnSpc>
                      </a:pPr>
                      <a:r>
                        <a:rPr sz="800" spc="-15" dirty="0">
                          <a:latin typeface="微软雅黑" panose="020B0503020204020204" charset="-122"/>
                          <a:cs typeface="微软雅黑" panose="020B0503020204020204" charset="-122"/>
                        </a:rPr>
                        <a:t>全身性疾病及给药部位各种反应</a:t>
                      </a:r>
                      <a:endParaRPr sz="800">
                        <a:latin typeface="微软雅黑" panose="020B0503020204020204" charset="-122"/>
                        <a:cs typeface="微软雅黑" panose="020B0503020204020204" charset="-122"/>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CCCCCC"/>
                      </a:solidFill>
                      <a:prstDash val="solid"/>
                    </a:lnB>
                    <a:solidFill>
                      <a:srgbClr val="CAD0DD"/>
                    </a:solidFill>
                  </a:tcPr>
                </a:tc>
                <a:tc>
                  <a:txBody>
                    <a:bodyPr/>
                    <a:lstStyle/>
                    <a:p>
                      <a:pPr marL="356870" marR="97155" indent="-254000">
                        <a:lnSpc>
                          <a:spcPct val="100000"/>
                        </a:lnSpc>
                        <a:spcBef>
                          <a:spcPts val="470"/>
                        </a:spcBef>
                      </a:pPr>
                      <a:r>
                        <a:rPr sz="800" spc="-15" dirty="0">
                          <a:latin typeface="微软雅黑" panose="020B0503020204020204" charset="-122"/>
                          <a:cs typeface="微软雅黑" panose="020B0503020204020204" charset="-122"/>
                        </a:rPr>
                        <a:t>静脉炎、血栓性静脉炎、输液部位渗出、注射部位疼痛、发热</a:t>
                      </a:r>
                      <a:endParaRPr sz="800">
                        <a:latin typeface="微软雅黑" panose="020B0503020204020204" charset="-122"/>
                        <a:cs typeface="微软雅黑" panose="020B0503020204020204" charset="-122"/>
                      </a:endParaRPr>
                    </a:p>
                  </a:txBody>
                  <a:tcPr marL="0" marR="0" marT="59690" marB="0">
                    <a:lnL w="12700">
                      <a:solidFill>
                        <a:srgbClr val="FFFFFF"/>
                      </a:solidFill>
                      <a:prstDash val="solid"/>
                    </a:lnL>
                    <a:lnR w="12700">
                      <a:solidFill>
                        <a:srgbClr val="FFFFFF"/>
                      </a:solidFill>
                      <a:prstDash val="solid"/>
                    </a:lnR>
                    <a:lnT w="12700">
                      <a:solidFill>
                        <a:srgbClr val="FFFFFF"/>
                      </a:solidFill>
                      <a:prstDash val="solid"/>
                    </a:lnT>
                    <a:lnB w="12700">
                      <a:solidFill>
                        <a:srgbClr val="CCCCCC"/>
                      </a:solidFill>
                      <a:prstDash val="solid"/>
                    </a:lnB>
                    <a:solidFill>
                      <a:srgbClr val="CAD0DD"/>
                    </a:solidFill>
                  </a:tcPr>
                </a:tc>
                <a:tc>
                  <a:txBody>
                    <a:bodyPr/>
                    <a:lstStyle/>
                    <a:p>
                      <a:pPr>
                        <a:lnSpc>
                          <a:spcPct val="100000"/>
                        </a:lnSpc>
                        <a:spcBef>
                          <a:spcPts val="30"/>
                        </a:spcBef>
                      </a:pPr>
                      <a:endParaRPr sz="800">
                        <a:latin typeface="Times New Roman" panose="02020603050405020304"/>
                        <a:cs typeface="Times New Roman" panose="02020603050405020304"/>
                      </a:endParaRPr>
                    </a:p>
                    <a:p>
                      <a:pPr algn="ctr">
                        <a:lnSpc>
                          <a:spcPct val="100000"/>
                        </a:lnSpc>
                      </a:pPr>
                      <a:r>
                        <a:rPr sz="800" spc="-20" dirty="0">
                          <a:latin typeface="微软雅黑" panose="020B0503020204020204" charset="-122"/>
                          <a:cs typeface="微软雅黑" panose="020B0503020204020204" charset="-122"/>
                        </a:rPr>
                        <a:t>胸部不适、虚弱</a:t>
                      </a:r>
                      <a:endParaRPr sz="800">
                        <a:latin typeface="微软雅黑" panose="020B0503020204020204" charset="-122"/>
                        <a:cs typeface="微软雅黑" panose="020B0503020204020204" charset="-122"/>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CCCCCC"/>
                      </a:solidFill>
                      <a:prstDash val="solid"/>
                    </a:lnB>
                    <a:solidFill>
                      <a:srgbClr val="CAD0DD"/>
                    </a:solidFill>
                  </a:tcPr>
                </a:tc>
                <a:tc>
                  <a:txBody>
                    <a:bodyPr/>
                    <a:lstStyle/>
                    <a:p>
                      <a:pPr>
                        <a:lnSpc>
                          <a:spcPct val="100000"/>
                        </a:lnSpc>
                        <a:spcBef>
                          <a:spcPts val="30"/>
                        </a:spcBef>
                      </a:pPr>
                      <a:endParaRPr sz="800">
                        <a:latin typeface="Times New Roman" panose="02020603050405020304"/>
                        <a:cs typeface="Times New Roman" panose="02020603050405020304"/>
                      </a:endParaRPr>
                    </a:p>
                    <a:p>
                      <a:pPr marL="398780">
                        <a:lnSpc>
                          <a:spcPct val="100000"/>
                        </a:lnSpc>
                        <a:tabLst>
                          <a:tab pos="1026160" algn="l"/>
                        </a:tabLst>
                      </a:pPr>
                      <a:r>
                        <a:rPr sz="900" spc="-75" baseline="37000" dirty="0">
                          <a:solidFill>
                            <a:srgbClr val="FF0000"/>
                          </a:solidFill>
                          <a:latin typeface="Arial MT"/>
                          <a:cs typeface="Arial MT"/>
                        </a:rPr>
                        <a:t>1</a:t>
                      </a:r>
                      <a:r>
                        <a:rPr sz="900" baseline="37000" dirty="0">
                          <a:solidFill>
                            <a:srgbClr val="FF0000"/>
                          </a:solidFill>
                          <a:latin typeface="Arial MT"/>
                          <a:cs typeface="Arial MT"/>
                        </a:rPr>
                        <a:t>	</a:t>
                      </a:r>
                      <a:r>
                        <a:rPr sz="800" spc="-35" dirty="0">
                          <a:latin typeface="微软雅黑" panose="020B0503020204020204" charset="-122"/>
                          <a:cs typeface="微软雅黑" panose="020B0503020204020204" charset="-122"/>
                        </a:rPr>
                        <a:t>难受</a:t>
                      </a:r>
                      <a:endParaRPr sz="800">
                        <a:latin typeface="微软雅黑" panose="020B0503020204020204" charset="-122"/>
                        <a:cs typeface="微软雅黑" panose="020B0503020204020204" charset="-122"/>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CCCCCC"/>
                      </a:solidFill>
                      <a:prstDash val="solid"/>
                    </a:lnB>
                    <a:solidFill>
                      <a:srgbClr val="CAD0DD"/>
                    </a:solidFill>
                  </a:tcPr>
                </a:tc>
                <a:tc>
                  <a:txBody>
                    <a:bodyPr/>
                    <a:lstStyle/>
                    <a:p>
                      <a:pPr>
                        <a:lnSpc>
                          <a:spcPct val="100000"/>
                        </a:lnSpc>
                      </a:pPr>
                      <a:endParaRPr sz="7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CCCCCC"/>
                      </a:solidFill>
                      <a:prstDash val="solid"/>
                    </a:lnB>
                    <a:solidFill>
                      <a:srgbClr val="CAD0DD"/>
                    </a:solidFill>
                  </a:tcPr>
                </a:tc>
                <a:tc vMerge="1">
                  <a:txBody>
                    <a:bodyPr/>
                    <a:lstStyle/>
                    <a:p>
                      <a:endParaRPr lang="zh-CN"/>
                    </a:p>
                  </a:txBody>
                  <a:tcPr marL="0" marR="0" marT="0" marB="0">
                    <a:lnL w="12700">
                      <a:solidFill>
                        <a:srgbClr val="FFFFFF"/>
                      </a:solidFill>
                      <a:prstDash val="solid"/>
                    </a:lnL>
                    <a:lnR w="12700">
                      <a:solidFill>
                        <a:srgbClr val="CCCCCC"/>
                      </a:solidFill>
                      <a:prstDash val="solid"/>
                    </a:lnR>
                    <a:lnB w="12700">
                      <a:solidFill>
                        <a:srgbClr val="CCCCCC"/>
                      </a:solidFill>
                      <a:prstDash val="solid"/>
                    </a:lnB>
                  </a:tcPr>
                </a:tc>
                <a:extLst>
                  <a:ext uri="{0D108BD9-81ED-4DB2-BD59-A6C34878D82A}">
                    <a16:rowId xmlns:a16="http://schemas.microsoft.com/office/drawing/2014/main" val="10018"/>
                  </a:ext>
                </a:extLst>
              </a:tr>
            </a:tbl>
          </a:graphicData>
        </a:graphic>
      </p:graphicFrame>
      <p:sp>
        <p:nvSpPr>
          <p:cNvPr id="6" name="object 6"/>
          <p:cNvSpPr/>
          <p:nvPr/>
        </p:nvSpPr>
        <p:spPr>
          <a:xfrm>
            <a:off x="6060440" y="5433186"/>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12700">
            <a:solidFill>
              <a:srgbClr val="DF5F5F"/>
            </a:solidFill>
            <a:prstDash val="dot"/>
          </a:ln>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23</a:t>
            </a:fld>
            <a:r>
              <a:rPr spc="-10" dirty="0"/>
              <a:t> </a:t>
            </a:r>
            <a:r>
              <a:rPr spc="-50" dirty="0"/>
              <a:t>-</a:t>
            </a:r>
          </a:p>
        </p:txBody>
      </p:sp>
      <p:sp>
        <p:nvSpPr>
          <p:cNvPr id="22" name="文本框 21"/>
          <p:cNvSpPr txBox="1"/>
          <p:nvPr/>
        </p:nvSpPr>
        <p:spPr>
          <a:xfrm>
            <a:off x="213360" y="6455410"/>
            <a:ext cx="2700020" cy="198755"/>
          </a:xfrm>
          <a:prstGeom prst="rect">
            <a:avLst/>
          </a:prstGeom>
          <a:noFill/>
        </p:spPr>
        <p:txBody>
          <a:bodyPr wrap="square" rtlCol="0">
            <a:spAutoFit/>
          </a:bodyPr>
          <a:lstStyle/>
          <a:p>
            <a:r>
              <a:rPr sz="700" spc="-20" dirty="0">
                <a:solidFill>
                  <a:schemeClr val="tx1"/>
                </a:solidFill>
                <a:latin typeface="微软雅黑" panose="020B0503020204020204" charset="-122"/>
                <a:cs typeface="微软雅黑" panose="020B0503020204020204" charset="-122"/>
                <a:sym typeface="+mn-ea"/>
              </a:rPr>
              <a:t>注射用氨曲南阿维巴坦钠说明书（核准日期：</a:t>
            </a:r>
            <a:r>
              <a:rPr sz="700" spc="-10" dirty="0">
                <a:solidFill>
                  <a:schemeClr val="tx1"/>
                </a:solidFill>
                <a:latin typeface="Times New Roman" panose="02020603050405020304"/>
                <a:cs typeface="Times New Roman" panose="02020603050405020304"/>
                <a:sym typeface="+mn-ea"/>
              </a:rPr>
              <a:t>2025</a:t>
            </a:r>
            <a:r>
              <a:rPr sz="700" spc="-20" dirty="0">
                <a:solidFill>
                  <a:schemeClr val="tx1"/>
                </a:solidFill>
                <a:latin typeface="微软雅黑" panose="020B0503020204020204" charset="-122"/>
                <a:cs typeface="微软雅黑" panose="020B0503020204020204" charset="-122"/>
                <a:sym typeface="+mn-ea"/>
              </a:rPr>
              <a:t>年</a:t>
            </a:r>
            <a:r>
              <a:rPr sz="700" spc="-10" dirty="0">
                <a:solidFill>
                  <a:schemeClr val="tx1"/>
                </a:solidFill>
                <a:latin typeface="Times New Roman" panose="02020603050405020304"/>
                <a:cs typeface="Times New Roman" panose="02020603050405020304"/>
                <a:sym typeface="+mn-ea"/>
              </a:rPr>
              <a:t>6</a:t>
            </a:r>
            <a:r>
              <a:rPr sz="700" spc="-20" dirty="0">
                <a:solidFill>
                  <a:schemeClr val="tx1"/>
                </a:solidFill>
                <a:latin typeface="微软雅黑" panose="020B0503020204020204" charset="-122"/>
                <a:cs typeface="微软雅黑" panose="020B0503020204020204" charset="-122"/>
                <a:sym typeface="+mn-ea"/>
              </a:rPr>
              <a:t>月</a:t>
            </a:r>
            <a:r>
              <a:rPr sz="700" spc="-10" dirty="0">
                <a:solidFill>
                  <a:schemeClr val="tx1"/>
                </a:solidFill>
                <a:latin typeface="Times New Roman" panose="02020603050405020304"/>
                <a:cs typeface="Times New Roman" panose="02020603050405020304"/>
                <a:sym typeface="+mn-ea"/>
              </a:rPr>
              <a:t>24</a:t>
            </a:r>
            <a:r>
              <a:rPr sz="700" spc="-20" dirty="0">
                <a:solidFill>
                  <a:schemeClr val="tx1"/>
                </a:solidFill>
                <a:latin typeface="微软雅黑" panose="020B0503020204020204" charset="-122"/>
                <a:cs typeface="微软雅黑" panose="020B0503020204020204" charset="-122"/>
                <a:sym typeface="+mn-ea"/>
              </a:rPr>
              <a:t>日</a:t>
            </a:r>
            <a:r>
              <a:rPr sz="700" spc="-50" dirty="0">
                <a:solidFill>
                  <a:schemeClr val="tx1"/>
                </a:solidFill>
                <a:latin typeface="微软雅黑" panose="020B0503020204020204" charset="-122"/>
                <a:cs typeface="微软雅黑" panose="020B0503020204020204" charset="-122"/>
                <a:sym typeface="+mn-ea"/>
              </a:rPr>
              <a:t>）</a:t>
            </a:r>
            <a:endParaRPr lang="zh-CN" altLang="en-US" sz="700" b="1" spc="-50" dirty="0">
              <a:solidFill>
                <a:schemeClr val="tx1"/>
              </a:solidFill>
              <a:latin typeface="微软雅黑" panose="020B0503020204020204" charset="-122"/>
              <a:ea typeface="宋体" panose="02010600030101010101" pitchFamily="2" charset="-122"/>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6562" y="297637"/>
            <a:ext cx="2301240" cy="366395"/>
          </a:xfrm>
          <a:prstGeom prst="rect">
            <a:avLst/>
          </a:prstGeom>
        </p:spPr>
        <p:txBody>
          <a:bodyPr vert="horz" wrap="square" lIns="0" tIns="17145" rIns="0" bIns="0" rtlCol="0">
            <a:spAutoFit/>
          </a:bodyPr>
          <a:lstStyle/>
          <a:p>
            <a:pPr marL="12700">
              <a:lnSpc>
                <a:spcPct val="100000"/>
              </a:lnSpc>
              <a:spcBef>
                <a:spcPts val="135"/>
              </a:spcBef>
            </a:pPr>
            <a:r>
              <a:rPr spc="-10" dirty="0"/>
              <a:t>适应症及用法用量</a:t>
            </a:r>
          </a:p>
        </p:txBody>
      </p:sp>
      <p:grpSp>
        <p:nvGrpSpPr>
          <p:cNvPr id="3" name="object 3"/>
          <p:cNvGrpSpPr/>
          <p:nvPr/>
        </p:nvGrpSpPr>
        <p:grpSpPr>
          <a:xfrm>
            <a:off x="527227" y="1374444"/>
            <a:ext cx="8952865" cy="1889760"/>
            <a:chOff x="473252" y="1399844"/>
            <a:chExt cx="8952865" cy="1889760"/>
          </a:xfrm>
        </p:grpSpPr>
        <p:sp>
          <p:nvSpPr>
            <p:cNvPr id="4" name="object 4"/>
            <p:cNvSpPr/>
            <p:nvPr/>
          </p:nvSpPr>
          <p:spPr>
            <a:xfrm>
              <a:off x="1472984" y="1800961"/>
              <a:ext cx="4835525" cy="1489075"/>
            </a:xfrm>
            <a:custGeom>
              <a:avLst/>
              <a:gdLst/>
              <a:ahLst/>
              <a:cxnLst/>
              <a:rect l="l" t="t" r="r" b="b"/>
              <a:pathLst>
                <a:path w="4835525" h="1489075">
                  <a:moveTo>
                    <a:pt x="1753222" y="1358188"/>
                  </a:moveTo>
                  <a:lnTo>
                    <a:pt x="1743240" y="1307973"/>
                  </a:lnTo>
                  <a:lnTo>
                    <a:pt x="1715579" y="1266901"/>
                  </a:lnTo>
                  <a:lnTo>
                    <a:pt x="1674431" y="1239164"/>
                  </a:lnTo>
                  <a:lnTo>
                    <a:pt x="1623987" y="1228953"/>
                  </a:lnTo>
                  <a:lnTo>
                    <a:pt x="0" y="1228953"/>
                  </a:lnTo>
                  <a:lnTo>
                    <a:pt x="0" y="1488643"/>
                  </a:lnTo>
                  <a:lnTo>
                    <a:pt x="1623987" y="1488643"/>
                  </a:lnTo>
                  <a:lnTo>
                    <a:pt x="1674431" y="1478140"/>
                  </a:lnTo>
                  <a:lnTo>
                    <a:pt x="1715579" y="1450174"/>
                  </a:lnTo>
                  <a:lnTo>
                    <a:pt x="1743240" y="1408836"/>
                  </a:lnTo>
                  <a:lnTo>
                    <a:pt x="1753222" y="1358188"/>
                  </a:lnTo>
                  <a:close/>
                </a:path>
                <a:path w="4835525" h="1489075">
                  <a:moveTo>
                    <a:pt x="4835360" y="129235"/>
                  </a:moveTo>
                  <a:lnTo>
                    <a:pt x="4824869" y="78930"/>
                  </a:lnTo>
                  <a:lnTo>
                    <a:pt x="4796917" y="37833"/>
                  </a:lnTo>
                  <a:lnTo>
                    <a:pt x="4755566" y="10121"/>
                  </a:lnTo>
                  <a:lnTo>
                    <a:pt x="4704893" y="0"/>
                  </a:lnTo>
                  <a:lnTo>
                    <a:pt x="2506688" y="0"/>
                  </a:lnTo>
                  <a:lnTo>
                    <a:pt x="2506688" y="258470"/>
                  </a:lnTo>
                  <a:lnTo>
                    <a:pt x="4704893" y="258470"/>
                  </a:lnTo>
                  <a:lnTo>
                    <a:pt x="4755566" y="248589"/>
                  </a:lnTo>
                  <a:lnTo>
                    <a:pt x="4796917" y="220954"/>
                  </a:lnTo>
                  <a:lnTo>
                    <a:pt x="4824869" y="179781"/>
                  </a:lnTo>
                  <a:lnTo>
                    <a:pt x="4835360" y="129235"/>
                  </a:lnTo>
                  <a:close/>
                </a:path>
              </a:pathLst>
            </a:custGeom>
            <a:solidFill>
              <a:srgbClr val="00C886"/>
            </a:solidFill>
          </p:spPr>
          <p:txBody>
            <a:bodyPr wrap="square" lIns="0" tIns="0" rIns="0" bIns="0" rtlCol="0"/>
            <a:lstStyle/>
            <a:p>
              <a:endParaRPr/>
            </a:p>
          </p:txBody>
        </p:sp>
        <p:pic>
          <p:nvPicPr>
            <p:cNvPr id="5" name="object 5"/>
            <p:cNvPicPr/>
            <p:nvPr/>
          </p:nvPicPr>
          <p:blipFill>
            <a:blip r:embed="rId2" cstate="print"/>
            <a:stretch>
              <a:fillRect/>
            </a:stretch>
          </p:blipFill>
          <p:spPr>
            <a:xfrm>
              <a:off x="473252" y="1953361"/>
              <a:ext cx="8952585" cy="858316"/>
            </a:xfrm>
            <a:prstGeom prst="rect">
              <a:avLst/>
            </a:prstGeom>
          </p:spPr>
        </p:pic>
        <p:pic>
          <p:nvPicPr>
            <p:cNvPr id="6" name="object 6"/>
            <p:cNvPicPr/>
            <p:nvPr/>
          </p:nvPicPr>
          <p:blipFill>
            <a:blip r:embed="rId3" cstate="print"/>
            <a:stretch>
              <a:fillRect/>
            </a:stretch>
          </p:blipFill>
          <p:spPr>
            <a:xfrm>
              <a:off x="1504696" y="2666593"/>
              <a:ext cx="1621536" cy="341375"/>
            </a:xfrm>
            <a:prstGeom prst="rect">
              <a:avLst/>
            </a:prstGeom>
          </p:spPr>
        </p:pic>
        <p:pic>
          <p:nvPicPr>
            <p:cNvPr id="7" name="object 7"/>
            <p:cNvPicPr/>
            <p:nvPr/>
          </p:nvPicPr>
          <p:blipFill>
            <a:blip r:embed="rId4" cstate="print"/>
            <a:stretch>
              <a:fillRect/>
            </a:stretch>
          </p:blipFill>
          <p:spPr>
            <a:xfrm>
              <a:off x="4066235" y="1399844"/>
              <a:ext cx="1374038" cy="320649"/>
            </a:xfrm>
            <a:prstGeom prst="rect">
              <a:avLst/>
            </a:prstGeom>
          </p:spPr>
        </p:pic>
        <p:pic>
          <p:nvPicPr>
            <p:cNvPr id="8" name="object 8"/>
            <p:cNvPicPr/>
            <p:nvPr/>
          </p:nvPicPr>
          <p:blipFill>
            <a:blip r:embed="rId5" cstate="print"/>
            <a:stretch>
              <a:fillRect/>
            </a:stretch>
          </p:blipFill>
          <p:spPr>
            <a:xfrm>
              <a:off x="6692392" y="2678785"/>
              <a:ext cx="1538630" cy="341375"/>
            </a:xfrm>
            <a:prstGeom prst="rect">
              <a:avLst/>
            </a:prstGeom>
          </p:spPr>
        </p:pic>
        <p:sp>
          <p:nvSpPr>
            <p:cNvPr id="9" name="object 9"/>
            <p:cNvSpPr/>
            <p:nvPr/>
          </p:nvSpPr>
          <p:spPr>
            <a:xfrm>
              <a:off x="1291336" y="2222804"/>
              <a:ext cx="1111885" cy="314960"/>
            </a:xfrm>
            <a:custGeom>
              <a:avLst/>
              <a:gdLst/>
              <a:ahLst/>
              <a:cxnLst/>
              <a:rect l="l" t="t" r="r" b="b"/>
              <a:pathLst>
                <a:path w="1111885" h="314960">
                  <a:moveTo>
                    <a:pt x="954633" y="314553"/>
                  </a:moveTo>
                  <a:lnTo>
                    <a:pt x="157276" y="314553"/>
                  </a:lnTo>
                  <a:lnTo>
                    <a:pt x="107311" y="306586"/>
                  </a:lnTo>
                  <a:lnTo>
                    <a:pt x="64013" y="284289"/>
                  </a:lnTo>
                  <a:lnTo>
                    <a:pt x="29971" y="250247"/>
                  </a:lnTo>
                  <a:lnTo>
                    <a:pt x="7771" y="207047"/>
                  </a:lnTo>
                  <a:lnTo>
                    <a:pt x="0" y="157276"/>
                  </a:lnTo>
                  <a:lnTo>
                    <a:pt x="7771" y="107652"/>
                  </a:lnTo>
                  <a:lnTo>
                    <a:pt x="29971" y="64525"/>
                  </a:lnTo>
                  <a:lnTo>
                    <a:pt x="64013" y="30483"/>
                  </a:lnTo>
                  <a:lnTo>
                    <a:pt x="107311" y="8113"/>
                  </a:lnTo>
                  <a:lnTo>
                    <a:pt x="157276" y="0"/>
                  </a:lnTo>
                  <a:lnTo>
                    <a:pt x="954633" y="0"/>
                  </a:lnTo>
                  <a:lnTo>
                    <a:pt x="1004157" y="8114"/>
                  </a:lnTo>
                  <a:lnTo>
                    <a:pt x="1047212" y="30493"/>
                  </a:lnTo>
                  <a:lnTo>
                    <a:pt x="1081192" y="64558"/>
                  </a:lnTo>
                  <a:lnTo>
                    <a:pt x="1103491" y="107730"/>
                  </a:lnTo>
                  <a:lnTo>
                    <a:pt x="1111504" y="157429"/>
                  </a:lnTo>
                  <a:lnTo>
                    <a:pt x="1103491" y="207125"/>
                  </a:lnTo>
                  <a:lnTo>
                    <a:pt x="1081192" y="250280"/>
                  </a:lnTo>
                  <a:lnTo>
                    <a:pt x="1047212" y="284298"/>
                  </a:lnTo>
                  <a:lnTo>
                    <a:pt x="1004157" y="306588"/>
                  </a:lnTo>
                  <a:lnTo>
                    <a:pt x="954633" y="314553"/>
                  </a:lnTo>
                  <a:close/>
                </a:path>
              </a:pathLst>
            </a:custGeom>
            <a:solidFill>
              <a:srgbClr val="FFFFFF"/>
            </a:solidFill>
          </p:spPr>
          <p:txBody>
            <a:bodyPr wrap="square" lIns="0" tIns="0" rIns="0" bIns="0" rtlCol="0"/>
            <a:lstStyle/>
            <a:p>
              <a:endParaRPr/>
            </a:p>
          </p:txBody>
        </p:sp>
        <p:sp>
          <p:nvSpPr>
            <p:cNvPr id="10" name="object 10"/>
            <p:cNvSpPr/>
            <p:nvPr/>
          </p:nvSpPr>
          <p:spPr>
            <a:xfrm>
              <a:off x="1285798" y="2217978"/>
              <a:ext cx="1122045" cy="323850"/>
            </a:xfrm>
            <a:custGeom>
              <a:avLst/>
              <a:gdLst/>
              <a:ahLst/>
              <a:cxnLst/>
              <a:rect l="l" t="t" r="r" b="b"/>
              <a:pathLst>
                <a:path w="1122045" h="323850">
                  <a:moveTo>
                    <a:pt x="984524" y="322580"/>
                  </a:moveTo>
                  <a:lnTo>
                    <a:pt x="137546" y="322580"/>
                  </a:lnTo>
                  <a:lnTo>
                    <a:pt x="129550" y="320040"/>
                  </a:lnTo>
                  <a:lnTo>
                    <a:pt x="121696" y="318770"/>
                  </a:lnTo>
                  <a:lnTo>
                    <a:pt x="106446" y="313690"/>
                  </a:lnTo>
                  <a:lnTo>
                    <a:pt x="98936" y="311073"/>
                  </a:lnTo>
                  <a:lnTo>
                    <a:pt x="94103" y="308514"/>
                  </a:lnTo>
                  <a:lnTo>
                    <a:pt x="91687" y="307267"/>
                  </a:lnTo>
                  <a:lnTo>
                    <a:pt x="84886" y="304800"/>
                  </a:lnTo>
                  <a:lnTo>
                    <a:pt x="78089" y="300990"/>
                  </a:lnTo>
                  <a:lnTo>
                    <a:pt x="71800" y="296136"/>
                  </a:lnTo>
                  <a:lnTo>
                    <a:pt x="71351" y="295817"/>
                  </a:lnTo>
                  <a:lnTo>
                    <a:pt x="42113" y="270510"/>
                  </a:lnTo>
                  <a:lnTo>
                    <a:pt x="37012" y="265430"/>
                  </a:lnTo>
                  <a:lnTo>
                    <a:pt x="32197" y="259080"/>
                  </a:lnTo>
                  <a:lnTo>
                    <a:pt x="27618" y="252658"/>
                  </a:lnTo>
                  <a:lnTo>
                    <a:pt x="23416" y="246315"/>
                  </a:lnTo>
                  <a:lnTo>
                    <a:pt x="19537" y="238760"/>
                  </a:lnTo>
                  <a:lnTo>
                    <a:pt x="15951" y="232410"/>
                  </a:lnTo>
                  <a:lnTo>
                    <a:pt x="3241" y="194310"/>
                  </a:lnTo>
                  <a:lnTo>
                    <a:pt x="0" y="157480"/>
                  </a:lnTo>
                  <a:lnTo>
                    <a:pt x="162" y="153670"/>
                  </a:lnTo>
                  <a:lnTo>
                    <a:pt x="693" y="146050"/>
                  </a:lnTo>
                  <a:lnTo>
                    <a:pt x="782" y="144780"/>
                  </a:lnTo>
                  <a:lnTo>
                    <a:pt x="9794" y="105410"/>
                  </a:lnTo>
                  <a:lnTo>
                    <a:pt x="12700" y="99060"/>
                  </a:lnTo>
                  <a:lnTo>
                    <a:pt x="15951" y="91440"/>
                  </a:lnTo>
                  <a:lnTo>
                    <a:pt x="37012" y="58420"/>
                  </a:lnTo>
                  <a:lnTo>
                    <a:pt x="65145" y="31750"/>
                  </a:lnTo>
                  <a:lnTo>
                    <a:pt x="99080" y="12700"/>
                  </a:lnTo>
                  <a:lnTo>
                    <a:pt x="106446" y="8890"/>
                  </a:lnTo>
                  <a:lnTo>
                    <a:pt x="121696" y="3810"/>
                  </a:lnTo>
                  <a:lnTo>
                    <a:pt x="145663" y="0"/>
                  </a:lnTo>
                  <a:lnTo>
                    <a:pt x="976406" y="0"/>
                  </a:lnTo>
                  <a:lnTo>
                    <a:pt x="1000373" y="3810"/>
                  </a:lnTo>
                  <a:lnTo>
                    <a:pt x="1015624" y="8890"/>
                  </a:lnTo>
                  <a:lnTo>
                    <a:pt x="1018079" y="10160"/>
                  </a:lnTo>
                  <a:lnTo>
                    <a:pt x="146822" y="10160"/>
                  </a:lnTo>
                  <a:lnTo>
                    <a:pt x="138948" y="11430"/>
                  </a:lnTo>
                  <a:lnTo>
                    <a:pt x="139202" y="11430"/>
                  </a:lnTo>
                  <a:lnTo>
                    <a:pt x="131460" y="12700"/>
                  </a:lnTo>
                  <a:lnTo>
                    <a:pt x="131714" y="12700"/>
                  </a:lnTo>
                  <a:lnTo>
                    <a:pt x="124582" y="13890"/>
                  </a:lnTo>
                  <a:lnTo>
                    <a:pt x="116890" y="16510"/>
                  </a:lnTo>
                  <a:lnTo>
                    <a:pt x="117124" y="16510"/>
                  </a:lnTo>
                  <a:lnTo>
                    <a:pt x="109819" y="19050"/>
                  </a:lnTo>
                  <a:lnTo>
                    <a:pt x="110063" y="19050"/>
                  </a:lnTo>
                  <a:lnTo>
                    <a:pt x="102920" y="21590"/>
                  </a:lnTo>
                  <a:lnTo>
                    <a:pt x="103144" y="21590"/>
                  </a:lnTo>
                  <a:lnTo>
                    <a:pt x="96381" y="24058"/>
                  </a:lnTo>
                  <a:lnTo>
                    <a:pt x="96238" y="24225"/>
                  </a:lnTo>
                  <a:lnTo>
                    <a:pt x="89631" y="27940"/>
                  </a:lnTo>
                  <a:lnTo>
                    <a:pt x="89844" y="27940"/>
                  </a:lnTo>
                  <a:lnTo>
                    <a:pt x="83261" y="31750"/>
                  </a:lnTo>
                  <a:lnTo>
                    <a:pt x="83464" y="31750"/>
                  </a:lnTo>
                  <a:lnTo>
                    <a:pt x="77243" y="35470"/>
                  </a:lnTo>
                  <a:lnTo>
                    <a:pt x="77442" y="35470"/>
                  </a:lnTo>
                  <a:lnTo>
                    <a:pt x="71269" y="39283"/>
                  </a:lnTo>
                  <a:lnTo>
                    <a:pt x="71211" y="39465"/>
                  </a:lnTo>
                  <a:lnTo>
                    <a:pt x="65379" y="44450"/>
                  </a:lnTo>
                  <a:lnTo>
                    <a:pt x="65572" y="44450"/>
                  </a:lnTo>
                  <a:lnTo>
                    <a:pt x="59862" y="49530"/>
                  </a:lnTo>
                  <a:lnTo>
                    <a:pt x="60045" y="49530"/>
                  </a:lnTo>
                  <a:lnTo>
                    <a:pt x="55953" y="53340"/>
                  </a:lnTo>
                  <a:lnTo>
                    <a:pt x="54752" y="53340"/>
                  </a:lnTo>
                  <a:lnTo>
                    <a:pt x="48678" y="60753"/>
                  </a:lnTo>
                  <a:lnTo>
                    <a:pt x="45482" y="64016"/>
                  </a:lnTo>
                  <a:lnTo>
                    <a:pt x="44849" y="64693"/>
                  </a:lnTo>
                  <a:lnTo>
                    <a:pt x="44985" y="64693"/>
                  </a:lnTo>
                  <a:lnTo>
                    <a:pt x="40325" y="71047"/>
                  </a:lnTo>
                  <a:lnTo>
                    <a:pt x="39500" y="72143"/>
                  </a:lnTo>
                  <a:lnTo>
                    <a:pt x="39377" y="72310"/>
                  </a:lnTo>
                  <a:lnTo>
                    <a:pt x="36647" y="75442"/>
                  </a:lnTo>
                  <a:lnTo>
                    <a:pt x="33804" y="79766"/>
                  </a:lnTo>
                  <a:lnTo>
                    <a:pt x="28529" y="88900"/>
                  </a:lnTo>
                  <a:lnTo>
                    <a:pt x="25166" y="95250"/>
                  </a:lnTo>
                  <a:lnTo>
                    <a:pt x="22108" y="102870"/>
                  </a:lnTo>
                  <a:lnTo>
                    <a:pt x="19385" y="109220"/>
                  </a:lnTo>
                  <a:lnTo>
                    <a:pt x="16987" y="116840"/>
                  </a:lnTo>
                  <a:lnTo>
                    <a:pt x="14925" y="123190"/>
                  </a:lnTo>
                  <a:lnTo>
                    <a:pt x="13228" y="130810"/>
                  </a:lnTo>
                  <a:lnTo>
                    <a:pt x="11877" y="138430"/>
                  </a:lnTo>
                  <a:lnTo>
                    <a:pt x="10901" y="146050"/>
                  </a:lnTo>
                  <a:lnTo>
                    <a:pt x="10312" y="153670"/>
                  </a:lnTo>
                  <a:lnTo>
                    <a:pt x="10387" y="170180"/>
                  </a:lnTo>
                  <a:lnTo>
                    <a:pt x="10717" y="175064"/>
                  </a:lnTo>
                  <a:lnTo>
                    <a:pt x="11022" y="177786"/>
                  </a:lnTo>
                  <a:lnTo>
                    <a:pt x="11324" y="180790"/>
                  </a:lnTo>
                  <a:lnTo>
                    <a:pt x="11726" y="184162"/>
                  </a:lnTo>
                  <a:lnTo>
                    <a:pt x="11825" y="184989"/>
                  </a:lnTo>
                  <a:lnTo>
                    <a:pt x="11877" y="185420"/>
                  </a:lnTo>
                  <a:lnTo>
                    <a:pt x="12043" y="185420"/>
                  </a:lnTo>
                  <a:lnTo>
                    <a:pt x="13228" y="193040"/>
                  </a:lnTo>
                  <a:lnTo>
                    <a:pt x="13458" y="193040"/>
                  </a:lnTo>
                  <a:lnTo>
                    <a:pt x="14864" y="199390"/>
                  </a:lnTo>
                  <a:lnTo>
                    <a:pt x="16906" y="207010"/>
                  </a:lnTo>
                  <a:lnTo>
                    <a:pt x="19385" y="214630"/>
                  </a:lnTo>
                  <a:lnTo>
                    <a:pt x="19747" y="214630"/>
                  </a:lnTo>
                  <a:lnTo>
                    <a:pt x="22016" y="220980"/>
                  </a:lnTo>
                  <a:lnTo>
                    <a:pt x="25054" y="227330"/>
                  </a:lnTo>
                  <a:lnTo>
                    <a:pt x="28407" y="233680"/>
                  </a:lnTo>
                  <a:lnTo>
                    <a:pt x="32162" y="239972"/>
                  </a:lnTo>
                  <a:lnTo>
                    <a:pt x="32028" y="239972"/>
                  </a:lnTo>
                  <a:lnTo>
                    <a:pt x="37474" y="248488"/>
                  </a:lnTo>
                  <a:lnTo>
                    <a:pt x="41917" y="254989"/>
                  </a:lnTo>
                  <a:lnTo>
                    <a:pt x="44927" y="259080"/>
                  </a:lnTo>
                  <a:lnTo>
                    <a:pt x="45762" y="259080"/>
                  </a:lnTo>
                  <a:lnTo>
                    <a:pt x="49651" y="264081"/>
                  </a:lnTo>
                  <a:lnTo>
                    <a:pt x="49633" y="264241"/>
                  </a:lnTo>
                  <a:lnTo>
                    <a:pt x="54705" y="269240"/>
                  </a:lnTo>
                  <a:lnTo>
                    <a:pt x="55953" y="270510"/>
                  </a:lnTo>
                  <a:lnTo>
                    <a:pt x="60045" y="274320"/>
                  </a:lnTo>
                  <a:lnTo>
                    <a:pt x="59862" y="274320"/>
                  </a:lnTo>
                  <a:lnTo>
                    <a:pt x="65464" y="279304"/>
                  </a:lnTo>
                  <a:lnTo>
                    <a:pt x="65516" y="279487"/>
                  </a:lnTo>
                  <a:lnTo>
                    <a:pt x="70310" y="282534"/>
                  </a:lnTo>
                  <a:lnTo>
                    <a:pt x="77164" y="288190"/>
                  </a:lnTo>
                  <a:lnTo>
                    <a:pt x="77243" y="288379"/>
                  </a:lnTo>
                  <a:lnTo>
                    <a:pt x="83392" y="292100"/>
                  </a:lnTo>
                  <a:lnTo>
                    <a:pt x="83261" y="292100"/>
                  </a:lnTo>
                  <a:lnTo>
                    <a:pt x="89685" y="295817"/>
                  </a:lnTo>
                  <a:lnTo>
                    <a:pt x="89947" y="296136"/>
                  </a:lnTo>
                  <a:lnTo>
                    <a:pt x="90237" y="296136"/>
                  </a:lnTo>
                  <a:lnTo>
                    <a:pt x="95623" y="298142"/>
                  </a:lnTo>
                  <a:lnTo>
                    <a:pt x="102963" y="302165"/>
                  </a:lnTo>
                  <a:lnTo>
                    <a:pt x="103119" y="302330"/>
                  </a:lnTo>
                  <a:lnTo>
                    <a:pt x="110063" y="304800"/>
                  </a:lnTo>
                  <a:lnTo>
                    <a:pt x="109819" y="304800"/>
                  </a:lnTo>
                  <a:lnTo>
                    <a:pt x="116916" y="307267"/>
                  </a:lnTo>
                  <a:lnTo>
                    <a:pt x="116460" y="307267"/>
                  </a:lnTo>
                  <a:lnTo>
                    <a:pt x="123816" y="308514"/>
                  </a:lnTo>
                  <a:lnTo>
                    <a:pt x="131481" y="311073"/>
                  </a:lnTo>
                  <a:lnTo>
                    <a:pt x="130995" y="311073"/>
                  </a:lnTo>
                  <a:lnTo>
                    <a:pt x="139202" y="312420"/>
                  </a:lnTo>
                  <a:lnTo>
                    <a:pt x="146568" y="312420"/>
                  </a:lnTo>
                  <a:lnTo>
                    <a:pt x="154553" y="313690"/>
                  </a:lnTo>
                  <a:lnTo>
                    <a:pt x="1015624" y="313690"/>
                  </a:lnTo>
                  <a:lnTo>
                    <a:pt x="1000373" y="318770"/>
                  </a:lnTo>
                  <a:lnTo>
                    <a:pt x="992520" y="320040"/>
                  </a:lnTo>
                  <a:lnTo>
                    <a:pt x="984524" y="322580"/>
                  </a:lnTo>
                  <a:close/>
                </a:path>
                <a:path w="1122045" h="323850">
                  <a:moveTo>
                    <a:pt x="1067480" y="54610"/>
                  </a:moveTo>
                  <a:lnTo>
                    <a:pt x="1062024" y="49530"/>
                  </a:lnTo>
                  <a:lnTo>
                    <a:pt x="1062207" y="49530"/>
                  </a:lnTo>
                  <a:lnTo>
                    <a:pt x="1056497" y="44450"/>
                  </a:lnTo>
                  <a:lnTo>
                    <a:pt x="1056690" y="44450"/>
                  </a:lnTo>
                  <a:lnTo>
                    <a:pt x="1050858" y="39465"/>
                  </a:lnTo>
                  <a:lnTo>
                    <a:pt x="1050800" y="39283"/>
                  </a:lnTo>
                  <a:lnTo>
                    <a:pt x="1046872" y="36830"/>
                  </a:lnTo>
                  <a:lnTo>
                    <a:pt x="1044826" y="35470"/>
                  </a:lnTo>
                  <a:lnTo>
                    <a:pt x="1038595" y="31750"/>
                  </a:lnTo>
                  <a:lnTo>
                    <a:pt x="1038809" y="31750"/>
                  </a:lnTo>
                  <a:lnTo>
                    <a:pt x="1032225" y="27940"/>
                  </a:lnTo>
                  <a:lnTo>
                    <a:pt x="1032438" y="27940"/>
                  </a:lnTo>
                  <a:lnTo>
                    <a:pt x="1025832" y="24225"/>
                  </a:lnTo>
                  <a:lnTo>
                    <a:pt x="1025688" y="24058"/>
                  </a:lnTo>
                  <a:lnTo>
                    <a:pt x="1018926" y="21590"/>
                  </a:lnTo>
                  <a:lnTo>
                    <a:pt x="1019149" y="21590"/>
                  </a:lnTo>
                  <a:lnTo>
                    <a:pt x="1012007" y="19050"/>
                  </a:lnTo>
                  <a:lnTo>
                    <a:pt x="1012250" y="19050"/>
                  </a:lnTo>
                  <a:lnTo>
                    <a:pt x="1004945" y="16510"/>
                  </a:lnTo>
                  <a:lnTo>
                    <a:pt x="1005179" y="16510"/>
                  </a:lnTo>
                  <a:lnTo>
                    <a:pt x="997487" y="13890"/>
                  </a:lnTo>
                  <a:lnTo>
                    <a:pt x="990356" y="12700"/>
                  </a:lnTo>
                  <a:lnTo>
                    <a:pt x="990610" y="12700"/>
                  </a:lnTo>
                  <a:lnTo>
                    <a:pt x="982868" y="11430"/>
                  </a:lnTo>
                  <a:lnTo>
                    <a:pt x="983122" y="11430"/>
                  </a:lnTo>
                  <a:lnTo>
                    <a:pt x="975248" y="10160"/>
                  </a:lnTo>
                  <a:lnTo>
                    <a:pt x="1018079" y="10160"/>
                  </a:lnTo>
                  <a:lnTo>
                    <a:pt x="1022990" y="12700"/>
                  </a:lnTo>
                  <a:lnTo>
                    <a:pt x="1030183" y="15240"/>
                  </a:lnTo>
                  <a:lnTo>
                    <a:pt x="1037183" y="19050"/>
                  </a:lnTo>
                  <a:lnTo>
                    <a:pt x="1068943" y="41910"/>
                  </a:lnTo>
                  <a:lnTo>
                    <a:pt x="1080977" y="53340"/>
                  </a:lnTo>
                  <a:lnTo>
                    <a:pt x="1067318" y="53340"/>
                  </a:lnTo>
                  <a:lnTo>
                    <a:pt x="1067480" y="54610"/>
                  </a:lnTo>
                  <a:close/>
                </a:path>
                <a:path w="1122045" h="323850">
                  <a:moveTo>
                    <a:pt x="96238" y="24225"/>
                  </a:moveTo>
                  <a:lnTo>
                    <a:pt x="96381" y="24058"/>
                  </a:lnTo>
                  <a:lnTo>
                    <a:pt x="96821" y="23897"/>
                  </a:lnTo>
                  <a:lnTo>
                    <a:pt x="96238" y="24225"/>
                  </a:lnTo>
                  <a:close/>
                </a:path>
                <a:path w="1122045" h="323850">
                  <a:moveTo>
                    <a:pt x="1025832" y="24225"/>
                  </a:moveTo>
                  <a:lnTo>
                    <a:pt x="1025248" y="23897"/>
                  </a:lnTo>
                  <a:lnTo>
                    <a:pt x="1025688" y="24058"/>
                  </a:lnTo>
                  <a:lnTo>
                    <a:pt x="1025832" y="24225"/>
                  </a:lnTo>
                  <a:close/>
                </a:path>
                <a:path w="1122045" h="323850">
                  <a:moveTo>
                    <a:pt x="71211" y="39465"/>
                  </a:moveTo>
                  <a:lnTo>
                    <a:pt x="71269" y="39283"/>
                  </a:lnTo>
                  <a:lnTo>
                    <a:pt x="71826" y="38939"/>
                  </a:lnTo>
                  <a:lnTo>
                    <a:pt x="71211" y="39465"/>
                  </a:lnTo>
                  <a:close/>
                </a:path>
                <a:path w="1122045" h="323850">
                  <a:moveTo>
                    <a:pt x="1050858" y="39465"/>
                  </a:moveTo>
                  <a:lnTo>
                    <a:pt x="1050243" y="38939"/>
                  </a:lnTo>
                  <a:lnTo>
                    <a:pt x="1050800" y="39283"/>
                  </a:lnTo>
                  <a:lnTo>
                    <a:pt x="1050858" y="39465"/>
                  </a:lnTo>
                  <a:close/>
                </a:path>
                <a:path w="1122045" h="323850">
                  <a:moveTo>
                    <a:pt x="54589" y="54610"/>
                  </a:moveTo>
                  <a:lnTo>
                    <a:pt x="54752" y="53340"/>
                  </a:lnTo>
                  <a:lnTo>
                    <a:pt x="55953" y="53340"/>
                  </a:lnTo>
                  <a:lnTo>
                    <a:pt x="54589" y="54610"/>
                  </a:lnTo>
                  <a:close/>
                </a:path>
                <a:path w="1122045" h="323850">
                  <a:moveTo>
                    <a:pt x="1101713" y="82489"/>
                  </a:moveTo>
                  <a:lnTo>
                    <a:pt x="1089966" y="82489"/>
                  </a:lnTo>
                  <a:lnTo>
                    <a:pt x="1088700" y="80584"/>
                  </a:lnTo>
                  <a:lnTo>
                    <a:pt x="1088210" y="79766"/>
                  </a:lnTo>
                  <a:lnTo>
                    <a:pt x="1085952" y="76264"/>
                  </a:lnTo>
                  <a:lnTo>
                    <a:pt x="1085397" y="75442"/>
                  </a:lnTo>
                  <a:lnTo>
                    <a:pt x="1082965" y="72681"/>
                  </a:lnTo>
                  <a:lnTo>
                    <a:pt x="1077099" y="64693"/>
                  </a:lnTo>
                  <a:lnTo>
                    <a:pt x="1076560" y="64016"/>
                  </a:lnTo>
                  <a:lnTo>
                    <a:pt x="1073630" y="61045"/>
                  </a:lnTo>
                  <a:lnTo>
                    <a:pt x="1067318" y="53340"/>
                  </a:lnTo>
                  <a:lnTo>
                    <a:pt x="1080977" y="53340"/>
                  </a:lnTo>
                  <a:lnTo>
                    <a:pt x="1085057" y="58420"/>
                  </a:lnTo>
                  <a:lnTo>
                    <a:pt x="1089815" y="64693"/>
                  </a:lnTo>
                  <a:lnTo>
                    <a:pt x="1094352" y="71047"/>
                  </a:lnTo>
                  <a:lnTo>
                    <a:pt x="1098621" y="77470"/>
                  </a:lnTo>
                  <a:lnTo>
                    <a:pt x="1101713" y="82489"/>
                  </a:lnTo>
                  <a:close/>
                </a:path>
                <a:path w="1122045" h="323850">
                  <a:moveTo>
                    <a:pt x="48678" y="60753"/>
                  </a:moveTo>
                  <a:lnTo>
                    <a:pt x="49615" y="59610"/>
                  </a:lnTo>
                  <a:lnTo>
                    <a:pt x="49633" y="59771"/>
                  </a:lnTo>
                  <a:lnTo>
                    <a:pt x="48678" y="60753"/>
                  </a:lnTo>
                  <a:close/>
                </a:path>
                <a:path w="1122045" h="323850">
                  <a:moveTo>
                    <a:pt x="1073391" y="60753"/>
                  </a:moveTo>
                  <a:lnTo>
                    <a:pt x="1072436" y="59771"/>
                  </a:lnTo>
                  <a:lnTo>
                    <a:pt x="1072454" y="59610"/>
                  </a:lnTo>
                  <a:lnTo>
                    <a:pt x="1073391" y="60753"/>
                  </a:lnTo>
                  <a:close/>
                </a:path>
                <a:path w="1122045" h="323850">
                  <a:moveTo>
                    <a:pt x="44985" y="64693"/>
                  </a:moveTo>
                  <a:lnTo>
                    <a:pt x="44849" y="64693"/>
                  </a:lnTo>
                  <a:lnTo>
                    <a:pt x="45507" y="64016"/>
                  </a:lnTo>
                  <a:lnTo>
                    <a:pt x="44985" y="64693"/>
                  </a:lnTo>
                  <a:close/>
                </a:path>
                <a:path w="1122045" h="323850">
                  <a:moveTo>
                    <a:pt x="1077221" y="64693"/>
                  </a:moveTo>
                  <a:lnTo>
                    <a:pt x="1077086" y="64693"/>
                  </a:lnTo>
                  <a:lnTo>
                    <a:pt x="1076588" y="64016"/>
                  </a:lnTo>
                  <a:lnTo>
                    <a:pt x="1077221" y="64693"/>
                  </a:lnTo>
                  <a:close/>
                </a:path>
                <a:path w="1122045" h="323850">
                  <a:moveTo>
                    <a:pt x="39522" y="72143"/>
                  </a:moveTo>
                  <a:lnTo>
                    <a:pt x="40325" y="71047"/>
                  </a:lnTo>
                  <a:lnTo>
                    <a:pt x="40469" y="71047"/>
                  </a:lnTo>
                  <a:lnTo>
                    <a:pt x="39522" y="72143"/>
                  </a:lnTo>
                  <a:close/>
                </a:path>
                <a:path w="1122045" h="323850">
                  <a:moveTo>
                    <a:pt x="1082569" y="72143"/>
                  </a:moveTo>
                  <a:lnTo>
                    <a:pt x="1081601" y="71047"/>
                  </a:lnTo>
                  <a:lnTo>
                    <a:pt x="1081762" y="71047"/>
                  </a:lnTo>
                  <a:lnTo>
                    <a:pt x="1082569" y="72143"/>
                  </a:lnTo>
                  <a:close/>
                </a:path>
                <a:path w="1122045" h="323850">
                  <a:moveTo>
                    <a:pt x="1120399" y="185420"/>
                  </a:moveTo>
                  <a:lnTo>
                    <a:pt x="1110193" y="185420"/>
                  </a:lnTo>
                  <a:lnTo>
                    <a:pt x="1111350" y="175064"/>
                  </a:lnTo>
                  <a:lnTo>
                    <a:pt x="1111673" y="170180"/>
                  </a:lnTo>
                  <a:lnTo>
                    <a:pt x="1111758" y="168910"/>
                  </a:lnTo>
                  <a:lnTo>
                    <a:pt x="1111859" y="166370"/>
                  </a:lnTo>
                  <a:lnTo>
                    <a:pt x="1111910" y="157480"/>
                  </a:lnTo>
                  <a:lnTo>
                    <a:pt x="1111768" y="153670"/>
                  </a:lnTo>
                  <a:lnTo>
                    <a:pt x="1102776" y="109220"/>
                  </a:lnTo>
                  <a:lnTo>
                    <a:pt x="1100053" y="102870"/>
                  </a:lnTo>
                  <a:lnTo>
                    <a:pt x="1097015" y="95250"/>
                  </a:lnTo>
                  <a:lnTo>
                    <a:pt x="1093663" y="88900"/>
                  </a:lnTo>
                  <a:lnTo>
                    <a:pt x="1088700" y="80584"/>
                  </a:lnTo>
                  <a:lnTo>
                    <a:pt x="1089966" y="82489"/>
                  </a:lnTo>
                  <a:lnTo>
                    <a:pt x="1101713" y="82489"/>
                  </a:lnTo>
                  <a:lnTo>
                    <a:pt x="1102532" y="83820"/>
                  </a:lnTo>
                  <a:lnTo>
                    <a:pt x="1106119" y="91440"/>
                  </a:lnTo>
                  <a:lnTo>
                    <a:pt x="1109370" y="99060"/>
                  </a:lnTo>
                  <a:lnTo>
                    <a:pt x="1112276" y="105410"/>
                  </a:lnTo>
                  <a:lnTo>
                    <a:pt x="1121288" y="144780"/>
                  </a:lnTo>
                  <a:lnTo>
                    <a:pt x="1121907" y="153670"/>
                  </a:lnTo>
                  <a:lnTo>
                    <a:pt x="1121907" y="170180"/>
                  </a:lnTo>
                  <a:lnTo>
                    <a:pt x="1121510" y="175064"/>
                  </a:lnTo>
                  <a:lnTo>
                    <a:pt x="1121391" y="176534"/>
                  </a:lnTo>
                  <a:lnTo>
                    <a:pt x="1121289" y="177786"/>
                  </a:lnTo>
                  <a:lnTo>
                    <a:pt x="1120546" y="184162"/>
                  </a:lnTo>
                  <a:lnTo>
                    <a:pt x="1120450" y="184989"/>
                  </a:lnTo>
                  <a:lnTo>
                    <a:pt x="1120399" y="185420"/>
                  </a:lnTo>
                  <a:close/>
                </a:path>
                <a:path w="1122045" h="323850">
                  <a:moveTo>
                    <a:pt x="1119066" y="193040"/>
                  </a:moveTo>
                  <a:lnTo>
                    <a:pt x="1108842" y="193040"/>
                  </a:lnTo>
                  <a:lnTo>
                    <a:pt x="1110221" y="184162"/>
                  </a:lnTo>
                  <a:lnTo>
                    <a:pt x="1110193" y="185420"/>
                  </a:lnTo>
                  <a:lnTo>
                    <a:pt x="1120399" y="185420"/>
                  </a:lnTo>
                  <a:lnTo>
                    <a:pt x="1120251" y="186690"/>
                  </a:lnTo>
                  <a:lnTo>
                    <a:pt x="1119066" y="193040"/>
                  </a:lnTo>
                  <a:close/>
                </a:path>
                <a:path w="1122045" h="323850">
                  <a:moveTo>
                    <a:pt x="12043" y="185420"/>
                  </a:moveTo>
                  <a:lnTo>
                    <a:pt x="11877" y="185420"/>
                  </a:lnTo>
                  <a:lnTo>
                    <a:pt x="11866" y="184989"/>
                  </a:lnTo>
                  <a:lnTo>
                    <a:pt x="12043" y="185420"/>
                  </a:lnTo>
                  <a:close/>
                </a:path>
                <a:path w="1122045" h="323850">
                  <a:moveTo>
                    <a:pt x="13458" y="193040"/>
                  </a:moveTo>
                  <a:lnTo>
                    <a:pt x="13228" y="193040"/>
                  </a:lnTo>
                  <a:lnTo>
                    <a:pt x="13177" y="191770"/>
                  </a:lnTo>
                  <a:lnTo>
                    <a:pt x="13458" y="193040"/>
                  </a:lnTo>
                  <a:close/>
                </a:path>
                <a:path w="1122045" h="323850">
                  <a:moveTo>
                    <a:pt x="1113126" y="214630"/>
                  </a:moveTo>
                  <a:lnTo>
                    <a:pt x="1102685" y="214630"/>
                  </a:lnTo>
                  <a:lnTo>
                    <a:pt x="1105082" y="207010"/>
                  </a:lnTo>
                  <a:lnTo>
                    <a:pt x="1107145" y="199390"/>
                  </a:lnTo>
                  <a:lnTo>
                    <a:pt x="1108892" y="191770"/>
                  </a:lnTo>
                  <a:lnTo>
                    <a:pt x="1108842" y="193040"/>
                  </a:lnTo>
                  <a:lnTo>
                    <a:pt x="1119066" y="193040"/>
                  </a:lnTo>
                  <a:lnTo>
                    <a:pt x="1118829" y="194310"/>
                  </a:lnTo>
                  <a:lnTo>
                    <a:pt x="1117010" y="201930"/>
                  </a:lnTo>
                  <a:lnTo>
                    <a:pt x="1114826" y="209550"/>
                  </a:lnTo>
                  <a:lnTo>
                    <a:pt x="1113126" y="214630"/>
                  </a:lnTo>
                  <a:close/>
                </a:path>
                <a:path w="1122045" h="323850">
                  <a:moveTo>
                    <a:pt x="19747" y="214630"/>
                  </a:moveTo>
                  <a:lnTo>
                    <a:pt x="19385" y="214630"/>
                  </a:lnTo>
                  <a:lnTo>
                    <a:pt x="19293" y="213360"/>
                  </a:lnTo>
                  <a:lnTo>
                    <a:pt x="19747" y="214630"/>
                  </a:lnTo>
                  <a:close/>
                </a:path>
                <a:path w="1122045" h="323850">
                  <a:moveTo>
                    <a:pt x="1089873" y="259080"/>
                  </a:moveTo>
                  <a:lnTo>
                    <a:pt x="1077142" y="259080"/>
                  </a:lnTo>
                  <a:lnTo>
                    <a:pt x="1081868" y="252658"/>
                  </a:lnTo>
                  <a:lnTo>
                    <a:pt x="1081713" y="252658"/>
                  </a:lnTo>
                  <a:lnTo>
                    <a:pt x="1084595" y="248488"/>
                  </a:lnTo>
                  <a:lnTo>
                    <a:pt x="1085983" y="246315"/>
                  </a:lnTo>
                  <a:lnTo>
                    <a:pt x="1088197" y="242932"/>
                  </a:lnTo>
                  <a:lnTo>
                    <a:pt x="1093541" y="233680"/>
                  </a:lnTo>
                  <a:lnTo>
                    <a:pt x="1096904" y="227330"/>
                  </a:lnTo>
                  <a:lnTo>
                    <a:pt x="1099962" y="220980"/>
                  </a:lnTo>
                  <a:lnTo>
                    <a:pt x="1102776" y="213360"/>
                  </a:lnTo>
                  <a:lnTo>
                    <a:pt x="1102685" y="214630"/>
                  </a:lnTo>
                  <a:lnTo>
                    <a:pt x="1113126" y="214630"/>
                  </a:lnTo>
                  <a:lnTo>
                    <a:pt x="1112276" y="217170"/>
                  </a:lnTo>
                  <a:lnTo>
                    <a:pt x="1109370" y="224790"/>
                  </a:lnTo>
                  <a:lnTo>
                    <a:pt x="1106119" y="232410"/>
                  </a:lnTo>
                  <a:lnTo>
                    <a:pt x="1102532" y="238760"/>
                  </a:lnTo>
                  <a:lnTo>
                    <a:pt x="1098654" y="246315"/>
                  </a:lnTo>
                  <a:lnTo>
                    <a:pt x="1094452" y="252658"/>
                  </a:lnTo>
                  <a:lnTo>
                    <a:pt x="1081868" y="252658"/>
                  </a:lnTo>
                  <a:lnTo>
                    <a:pt x="1080153" y="254989"/>
                  </a:lnTo>
                  <a:lnTo>
                    <a:pt x="1092792" y="254989"/>
                  </a:lnTo>
                  <a:lnTo>
                    <a:pt x="1089873" y="259080"/>
                  </a:lnTo>
                  <a:close/>
                </a:path>
                <a:path w="1122045" h="323850">
                  <a:moveTo>
                    <a:pt x="33370" y="241995"/>
                  </a:moveTo>
                  <a:lnTo>
                    <a:pt x="32028" y="239972"/>
                  </a:lnTo>
                  <a:lnTo>
                    <a:pt x="32162" y="239972"/>
                  </a:lnTo>
                  <a:lnTo>
                    <a:pt x="33370" y="241995"/>
                  </a:lnTo>
                  <a:close/>
                </a:path>
                <a:path w="1122045" h="323850">
                  <a:moveTo>
                    <a:pt x="45762" y="259080"/>
                  </a:moveTo>
                  <a:lnTo>
                    <a:pt x="44927" y="259080"/>
                  </a:lnTo>
                  <a:lnTo>
                    <a:pt x="44775" y="257810"/>
                  </a:lnTo>
                  <a:lnTo>
                    <a:pt x="45762" y="259080"/>
                  </a:lnTo>
                  <a:close/>
                </a:path>
                <a:path w="1122045" h="323850">
                  <a:moveTo>
                    <a:pt x="1050270" y="296136"/>
                  </a:moveTo>
                  <a:lnTo>
                    <a:pt x="1032123" y="296136"/>
                  </a:lnTo>
                  <a:lnTo>
                    <a:pt x="1032385" y="295817"/>
                  </a:lnTo>
                  <a:lnTo>
                    <a:pt x="1038809" y="292100"/>
                  </a:lnTo>
                  <a:lnTo>
                    <a:pt x="1038595" y="292100"/>
                  </a:lnTo>
                  <a:lnTo>
                    <a:pt x="1044826" y="288379"/>
                  </a:lnTo>
                  <a:lnTo>
                    <a:pt x="1044892" y="288190"/>
                  </a:lnTo>
                  <a:lnTo>
                    <a:pt x="1051046" y="283122"/>
                  </a:lnTo>
                  <a:lnTo>
                    <a:pt x="1051801" y="282534"/>
                  </a:lnTo>
                  <a:lnTo>
                    <a:pt x="1056554" y="279487"/>
                  </a:lnTo>
                  <a:lnTo>
                    <a:pt x="1056605" y="279304"/>
                  </a:lnTo>
                  <a:lnTo>
                    <a:pt x="1062207" y="274320"/>
                  </a:lnTo>
                  <a:lnTo>
                    <a:pt x="1062024" y="274320"/>
                  </a:lnTo>
                  <a:lnTo>
                    <a:pt x="1067480" y="269240"/>
                  </a:lnTo>
                  <a:lnTo>
                    <a:pt x="1067318" y="269240"/>
                  </a:lnTo>
                  <a:lnTo>
                    <a:pt x="1072436" y="264241"/>
                  </a:lnTo>
                  <a:lnTo>
                    <a:pt x="1072418" y="264081"/>
                  </a:lnTo>
                  <a:lnTo>
                    <a:pt x="1077295" y="257810"/>
                  </a:lnTo>
                  <a:lnTo>
                    <a:pt x="1077142" y="259080"/>
                  </a:lnTo>
                  <a:lnTo>
                    <a:pt x="1089873" y="259080"/>
                  </a:lnTo>
                  <a:lnTo>
                    <a:pt x="1085057" y="265430"/>
                  </a:lnTo>
                  <a:lnTo>
                    <a:pt x="1079957" y="270510"/>
                  </a:lnTo>
                  <a:lnTo>
                    <a:pt x="1074582" y="276860"/>
                  </a:lnTo>
                  <a:lnTo>
                    <a:pt x="1068943" y="281940"/>
                  </a:lnTo>
                  <a:lnTo>
                    <a:pt x="1063061" y="287020"/>
                  </a:lnTo>
                  <a:lnTo>
                    <a:pt x="1056924" y="292100"/>
                  </a:lnTo>
                  <a:lnTo>
                    <a:pt x="1050718" y="295817"/>
                  </a:lnTo>
                  <a:lnTo>
                    <a:pt x="1050270" y="296136"/>
                  </a:lnTo>
                  <a:close/>
                </a:path>
                <a:path w="1122045" h="323850">
                  <a:moveTo>
                    <a:pt x="50225" y="264819"/>
                  </a:moveTo>
                  <a:lnTo>
                    <a:pt x="49633" y="264241"/>
                  </a:lnTo>
                  <a:lnTo>
                    <a:pt x="49651" y="264081"/>
                  </a:lnTo>
                  <a:lnTo>
                    <a:pt x="50225" y="264819"/>
                  </a:lnTo>
                  <a:close/>
                </a:path>
                <a:path w="1122045" h="323850">
                  <a:moveTo>
                    <a:pt x="1071844" y="264819"/>
                  </a:moveTo>
                  <a:lnTo>
                    <a:pt x="1072294" y="264241"/>
                  </a:lnTo>
                  <a:lnTo>
                    <a:pt x="1072418" y="264081"/>
                  </a:lnTo>
                  <a:lnTo>
                    <a:pt x="1072436" y="264241"/>
                  </a:lnTo>
                  <a:lnTo>
                    <a:pt x="1071844" y="264819"/>
                  </a:lnTo>
                  <a:close/>
                </a:path>
                <a:path w="1122045" h="323850">
                  <a:moveTo>
                    <a:pt x="66070" y="279842"/>
                  </a:moveTo>
                  <a:lnTo>
                    <a:pt x="65516" y="279487"/>
                  </a:lnTo>
                  <a:lnTo>
                    <a:pt x="65464" y="279304"/>
                  </a:lnTo>
                  <a:lnTo>
                    <a:pt x="66070" y="279842"/>
                  </a:lnTo>
                  <a:close/>
                </a:path>
                <a:path w="1122045" h="323850">
                  <a:moveTo>
                    <a:pt x="1056000" y="279842"/>
                  </a:moveTo>
                  <a:lnTo>
                    <a:pt x="1056605" y="279304"/>
                  </a:lnTo>
                  <a:lnTo>
                    <a:pt x="1056554" y="279487"/>
                  </a:lnTo>
                  <a:lnTo>
                    <a:pt x="1056000" y="279842"/>
                  </a:lnTo>
                  <a:close/>
                </a:path>
                <a:path w="1122045" h="323850">
                  <a:moveTo>
                    <a:pt x="71245" y="283304"/>
                  </a:moveTo>
                  <a:lnTo>
                    <a:pt x="70310" y="282534"/>
                  </a:lnTo>
                  <a:lnTo>
                    <a:pt x="71186" y="283122"/>
                  </a:lnTo>
                  <a:lnTo>
                    <a:pt x="71245" y="283304"/>
                  </a:lnTo>
                  <a:close/>
                </a:path>
                <a:path w="1122045" h="323850">
                  <a:moveTo>
                    <a:pt x="1050810" y="283304"/>
                  </a:moveTo>
                  <a:lnTo>
                    <a:pt x="1050884" y="283122"/>
                  </a:lnTo>
                  <a:lnTo>
                    <a:pt x="1051800" y="282534"/>
                  </a:lnTo>
                  <a:lnTo>
                    <a:pt x="1050810" y="283304"/>
                  </a:lnTo>
                  <a:close/>
                </a:path>
                <a:path w="1122045" h="323850">
                  <a:moveTo>
                    <a:pt x="77788" y="288705"/>
                  </a:moveTo>
                  <a:lnTo>
                    <a:pt x="77243" y="288379"/>
                  </a:lnTo>
                  <a:lnTo>
                    <a:pt x="77176" y="288190"/>
                  </a:lnTo>
                  <a:lnTo>
                    <a:pt x="77788" y="288705"/>
                  </a:lnTo>
                  <a:close/>
                </a:path>
                <a:path w="1122045" h="323850">
                  <a:moveTo>
                    <a:pt x="1044281" y="288705"/>
                  </a:moveTo>
                  <a:lnTo>
                    <a:pt x="1044894" y="288190"/>
                  </a:lnTo>
                  <a:lnTo>
                    <a:pt x="1044826" y="288379"/>
                  </a:lnTo>
                  <a:lnTo>
                    <a:pt x="1044281" y="288705"/>
                  </a:lnTo>
                  <a:close/>
                </a:path>
                <a:path w="1122045" h="323850">
                  <a:moveTo>
                    <a:pt x="86195" y="293798"/>
                  </a:moveTo>
                  <a:lnTo>
                    <a:pt x="83261" y="292100"/>
                  </a:lnTo>
                  <a:lnTo>
                    <a:pt x="83392" y="292100"/>
                  </a:lnTo>
                  <a:lnTo>
                    <a:pt x="86195" y="293798"/>
                  </a:lnTo>
                  <a:close/>
                </a:path>
                <a:path w="1122045" h="323850">
                  <a:moveTo>
                    <a:pt x="90237" y="296136"/>
                  </a:moveTo>
                  <a:lnTo>
                    <a:pt x="89947" y="296136"/>
                  </a:lnTo>
                  <a:lnTo>
                    <a:pt x="89685" y="295817"/>
                  </a:lnTo>
                  <a:lnTo>
                    <a:pt x="90237" y="296136"/>
                  </a:lnTo>
                  <a:close/>
                </a:path>
                <a:path w="1122045" h="323850">
                  <a:moveTo>
                    <a:pt x="1015624" y="313690"/>
                  </a:moveTo>
                  <a:lnTo>
                    <a:pt x="967516" y="313690"/>
                  </a:lnTo>
                  <a:lnTo>
                    <a:pt x="975502" y="312420"/>
                  </a:lnTo>
                  <a:lnTo>
                    <a:pt x="982868" y="312420"/>
                  </a:lnTo>
                  <a:lnTo>
                    <a:pt x="991075" y="311073"/>
                  </a:lnTo>
                  <a:lnTo>
                    <a:pt x="990584" y="311073"/>
                  </a:lnTo>
                  <a:lnTo>
                    <a:pt x="998286" y="308514"/>
                  </a:lnTo>
                  <a:lnTo>
                    <a:pt x="1005639" y="307267"/>
                  </a:lnTo>
                  <a:lnTo>
                    <a:pt x="1005154" y="307267"/>
                  </a:lnTo>
                  <a:lnTo>
                    <a:pt x="1012250" y="304800"/>
                  </a:lnTo>
                  <a:lnTo>
                    <a:pt x="1012007" y="304800"/>
                  </a:lnTo>
                  <a:lnTo>
                    <a:pt x="1018951" y="302330"/>
                  </a:lnTo>
                  <a:lnTo>
                    <a:pt x="1019097" y="302165"/>
                  </a:lnTo>
                  <a:lnTo>
                    <a:pt x="1026019" y="298376"/>
                  </a:lnTo>
                  <a:lnTo>
                    <a:pt x="1026482" y="298142"/>
                  </a:lnTo>
                  <a:lnTo>
                    <a:pt x="1031833" y="296136"/>
                  </a:lnTo>
                  <a:lnTo>
                    <a:pt x="1032385" y="295817"/>
                  </a:lnTo>
                  <a:lnTo>
                    <a:pt x="1032123" y="296136"/>
                  </a:lnTo>
                  <a:lnTo>
                    <a:pt x="1050270" y="296136"/>
                  </a:lnTo>
                  <a:lnTo>
                    <a:pt x="1043980" y="300990"/>
                  </a:lnTo>
                  <a:lnTo>
                    <a:pt x="1037183" y="304800"/>
                  </a:lnTo>
                  <a:lnTo>
                    <a:pt x="1030383" y="307267"/>
                  </a:lnTo>
                  <a:lnTo>
                    <a:pt x="1027966" y="308514"/>
                  </a:lnTo>
                  <a:lnTo>
                    <a:pt x="1023134" y="311073"/>
                  </a:lnTo>
                  <a:lnTo>
                    <a:pt x="1015624" y="313690"/>
                  </a:lnTo>
                  <a:close/>
                </a:path>
                <a:path w="1122045" h="323850">
                  <a:moveTo>
                    <a:pt x="96356" y="298544"/>
                  </a:moveTo>
                  <a:lnTo>
                    <a:pt x="95623" y="298142"/>
                  </a:lnTo>
                  <a:lnTo>
                    <a:pt x="96212" y="298376"/>
                  </a:lnTo>
                  <a:lnTo>
                    <a:pt x="96356" y="298544"/>
                  </a:lnTo>
                  <a:close/>
                </a:path>
                <a:path w="1122045" h="323850">
                  <a:moveTo>
                    <a:pt x="1025704" y="298544"/>
                  </a:moveTo>
                  <a:lnTo>
                    <a:pt x="1025858" y="298376"/>
                  </a:lnTo>
                  <a:lnTo>
                    <a:pt x="1026482" y="298142"/>
                  </a:lnTo>
                  <a:lnTo>
                    <a:pt x="1025704" y="298544"/>
                  </a:lnTo>
                  <a:close/>
                </a:path>
                <a:path w="1122045" h="323850">
                  <a:moveTo>
                    <a:pt x="103532" y="302477"/>
                  </a:moveTo>
                  <a:lnTo>
                    <a:pt x="103119" y="302330"/>
                  </a:lnTo>
                  <a:lnTo>
                    <a:pt x="102972" y="302165"/>
                  </a:lnTo>
                  <a:lnTo>
                    <a:pt x="103532" y="302477"/>
                  </a:lnTo>
                  <a:close/>
                </a:path>
                <a:path w="1122045" h="323850">
                  <a:moveTo>
                    <a:pt x="1018537" y="302477"/>
                  </a:moveTo>
                  <a:lnTo>
                    <a:pt x="1019098" y="302165"/>
                  </a:lnTo>
                  <a:lnTo>
                    <a:pt x="1018951" y="302330"/>
                  </a:lnTo>
                  <a:lnTo>
                    <a:pt x="1018537" y="302477"/>
                  </a:lnTo>
                  <a:close/>
                </a:path>
                <a:path w="1122045" h="323850">
                  <a:moveTo>
                    <a:pt x="968197" y="323850"/>
                  </a:moveTo>
                  <a:lnTo>
                    <a:pt x="153873" y="323850"/>
                  </a:lnTo>
                  <a:lnTo>
                    <a:pt x="145663" y="322580"/>
                  </a:lnTo>
                  <a:lnTo>
                    <a:pt x="976406" y="322580"/>
                  </a:lnTo>
                  <a:lnTo>
                    <a:pt x="968197" y="323850"/>
                  </a:lnTo>
                  <a:close/>
                </a:path>
              </a:pathLst>
            </a:custGeom>
            <a:solidFill>
              <a:srgbClr val="44536A">
                <a:alpha val="50199"/>
              </a:srgbClr>
            </a:solidFill>
          </p:spPr>
          <p:txBody>
            <a:bodyPr wrap="square" lIns="0" tIns="0" rIns="0" bIns="0" rtlCol="0"/>
            <a:lstStyle/>
            <a:p>
              <a:endParaRPr/>
            </a:p>
          </p:txBody>
        </p:sp>
        <p:sp>
          <p:nvSpPr>
            <p:cNvPr id="11" name="object 11"/>
            <p:cNvSpPr/>
            <p:nvPr/>
          </p:nvSpPr>
          <p:spPr>
            <a:xfrm>
              <a:off x="3788257" y="2222804"/>
              <a:ext cx="1112520" cy="314960"/>
            </a:xfrm>
            <a:custGeom>
              <a:avLst/>
              <a:gdLst/>
              <a:ahLst/>
              <a:cxnLst/>
              <a:rect l="l" t="t" r="r" b="b"/>
              <a:pathLst>
                <a:path w="1112520" h="314960">
                  <a:moveTo>
                    <a:pt x="954633" y="314553"/>
                  </a:moveTo>
                  <a:lnTo>
                    <a:pt x="157276" y="314553"/>
                  </a:lnTo>
                  <a:lnTo>
                    <a:pt x="107749" y="306586"/>
                  </a:lnTo>
                  <a:lnTo>
                    <a:pt x="64672" y="284289"/>
                  </a:lnTo>
                  <a:lnTo>
                    <a:pt x="30630" y="250247"/>
                  </a:lnTo>
                  <a:lnTo>
                    <a:pt x="8210" y="207047"/>
                  </a:lnTo>
                  <a:lnTo>
                    <a:pt x="0" y="157276"/>
                  </a:lnTo>
                  <a:lnTo>
                    <a:pt x="8210" y="107652"/>
                  </a:lnTo>
                  <a:lnTo>
                    <a:pt x="30630" y="64525"/>
                  </a:lnTo>
                  <a:lnTo>
                    <a:pt x="64672" y="30483"/>
                  </a:lnTo>
                  <a:lnTo>
                    <a:pt x="107749" y="8113"/>
                  </a:lnTo>
                  <a:lnTo>
                    <a:pt x="157276" y="0"/>
                  </a:lnTo>
                  <a:lnTo>
                    <a:pt x="954633" y="0"/>
                  </a:lnTo>
                  <a:lnTo>
                    <a:pt x="1004603" y="8114"/>
                  </a:lnTo>
                  <a:lnTo>
                    <a:pt x="1047929" y="30493"/>
                  </a:lnTo>
                  <a:lnTo>
                    <a:pt x="1082048" y="64558"/>
                  </a:lnTo>
                  <a:lnTo>
                    <a:pt x="1104398" y="107730"/>
                  </a:lnTo>
                  <a:lnTo>
                    <a:pt x="1112418" y="157429"/>
                  </a:lnTo>
                  <a:lnTo>
                    <a:pt x="1104398" y="207125"/>
                  </a:lnTo>
                  <a:lnTo>
                    <a:pt x="1082048" y="250280"/>
                  </a:lnTo>
                  <a:lnTo>
                    <a:pt x="1047929" y="284298"/>
                  </a:lnTo>
                  <a:lnTo>
                    <a:pt x="1004603" y="306588"/>
                  </a:lnTo>
                  <a:lnTo>
                    <a:pt x="954633" y="314553"/>
                  </a:lnTo>
                  <a:close/>
                </a:path>
              </a:pathLst>
            </a:custGeom>
            <a:solidFill>
              <a:srgbClr val="FFFFFF"/>
            </a:solidFill>
          </p:spPr>
          <p:txBody>
            <a:bodyPr wrap="square" lIns="0" tIns="0" rIns="0" bIns="0" rtlCol="0"/>
            <a:lstStyle/>
            <a:p>
              <a:endParaRPr/>
            </a:p>
          </p:txBody>
        </p:sp>
        <p:sp>
          <p:nvSpPr>
            <p:cNvPr id="12" name="object 12"/>
            <p:cNvSpPr/>
            <p:nvPr/>
          </p:nvSpPr>
          <p:spPr>
            <a:xfrm>
              <a:off x="3783634" y="2217978"/>
              <a:ext cx="1122045" cy="323850"/>
            </a:xfrm>
            <a:custGeom>
              <a:avLst/>
              <a:gdLst/>
              <a:ahLst/>
              <a:cxnLst/>
              <a:rect l="l" t="t" r="r" b="b"/>
              <a:pathLst>
                <a:path w="1122045" h="323850">
                  <a:moveTo>
                    <a:pt x="984524" y="322580"/>
                  </a:moveTo>
                  <a:lnTo>
                    <a:pt x="137546" y="322580"/>
                  </a:lnTo>
                  <a:lnTo>
                    <a:pt x="129550" y="320040"/>
                  </a:lnTo>
                  <a:lnTo>
                    <a:pt x="121696" y="318770"/>
                  </a:lnTo>
                  <a:lnTo>
                    <a:pt x="106446" y="313690"/>
                  </a:lnTo>
                  <a:lnTo>
                    <a:pt x="98936" y="311073"/>
                  </a:lnTo>
                  <a:lnTo>
                    <a:pt x="94103" y="308514"/>
                  </a:lnTo>
                  <a:lnTo>
                    <a:pt x="91687" y="307267"/>
                  </a:lnTo>
                  <a:lnTo>
                    <a:pt x="84886" y="304800"/>
                  </a:lnTo>
                  <a:lnTo>
                    <a:pt x="78089" y="300990"/>
                  </a:lnTo>
                  <a:lnTo>
                    <a:pt x="71800" y="296136"/>
                  </a:lnTo>
                  <a:lnTo>
                    <a:pt x="71351" y="295817"/>
                  </a:lnTo>
                  <a:lnTo>
                    <a:pt x="42113" y="270510"/>
                  </a:lnTo>
                  <a:lnTo>
                    <a:pt x="37012" y="265430"/>
                  </a:lnTo>
                  <a:lnTo>
                    <a:pt x="32197" y="259080"/>
                  </a:lnTo>
                  <a:lnTo>
                    <a:pt x="27618" y="252658"/>
                  </a:lnTo>
                  <a:lnTo>
                    <a:pt x="23416" y="246315"/>
                  </a:lnTo>
                  <a:lnTo>
                    <a:pt x="19537" y="238760"/>
                  </a:lnTo>
                  <a:lnTo>
                    <a:pt x="15951" y="232410"/>
                  </a:lnTo>
                  <a:lnTo>
                    <a:pt x="3241" y="194310"/>
                  </a:lnTo>
                  <a:lnTo>
                    <a:pt x="0" y="157480"/>
                  </a:lnTo>
                  <a:lnTo>
                    <a:pt x="162" y="153670"/>
                  </a:lnTo>
                  <a:lnTo>
                    <a:pt x="693" y="146050"/>
                  </a:lnTo>
                  <a:lnTo>
                    <a:pt x="782" y="144780"/>
                  </a:lnTo>
                  <a:lnTo>
                    <a:pt x="9794" y="105410"/>
                  </a:lnTo>
                  <a:lnTo>
                    <a:pt x="12700" y="99060"/>
                  </a:lnTo>
                  <a:lnTo>
                    <a:pt x="15951" y="91440"/>
                  </a:lnTo>
                  <a:lnTo>
                    <a:pt x="37012" y="58420"/>
                  </a:lnTo>
                  <a:lnTo>
                    <a:pt x="65145" y="31750"/>
                  </a:lnTo>
                  <a:lnTo>
                    <a:pt x="99080" y="12700"/>
                  </a:lnTo>
                  <a:lnTo>
                    <a:pt x="106446" y="8890"/>
                  </a:lnTo>
                  <a:lnTo>
                    <a:pt x="121696" y="3810"/>
                  </a:lnTo>
                  <a:lnTo>
                    <a:pt x="145663" y="0"/>
                  </a:lnTo>
                  <a:lnTo>
                    <a:pt x="976406" y="0"/>
                  </a:lnTo>
                  <a:lnTo>
                    <a:pt x="1000373" y="3810"/>
                  </a:lnTo>
                  <a:lnTo>
                    <a:pt x="1015624" y="8890"/>
                  </a:lnTo>
                  <a:lnTo>
                    <a:pt x="1018079" y="10160"/>
                  </a:lnTo>
                  <a:lnTo>
                    <a:pt x="146822" y="10160"/>
                  </a:lnTo>
                  <a:lnTo>
                    <a:pt x="138948" y="11430"/>
                  </a:lnTo>
                  <a:lnTo>
                    <a:pt x="139202" y="11430"/>
                  </a:lnTo>
                  <a:lnTo>
                    <a:pt x="131460" y="12700"/>
                  </a:lnTo>
                  <a:lnTo>
                    <a:pt x="131714" y="12700"/>
                  </a:lnTo>
                  <a:lnTo>
                    <a:pt x="124582" y="13890"/>
                  </a:lnTo>
                  <a:lnTo>
                    <a:pt x="116890" y="16510"/>
                  </a:lnTo>
                  <a:lnTo>
                    <a:pt x="117124" y="16510"/>
                  </a:lnTo>
                  <a:lnTo>
                    <a:pt x="109819" y="19050"/>
                  </a:lnTo>
                  <a:lnTo>
                    <a:pt x="110063" y="19050"/>
                  </a:lnTo>
                  <a:lnTo>
                    <a:pt x="102920" y="21590"/>
                  </a:lnTo>
                  <a:lnTo>
                    <a:pt x="103144" y="21590"/>
                  </a:lnTo>
                  <a:lnTo>
                    <a:pt x="96381" y="24058"/>
                  </a:lnTo>
                  <a:lnTo>
                    <a:pt x="96238" y="24225"/>
                  </a:lnTo>
                  <a:lnTo>
                    <a:pt x="89631" y="27940"/>
                  </a:lnTo>
                  <a:lnTo>
                    <a:pt x="89844" y="27940"/>
                  </a:lnTo>
                  <a:lnTo>
                    <a:pt x="83261" y="31750"/>
                  </a:lnTo>
                  <a:lnTo>
                    <a:pt x="83464" y="31750"/>
                  </a:lnTo>
                  <a:lnTo>
                    <a:pt x="77243" y="35470"/>
                  </a:lnTo>
                  <a:lnTo>
                    <a:pt x="77442" y="35470"/>
                  </a:lnTo>
                  <a:lnTo>
                    <a:pt x="71269" y="39283"/>
                  </a:lnTo>
                  <a:lnTo>
                    <a:pt x="71211" y="39465"/>
                  </a:lnTo>
                  <a:lnTo>
                    <a:pt x="65379" y="44450"/>
                  </a:lnTo>
                  <a:lnTo>
                    <a:pt x="65572" y="44450"/>
                  </a:lnTo>
                  <a:lnTo>
                    <a:pt x="59862" y="49530"/>
                  </a:lnTo>
                  <a:lnTo>
                    <a:pt x="60045" y="49530"/>
                  </a:lnTo>
                  <a:lnTo>
                    <a:pt x="55953" y="53340"/>
                  </a:lnTo>
                  <a:lnTo>
                    <a:pt x="54752" y="53340"/>
                  </a:lnTo>
                  <a:lnTo>
                    <a:pt x="48678" y="60753"/>
                  </a:lnTo>
                  <a:lnTo>
                    <a:pt x="45482" y="64016"/>
                  </a:lnTo>
                  <a:lnTo>
                    <a:pt x="44849" y="64693"/>
                  </a:lnTo>
                  <a:lnTo>
                    <a:pt x="44985" y="64693"/>
                  </a:lnTo>
                  <a:lnTo>
                    <a:pt x="40325" y="71047"/>
                  </a:lnTo>
                  <a:lnTo>
                    <a:pt x="39500" y="72143"/>
                  </a:lnTo>
                  <a:lnTo>
                    <a:pt x="39377" y="72310"/>
                  </a:lnTo>
                  <a:lnTo>
                    <a:pt x="36647" y="75442"/>
                  </a:lnTo>
                  <a:lnTo>
                    <a:pt x="33804" y="79766"/>
                  </a:lnTo>
                  <a:lnTo>
                    <a:pt x="28529" y="88900"/>
                  </a:lnTo>
                  <a:lnTo>
                    <a:pt x="25166" y="95250"/>
                  </a:lnTo>
                  <a:lnTo>
                    <a:pt x="22108" y="102870"/>
                  </a:lnTo>
                  <a:lnTo>
                    <a:pt x="19385" y="109220"/>
                  </a:lnTo>
                  <a:lnTo>
                    <a:pt x="16987" y="116840"/>
                  </a:lnTo>
                  <a:lnTo>
                    <a:pt x="14925" y="123190"/>
                  </a:lnTo>
                  <a:lnTo>
                    <a:pt x="13228" y="130810"/>
                  </a:lnTo>
                  <a:lnTo>
                    <a:pt x="11877" y="138430"/>
                  </a:lnTo>
                  <a:lnTo>
                    <a:pt x="10901" y="146050"/>
                  </a:lnTo>
                  <a:lnTo>
                    <a:pt x="10312" y="153670"/>
                  </a:lnTo>
                  <a:lnTo>
                    <a:pt x="10387" y="170180"/>
                  </a:lnTo>
                  <a:lnTo>
                    <a:pt x="10717" y="175064"/>
                  </a:lnTo>
                  <a:lnTo>
                    <a:pt x="11022" y="177786"/>
                  </a:lnTo>
                  <a:lnTo>
                    <a:pt x="11324" y="180790"/>
                  </a:lnTo>
                  <a:lnTo>
                    <a:pt x="11726" y="184162"/>
                  </a:lnTo>
                  <a:lnTo>
                    <a:pt x="11825" y="184989"/>
                  </a:lnTo>
                  <a:lnTo>
                    <a:pt x="11877" y="185420"/>
                  </a:lnTo>
                  <a:lnTo>
                    <a:pt x="12043" y="185420"/>
                  </a:lnTo>
                  <a:lnTo>
                    <a:pt x="13228" y="193040"/>
                  </a:lnTo>
                  <a:lnTo>
                    <a:pt x="13458" y="193040"/>
                  </a:lnTo>
                  <a:lnTo>
                    <a:pt x="14864" y="199390"/>
                  </a:lnTo>
                  <a:lnTo>
                    <a:pt x="16906" y="207010"/>
                  </a:lnTo>
                  <a:lnTo>
                    <a:pt x="19385" y="214630"/>
                  </a:lnTo>
                  <a:lnTo>
                    <a:pt x="19747" y="214630"/>
                  </a:lnTo>
                  <a:lnTo>
                    <a:pt x="22016" y="220980"/>
                  </a:lnTo>
                  <a:lnTo>
                    <a:pt x="25054" y="227330"/>
                  </a:lnTo>
                  <a:lnTo>
                    <a:pt x="28407" y="233680"/>
                  </a:lnTo>
                  <a:lnTo>
                    <a:pt x="32162" y="239972"/>
                  </a:lnTo>
                  <a:lnTo>
                    <a:pt x="32028" y="239972"/>
                  </a:lnTo>
                  <a:lnTo>
                    <a:pt x="37474" y="248488"/>
                  </a:lnTo>
                  <a:lnTo>
                    <a:pt x="41917" y="254989"/>
                  </a:lnTo>
                  <a:lnTo>
                    <a:pt x="44927" y="259080"/>
                  </a:lnTo>
                  <a:lnTo>
                    <a:pt x="45762" y="259080"/>
                  </a:lnTo>
                  <a:lnTo>
                    <a:pt x="49651" y="264081"/>
                  </a:lnTo>
                  <a:lnTo>
                    <a:pt x="49633" y="264241"/>
                  </a:lnTo>
                  <a:lnTo>
                    <a:pt x="54705" y="269240"/>
                  </a:lnTo>
                  <a:lnTo>
                    <a:pt x="55953" y="270510"/>
                  </a:lnTo>
                  <a:lnTo>
                    <a:pt x="60045" y="274320"/>
                  </a:lnTo>
                  <a:lnTo>
                    <a:pt x="59862" y="274320"/>
                  </a:lnTo>
                  <a:lnTo>
                    <a:pt x="65464" y="279304"/>
                  </a:lnTo>
                  <a:lnTo>
                    <a:pt x="65516" y="279487"/>
                  </a:lnTo>
                  <a:lnTo>
                    <a:pt x="70310" y="282534"/>
                  </a:lnTo>
                  <a:lnTo>
                    <a:pt x="77164" y="288190"/>
                  </a:lnTo>
                  <a:lnTo>
                    <a:pt x="77243" y="288379"/>
                  </a:lnTo>
                  <a:lnTo>
                    <a:pt x="83392" y="292100"/>
                  </a:lnTo>
                  <a:lnTo>
                    <a:pt x="83261" y="292100"/>
                  </a:lnTo>
                  <a:lnTo>
                    <a:pt x="89685" y="295817"/>
                  </a:lnTo>
                  <a:lnTo>
                    <a:pt x="89947" y="296136"/>
                  </a:lnTo>
                  <a:lnTo>
                    <a:pt x="90237" y="296136"/>
                  </a:lnTo>
                  <a:lnTo>
                    <a:pt x="95623" y="298142"/>
                  </a:lnTo>
                  <a:lnTo>
                    <a:pt x="102963" y="302165"/>
                  </a:lnTo>
                  <a:lnTo>
                    <a:pt x="103119" y="302330"/>
                  </a:lnTo>
                  <a:lnTo>
                    <a:pt x="110063" y="304800"/>
                  </a:lnTo>
                  <a:lnTo>
                    <a:pt x="109819" y="304800"/>
                  </a:lnTo>
                  <a:lnTo>
                    <a:pt x="116916" y="307267"/>
                  </a:lnTo>
                  <a:lnTo>
                    <a:pt x="116460" y="307267"/>
                  </a:lnTo>
                  <a:lnTo>
                    <a:pt x="123816" y="308514"/>
                  </a:lnTo>
                  <a:lnTo>
                    <a:pt x="131481" y="311073"/>
                  </a:lnTo>
                  <a:lnTo>
                    <a:pt x="130995" y="311073"/>
                  </a:lnTo>
                  <a:lnTo>
                    <a:pt x="139202" y="312420"/>
                  </a:lnTo>
                  <a:lnTo>
                    <a:pt x="146568" y="312420"/>
                  </a:lnTo>
                  <a:lnTo>
                    <a:pt x="154553" y="313690"/>
                  </a:lnTo>
                  <a:lnTo>
                    <a:pt x="1015624" y="313690"/>
                  </a:lnTo>
                  <a:lnTo>
                    <a:pt x="1000373" y="318770"/>
                  </a:lnTo>
                  <a:lnTo>
                    <a:pt x="992520" y="320040"/>
                  </a:lnTo>
                  <a:lnTo>
                    <a:pt x="984524" y="322580"/>
                  </a:lnTo>
                  <a:close/>
                </a:path>
                <a:path w="1122045" h="323850">
                  <a:moveTo>
                    <a:pt x="1067480" y="54610"/>
                  </a:moveTo>
                  <a:lnTo>
                    <a:pt x="1062024" y="49530"/>
                  </a:lnTo>
                  <a:lnTo>
                    <a:pt x="1062207" y="49530"/>
                  </a:lnTo>
                  <a:lnTo>
                    <a:pt x="1056497" y="44450"/>
                  </a:lnTo>
                  <a:lnTo>
                    <a:pt x="1056690" y="44450"/>
                  </a:lnTo>
                  <a:lnTo>
                    <a:pt x="1050858" y="39465"/>
                  </a:lnTo>
                  <a:lnTo>
                    <a:pt x="1050800" y="39283"/>
                  </a:lnTo>
                  <a:lnTo>
                    <a:pt x="1046872" y="36830"/>
                  </a:lnTo>
                  <a:lnTo>
                    <a:pt x="1044826" y="35470"/>
                  </a:lnTo>
                  <a:lnTo>
                    <a:pt x="1038595" y="31750"/>
                  </a:lnTo>
                  <a:lnTo>
                    <a:pt x="1038809" y="31750"/>
                  </a:lnTo>
                  <a:lnTo>
                    <a:pt x="1032225" y="27940"/>
                  </a:lnTo>
                  <a:lnTo>
                    <a:pt x="1032438" y="27940"/>
                  </a:lnTo>
                  <a:lnTo>
                    <a:pt x="1025832" y="24225"/>
                  </a:lnTo>
                  <a:lnTo>
                    <a:pt x="1025688" y="24058"/>
                  </a:lnTo>
                  <a:lnTo>
                    <a:pt x="1018926" y="21590"/>
                  </a:lnTo>
                  <a:lnTo>
                    <a:pt x="1019149" y="21590"/>
                  </a:lnTo>
                  <a:lnTo>
                    <a:pt x="1012007" y="19050"/>
                  </a:lnTo>
                  <a:lnTo>
                    <a:pt x="1012250" y="19050"/>
                  </a:lnTo>
                  <a:lnTo>
                    <a:pt x="1004945" y="16510"/>
                  </a:lnTo>
                  <a:lnTo>
                    <a:pt x="1005179" y="16510"/>
                  </a:lnTo>
                  <a:lnTo>
                    <a:pt x="997487" y="13890"/>
                  </a:lnTo>
                  <a:lnTo>
                    <a:pt x="990356" y="12700"/>
                  </a:lnTo>
                  <a:lnTo>
                    <a:pt x="990610" y="12700"/>
                  </a:lnTo>
                  <a:lnTo>
                    <a:pt x="982868" y="11430"/>
                  </a:lnTo>
                  <a:lnTo>
                    <a:pt x="983122" y="11430"/>
                  </a:lnTo>
                  <a:lnTo>
                    <a:pt x="975248" y="10160"/>
                  </a:lnTo>
                  <a:lnTo>
                    <a:pt x="1018079" y="10160"/>
                  </a:lnTo>
                  <a:lnTo>
                    <a:pt x="1022990" y="12700"/>
                  </a:lnTo>
                  <a:lnTo>
                    <a:pt x="1030183" y="15240"/>
                  </a:lnTo>
                  <a:lnTo>
                    <a:pt x="1037183" y="19050"/>
                  </a:lnTo>
                  <a:lnTo>
                    <a:pt x="1068943" y="41910"/>
                  </a:lnTo>
                  <a:lnTo>
                    <a:pt x="1080977" y="53340"/>
                  </a:lnTo>
                  <a:lnTo>
                    <a:pt x="1067318" y="53340"/>
                  </a:lnTo>
                  <a:lnTo>
                    <a:pt x="1067480" y="54610"/>
                  </a:lnTo>
                  <a:close/>
                </a:path>
                <a:path w="1122045" h="323850">
                  <a:moveTo>
                    <a:pt x="96238" y="24225"/>
                  </a:moveTo>
                  <a:lnTo>
                    <a:pt x="96381" y="24058"/>
                  </a:lnTo>
                  <a:lnTo>
                    <a:pt x="96821" y="23897"/>
                  </a:lnTo>
                  <a:lnTo>
                    <a:pt x="96238" y="24225"/>
                  </a:lnTo>
                  <a:close/>
                </a:path>
                <a:path w="1122045" h="323850">
                  <a:moveTo>
                    <a:pt x="1025832" y="24225"/>
                  </a:moveTo>
                  <a:lnTo>
                    <a:pt x="1025248" y="23897"/>
                  </a:lnTo>
                  <a:lnTo>
                    <a:pt x="1025688" y="24058"/>
                  </a:lnTo>
                  <a:lnTo>
                    <a:pt x="1025832" y="24225"/>
                  </a:lnTo>
                  <a:close/>
                </a:path>
                <a:path w="1122045" h="323850">
                  <a:moveTo>
                    <a:pt x="71211" y="39465"/>
                  </a:moveTo>
                  <a:lnTo>
                    <a:pt x="71269" y="39283"/>
                  </a:lnTo>
                  <a:lnTo>
                    <a:pt x="71826" y="38939"/>
                  </a:lnTo>
                  <a:lnTo>
                    <a:pt x="71211" y="39465"/>
                  </a:lnTo>
                  <a:close/>
                </a:path>
                <a:path w="1122045" h="323850">
                  <a:moveTo>
                    <a:pt x="1050858" y="39465"/>
                  </a:moveTo>
                  <a:lnTo>
                    <a:pt x="1050243" y="38939"/>
                  </a:lnTo>
                  <a:lnTo>
                    <a:pt x="1050800" y="39283"/>
                  </a:lnTo>
                  <a:lnTo>
                    <a:pt x="1050858" y="39465"/>
                  </a:lnTo>
                  <a:close/>
                </a:path>
                <a:path w="1122045" h="323850">
                  <a:moveTo>
                    <a:pt x="54589" y="54610"/>
                  </a:moveTo>
                  <a:lnTo>
                    <a:pt x="54752" y="53340"/>
                  </a:lnTo>
                  <a:lnTo>
                    <a:pt x="55953" y="53340"/>
                  </a:lnTo>
                  <a:lnTo>
                    <a:pt x="54589" y="54610"/>
                  </a:lnTo>
                  <a:close/>
                </a:path>
                <a:path w="1122045" h="323850">
                  <a:moveTo>
                    <a:pt x="1101713" y="82489"/>
                  </a:moveTo>
                  <a:lnTo>
                    <a:pt x="1089966" y="82489"/>
                  </a:lnTo>
                  <a:lnTo>
                    <a:pt x="1088700" y="80584"/>
                  </a:lnTo>
                  <a:lnTo>
                    <a:pt x="1088210" y="79766"/>
                  </a:lnTo>
                  <a:lnTo>
                    <a:pt x="1085952" y="76264"/>
                  </a:lnTo>
                  <a:lnTo>
                    <a:pt x="1085397" y="75442"/>
                  </a:lnTo>
                  <a:lnTo>
                    <a:pt x="1082965" y="72681"/>
                  </a:lnTo>
                  <a:lnTo>
                    <a:pt x="1077099" y="64693"/>
                  </a:lnTo>
                  <a:lnTo>
                    <a:pt x="1076560" y="64016"/>
                  </a:lnTo>
                  <a:lnTo>
                    <a:pt x="1073630" y="61045"/>
                  </a:lnTo>
                  <a:lnTo>
                    <a:pt x="1067318" y="53340"/>
                  </a:lnTo>
                  <a:lnTo>
                    <a:pt x="1080977" y="53340"/>
                  </a:lnTo>
                  <a:lnTo>
                    <a:pt x="1085057" y="58420"/>
                  </a:lnTo>
                  <a:lnTo>
                    <a:pt x="1089815" y="64693"/>
                  </a:lnTo>
                  <a:lnTo>
                    <a:pt x="1094352" y="71047"/>
                  </a:lnTo>
                  <a:lnTo>
                    <a:pt x="1098621" y="77470"/>
                  </a:lnTo>
                  <a:lnTo>
                    <a:pt x="1101713" y="82489"/>
                  </a:lnTo>
                  <a:close/>
                </a:path>
                <a:path w="1122045" h="323850">
                  <a:moveTo>
                    <a:pt x="48678" y="60753"/>
                  </a:moveTo>
                  <a:lnTo>
                    <a:pt x="49615" y="59610"/>
                  </a:lnTo>
                  <a:lnTo>
                    <a:pt x="49633" y="59771"/>
                  </a:lnTo>
                  <a:lnTo>
                    <a:pt x="48678" y="60753"/>
                  </a:lnTo>
                  <a:close/>
                </a:path>
                <a:path w="1122045" h="323850">
                  <a:moveTo>
                    <a:pt x="1073391" y="60753"/>
                  </a:moveTo>
                  <a:lnTo>
                    <a:pt x="1072436" y="59771"/>
                  </a:lnTo>
                  <a:lnTo>
                    <a:pt x="1072454" y="59610"/>
                  </a:lnTo>
                  <a:lnTo>
                    <a:pt x="1073391" y="60753"/>
                  </a:lnTo>
                  <a:close/>
                </a:path>
                <a:path w="1122045" h="323850">
                  <a:moveTo>
                    <a:pt x="44985" y="64693"/>
                  </a:moveTo>
                  <a:lnTo>
                    <a:pt x="44849" y="64693"/>
                  </a:lnTo>
                  <a:lnTo>
                    <a:pt x="45507" y="64016"/>
                  </a:lnTo>
                  <a:lnTo>
                    <a:pt x="44985" y="64693"/>
                  </a:lnTo>
                  <a:close/>
                </a:path>
                <a:path w="1122045" h="323850">
                  <a:moveTo>
                    <a:pt x="1077221" y="64693"/>
                  </a:moveTo>
                  <a:lnTo>
                    <a:pt x="1077086" y="64693"/>
                  </a:lnTo>
                  <a:lnTo>
                    <a:pt x="1076588" y="64016"/>
                  </a:lnTo>
                  <a:lnTo>
                    <a:pt x="1077221" y="64693"/>
                  </a:lnTo>
                  <a:close/>
                </a:path>
                <a:path w="1122045" h="323850">
                  <a:moveTo>
                    <a:pt x="39522" y="72143"/>
                  </a:moveTo>
                  <a:lnTo>
                    <a:pt x="40325" y="71047"/>
                  </a:lnTo>
                  <a:lnTo>
                    <a:pt x="40469" y="71047"/>
                  </a:lnTo>
                  <a:lnTo>
                    <a:pt x="39522" y="72143"/>
                  </a:lnTo>
                  <a:close/>
                </a:path>
                <a:path w="1122045" h="323850">
                  <a:moveTo>
                    <a:pt x="1082569" y="72143"/>
                  </a:moveTo>
                  <a:lnTo>
                    <a:pt x="1081601" y="71047"/>
                  </a:lnTo>
                  <a:lnTo>
                    <a:pt x="1081762" y="71047"/>
                  </a:lnTo>
                  <a:lnTo>
                    <a:pt x="1082569" y="72143"/>
                  </a:lnTo>
                  <a:close/>
                </a:path>
                <a:path w="1122045" h="323850">
                  <a:moveTo>
                    <a:pt x="1120399" y="185420"/>
                  </a:moveTo>
                  <a:lnTo>
                    <a:pt x="1110193" y="185420"/>
                  </a:lnTo>
                  <a:lnTo>
                    <a:pt x="1111350" y="175064"/>
                  </a:lnTo>
                  <a:lnTo>
                    <a:pt x="1111673" y="170180"/>
                  </a:lnTo>
                  <a:lnTo>
                    <a:pt x="1111758" y="168910"/>
                  </a:lnTo>
                  <a:lnTo>
                    <a:pt x="1111859" y="166370"/>
                  </a:lnTo>
                  <a:lnTo>
                    <a:pt x="1111910" y="157480"/>
                  </a:lnTo>
                  <a:lnTo>
                    <a:pt x="1111768" y="153670"/>
                  </a:lnTo>
                  <a:lnTo>
                    <a:pt x="1102776" y="109220"/>
                  </a:lnTo>
                  <a:lnTo>
                    <a:pt x="1100053" y="102870"/>
                  </a:lnTo>
                  <a:lnTo>
                    <a:pt x="1097015" y="95250"/>
                  </a:lnTo>
                  <a:lnTo>
                    <a:pt x="1093663" y="88900"/>
                  </a:lnTo>
                  <a:lnTo>
                    <a:pt x="1088700" y="80584"/>
                  </a:lnTo>
                  <a:lnTo>
                    <a:pt x="1089966" y="82489"/>
                  </a:lnTo>
                  <a:lnTo>
                    <a:pt x="1101713" y="82489"/>
                  </a:lnTo>
                  <a:lnTo>
                    <a:pt x="1102532" y="83820"/>
                  </a:lnTo>
                  <a:lnTo>
                    <a:pt x="1106119" y="91440"/>
                  </a:lnTo>
                  <a:lnTo>
                    <a:pt x="1109370" y="99060"/>
                  </a:lnTo>
                  <a:lnTo>
                    <a:pt x="1112276" y="105410"/>
                  </a:lnTo>
                  <a:lnTo>
                    <a:pt x="1121288" y="144780"/>
                  </a:lnTo>
                  <a:lnTo>
                    <a:pt x="1121907" y="153670"/>
                  </a:lnTo>
                  <a:lnTo>
                    <a:pt x="1121907" y="170180"/>
                  </a:lnTo>
                  <a:lnTo>
                    <a:pt x="1121510" y="175064"/>
                  </a:lnTo>
                  <a:lnTo>
                    <a:pt x="1121391" y="176534"/>
                  </a:lnTo>
                  <a:lnTo>
                    <a:pt x="1121289" y="177786"/>
                  </a:lnTo>
                  <a:lnTo>
                    <a:pt x="1120546" y="184162"/>
                  </a:lnTo>
                  <a:lnTo>
                    <a:pt x="1120450" y="184989"/>
                  </a:lnTo>
                  <a:lnTo>
                    <a:pt x="1120399" y="185420"/>
                  </a:lnTo>
                  <a:close/>
                </a:path>
                <a:path w="1122045" h="323850">
                  <a:moveTo>
                    <a:pt x="1119066" y="193040"/>
                  </a:moveTo>
                  <a:lnTo>
                    <a:pt x="1108842" y="193040"/>
                  </a:lnTo>
                  <a:lnTo>
                    <a:pt x="1110221" y="184162"/>
                  </a:lnTo>
                  <a:lnTo>
                    <a:pt x="1110193" y="185420"/>
                  </a:lnTo>
                  <a:lnTo>
                    <a:pt x="1120399" y="185420"/>
                  </a:lnTo>
                  <a:lnTo>
                    <a:pt x="1120251" y="186690"/>
                  </a:lnTo>
                  <a:lnTo>
                    <a:pt x="1119066" y="193040"/>
                  </a:lnTo>
                  <a:close/>
                </a:path>
                <a:path w="1122045" h="323850">
                  <a:moveTo>
                    <a:pt x="12043" y="185420"/>
                  </a:moveTo>
                  <a:lnTo>
                    <a:pt x="11877" y="185420"/>
                  </a:lnTo>
                  <a:lnTo>
                    <a:pt x="11866" y="184989"/>
                  </a:lnTo>
                  <a:lnTo>
                    <a:pt x="12043" y="185420"/>
                  </a:lnTo>
                  <a:close/>
                </a:path>
                <a:path w="1122045" h="323850">
                  <a:moveTo>
                    <a:pt x="13458" y="193040"/>
                  </a:moveTo>
                  <a:lnTo>
                    <a:pt x="13228" y="193040"/>
                  </a:lnTo>
                  <a:lnTo>
                    <a:pt x="13177" y="191770"/>
                  </a:lnTo>
                  <a:lnTo>
                    <a:pt x="13458" y="193040"/>
                  </a:lnTo>
                  <a:close/>
                </a:path>
                <a:path w="1122045" h="323850">
                  <a:moveTo>
                    <a:pt x="1113126" y="214630"/>
                  </a:moveTo>
                  <a:lnTo>
                    <a:pt x="1102685" y="214630"/>
                  </a:lnTo>
                  <a:lnTo>
                    <a:pt x="1105082" y="207010"/>
                  </a:lnTo>
                  <a:lnTo>
                    <a:pt x="1107145" y="199390"/>
                  </a:lnTo>
                  <a:lnTo>
                    <a:pt x="1108892" y="191770"/>
                  </a:lnTo>
                  <a:lnTo>
                    <a:pt x="1108842" y="193040"/>
                  </a:lnTo>
                  <a:lnTo>
                    <a:pt x="1119066" y="193040"/>
                  </a:lnTo>
                  <a:lnTo>
                    <a:pt x="1118829" y="194310"/>
                  </a:lnTo>
                  <a:lnTo>
                    <a:pt x="1117010" y="201930"/>
                  </a:lnTo>
                  <a:lnTo>
                    <a:pt x="1114826" y="209550"/>
                  </a:lnTo>
                  <a:lnTo>
                    <a:pt x="1113126" y="214630"/>
                  </a:lnTo>
                  <a:close/>
                </a:path>
                <a:path w="1122045" h="323850">
                  <a:moveTo>
                    <a:pt x="19747" y="214630"/>
                  </a:moveTo>
                  <a:lnTo>
                    <a:pt x="19385" y="214630"/>
                  </a:lnTo>
                  <a:lnTo>
                    <a:pt x="19293" y="213360"/>
                  </a:lnTo>
                  <a:lnTo>
                    <a:pt x="19747" y="214630"/>
                  </a:lnTo>
                  <a:close/>
                </a:path>
                <a:path w="1122045" h="323850">
                  <a:moveTo>
                    <a:pt x="1089873" y="259080"/>
                  </a:moveTo>
                  <a:lnTo>
                    <a:pt x="1077142" y="259080"/>
                  </a:lnTo>
                  <a:lnTo>
                    <a:pt x="1081868" y="252658"/>
                  </a:lnTo>
                  <a:lnTo>
                    <a:pt x="1081713" y="252658"/>
                  </a:lnTo>
                  <a:lnTo>
                    <a:pt x="1084595" y="248488"/>
                  </a:lnTo>
                  <a:lnTo>
                    <a:pt x="1085983" y="246315"/>
                  </a:lnTo>
                  <a:lnTo>
                    <a:pt x="1088197" y="242932"/>
                  </a:lnTo>
                  <a:lnTo>
                    <a:pt x="1093541" y="233680"/>
                  </a:lnTo>
                  <a:lnTo>
                    <a:pt x="1096904" y="227330"/>
                  </a:lnTo>
                  <a:lnTo>
                    <a:pt x="1099962" y="220980"/>
                  </a:lnTo>
                  <a:lnTo>
                    <a:pt x="1102776" y="213360"/>
                  </a:lnTo>
                  <a:lnTo>
                    <a:pt x="1102685" y="214630"/>
                  </a:lnTo>
                  <a:lnTo>
                    <a:pt x="1113126" y="214630"/>
                  </a:lnTo>
                  <a:lnTo>
                    <a:pt x="1112276" y="217170"/>
                  </a:lnTo>
                  <a:lnTo>
                    <a:pt x="1109370" y="224790"/>
                  </a:lnTo>
                  <a:lnTo>
                    <a:pt x="1106119" y="232410"/>
                  </a:lnTo>
                  <a:lnTo>
                    <a:pt x="1102532" y="238760"/>
                  </a:lnTo>
                  <a:lnTo>
                    <a:pt x="1098654" y="246315"/>
                  </a:lnTo>
                  <a:lnTo>
                    <a:pt x="1094452" y="252658"/>
                  </a:lnTo>
                  <a:lnTo>
                    <a:pt x="1081868" y="252658"/>
                  </a:lnTo>
                  <a:lnTo>
                    <a:pt x="1080153" y="254989"/>
                  </a:lnTo>
                  <a:lnTo>
                    <a:pt x="1092792" y="254989"/>
                  </a:lnTo>
                  <a:lnTo>
                    <a:pt x="1089873" y="259080"/>
                  </a:lnTo>
                  <a:close/>
                </a:path>
                <a:path w="1122045" h="323850">
                  <a:moveTo>
                    <a:pt x="33370" y="241995"/>
                  </a:moveTo>
                  <a:lnTo>
                    <a:pt x="32028" y="239972"/>
                  </a:lnTo>
                  <a:lnTo>
                    <a:pt x="32162" y="239972"/>
                  </a:lnTo>
                  <a:lnTo>
                    <a:pt x="33370" y="241995"/>
                  </a:lnTo>
                  <a:close/>
                </a:path>
                <a:path w="1122045" h="323850">
                  <a:moveTo>
                    <a:pt x="45762" y="259080"/>
                  </a:moveTo>
                  <a:lnTo>
                    <a:pt x="44927" y="259080"/>
                  </a:lnTo>
                  <a:lnTo>
                    <a:pt x="44775" y="257810"/>
                  </a:lnTo>
                  <a:lnTo>
                    <a:pt x="45762" y="259080"/>
                  </a:lnTo>
                  <a:close/>
                </a:path>
                <a:path w="1122045" h="323850">
                  <a:moveTo>
                    <a:pt x="1050270" y="296136"/>
                  </a:moveTo>
                  <a:lnTo>
                    <a:pt x="1032123" y="296136"/>
                  </a:lnTo>
                  <a:lnTo>
                    <a:pt x="1032385" y="295817"/>
                  </a:lnTo>
                  <a:lnTo>
                    <a:pt x="1038809" y="292100"/>
                  </a:lnTo>
                  <a:lnTo>
                    <a:pt x="1038595" y="292100"/>
                  </a:lnTo>
                  <a:lnTo>
                    <a:pt x="1044826" y="288379"/>
                  </a:lnTo>
                  <a:lnTo>
                    <a:pt x="1044892" y="288190"/>
                  </a:lnTo>
                  <a:lnTo>
                    <a:pt x="1051046" y="283122"/>
                  </a:lnTo>
                  <a:lnTo>
                    <a:pt x="1051801" y="282534"/>
                  </a:lnTo>
                  <a:lnTo>
                    <a:pt x="1056554" y="279487"/>
                  </a:lnTo>
                  <a:lnTo>
                    <a:pt x="1056605" y="279304"/>
                  </a:lnTo>
                  <a:lnTo>
                    <a:pt x="1062207" y="274320"/>
                  </a:lnTo>
                  <a:lnTo>
                    <a:pt x="1062024" y="274320"/>
                  </a:lnTo>
                  <a:lnTo>
                    <a:pt x="1067480" y="269240"/>
                  </a:lnTo>
                  <a:lnTo>
                    <a:pt x="1067318" y="269240"/>
                  </a:lnTo>
                  <a:lnTo>
                    <a:pt x="1072436" y="264241"/>
                  </a:lnTo>
                  <a:lnTo>
                    <a:pt x="1072418" y="264081"/>
                  </a:lnTo>
                  <a:lnTo>
                    <a:pt x="1077295" y="257810"/>
                  </a:lnTo>
                  <a:lnTo>
                    <a:pt x="1077142" y="259080"/>
                  </a:lnTo>
                  <a:lnTo>
                    <a:pt x="1089873" y="259080"/>
                  </a:lnTo>
                  <a:lnTo>
                    <a:pt x="1085057" y="265430"/>
                  </a:lnTo>
                  <a:lnTo>
                    <a:pt x="1079957" y="270510"/>
                  </a:lnTo>
                  <a:lnTo>
                    <a:pt x="1074582" y="276860"/>
                  </a:lnTo>
                  <a:lnTo>
                    <a:pt x="1068943" y="281940"/>
                  </a:lnTo>
                  <a:lnTo>
                    <a:pt x="1063061" y="287020"/>
                  </a:lnTo>
                  <a:lnTo>
                    <a:pt x="1056924" y="292100"/>
                  </a:lnTo>
                  <a:lnTo>
                    <a:pt x="1050718" y="295817"/>
                  </a:lnTo>
                  <a:lnTo>
                    <a:pt x="1050270" y="296136"/>
                  </a:lnTo>
                  <a:close/>
                </a:path>
                <a:path w="1122045" h="323850">
                  <a:moveTo>
                    <a:pt x="50225" y="264819"/>
                  </a:moveTo>
                  <a:lnTo>
                    <a:pt x="49633" y="264241"/>
                  </a:lnTo>
                  <a:lnTo>
                    <a:pt x="49651" y="264081"/>
                  </a:lnTo>
                  <a:lnTo>
                    <a:pt x="50225" y="264819"/>
                  </a:lnTo>
                  <a:close/>
                </a:path>
                <a:path w="1122045" h="323850">
                  <a:moveTo>
                    <a:pt x="1071844" y="264819"/>
                  </a:moveTo>
                  <a:lnTo>
                    <a:pt x="1072294" y="264241"/>
                  </a:lnTo>
                  <a:lnTo>
                    <a:pt x="1072418" y="264081"/>
                  </a:lnTo>
                  <a:lnTo>
                    <a:pt x="1072436" y="264241"/>
                  </a:lnTo>
                  <a:lnTo>
                    <a:pt x="1071844" y="264819"/>
                  </a:lnTo>
                  <a:close/>
                </a:path>
                <a:path w="1122045" h="323850">
                  <a:moveTo>
                    <a:pt x="66070" y="279842"/>
                  </a:moveTo>
                  <a:lnTo>
                    <a:pt x="65516" y="279487"/>
                  </a:lnTo>
                  <a:lnTo>
                    <a:pt x="65464" y="279304"/>
                  </a:lnTo>
                  <a:lnTo>
                    <a:pt x="66070" y="279842"/>
                  </a:lnTo>
                  <a:close/>
                </a:path>
                <a:path w="1122045" h="323850">
                  <a:moveTo>
                    <a:pt x="1056000" y="279842"/>
                  </a:moveTo>
                  <a:lnTo>
                    <a:pt x="1056605" y="279304"/>
                  </a:lnTo>
                  <a:lnTo>
                    <a:pt x="1056554" y="279487"/>
                  </a:lnTo>
                  <a:lnTo>
                    <a:pt x="1056000" y="279842"/>
                  </a:lnTo>
                  <a:close/>
                </a:path>
                <a:path w="1122045" h="323850">
                  <a:moveTo>
                    <a:pt x="71245" y="283304"/>
                  </a:moveTo>
                  <a:lnTo>
                    <a:pt x="70310" y="282534"/>
                  </a:lnTo>
                  <a:lnTo>
                    <a:pt x="71186" y="283122"/>
                  </a:lnTo>
                  <a:lnTo>
                    <a:pt x="71245" y="283304"/>
                  </a:lnTo>
                  <a:close/>
                </a:path>
                <a:path w="1122045" h="323850">
                  <a:moveTo>
                    <a:pt x="1050810" y="283304"/>
                  </a:moveTo>
                  <a:lnTo>
                    <a:pt x="1050884" y="283122"/>
                  </a:lnTo>
                  <a:lnTo>
                    <a:pt x="1051800" y="282534"/>
                  </a:lnTo>
                  <a:lnTo>
                    <a:pt x="1050810" y="283304"/>
                  </a:lnTo>
                  <a:close/>
                </a:path>
                <a:path w="1122045" h="323850">
                  <a:moveTo>
                    <a:pt x="77788" y="288705"/>
                  </a:moveTo>
                  <a:lnTo>
                    <a:pt x="77243" y="288379"/>
                  </a:lnTo>
                  <a:lnTo>
                    <a:pt x="77176" y="288190"/>
                  </a:lnTo>
                  <a:lnTo>
                    <a:pt x="77788" y="288705"/>
                  </a:lnTo>
                  <a:close/>
                </a:path>
                <a:path w="1122045" h="323850">
                  <a:moveTo>
                    <a:pt x="1044281" y="288705"/>
                  </a:moveTo>
                  <a:lnTo>
                    <a:pt x="1044894" y="288190"/>
                  </a:lnTo>
                  <a:lnTo>
                    <a:pt x="1044826" y="288379"/>
                  </a:lnTo>
                  <a:lnTo>
                    <a:pt x="1044281" y="288705"/>
                  </a:lnTo>
                  <a:close/>
                </a:path>
                <a:path w="1122045" h="323850">
                  <a:moveTo>
                    <a:pt x="86195" y="293798"/>
                  </a:moveTo>
                  <a:lnTo>
                    <a:pt x="83261" y="292100"/>
                  </a:lnTo>
                  <a:lnTo>
                    <a:pt x="83392" y="292100"/>
                  </a:lnTo>
                  <a:lnTo>
                    <a:pt x="86195" y="293798"/>
                  </a:lnTo>
                  <a:close/>
                </a:path>
                <a:path w="1122045" h="323850">
                  <a:moveTo>
                    <a:pt x="90237" y="296136"/>
                  </a:moveTo>
                  <a:lnTo>
                    <a:pt x="89947" y="296136"/>
                  </a:lnTo>
                  <a:lnTo>
                    <a:pt x="89685" y="295817"/>
                  </a:lnTo>
                  <a:lnTo>
                    <a:pt x="90237" y="296136"/>
                  </a:lnTo>
                  <a:close/>
                </a:path>
                <a:path w="1122045" h="323850">
                  <a:moveTo>
                    <a:pt x="1015624" y="313690"/>
                  </a:moveTo>
                  <a:lnTo>
                    <a:pt x="967516" y="313690"/>
                  </a:lnTo>
                  <a:lnTo>
                    <a:pt x="975502" y="312420"/>
                  </a:lnTo>
                  <a:lnTo>
                    <a:pt x="982868" y="312420"/>
                  </a:lnTo>
                  <a:lnTo>
                    <a:pt x="991075" y="311073"/>
                  </a:lnTo>
                  <a:lnTo>
                    <a:pt x="990584" y="311073"/>
                  </a:lnTo>
                  <a:lnTo>
                    <a:pt x="998286" y="308514"/>
                  </a:lnTo>
                  <a:lnTo>
                    <a:pt x="1005639" y="307267"/>
                  </a:lnTo>
                  <a:lnTo>
                    <a:pt x="1005154" y="307267"/>
                  </a:lnTo>
                  <a:lnTo>
                    <a:pt x="1012250" y="304800"/>
                  </a:lnTo>
                  <a:lnTo>
                    <a:pt x="1012007" y="304800"/>
                  </a:lnTo>
                  <a:lnTo>
                    <a:pt x="1018951" y="302330"/>
                  </a:lnTo>
                  <a:lnTo>
                    <a:pt x="1019097" y="302165"/>
                  </a:lnTo>
                  <a:lnTo>
                    <a:pt x="1026019" y="298376"/>
                  </a:lnTo>
                  <a:lnTo>
                    <a:pt x="1026482" y="298142"/>
                  </a:lnTo>
                  <a:lnTo>
                    <a:pt x="1031833" y="296136"/>
                  </a:lnTo>
                  <a:lnTo>
                    <a:pt x="1032385" y="295817"/>
                  </a:lnTo>
                  <a:lnTo>
                    <a:pt x="1032123" y="296136"/>
                  </a:lnTo>
                  <a:lnTo>
                    <a:pt x="1050270" y="296136"/>
                  </a:lnTo>
                  <a:lnTo>
                    <a:pt x="1043980" y="300990"/>
                  </a:lnTo>
                  <a:lnTo>
                    <a:pt x="1037183" y="304800"/>
                  </a:lnTo>
                  <a:lnTo>
                    <a:pt x="1030383" y="307267"/>
                  </a:lnTo>
                  <a:lnTo>
                    <a:pt x="1027966" y="308514"/>
                  </a:lnTo>
                  <a:lnTo>
                    <a:pt x="1023134" y="311073"/>
                  </a:lnTo>
                  <a:lnTo>
                    <a:pt x="1015624" y="313690"/>
                  </a:lnTo>
                  <a:close/>
                </a:path>
                <a:path w="1122045" h="323850">
                  <a:moveTo>
                    <a:pt x="96356" y="298544"/>
                  </a:moveTo>
                  <a:lnTo>
                    <a:pt x="95623" y="298142"/>
                  </a:lnTo>
                  <a:lnTo>
                    <a:pt x="96212" y="298376"/>
                  </a:lnTo>
                  <a:lnTo>
                    <a:pt x="96356" y="298544"/>
                  </a:lnTo>
                  <a:close/>
                </a:path>
                <a:path w="1122045" h="323850">
                  <a:moveTo>
                    <a:pt x="1025704" y="298544"/>
                  </a:moveTo>
                  <a:lnTo>
                    <a:pt x="1025858" y="298376"/>
                  </a:lnTo>
                  <a:lnTo>
                    <a:pt x="1026482" y="298142"/>
                  </a:lnTo>
                  <a:lnTo>
                    <a:pt x="1025704" y="298544"/>
                  </a:lnTo>
                  <a:close/>
                </a:path>
                <a:path w="1122045" h="323850">
                  <a:moveTo>
                    <a:pt x="103532" y="302477"/>
                  </a:moveTo>
                  <a:lnTo>
                    <a:pt x="103119" y="302330"/>
                  </a:lnTo>
                  <a:lnTo>
                    <a:pt x="102972" y="302165"/>
                  </a:lnTo>
                  <a:lnTo>
                    <a:pt x="103532" y="302477"/>
                  </a:lnTo>
                  <a:close/>
                </a:path>
                <a:path w="1122045" h="323850">
                  <a:moveTo>
                    <a:pt x="1018537" y="302477"/>
                  </a:moveTo>
                  <a:lnTo>
                    <a:pt x="1019098" y="302165"/>
                  </a:lnTo>
                  <a:lnTo>
                    <a:pt x="1018951" y="302330"/>
                  </a:lnTo>
                  <a:lnTo>
                    <a:pt x="1018537" y="302477"/>
                  </a:lnTo>
                  <a:close/>
                </a:path>
                <a:path w="1122045" h="323850">
                  <a:moveTo>
                    <a:pt x="968197" y="323850"/>
                  </a:moveTo>
                  <a:lnTo>
                    <a:pt x="153873" y="323850"/>
                  </a:lnTo>
                  <a:lnTo>
                    <a:pt x="145663" y="322580"/>
                  </a:lnTo>
                  <a:lnTo>
                    <a:pt x="976406" y="322580"/>
                  </a:lnTo>
                  <a:lnTo>
                    <a:pt x="968197" y="323850"/>
                  </a:lnTo>
                  <a:close/>
                </a:path>
              </a:pathLst>
            </a:custGeom>
            <a:solidFill>
              <a:srgbClr val="44536A">
                <a:alpha val="50199"/>
              </a:srgbClr>
            </a:solidFill>
          </p:spPr>
          <p:txBody>
            <a:bodyPr wrap="square" lIns="0" tIns="0" rIns="0" bIns="0" rtlCol="0"/>
            <a:lstStyle/>
            <a:p>
              <a:endParaRPr/>
            </a:p>
          </p:txBody>
        </p:sp>
        <p:sp>
          <p:nvSpPr>
            <p:cNvPr id="13" name="object 13"/>
            <p:cNvSpPr/>
            <p:nvPr/>
          </p:nvSpPr>
          <p:spPr>
            <a:xfrm>
              <a:off x="6430263" y="2222804"/>
              <a:ext cx="1112520" cy="314960"/>
            </a:xfrm>
            <a:custGeom>
              <a:avLst/>
              <a:gdLst/>
              <a:ahLst/>
              <a:cxnLst/>
              <a:rect l="l" t="t" r="r" b="b"/>
              <a:pathLst>
                <a:path w="1112520" h="314960">
                  <a:moveTo>
                    <a:pt x="955852" y="314553"/>
                  </a:moveTo>
                  <a:lnTo>
                    <a:pt x="157276" y="314553"/>
                  </a:lnTo>
                  <a:lnTo>
                    <a:pt x="107798" y="306586"/>
                  </a:lnTo>
                  <a:lnTo>
                    <a:pt x="64745" y="284289"/>
                  </a:lnTo>
                  <a:lnTo>
                    <a:pt x="30703" y="250247"/>
                  </a:lnTo>
                  <a:lnTo>
                    <a:pt x="8259" y="207047"/>
                  </a:lnTo>
                  <a:lnTo>
                    <a:pt x="0" y="157276"/>
                  </a:lnTo>
                  <a:lnTo>
                    <a:pt x="8259" y="107652"/>
                  </a:lnTo>
                  <a:lnTo>
                    <a:pt x="30703" y="64525"/>
                  </a:lnTo>
                  <a:lnTo>
                    <a:pt x="64745" y="30483"/>
                  </a:lnTo>
                  <a:lnTo>
                    <a:pt x="107798" y="8113"/>
                  </a:lnTo>
                  <a:lnTo>
                    <a:pt x="157276" y="0"/>
                  </a:lnTo>
                  <a:lnTo>
                    <a:pt x="955852" y="0"/>
                  </a:lnTo>
                  <a:lnTo>
                    <a:pt x="1005277" y="8114"/>
                  </a:lnTo>
                  <a:lnTo>
                    <a:pt x="1048272" y="30493"/>
                  </a:lnTo>
                  <a:lnTo>
                    <a:pt x="1082221" y="64558"/>
                  </a:lnTo>
                  <a:lnTo>
                    <a:pt x="1104509" y="107730"/>
                  </a:lnTo>
                  <a:lnTo>
                    <a:pt x="1112520" y="157429"/>
                  </a:lnTo>
                  <a:lnTo>
                    <a:pt x="1104509" y="207125"/>
                  </a:lnTo>
                  <a:lnTo>
                    <a:pt x="1082221" y="250280"/>
                  </a:lnTo>
                  <a:lnTo>
                    <a:pt x="1048272" y="284298"/>
                  </a:lnTo>
                  <a:lnTo>
                    <a:pt x="1005277" y="306588"/>
                  </a:lnTo>
                  <a:lnTo>
                    <a:pt x="955852" y="314553"/>
                  </a:lnTo>
                  <a:close/>
                </a:path>
              </a:pathLst>
            </a:custGeom>
            <a:solidFill>
              <a:srgbClr val="FFFFFF"/>
            </a:solidFill>
          </p:spPr>
          <p:txBody>
            <a:bodyPr wrap="square" lIns="0" tIns="0" rIns="0" bIns="0" rtlCol="0"/>
            <a:lstStyle/>
            <a:p>
              <a:endParaRPr/>
            </a:p>
          </p:txBody>
        </p:sp>
        <p:sp>
          <p:nvSpPr>
            <p:cNvPr id="14" name="object 14"/>
            <p:cNvSpPr/>
            <p:nvPr/>
          </p:nvSpPr>
          <p:spPr>
            <a:xfrm>
              <a:off x="6425742" y="2217978"/>
              <a:ext cx="1122045" cy="323850"/>
            </a:xfrm>
            <a:custGeom>
              <a:avLst/>
              <a:gdLst/>
              <a:ahLst/>
              <a:cxnLst/>
              <a:rect l="l" t="t" r="r" b="b"/>
              <a:pathLst>
                <a:path w="1122045" h="323850">
                  <a:moveTo>
                    <a:pt x="984524" y="322580"/>
                  </a:moveTo>
                  <a:lnTo>
                    <a:pt x="137546" y="322580"/>
                  </a:lnTo>
                  <a:lnTo>
                    <a:pt x="129550" y="320040"/>
                  </a:lnTo>
                  <a:lnTo>
                    <a:pt x="121696" y="318770"/>
                  </a:lnTo>
                  <a:lnTo>
                    <a:pt x="106446" y="313690"/>
                  </a:lnTo>
                  <a:lnTo>
                    <a:pt x="98936" y="311073"/>
                  </a:lnTo>
                  <a:lnTo>
                    <a:pt x="94103" y="308514"/>
                  </a:lnTo>
                  <a:lnTo>
                    <a:pt x="91678" y="307264"/>
                  </a:lnTo>
                  <a:lnTo>
                    <a:pt x="84886" y="304800"/>
                  </a:lnTo>
                  <a:lnTo>
                    <a:pt x="78089" y="300990"/>
                  </a:lnTo>
                  <a:lnTo>
                    <a:pt x="71800" y="296136"/>
                  </a:lnTo>
                  <a:lnTo>
                    <a:pt x="71351" y="295817"/>
                  </a:lnTo>
                  <a:lnTo>
                    <a:pt x="42113" y="270510"/>
                  </a:lnTo>
                  <a:lnTo>
                    <a:pt x="37012" y="265430"/>
                  </a:lnTo>
                  <a:lnTo>
                    <a:pt x="32197" y="259080"/>
                  </a:lnTo>
                  <a:lnTo>
                    <a:pt x="27618" y="252658"/>
                  </a:lnTo>
                  <a:lnTo>
                    <a:pt x="23416" y="246315"/>
                  </a:lnTo>
                  <a:lnTo>
                    <a:pt x="19537" y="238760"/>
                  </a:lnTo>
                  <a:lnTo>
                    <a:pt x="15951" y="232410"/>
                  </a:lnTo>
                  <a:lnTo>
                    <a:pt x="3241" y="194310"/>
                  </a:lnTo>
                  <a:lnTo>
                    <a:pt x="0" y="157480"/>
                  </a:lnTo>
                  <a:lnTo>
                    <a:pt x="162" y="153670"/>
                  </a:lnTo>
                  <a:lnTo>
                    <a:pt x="693" y="146050"/>
                  </a:lnTo>
                  <a:lnTo>
                    <a:pt x="782" y="144780"/>
                  </a:lnTo>
                  <a:lnTo>
                    <a:pt x="9794" y="105410"/>
                  </a:lnTo>
                  <a:lnTo>
                    <a:pt x="12700" y="99060"/>
                  </a:lnTo>
                  <a:lnTo>
                    <a:pt x="15951" y="91440"/>
                  </a:lnTo>
                  <a:lnTo>
                    <a:pt x="37012" y="58420"/>
                  </a:lnTo>
                  <a:lnTo>
                    <a:pt x="65145" y="31750"/>
                  </a:lnTo>
                  <a:lnTo>
                    <a:pt x="99080" y="12700"/>
                  </a:lnTo>
                  <a:lnTo>
                    <a:pt x="106446" y="8890"/>
                  </a:lnTo>
                  <a:lnTo>
                    <a:pt x="121696" y="3810"/>
                  </a:lnTo>
                  <a:lnTo>
                    <a:pt x="145663" y="0"/>
                  </a:lnTo>
                  <a:lnTo>
                    <a:pt x="976406" y="0"/>
                  </a:lnTo>
                  <a:lnTo>
                    <a:pt x="1000373" y="3810"/>
                  </a:lnTo>
                  <a:lnTo>
                    <a:pt x="1015624" y="8890"/>
                  </a:lnTo>
                  <a:lnTo>
                    <a:pt x="1018079" y="10160"/>
                  </a:lnTo>
                  <a:lnTo>
                    <a:pt x="146822" y="10160"/>
                  </a:lnTo>
                  <a:lnTo>
                    <a:pt x="138948" y="11430"/>
                  </a:lnTo>
                  <a:lnTo>
                    <a:pt x="139202" y="11430"/>
                  </a:lnTo>
                  <a:lnTo>
                    <a:pt x="131460" y="12700"/>
                  </a:lnTo>
                  <a:lnTo>
                    <a:pt x="131714" y="12700"/>
                  </a:lnTo>
                  <a:lnTo>
                    <a:pt x="124582" y="13890"/>
                  </a:lnTo>
                  <a:lnTo>
                    <a:pt x="116890" y="16510"/>
                  </a:lnTo>
                  <a:lnTo>
                    <a:pt x="117124" y="16510"/>
                  </a:lnTo>
                  <a:lnTo>
                    <a:pt x="109819" y="19050"/>
                  </a:lnTo>
                  <a:lnTo>
                    <a:pt x="110063" y="19050"/>
                  </a:lnTo>
                  <a:lnTo>
                    <a:pt x="102920" y="21590"/>
                  </a:lnTo>
                  <a:lnTo>
                    <a:pt x="103144" y="21590"/>
                  </a:lnTo>
                  <a:lnTo>
                    <a:pt x="96381" y="24058"/>
                  </a:lnTo>
                  <a:lnTo>
                    <a:pt x="96238" y="24225"/>
                  </a:lnTo>
                  <a:lnTo>
                    <a:pt x="89631" y="27940"/>
                  </a:lnTo>
                  <a:lnTo>
                    <a:pt x="89844" y="27940"/>
                  </a:lnTo>
                  <a:lnTo>
                    <a:pt x="83261" y="31750"/>
                  </a:lnTo>
                  <a:lnTo>
                    <a:pt x="83464" y="31750"/>
                  </a:lnTo>
                  <a:lnTo>
                    <a:pt x="77243" y="35470"/>
                  </a:lnTo>
                  <a:lnTo>
                    <a:pt x="77442" y="35470"/>
                  </a:lnTo>
                  <a:lnTo>
                    <a:pt x="71269" y="39283"/>
                  </a:lnTo>
                  <a:lnTo>
                    <a:pt x="71211" y="39465"/>
                  </a:lnTo>
                  <a:lnTo>
                    <a:pt x="65379" y="44450"/>
                  </a:lnTo>
                  <a:lnTo>
                    <a:pt x="65572" y="44450"/>
                  </a:lnTo>
                  <a:lnTo>
                    <a:pt x="59862" y="49530"/>
                  </a:lnTo>
                  <a:lnTo>
                    <a:pt x="60045" y="49530"/>
                  </a:lnTo>
                  <a:lnTo>
                    <a:pt x="55953" y="53340"/>
                  </a:lnTo>
                  <a:lnTo>
                    <a:pt x="54752" y="53340"/>
                  </a:lnTo>
                  <a:lnTo>
                    <a:pt x="48678" y="60753"/>
                  </a:lnTo>
                  <a:lnTo>
                    <a:pt x="45482" y="64016"/>
                  </a:lnTo>
                  <a:lnTo>
                    <a:pt x="44849" y="64693"/>
                  </a:lnTo>
                  <a:lnTo>
                    <a:pt x="44985" y="64693"/>
                  </a:lnTo>
                  <a:lnTo>
                    <a:pt x="40325" y="71047"/>
                  </a:lnTo>
                  <a:lnTo>
                    <a:pt x="39500" y="72143"/>
                  </a:lnTo>
                  <a:lnTo>
                    <a:pt x="39165" y="72553"/>
                  </a:lnTo>
                  <a:lnTo>
                    <a:pt x="36647" y="75442"/>
                  </a:lnTo>
                  <a:lnTo>
                    <a:pt x="33804" y="79766"/>
                  </a:lnTo>
                  <a:lnTo>
                    <a:pt x="28529" y="88900"/>
                  </a:lnTo>
                  <a:lnTo>
                    <a:pt x="25166" y="95250"/>
                  </a:lnTo>
                  <a:lnTo>
                    <a:pt x="22108" y="102870"/>
                  </a:lnTo>
                  <a:lnTo>
                    <a:pt x="19385" y="109220"/>
                  </a:lnTo>
                  <a:lnTo>
                    <a:pt x="16987" y="116840"/>
                  </a:lnTo>
                  <a:lnTo>
                    <a:pt x="14925" y="123190"/>
                  </a:lnTo>
                  <a:lnTo>
                    <a:pt x="13228" y="130810"/>
                  </a:lnTo>
                  <a:lnTo>
                    <a:pt x="11877" y="138430"/>
                  </a:lnTo>
                  <a:lnTo>
                    <a:pt x="10901" y="146050"/>
                  </a:lnTo>
                  <a:lnTo>
                    <a:pt x="10312" y="153670"/>
                  </a:lnTo>
                  <a:lnTo>
                    <a:pt x="10387" y="170180"/>
                  </a:lnTo>
                  <a:lnTo>
                    <a:pt x="10717" y="175064"/>
                  </a:lnTo>
                  <a:lnTo>
                    <a:pt x="10816" y="176533"/>
                  </a:lnTo>
                  <a:lnTo>
                    <a:pt x="11022" y="177786"/>
                  </a:lnTo>
                  <a:lnTo>
                    <a:pt x="11369" y="181167"/>
                  </a:lnTo>
                  <a:lnTo>
                    <a:pt x="11877" y="185420"/>
                  </a:lnTo>
                  <a:lnTo>
                    <a:pt x="12035" y="185420"/>
                  </a:lnTo>
                  <a:lnTo>
                    <a:pt x="13228" y="193040"/>
                  </a:lnTo>
                  <a:lnTo>
                    <a:pt x="13458" y="193040"/>
                  </a:lnTo>
                  <a:lnTo>
                    <a:pt x="14864" y="199390"/>
                  </a:lnTo>
                  <a:lnTo>
                    <a:pt x="16906" y="207010"/>
                  </a:lnTo>
                  <a:lnTo>
                    <a:pt x="19385" y="214630"/>
                  </a:lnTo>
                  <a:lnTo>
                    <a:pt x="19747" y="214630"/>
                  </a:lnTo>
                  <a:lnTo>
                    <a:pt x="22016" y="220980"/>
                  </a:lnTo>
                  <a:lnTo>
                    <a:pt x="25054" y="227330"/>
                  </a:lnTo>
                  <a:lnTo>
                    <a:pt x="28407" y="233680"/>
                  </a:lnTo>
                  <a:lnTo>
                    <a:pt x="32162" y="239972"/>
                  </a:lnTo>
                  <a:lnTo>
                    <a:pt x="32028" y="239972"/>
                  </a:lnTo>
                  <a:lnTo>
                    <a:pt x="37474" y="248488"/>
                  </a:lnTo>
                  <a:lnTo>
                    <a:pt x="41917" y="254989"/>
                  </a:lnTo>
                  <a:lnTo>
                    <a:pt x="44927" y="259080"/>
                  </a:lnTo>
                  <a:lnTo>
                    <a:pt x="45762" y="259080"/>
                  </a:lnTo>
                  <a:lnTo>
                    <a:pt x="49651" y="264081"/>
                  </a:lnTo>
                  <a:lnTo>
                    <a:pt x="49633" y="264241"/>
                  </a:lnTo>
                  <a:lnTo>
                    <a:pt x="54705" y="269240"/>
                  </a:lnTo>
                  <a:lnTo>
                    <a:pt x="55953" y="270510"/>
                  </a:lnTo>
                  <a:lnTo>
                    <a:pt x="60045" y="274320"/>
                  </a:lnTo>
                  <a:lnTo>
                    <a:pt x="59862" y="274320"/>
                  </a:lnTo>
                  <a:lnTo>
                    <a:pt x="65464" y="279304"/>
                  </a:lnTo>
                  <a:lnTo>
                    <a:pt x="65516" y="279487"/>
                  </a:lnTo>
                  <a:lnTo>
                    <a:pt x="70310" y="282534"/>
                  </a:lnTo>
                  <a:lnTo>
                    <a:pt x="77164" y="288190"/>
                  </a:lnTo>
                  <a:lnTo>
                    <a:pt x="77243" y="288379"/>
                  </a:lnTo>
                  <a:lnTo>
                    <a:pt x="83392" y="292100"/>
                  </a:lnTo>
                  <a:lnTo>
                    <a:pt x="83261" y="292100"/>
                  </a:lnTo>
                  <a:lnTo>
                    <a:pt x="89685" y="295817"/>
                  </a:lnTo>
                  <a:lnTo>
                    <a:pt x="89947" y="296136"/>
                  </a:lnTo>
                  <a:lnTo>
                    <a:pt x="90237" y="296136"/>
                  </a:lnTo>
                  <a:lnTo>
                    <a:pt x="95623" y="298142"/>
                  </a:lnTo>
                  <a:lnTo>
                    <a:pt x="102963" y="302165"/>
                  </a:lnTo>
                  <a:lnTo>
                    <a:pt x="103119" y="302330"/>
                  </a:lnTo>
                  <a:lnTo>
                    <a:pt x="110063" y="304800"/>
                  </a:lnTo>
                  <a:lnTo>
                    <a:pt x="109819" y="304800"/>
                  </a:lnTo>
                  <a:lnTo>
                    <a:pt x="116907" y="307264"/>
                  </a:lnTo>
                  <a:lnTo>
                    <a:pt x="116442" y="307264"/>
                  </a:lnTo>
                  <a:lnTo>
                    <a:pt x="123816" y="308514"/>
                  </a:lnTo>
                  <a:lnTo>
                    <a:pt x="131481" y="311073"/>
                  </a:lnTo>
                  <a:lnTo>
                    <a:pt x="130995" y="311073"/>
                  </a:lnTo>
                  <a:lnTo>
                    <a:pt x="139202" y="312420"/>
                  </a:lnTo>
                  <a:lnTo>
                    <a:pt x="146568" y="312420"/>
                  </a:lnTo>
                  <a:lnTo>
                    <a:pt x="154553" y="313690"/>
                  </a:lnTo>
                  <a:lnTo>
                    <a:pt x="1015624" y="313690"/>
                  </a:lnTo>
                  <a:lnTo>
                    <a:pt x="1000373" y="318770"/>
                  </a:lnTo>
                  <a:lnTo>
                    <a:pt x="992520" y="320040"/>
                  </a:lnTo>
                  <a:lnTo>
                    <a:pt x="984524" y="322580"/>
                  </a:lnTo>
                  <a:close/>
                </a:path>
                <a:path w="1122045" h="323850">
                  <a:moveTo>
                    <a:pt x="1067480" y="54610"/>
                  </a:moveTo>
                  <a:lnTo>
                    <a:pt x="1062024" y="49530"/>
                  </a:lnTo>
                  <a:lnTo>
                    <a:pt x="1062207" y="49530"/>
                  </a:lnTo>
                  <a:lnTo>
                    <a:pt x="1056497" y="44450"/>
                  </a:lnTo>
                  <a:lnTo>
                    <a:pt x="1056690" y="44450"/>
                  </a:lnTo>
                  <a:lnTo>
                    <a:pt x="1050858" y="39465"/>
                  </a:lnTo>
                  <a:lnTo>
                    <a:pt x="1050800" y="39283"/>
                  </a:lnTo>
                  <a:lnTo>
                    <a:pt x="1046872" y="36830"/>
                  </a:lnTo>
                  <a:lnTo>
                    <a:pt x="1044826" y="35470"/>
                  </a:lnTo>
                  <a:lnTo>
                    <a:pt x="1038595" y="31750"/>
                  </a:lnTo>
                  <a:lnTo>
                    <a:pt x="1038809" y="31750"/>
                  </a:lnTo>
                  <a:lnTo>
                    <a:pt x="1032225" y="27940"/>
                  </a:lnTo>
                  <a:lnTo>
                    <a:pt x="1032438" y="27940"/>
                  </a:lnTo>
                  <a:lnTo>
                    <a:pt x="1025832" y="24225"/>
                  </a:lnTo>
                  <a:lnTo>
                    <a:pt x="1025688" y="24058"/>
                  </a:lnTo>
                  <a:lnTo>
                    <a:pt x="1018926" y="21590"/>
                  </a:lnTo>
                  <a:lnTo>
                    <a:pt x="1019149" y="21590"/>
                  </a:lnTo>
                  <a:lnTo>
                    <a:pt x="1012007" y="19050"/>
                  </a:lnTo>
                  <a:lnTo>
                    <a:pt x="1012250" y="19050"/>
                  </a:lnTo>
                  <a:lnTo>
                    <a:pt x="1004935" y="16510"/>
                  </a:lnTo>
                  <a:lnTo>
                    <a:pt x="1005179" y="16510"/>
                  </a:lnTo>
                  <a:lnTo>
                    <a:pt x="997487" y="13890"/>
                  </a:lnTo>
                  <a:lnTo>
                    <a:pt x="990356" y="12700"/>
                  </a:lnTo>
                  <a:lnTo>
                    <a:pt x="990610" y="12700"/>
                  </a:lnTo>
                  <a:lnTo>
                    <a:pt x="982868" y="11430"/>
                  </a:lnTo>
                  <a:lnTo>
                    <a:pt x="983122" y="11430"/>
                  </a:lnTo>
                  <a:lnTo>
                    <a:pt x="975248" y="10160"/>
                  </a:lnTo>
                  <a:lnTo>
                    <a:pt x="1018079" y="10160"/>
                  </a:lnTo>
                  <a:lnTo>
                    <a:pt x="1022990" y="12700"/>
                  </a:lnTo>
                  <a:lnTo>
                    <a:pt x="1030183" y="15240"/>
                  </a:lnTo>
                  <a:lnTo>
                    <a:pt x="1037183" y="19050"/>
                  </a:lnTo>
                  <a:lnTo>
                    <a:pt x="1068943" y="41910"/>
                  </a:lnTo>
                  <a:lnTo>
                    <a:pt x="1080977" y="53340"/>
                  </a:lnTo>
                  <a:lnTo>
                    <a:pt x="1067318" y="53340"/>
                  </a:lnTo>
                  <a:lnTo>
                    <a:pt x="1067480" y="54610"/>
                  </a:lnTo>
                  <a:close/>
                </a:path>
                <a:path w="1122045" h="323850">
                  <a:moveTo>
                    <a:pt x="96238" y="24225"/>
                  </a:moveTo>
                  <a:lnTo>
                    <a:pt x="96381" y="24058"/>
                  </a:lnTo>
                  <a:lnTo>
                    <a:pt x="96821" y="23897"/>
                  </a:lnTo>
                  <a:lnTo>
                    <a:pt x="96238" y="24225"/>
                  </a:lnTo>
                  <a:close/>
                </a:path>
                <a:path w="1122045" h="323850">
                  <a:moveTo>
                    <a:pt x="1025832" y="24225"/>
                  </a:moveTo>
                  <a:lnTo>
                    <a:pt x="1025248" y="23897"/>
                  </a:lnTo>
                  <a:lnTo>
                    <a:pt x="1025688" y="24058"/>
                  </a:lnTo>
                  <a:lnTo>
                    <a:pt x="1025832" y="24225"/>
                  </a:lnTo>
                  <a:close/>
                </a:path>
                <a:path w="1122045" h="323850">
                  <a:moveTo>
                    <a:pt x="71211" y="39465"/>
                  </a:moveTo>
                  <a:lnTo>
                    <a:pt x="71269" y="39283"/>
                  </a:lnTo>
                  <a:lnTo>
                    <a:pt x="71826" y="38939"/>
                  </a:lnTo>
                  <a:lnTo>
                    <a:pt x="71211" y="39465"/>
                  </a:lnTo>
                  <a:close/>
                </a:path>
                <a:path w="1122045" h="323850">
                  <a:moveTo>
                    <a:pt x="1050858" y="39465"/>
                  </a:moveTo>
                  <a:lnTo>
                    <a:pt x="1050243" y="38939"/>
                  </a:lnTo>
                  <a:lnTo>
                    <a:pt x="1050800" y="39283"/>
                  </a:lnTo>
                  <a:lnTo>
                    <a:pt x="1050858" y="39465"/>
                  </a:lnTo>
                  <a:close/>
                </a:path>
                <a:path w="1122045" h="323850">
                  <a:moveTo>
                    <a:pt x="54589" y="54610"/>
                  </a:moveTo>
                  <a:lnTo>
                    <a:pt x="54752" y="53340"/>
                  </a:lnTo>
                  <a:lnTo>
                    <a:pt x="55953" y="53340"/>
                  </a:lnTo>
                  <a:lnTo>
                    <a:pt x="54589" y="54610"/>
                  </a:lnTo>
                  <a:close/>
                </a:path>
                <a:path w="1122045" h="323850">
                  <a:moveTo>
                    <a:pt x="1101713" y="82489"/>
                  </a:moveTo>
                  <a:lnTo>
                    <a:pt x="1089966" y="82489"/>
                  </a:lnTo>
                  <a:lnTo>
                    <a:pt x="1088700" y="80584"/>
                  </a:lnTo>
                  <a:lnTo>
                    <a:pt x="1088210" y="79766"/>
                  </a:lnTo>
                  <a:lnTo>
                    <a:pt x="1085952" y="76264"/>
                  </a:lnTo>
                  <a:lnTo>
                    <a:pt x="1085397" y="75442"/>
                  </a:lnTo>
                  <a:lnTo>
                    <a:pt x="1082859" y="72553"/>
                  </a:lnTo>
                  <a:lnTo>
                    <a:pt x="1077098" y="64693"/>
                  </a:lnTo>
                  <a:lnTo>
                    <a:pt x="1076560" y="64016"/>
                  </a:lnTo>
                  <a:lnTo>
                    <a:pt x="1073631" y="61046"/>
                  </a:lnTo>
                  <a:lnTo>
                    <a:pt x="1067318" y="53340"/>
                  </a:lnTo>
                  <a:lnTo>
                    <a:pt x="1080977" y="53340"/>
                  </a:lnTo>
                  <a:lnTo>
                    <a:pt x="1085057" y="58420"/>
                  </a:lnTo>
                  <a:lnTo>
                    <a:pt x="1089815" y="64693"/>
                  </a:lnTo>
                  <a:lnTo>
                    <a:pt x="1094352" y="71047"/>
                  </a:lnTo>
                  <a:lnTo>
                    <a:pt x="1098621" y="77470"/>
                  </a:lnTo>
                  <a:lnTo>
                    <a:pt x="1101713" y="82489"/>
                  </a:lnTo>
                  <a:close/>
                </a:path>
                <a:path w="1122045" h="323850">
                  <a:moveTo>
                    <a:pt x="48678" y="60753"/>
                  </a:moveTo>
                  <a:lnTo>
                    <a:pt x="49615" y="59610"/>
                  </a:lnTo>
                  <a:lnTo>
                    <a:pt x="49633" y="59771"/>
                  </a:lnTo>
                  <a:lnTo>
                    <a:pt x="48678" y="60753"/>
                  </a:lnTo>
                  <a:close/>
                </a:path>
                <a:path w="1122045" h="323850">
                  <a:moveTo>
                    <a:pt x="1073391" y="60753"/>
                  </a:moveTo>
                  <a:lnTo>
                    <a:pt x="1072436" y="59771"/>
                  </a:lnTo>
                  <a:lnTo>
                    <a:pt x="1072454" y="59610"/>
                  </a:lnTo>
                  <a:lnTo>
                    <a:pt x="1073391" y="60753"/>
                  </a:lnTo>
                  <a:close/>
                </a:path>
                <a:path w="1122045" h="323850">
                  <a:moveTo>
                    <a:pt x="44985" y="64693"/>
                  </a:moveTo>
                  <a:lnTo>
                    <a:pt x="44849" y="64693"/>
                  </a:lnTo>
                  <a:lnTo>
                    <a:pt x="45507" y="64016"/>
                  </a:lnTo>
                  <a:lnTo>
                    <a:pt x="44985" y="64693"/>
                  </a:lnTo>
                  <a:close/>
                </a:path>
                <a:path w="1122045" h="323850">
                  <a:moveTo>
                    <a:pt x="1077221" y="64693"/>
                  </a:moveTo>
                  <a:lnTo>
                    <a:pt x="1077086" y="64693"/>
                  </a:lnTo>
                  <a:lnTo>
                    <a:pt x="1076589" y="64016"/>
                  </a:lnTo>
                  <a:lnTo>
                    <a:pt x="1077221" y="64693"/>
                  </a:lnTo>
                  <a:close/>
                </a:path>
                <a:path w="1122045" h="323850">
                  <a:moveTo>
                    <a:pt x="39522" y="72143"/>
                  </a:moveTo>
                  <a:lnTo>
                    <a:pt x="40325" y="71047"/>
                  </a:lnTo>
                  <a:lnTo>
                    <a:pt x="40469" y="71047"/>
                  </a:lnTo>
                  <a:lnTo>
                    <a:pt x="39522" y="72143"/>
                  </a:lnTo>
                  <a:close/>
                </a:path>
                <a:path w="1122045" h="323850">
                  <a:moveTo>
                    <a:pt x="1082557" y="72143"/>
                  </a:moveTo>
                  <a:lnTo>
                    <a:pt x="1081601" y="71047"/>
                  </a:lnTo>
                  <a:lnTo>
                    <a:pt x="1081752" y="71047"/>
                  </a:lnTo>
                  <a:lnTo>
                    <a:pt x="1082557" y="72143"/>
                  </a:lnTo>
                  <a:close/>
                </a:path>
                <a:path w="1122045" h="323850">
                  <a:moveTo>
                    <a:pt x="1120399" y="185420"/>
                  </a:moveTo>
                  <a:lnTo>
                    <a:pt x="1110193" y="185420"/>
                  </a:lnTo>
                  <a:lnTo>
                    <a:pt x="1111327" y="175292"/>
                  </a:lnTo>
                  <a:lnTo>
                    <a:pt x="1111672" y="170180"/>
                  </a:lnTo>
                  <a:lnTo>
                    <a:pt x="1111758" y="168910"/>
                  </a:lnTo>
                  <a:lnTo>
                    <a:pt x="1111859" y="166370"/>
                  </a:lnTo>
                  <a:lnTo>
                    <a:pt x="1111910" y="157480"/>
                  </a:lnTo>
                  <a:lnTo>
                    <a:pt x="1111768" y="153670"/>
                  </a:lnTo>
                  <a:lnTo>
                    <a:pt x="1102776" y="109220"/>
                  </a:lnTo>
                  <a:lnTo>
                    <a:pt x="1100053" y="102870"/>
                  </a:lnTo>
                  <a:lnTo>
                    <a:pt x="1097015" y="95250"/>
                  </a:lnTo>
                  <a:lnTo>
                    <a:pt x="1093663" y="88900"/>
                  </a:lnTo>
                  <a:lnTo>
                    <a:pt x="1088700" y="80584"/>
                  </a:lnTo>
                  <a:lnTo>
                    <a:pt x="1089966" y="82489"/>
                  </a:lnTo>
                  <a:lnTo>
                    <a:pt x="1101713" y="82489"/>
                  </a:lnTo>
                  <a:lnTo>
                    <a:pt x="1102532" y="83820"/>
                  </a:lnTo>
                  <a:lnTo>
                    <a:pt x="1106119" y="91440"/>
                  </a:lnTo>
                  <a:lnTo>
                    <a:pt x="1109360" y="99060"/>
                  </a:lnTo>
                  <a:lnTo>
                    <a:pt x="1112276" y="105410"/>
                  </a:lnTo>
                  <a:lnTo>
                    <a:pt x="1121288" y="144780"/>
                  </a:lnTo>
                  <a:lnTo>
                    <a:pt x="1121907" y="153670"/>
                  </a:lnTo>
                  <a:lnTo>
                    <a:pt x="1121907" y="170180"/>
                  </a:lnTo>
                  <a:lnTo>
                    <a:pt x="1121510" y="175064"/>
                  </a:lnTo>
                  <a:lnTo>
                    <a:pt x="1121391" y="176533"/>
                  </a:lnTo>
                  <a:lnTo>
                    <a:pt x="1121289" y="177786"/>
                  </a:lnTo>
                  <a:lnTo>
                    <a:pt x="1120399" y="185420"/>
                  </a:lnTo>
                  <a:close/>
                </a:path>
                <a:path w="1122045" h="323850">
                  <a:moveTo>
                    <a:pt x="12035" y="185420"/>
                  </a:moveTo>
                  <a:lnTo>
                    <a:pt x="11877" y="185420"/>
                  </a:lnTo>
                  <a:lnTo>
                    <a:pt x="11736" y="184161"/>
                  </a:lnTo>
                  <a:lnTo>
                    <a:pt x="12035" y="185420"/>
                  </a:lnTo>
                  <a:close/>
                </a:path>
                <a:path w="1122045" h="323850">
                  <a:moveTo>
                    <a:pt x="1119066" y="193040"/>
                  </a:moveTo>
                  <a:lnTo>
                    <a:pt x="1108842" y="193040"/>
                  </a:lnTo>
                  <a:lnTo>
                    <a:pt x="1110222" y="184161"/>
                  </a:lnTo>
                  <a:lnTo>
                    <a:pt x="1110193" y="185420"/>
                  </a:lnTo>
                  <a:lnTo>
                    <a:pt x="1120399" y="185420"/>
                  </a:lnTo>
                  <a:lnTo>
                    <a:pt x="1120251" y="186690"/>
                  </a:lnTo>
                  <a:lnTo>
                    <a:pt x="1119066" y="193040"/>
                  </a:lnTo>
                  <a:close/>
                </a:path>
                <a:path w="1122045" h="323850">
                  <a:moveTo>
                    <a:pt x="13458" y="193040"/>
                  </a:moveTo>
                  <a:lnTo>
                    <a:pt x="13228" y="193040"/>
                  </a:lnTo>
                  <a:lnTo>
                    <a:pt x="13177" y="191770"/>
                  </a:lnTo>
                  <a:lnTo>
                    <a:pt x="13458" y="193040"/>
                  </a:lnTo>
                  <a:close/>
                </a:path>
                <a:path w="1122045" h="323850">
                  <a:moveTo>
                    <a:pt x="1113126" y="214630"/>
                  </a:moveTo>
                  <a:lnTo>
                    <a:pt x="1102685" y="214630"/>
                  </a:lnTo>
                  <a:lnTo>
                    <a:pt x="1105082" y="207010"/>
                  </a:lnTo>
                  <a:lnTo>
                    <a:pt x="1107145" y="199390"/>
                  </a:lnTo>
                  <a:lnTo>
                    <a:pt x="1108892" y="191770"/>
                  </a:lnTo>
                  <a:lnTo>
                    <a:pt x="1108842" y="193040"/>
                  </a:lnTo>
                  <a:lnTo>
                    <a:pt x="1119066" y="193040"/>
                  </a:lnTo>
                  <a:lnTo>
                    <a:pt x="1118829" y="194310"/>
                  </a:lnTo>
                  <a:lnTo>
                    <a:pt x="1117010" y="201930"/>
                  </a:lnTo>
                  <a:lnTo>
                    <a:pt x="1114826" y="209550"/>
                  </a:lnTo>
                  <a:lnTo>
                    <a:pt x="1113126" y="214630"/>
                  </a:lnTo>
                  <a:close/>
                </a:path>
                <a:path w="1122045" h="323850">
                  <a:moveTo>
                    <a:pt x="19747" y="214630"/>
                  </a:moveTo>
                  <a:lnTo>
                    <a:pt x="19385" y="214630"/>
                  </a:lnTo>
                  <a:lnTo>
                    <a:pt x="19293" y="213360"/>
                  </a:lnTo>
                  <a:lnTo>
                    <a:pt x="19747" y="214630"/>
                  </a:lnTo>
                  <a:close/>
                </a:path>
                <a:path w="1122045" h="323850">
                  <a:moveTo>
                    <a:pt x="1089873" y="259080"/>
                  </a:moveTo>
                  <a:lnTo>
                    <a:pt x="1077142" y="259080"/>
                  </a:lnTo>
                  <a:lnTo>
                    <a:pt x="1081858" y="252658"/>
                  </a:lnTo>
                  <a:lnTo>
                    <a:pt x="1081713" y="252658"/>
                  </a:lnTo>
                  <a:lnTo>
                    <a:pt x="1084595" y="248488"/>
                  </a:lnTo>
                  <a:lnTo>
                    <a:pt x="1085983" y="246315"/>
                  </a:lnTo>
                  <a:lnTo>
                    <a:pt x="1088197" y="242932"/>
                  </a:lnTo>
                  <a:lnTo>
                    <a:pt x="1093541" y="233680"/>
                  </a:lnTo>
                  <a:lnTo>
                    <a:pt x="1096904" y="227330"/>
                  </a:lnTo>
                  <a:lnTo>
                    <a:pt x="1099962" y="220980"/>
                  </a:lnTo>
                  <a:lnTo>
                    <a:pt x="1102776" y="213360"/>
                  </a:lnTo>
                  <a:lnTo>
                    <a:pt x="1102685" y="214630"/>
                  </a:lnTo>
                  <a:lnTo>
                    <a:pt x="1113126" y="214630"/>
                  </a:lnTo>
                  <a:lnTo>
                    <a:pt x="1112276" y="217170"/>
                  </a:lnTo>
                  <a:lnTo>
                    <a:pt x="1109360" y="224790"/>
                  </a:lnTo>
                  <a:lnTo>
                    <a:pt x="1106119" y="232410"/>
                  </a:lnTo>
                  <a:lnTo>
                    <a:pt x="1102532" y="238760"/>
                  </a:lnTo>
                  <a:lnTo>
                    <a:pt x="1098654" y="246315"/>
                  </a:lnTo>
                  <a:lnTo>
                    <a:pt x="1094452" y="252658"/>
                  </a:lnTo>
                  <a:lnTo>
                    <a:pt x="1081858" y="252658"/>
                  </a:lnTo>
                  <a:lnTo>
                    <a:pt x="1080146" y="254989"/>
                  </a:lnTo>
                  <a:lnTo>
                    <a:pt x="1092792" y="254989"/>
                  </a:lnTo>
                  <a:lnTo>
                    <a:pt x="1089873" y="259080"/>
                  </a:lnTo>
                  <a:close/>
                </a:path>
                <a:path w="1122045" h="323850">
                  <a:moveTo>
                    <a:pt x="33370" y="241995"/>
                  </a:moveTo>
                  <a:lnTo>
                    <a:pt x="32028" y="239972"/>
                  </a:lnTo>
                  <a:lnTo>
                    <a:pt x="32162" y="239972"/>
                  </a:lnTo>
                  <a:lnTo>
                    <a:pt x="33370" y="241995"/>
                  </a:lnTo>
                  <a:close/>
                </a:path>
                <a:path w="1122045" h="323850">
                  <a:moveTo>
                    <a:pt x="45762" y="259080"/>
                  </a:moveTo>
                  <a:lnTo>
                    <a:pt x="44927" y="259080"/>
                  </a:lnTo>
                  <a:lnTo>
                    <a:pt x="44775" y="257810"/>
                  </a:lnTo>
                  <a:lnTo>
                    <a:pt x="45762" y="259080"/>
                  </a:lnTo>
                  <a:close/>
                </a:path>
                <a:path w="1122045" h="323850">
                  <a:moveTo>
                    <a:pt x="1050270" y="296136"/>
                  </a:moveTo>
                  <a:lnTo>
                    <a:pt x="1032123" y="296136"/>
                  </a:lnTo>
                  <a:lnTo>
                    <a:pt x="1032385" y="295817"/>
                  </a:lnTo>
                  <a:lnTo>
                    <a:pt x="1038809" y="292100"/>
                  </a:lnTo>
                  <a:lnTo>
                    <a:pt x="1038595" y="292100"/>
                  </a:lnTo>
                  <a:lnTo>
                    <a:pt x="1044826" y="288379"/>
                  </a:lnTo>
                  <a:lnTo>
                    <a:pt x="1044892" y="288190"/>
                  </a:lnTo>
                  <a:lnTo>
                    <a:pt x="1051046" y="283122"/>
                  </a:lnTo>
                  <a:lnTo>
                    <a:pt x="1051801" y="282534"/>
                  </a:lnTo>
                  <a:lnTo>
                    <a:pt x="1056554" y="279487"/>
                  </a:lnTo>
                  <a:lnTo>
                    <a:pt x="1056605" y="279304"/>
                  </a:lnTo>
                  <a:lnTo>
                    <a:pt x="1062207" y="274320"/>
                  </a:lnTo>
                  <a:lnTo>
                    <a:pt x="1062024" y="274320"/>
                  </a:lnTo>
                  <a:lnTo>
                    <a:pt x="1067480" y="269240"/>
                  </a:lnTo>
                  <a:lnTo>
                    <a:pt x="1067318" y="269240"/>
                  </a:lnTo>
                  <a:lnTo>
                    <a:pt x="1072436" y="264241"/>
                  </a:lnTo>
                  <a:lnTo>
                    <a:pt x="1072418" y="264081"/>
                  </a:lnTo>
                  <a:lnTo>
                    <a:pt x="1077295" y="257810"/>
                  </a:lnTo>
                  <a:lnTo>
                    <a:pt x="1077142" y="259080"/>
                  </a:lnTo>
                  <a:lnTo>
                    <a:pt x="1089873" y="259080"/>
                  </a:lnTo>
                  <a:lnTo>
                    <a:pt x="1085057" y="265430"/>
                  </a:lnTo>
                  <a:lnTo>
                    <a:pt x="1079957" y="270510"/>
                  </a:lnTo>
                  <a:lnTo>
                    <a:pt x="1074582" y="276860"/>
                  </a:lnTo>
                  <a:lnTo>
                    <a:pt x="1068943" y="281940"/>
                  </a:lnTo>
                  <a:lnTo>
                    <a:pt x="1063061" y="287020"/>
                  </a:lnTo>
                  <a:lnTo>
                    <a:pt x="1056924" y="292100"/>
                  </a:lnTo>
                  <a:lnTo>
                    <a:pt x="1050718" y="295817"/>
                  </a:lnTo>
                  <a:lnTo>
                    <a:pt x="1050270" y="296136"/>
                  </a:lnTo>
                  <a:close/>
                </a:path>
                <a:path w="1122045" h="323850">
                  <a:moveTo>
                    <a:pt x="50225" y="264819"/>
                  </a:moveTo>
                  <a:lnTo>
                    <a:pt x="49633" y="264241"/>
                  </a:lnTo>
                  <a:lnTo>
                    <a:pt x="49651" y="264081"/>
                  </a:lnTo>
                  <a:lnTo>
                    <a:pt x="50225" y="264819"/>
                  </a:lnTo>
                  <a:close/>
                </a:path>
                <a:path w="1122045" h="323850">
                  <a:moveTo>
                    <a:pt x="1071844" y="264819"/>
                  </a:moveTo>
                  <a:lnTo>
                    <a:pt x="1072294" y="264241"/>
                  </a:lnTo>
                  <a:lnTo>
                    <a:pt x="1072418" y="264081"/>
                  </a:lnTo>
                  <a:lnTo>
                    <a:pt x="1072436" y="264241"/>
                  </a:lnTo>
                  <a:lnTo>
                    <a:pt x="1071844" y="264819"/>
                  </a:lnTo>
                  <a:close/>
                </a:path>
                <a:path w="1122045" h="323850">
                  <a:moveTo>
                    <a:pt x="66070" y="279842"/>
                  </a:moveTo>
                  <a:lnTo>
                    <a:pt x="65516" y="279487"/>
                  </a:lnTo>
                  <a:lnTo>
                    <a:pt x="65464" y="279304"/>
                  </a:lnTo>
                  <a:lnTo>
                    <a:pt x="66070" y="279842"/>
                  </a:lnTo>
                  <a:close/>
                </a:path>
                <a:path w="1122045" h="323850">
                  <a:moveTo>
                    <a:pt x="1056000" y="279842"/>
                  </a:moveTo>
                  <a:lnTo>
                    <a:pt x="1056605" y="279304"/>
                  </a:lnTo>
                  <a:lnTo>
                    <a:pt x="1056554" y="279487"/>
                  </a:lnTo>
                  <a:lnTo>
                    <a:pt x="1056000" y="279842"/>
                  </a:lnTo>
                  <a:close/>
                </a:path>
                <a:path w="1122045" h="323850">
                  <a:moveTo>
                    <a:pt x="71245" y="283304"/>
                  </a:moveTo>
                  <a:lnTo>
                    <a:pt x="70310" y="282534"/>
                  </a:lnTo>
                  <a:lnTo>
                    <a:pt x="71186" y="283122"/>
                  </a:lnTo>
                  <a:lnTo>
                    <a:pt x="71245" y="283304"/>
                  </a:lnTo>
                  <a:close/>
                </a:path>
                <a:path w="1122045" h="323850">
                  <a:moveTo>
                    <a:pt x="1050810" y="283304"/>
                  </a:moveTo>
                  <a:lnTo>
                    <a:pt x="1050884" y="283122"/>
                  </a:lnTo>
                  <a:lnTo>
                    <a:pt x="1051800" y="282534"/>
                  </a:lnTo>
                  <a:lnTo>
                    <a:pt x="1050810" y="283304"/>
                  </a:lnTo>
                  <a:close/>
                </a:path>
                <a:path w="1122045" h="323850">
                  <a:moveTo>
                    <a:pt x="77788" y="288705"/>
                  </a:moveTo>
                  <a:lnTo>
                    <a:pt x="77243" y="288379"/>
                  </a:lnTo>
                  <a:lnTo>
                    <a:pt x="77176" y="288190"/>
                  </a:lnTo>
                  <a:lnTo>
                    <a:pt x="77788" y="288705"/>
                  </a:lnTo>
                  <a:close/>
                </a:path>
                <a:path w="1122045" h="323850">
                  <a:moveTo>
                    <a:pt x="1044281" y="288705"/>
                  </a:moveTo>
                  <a:lnTo>
                    <a:pt x="1044894" y="288190"/>
                  </a:lnTo>
                  <a:lnTo>
                    <a:pt x="1044826" y="288379"/>
                  </a:lnTo>
                  <a:lnTo>
                    <a:pt x="1044281" y="288705"/>
                  </a:lnTo>
                  <a:close/>
                </a:path>
                <a:path w="1122045" h="323850">
                  <a:moveTo>
                    <a:pt x="86195" y="293798"/>
                  </a:moveTo>
                  <a:lnTo>
                    <a:pt x="83261" y="292100"/>
                  </a:lnTo>
                  <a:lnTo>
                    <a:pt x="83392" y="292100"/>
                  </a:lnTo>
                  <a:lnTo>
                    <a:pt x="86195" y="293798"/>
                  </a:lnTo>
                  <a:close/>
                </a:path>
                <a:path w="1122045" h="323850">
                  <a:moveTo>
                    <a:pt x="90237" y="296136"/>
                  </a:moveTo>
                  <a:lnTo>
                    <a:pt x="89947" y="296136"/>
                  </a:lnTo>
                  <a:lnTo>
                    <a:pt x="89685" y="295817"/>
                  </a:lnTo>
                  <a:lnTo>
                    <a:pt x="90237" y="296136"/>
                  </a:lnTo>
                  <a:close/>
                </a:path>
                <a:path w="1122045" h="323850">
                  <a:moveTo>
                    <a:pt x="1015624" y="313690"/>
                  </a:moveTo>
                  <a:lnTo>
                    <a:pt x="967516" y="313690"/>
                  </a:lnTo>
                  <a:lnTo>
                    <a:pt x="975502" y="312420"/>
                  </a:lnTo>
                  <a:lnTo>
                    <a:pt x="982868" y="312420"/>
                  </a:lnTo>
                  <a:lnTo>
                    <a:pt x="991075" y="311073"/>
                  </a:lnTo>
                  <a:lnTo>
                    <a:pt x="990584" y="311073"/>
                  </a:lnTo>
                  <a:lnTo>
                    <a:pt x="998286" y="308514"/>
                  </a:lnTo>
                  <a:lnTo>
                    <a:pt x="1005659" y="307264"/>
                  </a:lnTo>
                  <a:lnTo>
                    <a:pt x="1005153" y="307264"/>
                  </a:lnTo>
                  <a:lnTo>
                    <a:pt x="1012250" y="304800"/>
                  </a:lnTo>
                  <a:lnTo>
                    <a:pt x="1012007" y="304800"/>
                  </a:lnTo>
                  <a:lnTo>
                    <a:pt x="1018951" y="302330"/>
                  </a:lnTo>
                  <a:lnTo>
                    <a:pt x="1019097" y="302165"/>
                  </a:lnTo>
                  <a:lnTo>
                    <a:pt x="1026019" y="298376"/>
                  </a:lnTo>
                  <a:lnTo>
                    <a:pt x="1026482" y="298142"/>
                  </a:lnTo>
                  <a:lnTo>
                    <a:pt x="1031833" y="296136"/>
                  </a:lnTo>
                  <a:lnTo>
                    <a:pt x="1032385" y="295817"/>
                  </a:lnTo>
                  <a:lnTo>
                    <a:pt x="1032123" y="296136"/>
                  </a:lnTo>
                  <a:lnTo>
                    <a:pt x="1050270" y="296136"/>
                  </a:lnTo>
                  <a:lnTo>
                    <a:pt x="1043980" y="300990"/>
                  </a:lnTo>
                  <a:lnTo>
                    <a:pt x="1037183" y="304800"/>
                  </a:lnTo>
                  <a:lnTo>
                    <a:pt x="1030391" y="307264"/>
                  </a:lnTo>
                  <a:lnTo>
                    <a:pt x="1027966" y="308514"/>
                  </a:lnTo>
                  <a:lnTo>
                    <a:pt x="1023134" y="311073"/>
                  </a:lnTo>
                  <a:lnTo>
                    <a:pt x="1015624" y="313690"/>
                  </a:lnTo>
                  <a:close/>
                </a:path>
                <a:path w="1122045" h="323850">
                  <a:moveTo>
                    <a:pt x="96356" y="298544"/>
                  </a:moveTo>
                  <a:lnTo>
                    <a:pt x="95623" y="298142"/>
                  </a:lnTo>
                  <a:lnTo>
                    <a:pt x="96212" y="298376"/>
                  </a:lnTo>
                  <a:lnTo>
                    <a:pt x="96356" y="298544"/>
                  </a:lnTo>
                  <a:close/>
                </a:path>
                <a:path w="1122045" h="323850">
                  <a:moveTo>
                    <a:pt x="1025704" y="298544"/>
                  </a:moveTo>
                  <a:lnTo>
                    <a:pt x="1025858" y="298376"/>
                  </a:lnTo>
                  <a:lnTo>
                    <a:pt x="1026482" y="298142"/>
                  </a:lnTo>
                  <a:lnTo>
                    <a:pt x="1025704" y="298544"/>
                  </a:lnTo>
                  <a:close/>
                </a:path>
                <a:path w="1122045" h="323850">
                  <a:moveTo>
                    <a:pt x="103532" y="302477"/>
                  </a:moveTo>
                  <a:lnTo>
                    <a:pt x="103119" y="302330"/>
                  </a:lnTo>
                  <a:lnTo>
                    <a:pt x="102972" y="302165"/>
                  </a:lnTo>
                  <a:lnTo>
                    <a:pt x="103532" y="302477"/>
                  </a:lnTo>
                  <a:close/>
                </a:path>
                <a:path w="1122045" h="323850">
                  <a:moveTo>
                    <a:pt x="1018537" y="302477"/>
                  </a:moveTo>
                  <a:lnTo>
                    <a:pt x="1019098" y="302165"/>
                  </a:lnTo>
                  <a:lnTo>
                    <a:pt x="1018951" y="302330"/>
                  </a:lnTo>
                  <a:lnTo>
                    <a:pt x="1018537" y="302477"/>
                  </a:lnTo>
                  <a:close/>
                </a:path>
                <a:path w="1122045" h="323850">
                  <a:moveTo>
                    <a:pt x="968197" y="323850"/>
                  </a:moveTo>
                  <a:lnTo>
                    <a:pt x="153873" y="323850"/>
                  </a:lnTo>
                  <a:lnTo>
                    <a:pt x="145663" y="322580"/>
                  </a:lnTo>
                  <a:lnTo>
                    <a:pt x="976406" y="322580"/>
                  </a:lnTo>
                  <a:lnTo>
                    <a:pt x="968197" y="323850"/>
                  </a:lnTo>
                  <a:close/>
                </a:path>
              </a:pathLst>
            </a:custGeom>
            <a:solidFill>
              <a:srgbClr val="44536A">
                <a:alpha val="50199"/>
              </a:srgbClr>
            </a:solidFill>
          </p:spPr>
          <p:txBody>
            <a:bodyPr wrap="square" lIns="0" tIns="0" rIns="0" bIns="0" rtlCol="0"/>
            <a:lstStyle/>
            <a:p>
              <a:endParaRPr/>
            </a:p>
          </p:txBody>
        </p:sp>
      </p:grpSp>
      <p:sp>
        <p:nvSpPr>
          <p:cNvPr id="15" name="object 15"/>
          <p:cNvSpPr txBox="1"/>
          <p:nvPr/>
        </p:nvSpPr>
        <p:spPr>
          <a:xfrm>
            <a:off x="1521967" y="2245867"/>
            <a:ext cx="624840" cy="245110"/>
          </a:xfrm>
          <a:prstGeom prst="rect">
            <a:avLst/>
          </a:prstGeom>
        </p:spPr>
        <p:txBody>
          <a:bodyPr vert="horz" wrap="square" lIns="0" tIns="11430" rIns="0" bIns="0" rtlCol="0">
            <a:spAutoFit/>
          </a:bodyPr>
          <a:lstStyle/>
          <a:p>
            <a:pPr marL="12700">
              <a:lnSpc>
                <a:spcPct val="100000"/>
              </a:lnSpc>
              <a:spcBef>
                <a:spcPts val="90"/>
              </a:spcBef>
            </a:pPr>
            <a:r>
              <a:rPr sz="1450" b="1" spc="-10" dirty="0">
                <a:solidFill>
                  <a:srgbClr val="000D45"/>
                </a:solidFill>
                <a:latin typeface="Times New Roman" panose="02020603050405020304"/>
                <a:cs typeface="Times New Roman" panose="02020603050405020304"/>
              </a:rPr>
              <a:t>2024/04</a:t>
            </a:r>
            <a:endParaRPr sz="1450">
              <a:latin typeface="Times New Roman" panose="02020603050405020304"/>
              <a:cs typeface="Times New Roman" panose="02020603050405020304"/>
            </a:endParaRPr>
          </a:p>
        </p:txBody>
      </p:sp>
      <p:grpSp>
        <p:nvGrpSpPr>
          <p:cNvPr id="16" name="object 16"/>
          <p:cNvGrpSpPr/>
          <p:nvPr/>
        </p:nvGrpSpPr>
        <p:grpSpPr>
          <a:xfrm>
            <a:off x="1438656" y="1369060"/>
            <a:ext cx="7423150" cy="1976120"/>
            <a:chOff x="1438656" y="1369060"/>
            <a:chExt cx="7423150" cy="1976120"/>
          </a:xfrm>
        </p:grpSpPr>
        <p:sp>
          <p:nvSpPr>
            <p:cNvPr id="17" name="object 17"/>
            <p:cNvSpPr/>
            <p:nvPr/>
          </p:nvSpPr>
          <p:spPr>
            <a:xfrm>
              <a:off x="1438656" y="1369072"/>
              <a:ext cx="5242560" cy="1976120"/>
            </a:xfrm>
            <a:custGeom>
              <a:avLst/>
              <a:gdLst/>
              <a:ahLst/>
              <a:cxnLst/>
              <a:rect l="l" t="t" r="r" b="b"/>
              <a:pathLst>
                <a:path w="5242559" h="1976120">
                  <a:moveTo>
                    <a:pt x="60960" y="1945640"/>
                  </a:moveTo>
                  <a:lnTo>
                    <a:pt x="58559" y="1933765"/>
                  </a:lnTo>
                  <a:lnTo>
                    <a:pt x="52031" y="1924075"/>
                  </a:lnTo>
                  <a:lnTo>
                    <a:pt x="42341" y="1917547"/>
                  </a:lnTo>
                  <a:lnTo>
                    <a:pt x="38100" y="1916696"/>
                  </a:lnTo>
                  <a:lnTo>
                    <a:pt x="38100" y="1915160"/>
                  </a:lnTo>
                  <a:lnTo>
                    <a:pt x="38100" y="1170940"/>
                  </a:lnTo>
                  <a:lnTo>
                    <a:pt x="22860" y="1170940"/>
                  </a:lnTo>
                  <a:lnTo>
                    <a:pt x="22860" y="1916696"/>
                  </a:lnTo>
                  <a:lnTo>
                    <a:pt x="18605" y="1917547"/>
                  </a:lnTo>
                  <a:lnTo>
                    <a:pt x="8915" y="1924075"/>
                  </a:lnTo>
                  <a:lnTo>
                    <a:pt x="2387" y="1933765"/>
                  </a:lnTo>
                  <a:lnTo>
                    <a:pt x="0" y="1945640"/>
                  </a:lnTo>
                  <a:lnTo>
                    <a:pt x="2387" y="1957501"/>
                  </a:lnTo>
                  <a:lnTo>
                    <a:pt x="8915" y="1967191"/>
                  </a:lnTo>
                  <a:lnTo>
                    <a:pt x="18605" y="1973719"/>
                  </a:lnTo>
                  <a:lnTo>
                    <a:pt x="30480" y="1976120"/>
                  </a:lnTo>
                  <a:lnTo>
                    <a:pt x="42341" y="1973719"/>
                  </a:lnTo>
                  <a:lnTo>
                    <a:pt x="52031" y="1967191"/>
                  </a:lnTo>
                  <a:lnTo>
                    <a:pt x="58559" y="1957501"/>
                  </a:lnTo>
                  <a:lnTo>
                    <a:pt x="60960" y="1945640"/>
                  </a:lnTo>
                  <a:close/>
                </a:path>
                <a:path w="5242559" h="1976120">
                  <a:moveTo>
                    <a:pt x="2569972" y="30480"/>
                  </a:moveTo>
                  <a:lnTo>
                    <a:pt x="2567571" y="18605"/>
                  </a:lnTo>
                  <a:lnTo>
                    <a:pt x="2561044" y="8915"/>
                  </a:lnTo>
                  <a:lnTo>
                    <a:pt x="2551353" y="2387"/>
                  </a:lnTo>
                  <a:lnTo>
                    <a:pt x="2539492" y="0"/>
                  </a:lnTo>
                  <a:lnTo>
                    <a:pt x="2527617" y="2387"/>
                  </a:lnTo>
                  <a:lnTo>
                    <a:pt x="2517927" y="8915"/>
                  </a:lnTo>
                  <a:lnTo>
                    <a:pt x="2511399" y="18605"/>
                  </a:lnTo>
                  <a:lnTo>
                    <a:pt x="2509012" y="30480"/>
                  </a:lnTo>
                  <a:lnTo>
                    <a:pt x="2511399" y="42341"/>
                  </a:lnTo>
                  <a:lnTo>
                    <a:pt x="2517927" y="52031"/>
                  </a:lnTo>
                  <a:lnTo>
                    <a:pt x="2527617" y="58559"/>
                  </a:lnTo>
                  <a:lnTo>
                    <a:pt x="2531872" y="59410"/>
                  </a:lnTo>
                  <a:lnTo>
                    <a:pt x="2531872" y="859028"/>
                  </a:lnTo>
                  <a:lnTo>
                    <a:pt x="2547112" y="859028"/>
                  </a:lnTo>
                  <a:lnTo>
                    <a:pt x="2547112" y="60960"/>
                  </a:lnTo>
                  <a:lnTo>
                    <a:pt x="2547112" y="59410"/>
                  </a:lnTo>
                  <a:lnTo>
                    <a:pt x="2551353" y="58559"/>
                  </a:lnTo>
                  <a:lnTo>
                    <a:pt x="2561044" y="52031"/>
                  </a:lnTo>
                  <a:lnTo>
                    <a:pt x="2567571" y="42341"/>
                  </a:lnTo>
                  <a:lnTo>
                    <a:pt x="2569972" y="30480"/>
                  </a:lnTo>
                  <a:close/>
                </a:path>
                <a:path w="5242559" h="1976120">
                  <a:moveTo>
                    <a:pt x="5242052" y="1945640"/>
                  </a:moveTo>
                  <a:lnTo>
                    <a:pt x="5239651" y="1933765"/>
                  </a:lnTo>
                  <a:lnTo>
                    <a:pt x="5233124" y="1924075"/>
                  </a:lnTo>
                  <a:lnTo>
                    <a:pt x="5223434" y="1917547"/>
                  </a:lnTo>
                  <a:lnTo>
                    <a:pt x="5219192" y="1916696"/>
                  </a:lnTo>
                  <a:lnTo>
                    <a:pt x="5219192" y="1915160"/>
                  </a:lnTo>
                  <a:lnTo>
                    <a:pt x="5219192" y="1170940"/>
                  </a:lnTo>
                  <a:lnTo>
                    <a:pt x="5203952" y="1170940"/>
                  </a:lnTo>
                  <a:lnTo>
                    <a:pt x="5203952" y="1916696"/>
                  </a:lnTo>
                  <a:lnTo>
                    <a:pt x="5199697" y="1917547"/>
                  </a:lnTo>
                  <a:lnTo>
                    <a:pt x="5190007" y="1924075"/>
                  </a:lnTo>
                  <a:lnTo>
                    <a:pt x="5183479" y="1933765"/>
                  </a:lnTo>
                  <a:lnTo>
                    <a:pt x="5181092" y="1945640"/>
                  </a:lnTo>
                  <a:lnTo>
                    <a:pt x="5183479" y="1957501"/>
                  </a:lnTo>
                  <a:lnTo>
                    <a:pt x="5190007" y="1967191"/>
                  </a:lnTo>
                  <a:lnTo>
                    <a:pt x="5199697" y="1973719"/>
                  </a:lnTo>
                  <a:lnTo>
                    <a:pt x="5211572" y="1976120"/>
                  </a:lnTo>
                  <a:lnTo>
                    <a:pt x="5223434" y="1973719"/>
                  </a:lnTo>
                  <a:lnTo>
                    <a:pt x="5233124" y="1967191"/>
                  </a:lnTo>
                  <a:lnTo>
                    <a:pt x="5239651" y="1957501"/>
                  </a:lnTo>
                  <a:lnTo>
                    <a:pt x="5242052" y="1945640"/>
                  </a:lnTo>
                  <a:close/>
                </a:path>
              </a:pathLst>
            </a:custGeom>
            <a:solidFill>
              <a:srgbClr val="000D45"/>
            </a:solidFill>
          </p:spPr>
          <p:txBody>
            <a:bodyPr wrap="square" lIns="0" tIns="0" rIns="0" bIns="0" rtlCol="0"/>
            <a:lstStyle/>
            <a:p>
              <a:endParaRPr/>
            </a:p>
          </p:txBody>
        </p:sp>
        <p:sp>
          <p:nvSpPr>
            <p:cNvPr id="18" name="object 18"/>
            <p:cNvSpPr/>
            <p:nvPr/>
          </p:nvSpPr>
          <p:spPr>
            <a:xfrm>
              <a:off x="6650939" y="3055518"/>
              <a:ext cx="2210435" cy="259079"/>
            </a:xfrm>
            <a:custGeom>
              <a:avLst/>
              <a:gdLst/>
              <a:ahLst/>
              <a:cxnLst/>
              <a:rect l="l" t="t" r="r" b="b"/>
              <a:pathLst>
                <a:path w="2210434" h="259079">
                  <a:moveTo>
                    <a:pt x="2081174" y="258470"/>
                  </a:moveTo>
                  <a:lnTo>
                    <a:pt x="0" y="258470"/>
                  </a:lnTo>
                  <a:lnTo>
                    <a:pt x="0" y="0"/>
                  </a:lnTo>
                  <a:lnTo>
                    <a:pt x="2081174" y="0"/>
                  </a:lnTo>
                  <a:lnTo>
                    <a:pt x="2131679" y="10088"/>
                  </a:lnTo>
                  <a:lnTo>
                    <a:pt x="2172850" y="37787"/>
                  </a:lnTo>
                  <a:lnTo>
                    <a:pt x="2200492" y="78901"/>
                  </a:lnTo>
                  <a:lnTo>
                    <a:pt x="2210409" y="129235"/>
                  </a:lnTo>
                  <a:lnTo>
                    <a:pt x="2200492" y="179740"/>
                  </a:lnTo>
                  <a:lnTo>
                    <a:pt x="2172850" y="220911"/>
                  </a:lnTo>
                  <a:lnTo>
                    <a:pt x="2131679" y="248552"/>
                  </a:lnTo>
                  <a:lnTo>
                    <a:pt x="2081174" y="258470"/>
                  </a:lnTo>
                  <a:close/>
                </a:path>
              </a:pathLst>
            </a:custGeom>
            <a:solidFill>
              <a:srgbClr val="00C886"/>
            </a:solidFill>
          </p:spPr>
          <p:txBody>
            <a:bodyPr wrap="square" lIns="0" tIns="0" rIns="0" bIns="0" rtlCol="0"/>
            <a:lstStyle/>
            <a:p>
              <a:endParaRPr/>
            </a:p>
          </p:txBody>
        </p:sp>
      </p:grpSp>
      <p:sp>
        <p:nvSpPr>
          <p:cNvPr id="19" name="object 19"/>
          <p:cNvSpPr txBox="1"/>
          <p:nvPr/>
        </p:nvSpPr>
        <p:spPr>
          <a:xfrm>
            <a:off x="1504188" y="3065780"/>
            <a:ext cx="1544955" cy="196850"/>
          </a:xfrm>
          <a:prstGeom prst="rect">
            <a:avLst/>
          </a:prstGeom>
        </p:spPr>
        <p:txBody>
          <a:bodyPr vert="horz" wrap="square" lIns="0" tIns="15875" rIns="0" bIns="0" rtlCol="0">
            <a:spAutoFit/>
          </a:bodyPr>
          <a:lstStyle/>
          <a:p>
            <a:pPr marL="38100">
              <a:lnSpc>
                <a:spcPct val="100000"/>
              </a:lnSpc>
              <a:spcBef>
                <a:spcPts val="125"/>
              </a:spcBef>
            </a:pPr>
            <a:r>
              <a:rPr sz="1100" b="1" dirty="0">
                <a:solidFill>
                  <a:srgbClr val="FFFFFF"/>
                </a:solidFill>
                <a:latin typeface="微软雅黑" panose="020B0503020204020204" charset="-122"/>
                <a:cs typeface="微软雅黑" panose="020B0503020204020204" charset="-122"/>
              </a:rPr>
              <a:t>获欧洲药品管理局批准</a:t>
            </a:r>
            <a:r>
              <a:rPr sz="1050" b="1" spc="-75" baseline="24000" dirty="0">
                <a:solidFill>
                  <a:srgbClr val="FFFFFF"/>
                </a:solidFill>
                <a:latin typeface="Times New Roman" panose="02020603050405020304"/>
                <a:cs typeface="Times New Roman" panose="02020603050405020304"/>
              </a:rPr>
              <a:t>2</a:t>
            </a:r>
            <a:endParaRPr sz="1050" baseline="24000">
              <a:latin typeface="Times New Roman" panose="02020603050405020304"/>
              <a:cs typeface="Times New Roman" panose="02020603050405020304"/>
            </a:endParaRPr>
          </a:p>
        </p:txBody>
      </p:sp>
      <p:sp>
        <p:nvSpPr>
          <p:cNvPr id="20" name="object 20"/>
          <p:cNvSpPr txBox="1"/>
          <p:nvPr/>
        </p:nvSpPr>
        <p:spPr>
          <a:xfrm>
            <a:off x="6643623" y="3089655"/>
            <a:ext cx="2113915" cy="196850"/>
          </a:xfrm>
          <a:prstGeom prst="rect">
            <a:avLst/>
          </a:prstGeom>
        </p:spPr>
        <p:txBody>
          <a:bodyPr vert="horz" wrap="square" lIns="0" tIns="15875" rIns="0" bIns="0" rtlCol="0">
            <a:spAutoFit/>
          </a:bodyPr>
          <a:lstStyle/>
          <a:p>
            <a:pPr marL="38100">
              <a:lnSpc>
                <a:spcPct val="100000"/>
              </a:lnSpc>
              <a:spcBef>
                <a:spcPts val="125"/>
              </a:spcBef>
            </a:pPr>
            <a:r>
              <a:rPr sz="1100" b="1" dirty="0">
                <a:solidFill>
                  <a:srgbClr val="FFFFFF"/>
                </a:solidFill>
                <a:latin typeface="微软雅黑" panose="020B0503020204020204" charset="-122"/>
                <a:cs typeface="微软雅黑" panose="020B0503020204020204" charset="-122"/>
              </a:rPr>
              <a:t>获中国国家药品监督管理局批准</a:t>
            </a:r>
            <a:r>
              <a:rPr sz="1050" b="1" spc="-75" baseline="24000" dirty="0">
                <a:solidFill>
                  <a:srgbClr val="FFFFFF"/>
                </a:solidFill>
                <a:latin typeface="Times New Roman" panose="02020603050405020304"/>
                <a:cs typeface="Times New Roman" panose="02020603050405020304"/>
              </a:rPr>
              <a:t>3</a:t>
            </a:r>
            <a:endParaRPr sz="1050" baseline="24000">
              <a:latin typeface="Times New Roman" panose="02020603050405020304"/>
              <a:cs typeface="Times New Roman" panose="02020603050405020304"/>
            </a:endParaRPr>
          </a:p>
        </p:txBody>
      </p:sp>
      <p:sp>
        <p:nvSpPr>
          <p:cNvPr id="28" name="object 28"/>
          <p:cNvSpPr txBox="1"/>
          <p:nvPr/>
        </p:nvSpPr>
        <p:spPr>
          <a:xfrm>
            <a:off x="3943096" y="1427987"/>
            <a:ext cx="5536565" cy="1062990"/>
          </a:xfrm>
          <a:prstGeom prst="rect">
            <a:avLst/>
          </a:prstGeom>
        </p:spPr>
        <p:txBody>
          <a:bodyPr vert="horz" wrap="square" lIns="0" tIns="19685" rIns="0" bIns="0" rtlCol="0">
            <a:spAutoFit/>
          </a:bodyPr>
          <a:lstStyle/>
          <a:p>
            <a:pPr marL="2010410" marR="43180">
              <a:lnSpc>
                <a:spcPts val="1730"/>
              </a:lnSpc>
              <a:spcBef>
                <a:spcPts val="155"/>
              </a:spcBef>
            </a:pPr>
            <a:endParaRPr sz="1450">
              <a:latin typeface="微软雅黑" panose="020B0503020204020204" charset="-122"/>
              <a:cs typeface="微软雅黑" panose="020B0503020204020204" charset="-122"/>
            </a:endParaRPr>
          </a:p>
          <a:p>
            <a:pPr marL="58420">
              <a:lnSpc>
                <a:spcPct val="100000"/>
              </a:lnSpc>
              <a:spcBef>
                <a:spcPts val="1360"/>
              </a:spcBef>
            </a:pPr>
            <a:r>
              <a:rPr sz="1100" b="1" dirty="0">
                <a:solidFill>
                  <a:srgbClr val="FFFFFF"/>
                </a:solidFill>
                <a:latin typeface="微软雅黑" panose="020B0503020204020204" charset="-122"/>
                <a:cs typeface="微软雅黑" panose="020B0503020204020204" charset="-122"/>
              </a:rPr>
              <a:t>获美国食品药品监督管理局批准</a:t>
            </a:r>
            <a:endParaRPr sz="1050" baseline="24000">
              <a:latin typeface="Times New Roman" panose="02020603050405020304"/>
              <a:cs typeface="Times New Roman" panose="02020603050405020304"/>
            </a:endParaRPr>
          </a:p>
          <a:p>
            <a:pPr>
              <a:lnSpc>
                <a:spcPct val="100000"/>
              </a:lnSpc>
              <a:spcBef>
                <a:spcPts val="670"/>
              </a:spcBef>
            </a:pPr>
            <a:endParaRPr sz="1100">
              <a:latin typeface="Times New Roman" panose="02020603050405020304"/>
              <a:cs typeface="Times New Roman" panose="02020603050405020304"/>
            </a:endParaRPr>
          </a:p>
          <a:p>
            <a:pPr marL="38100">
              <a:lnSpc>
                <a:spcPct val="100000"/>
              </a:lnSpc>
              <a:tabLst>
                <a:tab pos="2562860" algn="l"/>
              </a:tabLst>
            </a:pPr>
            <a:r>
              <a:rPr sz="1450" b="1" spc="-10" dirty="0">
                <a:solidFill>
                  <a:srgbClr val="000D45"/>
                </a:solidFill>
                <a:latin typeface="Times New Roman" panose="02020603050405020304"/>
                <a:cs typeface="Times New Roman" panose="02020603050405020304"/>
              </a:rPr>
              <a:t>2025/02</a:t>
            </a:r>
            <a:r>
              <a:rPr sz="1450" b="1" dirty="0">
                <a:solidFill>
                  <a:srgbClr val="000D45"/>
                </a:solidFill>
                <a:latin typeface="Times New Roman" panose="02020603050405020304"/>
                <a:cs typeface="Times New Roman" panose="02020603050405020304"/>
              </a:rPr>
              <a:t>	</a:t>
            </a:r>
            <a:r>
              <a:rPr sz="2175" b="1" spc="-15" baseline="4000" dirty="0">
                <a:solidFill>
                  <a:srgbClr val="000D45"/>
                </a:solidFill>
                <a:latin typeface="Times New Roman" panose="02020603050405020304"/>
                <a:cs typeface="Times New Roman" panose="02020603050405020304"/>
              </a:rPr>
              <a:t>2025/06/30</a:t>
            </a:r>
            <a:endParaRPr sz="2175" baseline="4000">
              <a:latin typeface="Times New Roman" panose="02020603050405020304"/>
              <a:cs typeface="Times New Roman" panose="02020603050405020304"/>
            </a:endParaRPr>
          </a:p>
        </p:txBody>
      </p:sp>
      <p:graphicFrame>
        <p:nvGraphicFramePr>
          <p:cNvPr id="29" name="object 29"/>
          <p:cNvGraphicFramePr>
            <a:graphicFrameLocks noGrp="1"/>
          </p:cNvGraphicFramePr>
          <p:nvPr/>
        </p:nvGraphicFramePr>
        <p:xfrm>
          <a:off x="1724639" y="3657610"/>
          <a:ext cx="7838440" cy="1426209"/>
        </p:xfrm>
        <a:graphic>
          <a:graphicData uri="http://schemas.openxmlformats.org/drawingml/2006/table">
            <a:tbl>
              <a:tblPr firstRow="1" bandRow="1">
                <a:tableStyleId>{2D5ABB26-0587-4C30-8999-92F81FD0307C}</a:tableStyleId>
              </a:tblPr>
              <a:tblGrid>
                <a:gridCol w="3629660">
                  <a:extLst>
                    <a:ext uri="{9D8B030D-6E8A-4147-A177-3AD203B41FA5}">
                      <a16:colId xmlns:a16="http://schemas.microsoft.com/office/drawing/2014/main" val="20000"/>
                    </a:ext>
                  </a:extLst>
                </a:gridCol>
                <a:gridCol w="4208780">
                  <a:extLst>
                    <a:ext uri="{9D8B030D-6E8A-4147-A177-3AD203B41FA5}">
                      <a16:colId xmlns:a16="http://schemas.microsoft.com/office/drawing/2014/main" val="20001"/>
                    </a:ext>
                  </a:extLst>
                </a:gridCol>
              </a:tblGrid>
              <a:tr h="417830">
                <a:tc>
                  <a:txBody>
                    <a:bodyPr/>
                    <a:lstStyle/>
                    <a:p>
                      <a:pPr algn="ctr">
                        <a:lnSpc>
                          <a:spcPct val="100000"/>
                        </a:lnSpc>
                        <a:spcBef>
                          <a:spcPts val="275"/>
                        </a:spcBef>
                      </a:pPr>
                      <a:r>
                        <a:rPr sz="1100" b="1" dirty="0">
                          <a:solidFill>
                            <a:srgbClr val="FFFFFF"/>
                          </a:solidFill>
                          <a:latin typeface="微软雅黑" panose="020B0503020204020204" charset="-122"/>
                          <a:cs typeface="微软雅黑" panose="020B0503020204020204" charset="-122"/>
                        </a:rPr>
                        <a:t>中国适应症</a:t>
                      </a:r>
                      <a:r>
                        <a:rPr sz="1050" b="1" spc="-75" baseline="24000" dirty="0">
                          <a:solidFill>
                            <a:srgbClr val="FFFFFF"/>
                          </a:solidFill>
                          <a:latin typeface="Segoe Print" panose="02000600000000000000"/>
                          <a:cs typeface="Segoe Print" panose="02000600000000000000"/>
                        </a:rPr>
                        <a:t>3</a:t>
                      </a:r>
                      <a:endParaRPr sz="1050" baseline="24000">
                        <a:latin typeface="Segoe Print" panose="02000600000000000000"/>
                        <a:cs typeface="Segoe Print" panose="02000600000000000000"/>
                      </a:endParaRPr>
                    </a:p>
                    <a:p>
                      <a:pPr algn="ctr">
                        <a:lnSpc>
                          <a:spcPct val="100000"/>
                        </a:lnSpc>
                        <a:spcBef>
                          <a:spcPts val="25"/>
                        </a:spcBef>
                      </a:pPr>
                      <a:r>
                        <a:rPr sz="950" b="1" dirty="0">
                          <a:solidFill>
                            <a:srgbClr val="FFFFFF"/>
                          </a:solidFill>
                          <a:latin typeface="微软雅黑" panose="020B0503020204020204" charset="-122"/>
                          <a:cs typeface="微软雅黑" panose="020B0503020204020204" charset="-122"/>
                        </a:rPr>
                        <a:t>（</a:t>
                      </a:r>
                      <a:r>
                        <a:rPr sz="950" b="1" dirty="0">
                          <a:solidFill>
                            <a:srgbClr val="FFFFFF"/>
                          </a:solidFill>
                          <a:latin typeface="Segoe Print" panose="02000600000000000000"/>
                          <a:cs typeface="Segoe Print" panose="02000600000000000000"/>
                        </a:rPr>
                        <a:t>18</a:t>
                      </a:r>
                      <a:r>
                        <a:rPr sz="950" b="1" dirty="0">
                          <a:solidFill>
                            <a:srgbClr val="FFFFFF"/>
                          </a:solidFill>
                          <a:latin typeface="微软雅黑" panose="020B0503020204020204" charset="-122"/>
                          <a:cs typeface="微软雅黑" panose="020B0503020204020204" charset="-122"/>
                        </a:rPr>
                        <a:t>岁及以上患者治疗药物选择有限或无替代治疗</a:t>
                      </a:r>
                      <a:r>
                        <a:rPr sz="950" b="1" spc="-50" dirty="0">
                          <a:solidFill>
                            <a:srgbClr val="FFFFFF"/>
                          </a:solidFill>
                          <a:latin typeface="微软雅黑" panose="020B0503020204020204" charset="-122"/>
                          <a:cs typeface="微软雅黑" panose="020B0503020204020204" charset="-122"/>
                        </a:rPr>
                        <a:t>）</a:t>
                      </a:r>
                      <a:endParaRPr sz="950">
                        <a:latin typeface="微软雅黑" panose="020B0503020204020204" charset="-122"/>
                        <a:cs typeface="微软雅黑" panose="020B0503020204020204" charset="-122"/>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solidFill>
                      <a:srgbClr val="000D45"/>
                    </a:solidFill>
                  </a:tcPr>
                </a:tc>
                <a:tc>
                  <a:txBody>
                    <a:bodyPr/>
                    <a:lstStyle/>
                    <a:p>
                      <a:pPr algn="ctr">
                        <a:lnSpc>
                          <a:spcPct val="100000"/>
                        </a:lnSpc>
                        <a:spcBef>
                          <a:spcPts val="850"/>
                        </a:spcBef>
                      </a:pPr>
                      <a:r>
                        <a:rPr sz="1100" b="1" dirty="0">
                          <a:solidFill>
                            <a:srgbClr val="FFFFFF"/>
                          </a:solidFill>
                          <a:latin typeface="微软雅黑" panose="020B0503020204020204" charset="-122"/>
                          <a:cs typeface="微软雅黑" panose="020B0503020204020204" charset="-122"/>
                        </a:rPr>
                        <a:t>敏感菌</a:t>
                      </a:r>
                      <a:r>
                        <a:rPr sz="1050" b="1" spc="-75" baseline="24000" dirty="0">
                          <a:solidFill>
                            <a:srgbClr val="FFFFFF"/>
                          </a:solidFill>
                          <a:latin typeface="Segoe Print" panose="02000600000000000000"/>
                          <a:cs typeface="Segoe Print" panose="02000600000000000000"/>
                        </a:rPr>
                        <a:t>3</a:t>
                      </a:r>
                      <a:endParaRPr sz="1050" baseline="24000">
                        <a:latin typeface="Segoe Print" panose="02000600000000000000"/>
                        <a:cs typeface="Segoe Print" panose="02000600000000000000"/>
                      </a:endParaRPr>
                    </a:p>
                  </a:txBody>
                  <a:tcPr marL="0" marR="0" marT="107950" marB="0">
                    <a:lnL w="12700">
                      <a:solidFill>
                        <a:srgbClr val="FFFFFF"/>
                      </a:solidFill>
                      <a:prstDash val="solid"/>
                    </a:lnL>
                    <a:lnR w="12700">
                      <a:solidFill>
                        <a:srgbClr val="FFFFFF"/>
                      </a:solidFill>
                      <a:prstDash val="solid"/>
                    </a:lnR>
                    <a:lnT w="12700">
                      <a:solidFill>
                        <a:srgbClr val="FFFFFF"/>
                      </a:solidFill>
                      <a:prstDash val="solid"/>
                    </a:lnT>
                    <a:solidFill>
                      <a:srgbClr val="000D45"/>
                    </a:solidFill>
                  </a:tcPr>
                </a:tc>
                <a:extLst>
                  <a:ext uri="{0D108BD9-81ED-4DB2-BD59-A6C34878D82A}">
                    <a16:rowId xmlns:a16="http://schemas.microsoft.com/office/drawing/2014/main" val="10000"/>
                  </a:ext>
                </a:extLst>
              </a:tr>
              <a:tr h="496570">
                <a:tc>
                  <a:txBody>
                    <a:bodyPr/>
                    <a:lstStyle/>
                    <a:p>
                      <a:pPr>
                        <a:lnSpc>
                          <a:spcPct val="100000"/>
                        </a:lnSpc>
                        <a:spcBef>
                          <a:spcPts val="175"/>
                        </a:spcBef>
                      </a:pPr>
                      <a:endParaRPr sz="1100">
                        <a:latin typeface="Times New Roman" panose="02020603050405020304"/>
                        <a:cs typeface="Times New Roman" panose="02020603050405020304"/>
                      </a:endParaRPr>
                    </a:p>
                    <a:p>
                      <a:pPr marL="301625" indent="-228600">
                        <a:lnSpc>
                          <a:spcPct val="100000"/>
                        </a:lnSpc>
                        <a:spcBef>
                          <a:spcPts val="5"/>
                        </a:spcBef>
                        <a:buFont typeface="Arial MT"/>
                        <a:buChar char="•"/>
                        <a:tabLst>
                          <a:tab pos="301625" algn="l"/>
                        </a:tabLst>
                      </a:pPr>
                      <a:r>
                        <a:rPr sz="1100" b="1" dirty="0">
                          <a:solidFill>
                            <a:srgbClr val="252525"/>
                          </a:solidFill>
                          <a:latin typeface="微软雅黑" panose="020B0503020204020204" charset="-122"/>
                          <a:cs typeface="微软雅黑" panose="020B0503020204020204" charset="-122"/>
                        </a:rPr>
                        <a:t>复杂性腹腔内感染（联合甲硝唑</a:t>
                      </a:r>
                      <a:r>
                        <a:rPr sz="1100" b="1" spc="-50" dirty="0">
                          <a:solidFill>
                            <a:srgbClr val="252525"/>
                          </a:solidFill>
                          <a:latin typeface="微软雅黑" panose="020B0503020204020204" charset="-122"/>
                          <a:cs typeface="微软雅黑" panose="020B0503020204020204" charset="-122"/>
                        </a:rPr>
                        <a:t>）</a:t>
                      </a:r>
                      <a:endParaRPr sz="1100">
                        <a:latin typeface="微软雅黑" panose="020B0503020204020204" charset="-122"/>
                        <a:cs typeface="微软雅黑" panose="020B0503020204020204" charset="-122"/>
                      </a:endParaRPr>
                    </a:p>
                  </a:txBody>
                  <a:tcPr marL="0" marR="0" marT="22225" marB="0">
                    <a:lnL w="12700">
                      <a:solidFill>
                        <a:srgbClr val="FFFFFF"/>
                      </a:solidFill>
                      <a:prstDash val="solid"/>
                    </a:lnL>
                    <a:lnR w="12700">
                      <a:solidFill>
                        <a:srgbClr val="FFFFFF"/>
                      </a:solidFill>
                      <a:prstDash val="solid"/>
                    </a:lnR>
                    <a:lnB w="12700">
                      <a:solidFill>
                        <a:srgbClr val="FFFFFF"/>
                      </a:solidFill>
                      <a:prstDash val="solid"/>
                    </a:lnB>
                    <a:solidFill>
                      <a:srgbClr val="F1F1F1"/>
                    </a:solidFill>
                  </a:tcPr>
                </a:tc>
                <a:tc>
                  <a:txBody>
                    <a:bodyPr/>
                    <a:lstStyle/>
                    <a:p>
                      <a:pPr marL="301625" marR="119380" indent="-228600">
                        <a:lnSpc>
                          <a:spcPct val="152000"/>
                        </a:lnSpc>
                        <a:spcBef>
                          <a:spcPts val="50"/>
                        </a:spcBef>
                        <a:buFont typeface="Arial MT"/>
                        <a:buChar char="•"/>
                        <a:tabLst>
                          <a:tab pos="301625" algn="l"/>
                        </a:tabLst>
                      </a:pPr>
                      <a:r>
                        <a:rPr sz="950" spc="-5" dirty="0">
                          <a:solidFill>
                            <a:srgbClr val="252525"/>
                          </a:solidFill>
                          <a:latin typeface="微软雅黑" panose="020B0503020204020204" charset="-122"/>
                          <a:cs typeface="微软雅黑" panose="020B0503020204020204" charset="-122"/>
                        </a:rPr>
                        <a:t>大肠埃希菌、肺炎克雷伯菌、产酸克雷伯菌、阴沟肠杆菌复合群、弗劳地枸橼酸杆菌复合群、粘质沙雷菌和奇异变形杆菌</a:t>
                      </a:r>
                      <a:endParaRPr sz="950">
                        <a:latin typeface="微软雅黑" panose="020B0503020204020204" charset="-122"/>
                        <a:cs typeface="微软雅黑" panose="020B0503020204020204" charset="-122"/>
                      </a:endParaRPr>
                    </a:p>
                  </a:txBody>
                  <a:tcPr marL="0" marR="0" marT="6350" marB="0">
                    <a:lnL w="12700">
                      <a:solidFill>
                        <a:srgbClr val="FFFFFF"/>
                      </a:solidFill>
                      <a:prstDash val="solid"/>
                    </a:lnL>
                    <a:lnR w="12700">
                      <a:solidFill>
                        <a:srgbClr val="FFFFFF"/>
                      </a:solidFill>
                      <a:prstDash val="solid"/>
                    </a:lnR>
                    <a:lnB w="12700">
                      <a:solidFill>
                        <a:srgbClr val="FFFFFF"/>
                      </a:solidFill>
                      <a:prstDash val="solid"/>
                    </a:lnB>
                    <a:solidFill>
                      <a:srgbClr val="F1F1F1"/>
                    </a:solidFill>
                  </a:tcPr>
                </a:tc>
                <a:extLst>
                  <a:ext uri="{0D108BD9-81ED-4DB2-BD59-A6C34878D82A}">
                    <a16:rowId xmlns:a16="http://schemas.microsoft.com/office/drawing/2014/main" val="10001"/>
                  </a:ext>
                </a:extLst>
              </a:tr>
              <a:tr h="511809">
                <a:tc>
                  <a:txBody>
                    <a:bodyPr/>
                    <a:lstStyle/>
                    <a:p>
                      <a:pPr>
                        <a:lnSpc>
                          <a:spcPct val="100000"/>
                        </a:lnSpc>
                        <a:spcBef>
                          <a:spcPts val="295"/>
                        </a:spcBef>
                      </a:pPr>
                      <a:endParaRPr sz="1100">
                        <a:latin typeface="Times New Roman" panose="02020603050405020304"/>
                        <a:cs typeface="Times New Roman" panose="02020603050405020304"/>
                      </a:endParaRPr>
                    </a:p>
                    <a:p>
                      <a:pPr marL="301625" indent="-228600">
                        <a:lnSpc>
                          <a:spcPct val="100000"/>
                        </a:lnSpc>
                        <a:spcBef>
                          <a:spcPts val="5"/>
                        </a:spcBef>
                        <a:buFont typeface="Arial MT"/>
                        <a:buChar char="•"/>
                        <a:tabLst>
                          <a:tab pos="301625" algn="l"/>
                        </a:tabLst>
                      </a:pPr>
                      <a:r>
                        <a:rPr sz="1100" b="1" spc="-5" dirty="0">
                          <a:solidFill>
                            <a:srgbClr val="252525"/>
                          </a:solidFill>
                          <a:latin typeface="微软雅黑" panose="020B0503020204020204" charset="-122"/>
                          <a:cs typeface="微软雅黑" panose="020B0503020204020204" charset="-122"/>
                        </a:rPr>
                        <a:t>医院获得性肺炎，包括呼吸机相关性肺炎</a:t>
                      </a:r>
                      <a:endParaRPr sz="1100">
                        <a:latin typeface="微软雅黑" panose="020B0503020204020204" charset="-122"/>
                        <a:cs typeface="微软雅黑" panose="020B0503020204020204" charset="-122"/>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301625" marR="119380" indent="-228600">
                        <a:lnSpc>
                          <a:spcPct val="152000"/>
                        </a:lnSpc>
                        <a:spcBef>
                          <a:spcPts val="170"/>
                        </a:spcBef>
                        <a:buFont typeface="Arial MT"/>
                        <a:buChar char="•"/>
                        <a:tabLst>
                          <a:tab pos="301625" algn="l"/>
                        </a:tabLst>
                      </a:pPr>
                      <a:r>
                        <a:rPr sz="950" spc="-5" dirty="0">
                          <a:solidFill>
                            <a:srgbClr val="252525"/>
                          </a:solidFill>
                          <a:latin typeface="微软雅黑" panose="020B0503020204020204" charset="-122"/>
                          <a:cs typeface="微软雅黑" panose="020B0503020204020204" charset="-122"/>
                        </a:rPr>
                        <a:t>肺炎克雷伯菌、阴沟肠杆菌复合群、大肠埃希菌、粘质沙雷菌、产酸克雷伯菌、嗜麦芽窄食单胞菌、奇异变形杆菌、摩氏摩根菌</a:t>
                      </a:r>
                      <a:endParaRPr sz="950">
                        <a:latin typeface="微软雅黑" panose="020B0503020204020204" charset="-122"/>
                        <a:cs typeface="微软雅黑" panose="020B0503020204020204" charset="-122"/>
                      </a:endParaRPr>
                    </a:p>
                  </a:txBody>
                  <a:tcPr marL="0" marR="0" marT="215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extLst>
                  <a:ext uri="{0D108BD9-81ED-4DB2-BD59-A6C34878D82A}">
                    <a16:rowId xmlns:a16="http://schemas.microsoft.com/office/drawing/2014/main" val="10002"/>
                  </a:ext>
                </a:extLst>
              </a:tr>
            </a:tbl>
          </a:graphicData>
        </a:graphic>
      </p:graphicFrame>
      <p:grpSp>
        <p:nvGrpSpPr>
          <p:cNvPr id="30" name="object 30"/>
          <p:cNvGrpSpPr/>
          <p:nvPr/>
        </p:nvGrpSpPr>
        <p:grpSpPr>
          <a:xfrm>
            <a:off x="121920" y="121919"/>
            <a:ext cx="9763760" cy="5496560"/>
            <a:chOff x="121920" y="121919"/>
            <a:chExt cx="9763760" cy="5496560"/>
          </a:xfrm>
        </p:grpSpPr>
        <p:sp>
          <p:nvSpPr>
            <p:cNvPr id="31" name="object 31"/>
            <p:cNvSpPr/>
            <p:nvPr/>
          </p:nvSpPr>
          <p:spPr>
            <a:xfrm>
              <a:off x="976375" y="2173846"/>
              <a:ext cx="310515" cy="156210"/>
            </a:xfrm>
            <a:custGeom>
              <a:avLst/>
              <a:gdLst/>
              <a:ahLst/>
              <a:cxnLst/>
              <a:rect l="l" t="t" r="r" b="b"/>
              <a:pathLst>
                <a:path w="310515" h="156210">
                  <a:moveTo>
                    <a:pt x="279368" y="156154"/>
                  </a:moveTo>
                  <a:lnTo>
                    <a:pt x="269433" y="151726"/>
                  </a:lnTo>
                  <a:lnTo>
                    <a:pt x="155326" y="67622"/>
                  </a:lnTo>
                  <a:lnTo>
                    <a:pt x="41208" y="151726"/>
                  </a:lnTo>
                  <a:lnTo>
                    <a:pt x="4206" y="142328"/>
                  </a:lnTo>
                  <a:lnTo>
                    <a:pt x="0" y="131376"/>
                  </a:lnTo>
                  <a:lnTo>
                    <a:pt x="0" y="125717"/>
                  </a:lnTo>
                  <a:lnTo>
                    <a:pt x="140919" y="4884"/>
                  </a:lnTo>
                  <a:lnTo>
                    <a:pt x="155346" y="0"/>
                  </a:lnTo>
                  <a:lnTo>
                    <a:pt x="162790" y="1221"/>
                  </a:lnTo>
                  <a:lnTo>
                    <a:pt x="298297" y="99595"/>
                  </a:lnTo>
                  <a:lnTo>
                    <a:pt x="310321" y="130871"/>
                  </a:lnTo>
                  <a:lnTo>
                    <a:pt x="306486" y="142328"/>
                  </a:lnTo>
                  <a:lnTo>
                    <a:pt x="299088" y="151142"/>
                  </a:lnTo>
                  <a:lnTo>
                    <a:pt x="289651" y="155855"/>
                  </a:lnTo>
                  <a:lnTo>
                    <a:pt x="279368" y="156154"/>
                  </a:lnTo>
                  <a:close/>
                </a:path>
              </a:pathLst>
            </a:custGeom>
            <a:solidFill>
              <a:srgbClr val="000D45"/>
            </a:solidFill>
          </p:spPr>
          <p:txBody>
            <a:bodyPr wrap="square" lIns="0" tIns="0" rIns="0" bIns="0" rtlCol="0"/>
            <a:lstStyle/>
            <a:p>
              <a:endParaRPr/>
            </a:p>
          </p:txBody>
        </p:sp>
        <p:sp>
          <p:nvSpPr>
            <p:cNvPr id="32" name="object 32"/>
            <p:cNvSpPr/>
            <p:nvPr/>
          </p:nvSpPr>
          <p:spPr>
            <a:xfrm>
              <a:off x="976375" y="2061568"/>
              <a:ext cx="310515" cy="156210"/>
            </a:xfrm>
            <a:custGeom>
              <a:avLst/>
              <a:gdLst/>
              <a:ahLst/>
              <a:cxnLst/>
              <a:rect l="l" t="t" r="r" b="b"/>
              <a:pathLst>
                <a:path w="310515" h="156210">
                  <a:moveTo>
                    <a:pt x="279368" y="156154"/>
                  </a:moveTo>
                  <a:lnTo>
                    <a:pt x="269433" y="151726"/>
                  </a:lnTo>
                  <a:lnTo>
                    <a:pt x="155326" y="67622"/>
                  </a:lnTo>
                  <a:lnTo>
                    <a:pt x="41208" y="151726"/>
                  </a:lnTo>
                  <a:lnTo>
                    <a:pt x="31279" y="156154"/>
                  </a:lnTo>
                  <a:lnTo>
                    <a:pt x="21012" y="155855"/>
                  </a:lnTo>
                  <a:lnTo>
                    <a:pt x="11592" y="151142"/>
                  </a:lnTo>
                  <a:lnTo>
                    <a:pt x="4206" y="142328"/>
                  </a:lnTo>
                  <a:lnTo>
                    <a:pt x="1361" y="137126"/>
                  </a:lnTo>
                  <a:lnTo>
                    <a:pt x="0" y="131376"/>
                  </a:lnTo>
                  <a:lnTo>
                    <a:pt x="0" y="125717"/>
                  </a:lnTo>
                  <a:lnTo>
                    <a:pt x="140919" y="4884"/>
                  </a:lnTo>
                  <a:lnTo>
                    <a:pt x="155346" y="0"/>
                  </a:lnTo>
                  <a:lnTo>
                    <a:pt x="162790" y="1221"/>
                  </a:lnTo>
                  <a:lnTo>
                    <a:pt x="298297" y="99595"/>
                  </a:lnTo>
                  <a:lnTo>
                    <a:pt x="310321" y="130871"/>
                  </a:lnTo>
                  <a:lnTo>
                    <a:pt x="306486" y="142328"/>
                  </a:lnTo>
                  <a:lnTo>
                    <a:pt x="299088" y="151142"/>
                  </a:lnTo>
                  <a:lnTo>
                    <a:pt x="289651" y="155855"/>
                  </a:lnTo>
                  <a:lnTo>
                    <a:pt x="279368" y="156154"/>
                  </a:lnTo>
                  <a:close/>
                </a:path>
              </a:pathLst>
            </a:custGeom>
            <a:solidFill>
              <a:srgbClr val="00C280"/>
            </a:solidFill>
          </p:spPr>
          <p:txBody>
            <a:bodyPr wrap="square" lIns="0" tIns="0" rIns="0" bIns="0" rtlCol="0"/>
            <a:lstStyle/>
            <a:p>
              <a:endParaRPr/>
            </a:p>
          </p:txBody>
        </p:sp>
        <p:sp>
          <p:nvSpPr>
            <p:cNvPr id="33" name="object 33"/>
            <p:cNvSpPr/>
            <p:nvPr/>
          </p:nvSpPr>
          <p:spPr>
            <a:xfrm>
              <a:off x="5568891" y="1326895"/>
              <a:ext cx="156210" cy="310515"/>
            </a:xfrm>
            <a:custGeom>
              <a:avLst/>
              <a:gdLst/>
              <a:ahLst/>
              <a:cxnLst/>
              <a:rect l="l" t="t" r="r" b="b"/>
              <a:pathLst>
                <a:path w="156210" h="310514">
                  <a:moveTo>
                    <a:pt x="25283" y="310321"/>
                  </a:moveTo>
                  <a:lnTo>
                    <a:pt x="13826" y="306486"/>
                  </a:lnTo>
                  <a:lnTo>
                    <a:pt x="5012" y="299088"/>
                  </a:lnTo>
                  <a:lnTo>
                    <a:pt x="299" y="289651"/>
                  </a:lnTo>
                  <a:lnTo>
                    <a:pt x="0" y="279368"/>
                  </a:lnTo>
                  <a:lnTo>
                    <a:pt x="4428" y="269433"/>
                  </a:lnTo>
                  <a:lnTo>
                    <a:pt x="88532" y="155326"/>
                  </a:lnTo>
                  <a:lnTo>
                    <a:pt x="4428" y="41208"/>
                  </a:lnTo>
                  <a:lnTo>
                    <a:pt x="0" y="31279"/>
                  </a:lnTo>
                  <a:lnTo>
                    <a:pt x="299" y="21012"/>
                  </a:lnTo>
                  <a:lnTo>
                    <a:pt x="5012" y="11592"/>
                  </a:lnTo>
                  <a:lnTo>
                    <a:pt x="13826" y="4206"/>
                  </a:lnTo>
                  <a:lnTo>
                    <a:pt x="19027" y="1361"/>
                  </a:lnTo>
                  <a:lnTo>
                    <a:pt x="24778" y="0"/>
                  </a:lnTo>
                  <a:lnTo>
                    <a:pt x="30437" y="0"/>
                  </a:lnTo>
                  <a:lnTo>
                    <a:pt x="151270" y="140919"/>
                  </a:lnTo>
                  <a:lnTo>
                    <a:pt x="156154" y="155346"/>
                  </a:lnTo>
                  <a:lnTo>
                    <a:pt x="154933" y="162790"/>
                  </a:lnTo>
                  <a:lnTo>
                    <a:pt x="151270" y="169773"/>
                  </a:lnTo>
                  <a:lnTo>
                    <a:pt x="56558" y="298297"/>
                  </a:lnTo>
                  <a:lnTo>
                    <a:pt x="48027" y="305960"/>
                  </a:lnTo>
                  <a:lnTo>
                    <a:pt x="37143" y="310057"/>
                  </a:lnTo>
                  <a:lnTo>
                    <a:pt x="25283" y="310321"/>
                  </a:lnTo>
                  <a:close/>
                </a:path>
              </a:pathLst>
            </a:custGeom>
            <a:solidFill>
              <a:srgbClr val="000D45"/>
            </a:solidFill>
          </p:spPr>
          <p:txBody>
            <a:bodyPr wrap="square" lIns="0" tIns="0" rIns="0" bIns="0" rtlCol="0"/>
            <a:lstStyle/>
            <a:p>
              <a:endParaRPr/>
            </a:p>
          </p:txBody>
        </p:sp>
        <p:sp>
          <p:nvSpPr>
            <p:cNvPr id="34" name="object 34"/>
            <p:cNvSpPr/>
            <p:nvPr/>
          </p:nvSpPr>
          <p:spPr>
            <a:xfrm>
              <a:off x="5681169" y="1326895"/>
              <a:ext cx="156210" cy="310515"/>
            </a:xfrm>
            <a:custGeom>
              <a:avLst/>
              <a:gdLst/>
              <a:ahLst/>
              <a:cxnLst/>
              <a:rect l="l" t="t" r="r" b="b"/>
              <a:pathLst>
                <a:path w="156210" h="310514">
                  <a:moveTo>
                    <a:pt x="25283" y="310321"/>
                  </a:moveTo>
                  <a:lnTo>
                    <a:pt x="13826" y="306486"/>
                  </a:lnTo>
                  <a:lnTo>
                    <a:pt x="5012" y="299088"/>
                  </a:lnTo>
                  <a:lnTo>
                    <a:pt x="299" y="289651"/>
                  </a:lnTo>
                  <a:lnTo>
                    <a:pt x="0" y="279368"/>
                  </a:lnTo>
                  <a:lnTo>
                    <a:pt x="4428" y="269433"/>
                  </a:lnTo>
                  <a:lnTo>
                    <a:pt x="88532" y="155326"/>
                  </a:lnTo>
                  <a:lnTo>
                    <a:pt x="4428" y="41208"/>
                  </a:lnTo>
                  <a:lnTo>
                    <a:pt x="0" y="31279"/>
                  </a:lnTo>
                  <a:lnTo>
                    <a:pt x="299" y="21012"/>
                  </a:lnTo>
                  <a:lnTo>
                    <a:pt x="5012" y="11592"/>
                  </a:lnTo>
                  <a:lnTo>
                    <a:pt x="13826" y="4206"/>
                  </a:lnTo>
                  <a:lnTo>
                    <a:pt x="19027" y="1361"/>
                  </a:lnTo>
                  <a:lnTo>
                    <a:pt x="24778" y="0"/>
                  </a:lnTo>
                  <a:lnTo>
                    <a:pt x="30437" y="0"/>
                  </a:lnTo>
                  <a:lnTo>
                    <a:pt x="151270" y="140919"/>
                  </a:lnTo>
                  <a:lnTo>
                    <a:pt x="156154" y="155346"/>
                  </a:lnTo>
                  <a:lnTo>
                    <a:pt x="154933" y="162790"/>
                  </a:lnTo>
                  <a:lnTo>
                    <a:pt x="151270" y="169773"/>
                  </a:lnTo>
                  <a:lnTo>
                    <a:pt x="56558" y="298297"/>
                  </a:lnTo>
                  <a:lnTo>
                    <a:pt x="48027" y="305960"/>
                  </a:lnTo>
                  <a:lnTo>
                    <a:pt x="37143" y="310057"/>
                  </a:lnTo>
                  <a:lnTo>
                    <a:pt x="25283" y="310321"/>
                  </a:lnTo>
                  <a:close/>
                </a:path>
              </a:pathLst>
            </a:custGeom>
            <a:solidFill>
              <a:srgbClr val="00C280"/>
            </a:solidFill>
          </p:spPr>
          <p:txBody>
            <a:bodyPr wrap="square" lIns="0" tIns="0" rIns="0" bIns="0" rtlCol="0"/>
            <a:lstStyle/>
            <a:p>
              <a:endParaRPr/>
            </a:p>
          </p:txBody>
        </p:sp>
        <p:sp>
          <p:nvSpPr>
            <p:cNvPr id="35" name="object 35"/>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36" name="object 36"/>
            <p:cNvSpPr/>
            <p:nvPr/>
          </p:nvSpPr>
          <p:spPr>
            <a:xfrm>
              <a:off x="5557520" y="3031489"/>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12700">
              <a:solidFill>
                <a:srgbClr val="DF5F5F"/>
              </a:solidFill>
              <a:prstDash val="dot"/>
            </a:ln>
          </p:spPr>
          <p:txBody>
            <a:bodyPr wrap="square" lIns="0" tIns="0" rIns="0" bIns="0" rtlCol="0"/>
            <a:lstStyle/>
            <a:p>
              <a:endParaRPr/>
            </a:p>
          </p:txBody>
        </p:sp>
      </p:grpSp>
      <p:sp>
        <p:nvSpPr>
          <p:cNvPr id="37" name="object 37"/>
          <p:cNvSpPr txBox="1"/>
          <p:nvPr/>
        </p:nvSpPr>
        <p:spPr>
          <a:xfrm>
            <a:off x="5871210" y="2903855"/>
            <a:ext cx="67945" cy="116839"/>
          </a:xfrm>
          <a:prstGeom prst="rect">
            <a:avLst/>
          </a:prstGeom>
        </p:spPr>
        <p:txBody>
          <a:bodyPr vert="horz" wrap="square" lIns="0" tIns="12700" rIns="0" bIns="0" rtlCol="0">
            <a:spAutoFit/>
          </a:bodyPr>
          <a:lstStyle/>
          <a:p>
            <a:pPr marL="12700">
              <a:lnSpc>
                <a:spcPct val="100000"/>
              </a:lnSpc>
              <a:spcBef>
                <a:spcPts val="100"/>
              </a:spcBef>
            </a:pPr>
            <a:r>
              <a:rPr sz="600" spc="-50" dirty="0">
                <a:solidFill>
                  <a:srgbClr val="FF0000"/>
                </a:solidFill>
                <a:latin typeface="Arial MT"/>
                <a:cs typeface="Arial MT"/>
              </a:rPr>
              <a:t>1</a:t>
            </a:r>
            <a:endParaRPr sz="600">
              <a:latin typeface="Arial MT"/>
              <a:cs typeface="Arial MT"/>
            </a:endParaRPr>
          </a:p>
        </p:txBody>
      </p:sp>
      <p:grpSp>
        <p:nvGrpSpPr>
          <p:cNvPr id="38" name="object 38"/>
          <p:cNvGrpSpPr/>
          <p:nvPr/>
        </p:nvGrpSpPr>
        <p:grpSpPr>
          <a:xfrm>
            <a:off x="1851532" y="5614034"/>
            <a:ext cx="691515" cy="12700"/>
            <a:chOff x="1851532" y="5614034"/>
            <a:chExt cx="691515" cy="12700"/>
          </a:xfrm>
        </p:grpSpPr>
        <p:sp>
          <p:nvSpPr>
            <p:cNvPr id="39" name="object 39"/>
            <p:cNvSpPr/>
            <p:nvPr/>
          </p:nvSpPr>
          <p:spPr>
            <a:xfrm>
              <a:off x="1851533" y="5614034"/>
              <a:ext cx="528955" cy="12700"/>
            </a:xfrm>
            <a:custGeom>
              <a:avLst/>
              <a:gdLst/>
              <a:ahLst/>
              <a:cxnLst/>
              <a:rect l="l" t="t" r="r" b="b"/>
              <a:pathLst>
                <a:path w="528955" h="12700">
                  <a:moveTo>
                    <a:pt x="528574" y="0"/>
                  </a:moveTo>
                  <a:lnTo>
                    <a:pt x="528320" y="0"/>
                  </a:lnTo>
                  <a:lnTo>
                    <a:pt x="244094" y="0"/>
                  </a:lnTo>
                  <a:lnTo>
                    <a:pt x="243840" y="0"/>
                  </a:lnTo>
                  <a:lnTo>
                    <a:pt x="0" y="0"/>
                  </a:lnTo>
                  <a:lnTo>
                    <a:pt x="0" y="12700"/>
                  </a:lnTo>
                  <a:lnTo>
                    <a:pt x="243840" y="12700"/>
                  </a:lnTo>
                  <a:lnTo>
                    <a:pt x="244094" y="12700"/>
                  </a:lnTo>
                  <a:lnTo>
                    <a:pt x="528320" y="12700"/>
                  </a:lnTo>
                  <a:lnTo>
                    <a:pt x="528574" y="12700"/>
                  </a:lnTo>
                  <a:lnTo>
                    <a:pt x="528574" y="0"/>
                  </a:lnTo>
                  <a:close/>
                </a:path>
              </a:pathLst>
            </a:custGeom>
            <a:solidFill>
              <a:srgbClr val="FF0000"/>
            </a:solidFill>
          </p:spPr>
          <p:txBody>
            <a:bodyPr wrap="square" lIns="0" tIns="0" rIns="0" bIns="0" rtlCol="0"/>
            <a:lstStyle/>
            <a:p>
              <a:endParaRPr/>
            </a:p>
          </p:txBody>
        </p:sp>
        <p:sp>
          <p:nvSpPr>
            <p:cNvPr id="40" name="object 40"/>
            <p:cNvSpPr/>
            <p:nvPr/>
          </p:nvSpPr>
          <p:spPr>
            <a:xfrm>
              <a:off x="1851532" y="5620384"/>
              <a:ext cx="691515" cy="0"/>
            </a:xfrm>
            <a:custGeom>
              <a:avLst/>
              <a:gdLst/>
              <a:ahLst/>
              <a:cxnLst/>
              <a:rect l="l" t="t" r="r" b="b"/>
              <a:pathLst>
                <a:path w="691514">
                  <a:moveTo>
                    <a:pt x="0" y="0"/>
                  </a:moveTo>
                  <a:lnTo>
                    <a:pt x="691388" y="0"/>
                  </a:lnTo>
                </a:path>
              </a:pathLst>
            </a:custGeom>
            <a:ln w="12700">
              <a:solidFill>
                <a:srgbClr val="FF0000"/>
              </a:solidFill>
            </a:ln>
          </p:spPr>
          <p:txBody>
            <a:bodyPr wrap="square" lIns="0" tIns="0" rIns="0" bIns="0" rtlCol="0"/>
            <a:lstStyle/>
            <a:p>
              <a:endParaRPr/>
            </a:p>
          </p:txBody>
        </p:sp>
      </p:grpSp>
      <p:sp>
        <p:nvSpPr>
          <p:cNvPr id="41" name="object 41"/>
          <p:cNvSpPr txBox="1"/>
          <p:nvPr/>
        </p:nvSpPr>
        <p:spPr>
          <a:xfrm>
            <a:off x="86187" y="5307370"/>
            <a:ext cx="4110354" cy="321310"/>
          </a:xfrm>
          <a:prstGeom prst="rect">
            <a:avLst/>
          </a:prstGeom>
        </p:spPr>
        <p:txBody>
          <a:bodyPr vert="horz" wrap="square" lIns="0" tIns="11430" rIns="0" bIns="0" rtlCol="0">
            <a:spAutoFit/>
          </a:bodyPr>
          <a:lstStyle/>
          <a:p>
            <a:pPr marL="219710" indent="-181610">
              <a:lnSpc>
                <a:spcPts val="775"/>
              </a:lnSpc>
              <a:spcBef>
                <a:spcPts val="90"/>
              </a:spcBef>
              <a:buAutoNum type="arabicPeriod"/>
              <a:tabLst>
                <a:tab pos="219710" algn="l"/>
              </a:tabLst>
            </a:pPr>
            <a:r>
              <a:rPr sz="650" spc="-10" dirty="0">
                <a:solidFill>
                  <a:srgbClr val="3895DE"/>
                </a:solidFill>
                <a:latin typeface="Times New Roman" panose="02020603050405020304"/>
                <a:cs typeface="Times New Roman" panose="02020603050405020304"/>
              </a:rPr>
              <a:t>Mohammed</a:t>
            </a:r>
            <a:r>
              <a:rPr sz="650" dirty="0">
                <a:solidFill>
                  <a:srgbClr val="3895DE"/>
                </a:solidFill>
                <a:latin typeface="Times New Roman" panose="02020603050405020304"/>
                <a:cs typeface="Times New Roman" panose="02020603050405020304"/>
              </a:rPr>
              <a:t> Al </a:t>
            </a:r>
            <a:r>
              <a:rPr sz="650" spc="-10" dirty="0">
                <a:solidFill>
                  <a:srgbClr val="3895DE"/>
                </a:solidFill>
                <a:latin typeface="Times New Roman" panose="02020603050405020304"/>
                <a:cs typeface="Times New Roman" panose="02020603050405020304"/>
              </a:rPr>
              <a:t>Musawa,</a:t>
            </a:r>
            <a:r>
              <a:rPr sz="650" spc="5" dirty="0">
                <a:solidFill>
                  <a:srgbClr val="3895DE"/>
                </a:solidFill>
                <a:latin typeface="Times New Roman" panose="02020603050405020304"/>
                <a:cs typeface="Times New Roman" panose="02020603050405020304"/>
              </a:rPr>
              <a:t> </a:t>
            </a:r>
            <a:r>
              <a:rPr sz="650" dirty="0">
                <a:solidFill>
                  <a:srgbClr val="3895DE"/>
                </a:solidFill>
                <a:latin typeface="Times New Roman" panose="02020603050405020304"/>
                <a:cs typeface="Times New Roman" panose="02020603050405020304"/>
              </a:rPr>
              <a:t>et al. </a:t>
            </a:r>
            <a:r>
              <a:rPr sz="650" spc="-10" dirty="0">
                <a:solidFill>
                  <a:srgbClr val="3895DE"/>
                </a:solidFill>
                <a:latin typeface="Times New Roman" panose="02020603050405020304"/>
                <a:cs typeface="Times New Roman" panose="02020603050405020304"/>
              </a:rPr>
              <a:t>Pharmacotherapy.</a:t>
            </a:r>
            <a:r>
              <a:rPr sz="650" spc="5" dirty="0">
                <a:solidFill>
                  <a:srgbClr val="3895DE"/>
                </a:solidFill>
                <a:latin typeface="Times New Roman" panose="02020603050405020304"/>
                <a:cs typeface="Times New Roman" panose="02020603050405020304"/>
              </a:rPr>
              <a:t> </a:t>
            </a:r>
            <a:r>
              <a:rPr sz="650" dirty="0">
                <a:solidFill>
                  <a:srgbClr val="3895DE"/>
                </a:solidFill>
                <a:latin typeface="Times New Roman" panose="02020603050405020304"/>
                <a:cs typeface="Times New Roman" panose="02020603050405020304"/>
              </a:rPr>
              <a:t>2024</a:t>
            </a:r>
            <a:r>
              <a:rPr sz="650" spc="5" dirty="0">
                <a:solidFill>
                  <a:srgbClr val="3895DE"/>
                </a:solidFill>
                <a:latin typeface="Times New Roman" panose="02020603050405020304"/>
                <a:cs typeface="Times New Roman" panose="02020603050405020304"/>
              </a:rPr>
              <a:t> </a:t>
            </a:r>
            <a:r>
              <a:rPr sz="650" spc="-10" dirty="0">
                <a:solidFill>
                  <a:srgbClr val="3895DE"/>
                </a:solidFill>
                <a:latin typeface="Times New Roman" panose="02020603050405020304"/>
                <a:cs typeface="Times New Roman" panose="02020603050405020304"/>
              </a:rPr>
              <a:t>Dec;44(12):927-</a:t>
            </a:r>
            <a:r>
              <a:rPr sz="650" spc="-20" dirty="0">
                <a:solidFill>
                  <a:srgbClr val="3895DE"/>
                </a:solidFill>
                <a:latin typeface="Times New Roman" panose="02020603050405020304"/>
                <a:cs typeface="Times New Roman" panose="02020603050405020304"/>
              </a:rPr>
              <a:t>938.</a:t>
            </a:r>
            <a:endParaRPr sz="650">
              <a:latin typeface="Times New Roman" panose="02020603050405020304"/>
              <a:cs typeface="Times New Roman" panose="02020603050405020304"/>
            </a:endParaRPr>
          </a:p>
          <a:p>
            <a:pPr marL="219710" indent="-181610">
              <a:lnSpc>
                <a:spcPts val="775"/>
              </a:lnSpc>
              <a:buAutoNum type="arabicPeriod"/>
              <a:tabLst>
                <a:tab pos="219710" algn="l"/>
              </a:tabLst>
            </a:pPr>
            <a:r>
              <a:rPr sz="650" spc="-20" dirty="0">
                <a:solidFill>
                  <a:srgbClr val="3895DE"/>
                </a:solidFill>
                <a:latin typeface="Times New Roman" panose="02020603050405020304"/>
                <a:cs typeface="Times New Roman" panose="02020603050405020304"/>
              </a:rPr>
              <a:t>EMBLAVEO(PRESCRIBING</a:t>
            </a:r>
            <a:r>
              <a:rPr sz="650" spc="70" dirty="0">
                <a:solidFill>
                  <a:srgbClr val="3895DE"/>
                </a:solidFill>
                <a:latin typeface="Times New Roman" panose="02020603050405020304"/>
                <a:cs typeface="Times New Roman" panose="02020603050405020304"/>
              </a:rPr>
              <a:t> </a:t>
            </a:r>
            <a:r>
              <a:rPr sz="650" spc="-20" dirty="0">
                <a:solidFill>
                  <a:srgbClr val="3895DE"/>
                </a:solidFill>
                <a:latin typeface="Times New Roman" panose="02020603050405020304"/>
                <a:cs typeface="Times New Roman" panose="02020603050405020304"/>
              </a:rPr>
              <a:t>INFORMATION)</a:t>
            </a:r>
            <a:r>
              <a:rPr sz="650" spc="75" dirty="0">
                <a:solidFill>
                  <a:srgbClr val="3895DE"/>
                </a:solidFill>
                <a:latin typeface="Times New Roman" panose="02020603050405020304"/>
                <a:cs typeface="Times New Roman" panose="02020603050405020304"/>
              </a:rPr>
              <a:t> </a:t>
            </a:r>
            <a:r>
              <a:rPr sz="650" spc="-10" dirty="0">
                <a:solidFill>
                  <a:srgbClr val="3895DE"/>
                </a:solidFill>
                <a:latin typeface="Times New Roman" panose="02020603050405020304"/>
                <a:cs typeface="Times New Roman" panose="02020603050405020304"/>
              </a:rPr>
              <a:t>Revised:</a:t>
            </a:r>
            <a:r>
              <a:rPr sz="650" spc="70" dirty="0">
                <a:solidFill>
                  <a:srgbClr val="3895DE"/>
                </a:solidFill>
                <a:latin typeface="Times New Roman" panose="02020603050405020304"/>
                <a:cs typeface="Times New Roman" panose="02020603050405020304"/>
              </a:rPr>
              <a:t> </a:t>
            </a:r>
            <a:r>
              <a:rPr sz="650" spc="-20" dirty="0">
                <a:solidFill>
                  <a:srgbClr val="3895DE"/>
                </a:solidFill>
                <a:latin typeface="Times New Roman" panose="02020603050405020304"/>
                <a:cs typeface="Times New Roman" panose="02020603050405020304"/>
              </a:rPr>
              <a:t>2/2025.</a:t>
            </a:r>
            <a:r>
              <a:rPr sz="900" spc="-30" baseline="-9000" dirty="0">
                <a:solidFill>
                  <a:srgbClr val="FF0000"/>
                </a:solidFill>
                <a:latin typeface="Arial MT"/>
                <a:cs typeface="Arial MT"/>
              </a:rPr>
              <a:t>2</a:t>
            </a:r>
            <a:r>
              <a:rPr sz="650" spc="-20" dirty="0">
                <a:solidFill>
                  <a:srgbClr val="3895DE"/>
                </a:solidFill>
                <a:latin typeface="Times New Roman" panose="02020603050405020304"/>
                <a:cs typeface="Times New Roman" panose="02020603050405020304"/>
                <a:hlinkClick r:id="rId6"/>
              </a:rPr>
              <a:t>www.accessdata.fda.gov.</a:t>
            </a:r>
            <a:r>
              <a:rPr sz="650" spc="70" dirty="0">
                <a:solidFill>
                  <a:srgbClr val="3895DE"/>
                </a:solidFill>
                <a:latin typeface="Times New Roman" panose="02020603050405020304"/>
                <a:cs typeface="Times New Roman" panose="02020603050405020304"/>
              </a:rPr>
              <a:t> </a:t>
            </a:r>
            <a:r>
              <a:rPr sz="650" spc="-10" dirty="0">
                <a:solidFill>
                  <a:srgbClr val="3895DE"/>
                </a:solidFill>
                <a:latin typeface="Times New Roman" panose="02020603050405020304"/>
                <a:cs typeface="Times New Roman" panose="02020603050405020304"/>
              </a:rPr>
              <a:t>Accessed</a:t>
            </a:r>
            <a:r>
              <a:rPr sz="650" spc="75" dirty="0">
                <a:solidFill>
                  <a:srgbClr val="3895DE"/>
                </a:solidFill>
                <a:latin typeface="Times New Roman" panose="02020603050405020304"/>
                <a:cs typeface="Times New Roman" panose="02020603050405020304"/>
              </a:rPr>
              <a:t> </a:t>
            </a:r>
            <a:r>
              <a:rPr sz="650" dirty="0">
                <a:solidFill>
                  <a:srgbClr val="3895DE"/>
                </a:solidFill>
                <a:latin typeface="Times New Roman" panose="02020603050405020304"/>
                <a:cs typeface="Times New Roman" panose="02020603050405020304"/>
              </a:rPr>
              <a:t>on</a:t>
            </a:r>
            <a:r>
              <a:rPr sz="650" spc="75" dirty="0">
                <a:solidFill>
                  <a:srgbClr val="3895DE"/>
                </a:solidFill>
                <a:latin typeface="Times New Roman" panose="02020603050405020304"/>
                <a:cs typeface="Times New Roman" panose="02020603050405020304"/>
              </a:rPr>
              <a:t> </a:t>
            </a:r>
            <a:r>
              <a:rPr sz="650" spc="-10" dirty="0">
                <a:solidFill>
                  <a:srgbClr val="3895DE"/>
                </a:solidFill>
                <a:latin typeface="Times New Roman" panose="02020603050405020304"/>
                <a:cs typeface="Times New Roman" panose="02020603050405020304"/>
              </a:rPr>
              <a:t>2025-6-</a:t>
            </a:r>
            <a:r>
              <a:rPr sz="650" spc="-25" dirty="0">
                <a:solidFill>
                  <a:srgbClr val="3895DE"/>
                </a:solidFill>
                <a:latin typeface="Times New Roman" panose="02020603050405020304"/>
                <a:cs typeface="Times New Roman" panose="02020603050405020304"/>
              </a:rPr>
              <a:t>16.</a:t>
            </a:r>
            <a:endParaRPr sz="650">
              <a:latin typeface="Times New Roman" panose="02020603050405020304"/>
              <a:cs typeface="Times New Roman" panose="02020603050405020304"/>
            </a:endParaRPr>
          </a:p>
          <a:p>
            <a:pPr marL="219710" indent="-181610">
              <a:lnSpc>
                <a:spcPct val="100000"/>
              </a:lnSpc>
              <a:spcBef>
                <a:spcPts val="10"/>
              </a:spcBef>
              <a:buFont typeface="Times New Roman" panose="02020603050405020304"/>
              <a:buAutoNum type="arabicPeriod"/>
              <a:tabLst>
                <a:tab pos="219710" algn="l"/>
              </a:tabLst>
            </a:pPr>
            <a:r>
              <a:rPr sz="650" spc="-20" dirty="0">
                <a:solidFill>
                  <a:srgbClr val="3895DE"/>
                </a:solidFill>
                <a:latin typeface="微软雅黑" panose="020B0503020204020204" charset="-122"/>
                <a:cs typeface="微软雅黑" panose="020B0503020204020204" charset="-122"/>
              </a:rPr>
              <a:t>注射用氨曲南阿维巴坦钠说明书（核准日期：</a:t>
            </a:r>
            <a:r>
              <a:rPr sz="650" spc="-10" dirty="0">
                <a:solidFill>
                  <a:srgbClr val="3895DE"/>
                </a:solidFill>
                <a:latin typeface="Times New Roman" panose="02020603050405020304"/>
                <a:cs typeface="Times New Roman" panose="02020603050405020304"/>
              </a:rPr>
              <a:t>2025</a:t>
            </a:r>
            <a:r>
              <a:rPr sz="650" spc="-20" dirty="0">
                <a:solidFill>
                  <a:srgbClr val="3895DE"/>
                </a:solidFill>
                <a:latin typeface="微软雅黑" panose="020B0503020204020204" charset="-122"/>
                <a:cs typeface="微软雅黑" panose="020B0503020204020204" charset="-122"/>
              </a:rPr>
              <a:t>年</a:t>
            </a:r>
            <a:r>
              <a:rPr sz="650" spc="-10" dirty="0">
                <a:solidFill>
                  <a:srgbClr val="3895DE"/>
                </a:solidFill>
                <a:latin typeface="Times New Roman" panose="02020603050405020304"/>
                <a:cs typeface="Times New Roman" panose="02020603050405020304"/>
              </a:rPr>
              <a:t>6</a:t>
            </a:r>
            <a:r>
              <a:rPr sz="650" spc="-20" dirty="0">
                <a:solidFill>
                  <a:srgbClr val="3895DE"/>
                </a:solidFill>
                <a:latin typeface="微软雅黑" panose="020B0503020204020204" charset="-122"/>
                <a:cs typeface="微软雅黑" panose="020B0503020204020204" charset="-122"/>
              </a:rPr>
              <a:t>月</a:t>
            </a:r>
            <a:r>
              <a:rPr sz="650" spc="-10" dirty="0">
                <a:solidFill>
                  <a:srgbClr val="3895DE"/>
                </a:solidFill>
                <a:latin typeface="Times New Roman" panose="02020603050405020304"/>
                <a:cs typeface="Times New Roman" panose="02020603050405020304"/>
              </a:rPr>
              <a:t>24</a:t>
            </a:r>
            <a:r>
              <a:rPr sz="650" spc="-20" dirty="0">
                <a:solidFill>
                  <a:srgbClr val="3895DE"/>
                </a:solidFill>
                <a:latin typeface="微软雅黑" panose="020B0503020204020204" charset="-122"/>
                <a:cs typeface="微软雅黑" panose="020B0503020204020204" charset="-122"/>
              </a:rPr>
              <a:t>日</a:t>
            </a:r>
            <a:r>
              <a:rPr sz="650" spc="-50" dirty="0">
                <a:solidFill>
                  <a:srgbClr val="3895DE"/>
                </a:solidFill>
                <a:latin typeface="微软雅黑" panose="020B0503020204020204" charset="-122"/>
                <a:cs typeface="微软雅黑" panose="020B0503020204020204" charset="-122"/>
              </a:rPr>
              <a:t>）</a:t>
            </a:r>
            <a:endParaRPr sz="650">
              <a:latin typeface="微软雅黑" panose="020B0503020204020204" charset="-122"/>
              <a:cs typeface="微软雅黑" panose="020B0503020204020204" charset="-122"/>
            </a:endParaRPr>
          </a:p>
        </p:txBody>
      </p:sp>
      <p:sp>
        <p:nvSpPr>
          <p:cNvPr id="45" name="object 45"/>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24</a:t>
            </a:fld>
            <a:r>
              <a:rPr spc="-10" dirty="0"/>
              <a:t> </a:t>
            </a:r>
            <a:r>
              <a:rPr spc="-50" dirty="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6562" y="304292"/>
            <a:ext cx="1163320" cy="366395"/>
          </a:xfrm>
          <a:prstGeom prst="rect">
            <a:avLst/>
          </a:prstGeom>
        </p:spPr>
        <p:txBody>
          <a:bodyPr vert="horz" wrap="square" lIns="0" tIns="17145" rIns="0" bIns="0" rtlCol="0">
            <a:spAutoFit/>
          </a:bodyPr>
          <a:lstStyle/>
          <a:p>
            <a:pPr marL="12700">
              <a:lnSpc>
                <a:spcPct val="100000"/>
              </a:lnSpc>
              <a:spcBef>
                <a:spcPts val="135"/>
              </a:spcBef>
            </a:pPr>
            <a:r>
              <a:rPr spc="-15" dirty="0"/>
              <a:t>用法用量</a:t>
            </a:r>
          </a:p>
        </p:txBody>
      </p:sp>
      <p:graphicFrame>
        <p:nvGraphicFramePr>
          <p:cNvPr id="3" name="object 3"/>
          <p:cNvGraphicFramePr>
            <a:graphicFrameLocks noGrp="1"/>
          </p:cNvGraphicFramePr>
          <p:nvPr/>
        </p:nvGraphicFramePr>
        <p:xfrm>
          <a:off x="455168" y="1305052"/>
          <a:ext cx="8781413" cy="2719703"/>
        </p:xfrm>
        <a:graphic>
          <a:graphicData uri="http://schemas.openxmlformats.org/drawingml/2006/table">
            <a:tbl>
              <a:tblPr firstRow="1" bandRow="1">
                <a:tableStyleId>{2D5ABB26-0587-4C30-8999-92F81FD0307C}</a:tableStyleId>
              </a:tblPr>
              <a:tblGrid>
                <a:gridCol w="2331085">
                  <a:extLst>
                    <a:ext uri="{9D8B030D-6E8A-4147-A177-3AD203B41FA5}">
                      <a16:colId xmlns:a16="http://schemas.microsoft.com/office/drawing/2014/main" val="20000"/>
                    </a:ext>
                  </a:extLst>
                </a:gridCol>
                <a:gridCol w="1664335">
                  <a:extLst>
                    <a:ext uri="{9D8B030D-6E8A-4147-A177-3AD203B41FA5}">
                      <a16:colId xmlns:a16="http://schemas.microsoft.com/office/drawing/2014/main" val="20001"/>
                    </a:ext>
                  </a:extLst>
                </a:gridCol>
                <a:gridCol w="1536064">
                  <a:extLst>
                    <a:ext uri="{9D8B030D-6E8A-4147-A177-3AD203B41FA5}">
                      <a16:colId xmlns:a16="http://schemas.microsoft.com/office/drawing/2014/main" val="20002"/>
                    </a:ext>
                  </a:extLst>
                </a:gridCol>
                <a:gridCol w="1493519">
                  <a:extLst>
                    <a:ext uri="{9D8B030D-6E8A-4147-A177-3AD203B41FA5}">
                      <a16:colId xmlns:a16="http://schemas.microsoft.com/office/drawing/2014/main" val="20003"/>
                    </a:ext>
                  </a:extLst>
                </a:gridCol>
                <a:gridCol w="1756410">
                  <a:extLst>
                    <a:ext uri="{9D8B030D-6E8A-4147-A177-3AD203B41FA5}">
                      <a16:colId xmlns:a16="http://schemas.microsoft.com/office/drawing/2014/main" val="20004"/>
                    </a:ext>
                  </a:extLst>
                </a:gridCol>
              </a:tblGrid>
              <a:tr h="478790">
                <a:tc>
                  <a:txBody>
                    <a:bodyPr/>
                    <a:lstStyle/>
                    <a:p>
                      <a:pPr>
                        <a:lnSpc>
                          <a:spcPct val="100000"/>
                        </a:lnSpc>
                        <a:spcBef>
                          <a:spcPts val="830"/>
                        </a:spcBef>
                      </a:pPr>
                      <a:endParaRPr sz="1450">
                        <a:latin typeface="Times New Roman" panose="02020603050405020304"/>
                        <a:cs typeface="Times New Roman" panose="02020603050405020304"/>
                      </a:endParaRPr>
                    </a:p>
                    <a:p>
                      <a:pPr algn="ctr">
                        <a:lnSpc>
                          <a:spcPts val="1170"/>
                        </a:lnSpc>
                        <a:spcBef>
                          <a:spcPts val="5"/>
                        </a:spcBef>
                      </a:pPr>
                      <a:r>
                        <a:rPr sz="1450" spc="-20" dirty="0">
                          <a:solidFill>
                            <a:srgbClr val="FFFFFF"/>
                          </a:solidFill>
                          <a:latin typeface="微软雅黑" panose="020B0503020204020204" charset="-122"/>
                          <a:cs typeface="微软雅黑" panose="020B0503020204020204" charset="-122"/>
                        </a:rPr>
                        <a:t>估算肌酐清除率</a:t>
                      </a:r>
                      <a:r>
                        <a:rPr sz="1450" spc="-10" dirty="0">
                          <a:solidFill>
                            <a:srgbClr val="FFFFFF"/>
                          </a:solidFill>
                          <a:latin typeface="微软雅黑" panose="020B0503020204020204" charset="-122"/>
                          <a:cs typeface="微软雅黑" panose="020B0503020204020204" charset="-122"/>
                        </a:rPr>
                        <a:t>（</a:t>
                      </a:r>
                      <a:r>
                        <a:rPr sz="1450" spc="-10" dirty="0">
                          <a:solidFill>
                            <a:srgbClr val="FFFFFF"/>
                          </a:solidFill>
                          <a:latin typeface="Times New Roman" panose="02020603050405020304"/>
                          <a:cs typeface="Times New Roman" panose="02020603050405020304"/>
                        </a:rPr>
                        <a:t>ml/min</a:t>
                      </a:r>
                      <a:r>
                        <a:rPr sz="1450" spc="-10" dirty="0">
                          <a:solidFill>
                            <a:srgbClr val="FFFFFF"/>
                          </a:solidFill>
                          <a:latin typeface="微软雅黑" panose="020B0503020204020204" charset="-122"/>
                          <a:cs typeface="微软雅黑" panose="020B0503020204020204" charset="-122"/>
                        </a:rPr>
                        <a:t>）</a:t>
                      </a:r>
                      <a:endParaRPr sz="1450">
                        <a:latin typeface="微软雅黑" panose="020B0503020204020204" charset="-122"/>
                        <a:cs typeface="微软雅黑" panose="020B0503020204020204" charset="-122"/>
                      </a:endParaRPr>
                    </a:p>
                  </a:txBody>
                  <a:tcPr marL="0" marR="0" marT="105410" marB="0">
                    <a:lnL w="12700">
                      <a:solidFill>
                        <a:srgbClr val="FFFFFF"/>
                      </a:solidFill>
                      <a:prstDash val="solid"/>
                    </a:lnL>
                    <a:lnT w="12700">
                      <a:solidFill>
                        <a:srgbClr val="FFFFFF"/>
                      </a:solidFill>
                      <a:prstDash val="solid"/>
                    </a:lnT>
                    <a:solidFill>
                      <a:srgbClr val="014D94"/>
                    </a:solidFill>
                  </a:tcPr>
                </a:tc>
                <a:tc gridSpan="2">
                  <a:txBody>
                    <a:bodyPr/>
                    <a:lstStyle/>
                    <a:p>
                      <a:pPr marL="746125">
                        <a:lnSpc>
                          <a:spcPct val="100000"/>
                        </a:lnSpc>
                        <a:spcBef>
                          <a:spcPts val="915"/>
                        </a:spcBef>
                      </a:pPr>
                      <a:r>
                        <a:rPr sz="1450" spc="-20" dirty="0">
                          <a:solidFill>
                            <a:srgbClr val="FFFFFF"/>
                          </a:solidFill>
                          <a:latin typeface="微软雅黑" panose="020B0503020204020204" charset="-122"/>
                          <a:cs typeface="微软雅黑" panose="020B0503020204020204" charset="-122"/>
                        </a:rPr>
                        <a:t>氨曲南</a:t>
                      </a:r>
                      <a:r>
                        <a:rPr sz="1450" spc="-10" dirty="0">
                          <a:solidFill>
                            <a:srgbClr val="FFFFFF"/>
                          </a:solidFill>
                          <a:latin typeface="Times New Roman" panose="02020603050405020304"/>
                          <a:cs typeface="Times New Roman" panose="02020603050405020304"/>
                        </a:rPr>
                        <a:t>-</a:t>
                      </a:r>
                      <a:r>
                        <a:rPr sz="1450" spc="-25" dirty="0">
                          <a:solidFill>
                            <a:srgbClr val="FFFFFF"/>
                          </a:solidFill>
                          <a:latin typeface="微软雅黑" panose="020B0503020204020204" charset="-122"/>
                          <a:cs typeface="微软雅黑" panose="020B0503020204020204" charset="-122"/>
                        </a:rPr>
                        <a:t>阿维巴坦剂量</a:t>
                      </a:r>
                      <a:endParaRPr sz="1450">
                        <a:latin typeface="微软雅黑" panose="020B0503020204020204" charset="-122"/>
                        <a:cs typeface="微软雅黑" panose="020B0503020204020204" charset="-122"/>
                      </a:endParaRPr>
                    </a:p>
                  </a:txBody>
                  <a:tcPr marL="0" marR="0" marT="116205" marB="0">
                    <a:lnT w="12700">
                      <a:solidFill>
                        <a:srgbClr val="FFFFFF"/>
                      </a:solidFill>
                      <a:prstDash val="solid"/>
                    </a:lnT>
                    <a:lnB w="38100">
                      <a:solidFill>
                        <a:srgbClr val="FFFFFF"/>
                      </a:solidFill>
                      <a:prstDash val="solid"/>
                    </a:lnB>
                    <a:solidFill>
                      <a:srgbClr val="014D94"/>
                    </a:solidFill>
                  </a:tcPr>
                </a:tc>
                <a:tc hMerge="1">
                  <a:txBody>
                    <a:bodyPr/>
                    <a:lstStyle/>
                    <a:p>
                      <a:endParaRPr lang="zh-CN"/>
                    </a:p>
                  </a:txBody>
                  <a:tcPr marL="0" marR="0" marT="0" marB="0"/>
                </a:tc>
                <a:tc>
                  <a:txBody>
                    <a:bodyPr/>
                    <a:lstStyle/>
                    <a:p>
                      <a:pPr>
                        <a:lnSpc>
                          <a:spcPct val="100000"/>
                        </a:lnSpc>
                        <a:spcBef>
                          <a:spcPts val="830"/>
                        </a:spcBef>
                      </a:pPr>
                      <a:endParaRPr sz="1450">
                        <a:latin typeface="Times New Roman" panose="02020603050405020304"/>
                        <a:cs typeface="Times New Roman" panose="02020603050405020304"/>
                      </a:endParaRPr>
                    </a:p>
                    <a:p>
                      <a:pPr marL="380365">
                        <a:lnSpc>
                          <a:spcPts val="1170"/>
                        </a:lnSpc>
                        <a:spcBef>
                          <a:spcPts val="5"/>
                        </a:spcBef>
                      </a:pPr>
                      <a:r>
                        <a:rPr sz="1450" spc="-30" dirty="0">
                          <a:solidFill>
                            <a:srgbClr val="FFFFFF"/>
                          </a:solidFill>
                          <a:latin typeface="微软雅黑" panose="020B0503020204020204" charset="-122"/>
                          <a:cs typeface="微软雅黑" panose="020B0503020204020204" charset="-122"/>
                        </a:rPr>
                        <a:t>输注时间</a:t>
                      </a:r>
                      <a:endParaRPr sz="1450">
                        <a:latin typeface="微软雅黑" panose="020B0503020204020204" charset="-122"/>
                        <a:cs typeface="微软雅黑" panose="020B0503020204020204" charset="-122"/>
                      </a:endParaRPr>
                    </a:p>
                  </a:txBody>
                  <a:tcPr marL="0" marR="0" marT="105410" marB="0">
                    <a:lnR w="12700">
                      <a:solidFill>
                        <a:srgbClr val="FFFFFF"/>
                      </a:solidFill>
                      <a:prstDash val="solid"/>
                    </a:lnR>
                    <a:lnT w="12700">
                      <a:solidFill>
                        <a:srgbClr val="FFFFFF"/>
                      </a:solidFill>
                      <a:prstDash val="solid"/>
                    </a:lnT>
                    <a:solidFill>
                      <a:srgbClr val="014D94"/>
                    </a:solidFill>
                  </a:tcPr>
                </a:tc>
                <a:tc rowSpan="2">
                  <a:txBody>
                    <a:bodyPr/>
                    <a:lstStyle/>
                    <a:p>
                      <a:pPr>
                        <a:lnSpc>
                          <a:spcPct val="100000"/>
                        </a:lnSpc>
                        <a:spcBef>
                          <a:spcPts val="830"/>
                        </a:spcBef>
                      </a:pPr>
                      <a:endParaRPr sz="1450">
                        <a:latin typeface="Times New Roman" panose="02020603050405020304"/>
                        <a:cs typeface="Times New Roman" panose="02020603050405020304"/>
                      </a:endParaRPr>
                    </a:p>
                    <a:p>
                      <a:pPr marL="511810">
                        <a:lnSpc>
                          <a:spcPct val="100000"/>
                        </a:lnSpc>
                        <a:spcBef>
                          <a:spcPts val="5"/>
                        </a:spcBef>
                      </a:pPr>
                      <a:r>
                        <a:rPr sz="1450" spc="-30" dirty="0">
                          <a:solidFill>
                            <a:srgbClr val="FFFFFF"/>
                          </a:solidFill>
                          <a:latin typeface="微软雅黑" panose="020B0503020204020204" charset="-122"/>
                          <a:cs typeface="微软雅黑" panose="020B0503020204020204" charset="-122"/>
                        </a:rPr>
                        <a:t>给药间隔</a:t>
                      </a:r>
                      <a:endParaRPr sz="1450">
                        <a:latin typeface="微软雅黑" panose="020B0503020204020204" charset="-122"/>
                        <a:cs typeface="微软雅黑" panose="020B0503020204020204" charset="-122"/>
                      </a:endParaRPr>
                    </a:p>
                  </a:txBody>
                  <a:tcPr marL="0" marR="0" marT="105410" marB="0">
                    <a:lnL w="12700">
                      <a:solidFill>
                        <a:srgbClr val="FFFFFF"/>
                      </a:solidFill>
                      <a:prstDash val="solid"/>
                    </a:lnL>
                    <a:lnR w="12700">
                      <a:solidFill>
                        <a:srgbClr val="FFFFFF"/>
                      </a:solidFill>
                      <a:prstDash val="solid"/>
                    </a:lnR>
                    <a:lnT w="12700">
                      <a:solidFill>
                        <a:srgbClr val="FFFFFF"/>
                      </a:solidFill>
                      <a:prstDash val="solid"/>
                    </a:lnT>
                    <a:solidFill>
                      <a:srgbClr val="014D94"/>
                    </a:solidFill>
                  </a:tcPr>
                </a:tc>
                <a:extLst>
                  <a:ext uri="{0D108BD9-81ED-4DB2-BD59-A6C34878D82A}">
                    <a16:rowId xmlns:a16="http://schemas.microsoft.com/office/drawing/2014/main" val="10000"/>
                  </a:ext>
                </a:extLst>
              </a:tr>
              <a:tr h="401320">
                <a:tc>
                  <a:txBody>
                    <a:bodyPr/>
                    <a:lstStyle/>
                    <a:p>
                      <a:pPr>
                        <a:lnSpc>
                          <a:spcPct val="100000"/>
                        </a:lnSpc>
                      </a:pPr>
                      <a:endParaRPr sz="1200">
                        <a:latin typeface="Times New Roman" panose="02020603050405020304"/>
                        <a:cs typeface="Times New Roman" panose="02020603050405020304"/>
                      </a:endParaRPr>
                    </a:p>
                  </a:txBody>
                  <a:tcPr marL="0" marR="0" marT="0" marB="0">
                    <a:lnL w="12700">
                      <a:solidFill>
                        <a:srgbClr val="FFFFFF"/>
                      </a:solidFill>
                      <a:prstDash val="solid"/>
                    </a:lnL>
                    <a:lnR w="38100">
                      <a:solidFill>
                        <a:srgbClr val="FFFFFF"/>
                      </a:solidFill>
                      <a:prstDash val="solid"/>
                    </a:lnR>
                    <a:solidFill>
                      <a:srgbClr val="014D94"/>
                    </a:solidFill>
                  </a:tcPr>
                </a:tc>
                <a:tc>
                  <a:txBody>
                    <a:bodyPr/>
                    <a:lstStyle/>
                    <a:p>
                      <a:pPr algn="ctr">
                        <a:lnSpc>
                          <a:spcPct val="100000"/>
                        </a:lnSpc>
                        <a:spcBef>
                          <a:spcPts val="610"/>
                        </a:spcBef>
                      </a:pPr>
                      <a:r>
                        <a:rPr sz="1450" spc="-35" dirty="0">
                          <a:solidFill>
                            <a:srgbClr val="FFFFFF"/>
                          </a:solidFill>
                          <a:latin typeface="微软雅黑" panose="020B0503020204020204" charset="-122"/>
                          <a:cs typeface="微软雅黑" panose="020B0503020204020204" charset="-122"/>
                        </a:rPr>
                        <a:t>首剂</a:t>
                      </a:r>
                      <a:endParaRPr sz="1450">
                        <a:latin typeface="微软雅黑" panose="020B0503020204020204" charset="-122"/>
                        <a:cs typeface="微软雅黑" panose="020B0503020204020204" charset="-122"/>
                      </a:endParaRPr>
                    </a:p>
                  </a:txBody>
                  <a:tcPr marL="0" marR="0" marT="77470" marB="0">
                    <a:lnL w="381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14D94"/>
                    </a:solidFill>
                  </a:tcPr>
                </a:tc>
                <a:tc>
                  <a:txBody>
                    <a:bodyPr/>
                    <a:lstStyle/>
                    <a:p>
                      <a:pPr algn="ctr">
                        <a:lnSpc>
                          <a:spcPct val="100000"/>
                        </a:lnSpc>
                        <a:spcBef>
                          <a:spcPts val="610"/>
                        </a:spcBef>
                      </a:pPr>
                      <a:r>
                        <a:rPr sz="1450" spc="-35" dirty="0">
                          <a:solidFill>
                            <a:srgbClr val="FFFFFF"/>
                          </a:solidFill>
                          <a:latin typeface="微软雅黑" panose="020B0503020204020204" charset="-122"/>
                          <a:cs typeface="微软雅黑" panose="020B0503020204020204" charset="-122"/>
                        </a:rPr>
                        <a:t>维持</a:t>
                      </a:r>
                      <a:endParaRPr sz="1450">
                        <a:latin typeface="微软雅黑" panose="020B0503020204020204" charset="-122"/>
                        <a:cs typeface="微软雅黑" panose="020B0503020204020204" charset="-122"/>
                      </a:endParaRPr>
                    </a:p>
                  </a:txBody>
                  <a:tcPr marL="0" marR="0" marT="77470" marB="0">
                    <a:lnL w="12700">
                      <a:solidFill>
                        <a:srgbClr val="FFFFFF"/>
                      </a:solidFill>
                      <a:prstDash val="solid"/>
                    </a:lnL>
                    <a:lnR w="38100">
                      <a:solidFill>
                        <a:srgbClr val="FFFFFF"/>
                      </a:solidFill>
                      <a:prstDash val="solid"/>
                    </a:lnR>
                    <a:lnT w="38100">
                      <a:solidFill>
                        <a:srgbClr val="FFFFFF"/>
                      </a:solidFill>
                      <a:prstDash val="solid"/>
                    </a:lnT>
                    <a:lnB w="12700">
                      <a:solidFill>
                        <a:srgbClr val="FFFFFF"/>
                      </a:solidFill>
                      <a:prstDash val="solid"/>
                    </a:lnB>
                    <a:solidFill>
                      <a:srgbClr val="014D94"/>
                    </a:solidFill>
                  </a:tcPr>
                </a:tc>
                <a:tc>
                  <a:txBody>
                    <a:bodyPr/>
                    <a:lstStyle/>
                    <a:p>
                      <a:pPr>
                        <a:lnSpc>
                          <a:spcPct val="100000"/>
                        </a:lnSpc>
                      </a:pPr>
                      <a:endParaRPr sz="1200">
                        <a:latin typeface="Times New Roman" panose="02020603050405020304"/>
                        <a:cs typeface="Times New Roman" panose="02020603050405020304"/>
                      </a:endParaRPr>
                    </a:p>
                  </a:txBody>
                  <a:tcPr marL="0" marR="0" marT="0" marB="0">
                    <a:lnL w="38100">
                      <a:solidFill>
                        <a:srgbClr val="FFFFFF"/>
                      </a:solidFill>
                      <a:prstDash val="solid"/>
                    </a:lnL>
                    <a:lnR w="12700">
                      <a:solidFill>
                        <a:srgbClr val="FFFFFF"/>
                      </a:solidFill>
                      <a:prstDash val="solid"/>
                    </a:lnR>
                    <a:solidFill>
                      <a:srgbClr val="014D94"/>
                    </a:solidFill>
                  </a:tcPr>
                </a:tc>
                <a:tc vMerge="1">
                  <a:txBody>
                    <a:bodyPr/>
                    <a:lstStyle/>
                    <a:p>
                      <a:endParaRPr lang="zh-CN"/>
                    </a:p>
                  </a:txBody>
                  <a:tcPr marL="0" marR="0" marT="105410" marB="0">
                    <a:lnL w="12700">
                      <a:solidFill>
                        <a:srgbClr val="FFFFFF"/>
                      </a:solidFill>
                      <a:prstDash val="solid"/>
                    </a:lnL>
                    <a:lnR w="12700">
                      <a:solidFill>
                        <a:srgbClr val="FFFFFF"/>
                      </a:solidFill>
                      <a:prstDash val="solid"/>
                    </a:lnR>
                    <a:lnT w="12700">
                      <a:solidFill>
                        <a:srgbClr val="FFFFFF"/>
                      </a:solidFill>
                      <a:prstDash val="solid"/>
                    </a:lnT>
                    <a:solidFill>
                      <a:srgbClr val="014D94"/>
                    </a:solidFill>
                  </a:tcPr>
                </a:tc>
                <a:extLst>
                  <a:ext uri="{0D108BD9-81ED-4DB2-BD59-A6C34878D82A}">
                    <a16:rowId xmlns:a16="http://schemas.microsoft.com/office/drawing/2014/main" val="10001"/>
                  </a:ext>
                </a:extLst>
              </a:tr>
              <a:tr h="440055">
                <a:tc>
                  <a:txBody>
                    <a:bodyPr/>
                    <a:lstStyle/>
                    <a:p>
                      <a:pPr algn="ctr">
                        <a:lnSpc>
                          <a:spcPct val="100000"/>
                        </a:lnSpc>
                        <a:spcBef>
                          <a:spcPts val="775"/>
                        </a:spcBef>
                      </a:pPr>
                      <a:r>
                        <a:rPr sz="1450" spc="-10" dirty="0">
                          <a:latin typeface="Times New Roman" panose="02020603050405020304"/>
                          <a:cs typeface="Times New Roman" panose="02020603050405020304"/>
                        </a:rPr>
                        <a:t>&gt;50mL/min</a:t>
                      </a:r>
                      <a:endParaRPr sz="1450">
                        <a:latin typeface="Times New Roman" panose="02020603050405020304"/>
                        <a:cs typeface="Times New Roman" panose="02020603050405020304"/>
                      </a:endParaRPr>
                    </a:p>
                  </a:txBody>
                  <a:tcPr marL="0" marR="0" marT="98425" marB="0">
                    <a:lnL w="12700">
                      <a:solidFill>
                        <a:srgbClr val="FFFFFF"/>
                      </a:solidFill>
                      <a:prstDash val="solid"/>
                    </a:lnL>
                    <a:lnB w="12700">
                      <a:solidFill>
                        <a:srgbClr val="FFFFFF"/>
                      </a:solidFill>
                      <a:prstDash val="solid"/>
                    </a:lnB>
                    <a:solidFill>
                      <a:srgbClr val="E7E9EE"/>
                    </a:solidFill>
                  </a:tcPr>
                </a:tc>
                <a:tc>
                  <a:txBody>
                    <a:bodyPr/>
                    <a:lstStyle/>
                    <a:p>
                      <a:pPr marL="575310">
                        <a:lnSpc>
                          <a:spcPct val="100000"/>
                        </a:lnSpc>
                        <a:spcBef>
                          <a:spcPts val="775"/>
                        </a:spcBef>
                      </a:pPr>
                      <a:r>
                        <a:rPr sz="1450" spc="-10" dirty="0">
                          <a:latin typeface="Times New Roman" panose="02020603050405020304"/>
                          <a:cs typeface="Times New Roman" panose="02020603050405020304"/>
                        </a:rPr>
                        <a:t>2g/0.67g</a:t>
                      </a:r>
                      <a:endParaRPr sz="1450">
                        <a:latin typeface="Times New Roman" panose="02020603050405020304"/>
                        <a:cs typeface="Times New Roman" panose="02020603050405020304"/>
                      </a:endParaRPr>
                    </a:p>
                  </a:txBody>
                  <a:tcPr marL="0" marR="0" marT="98425" marB="0">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marL="502920">
                        <a:lnSpc>
                          <a:spcPct val="100000"/>
                        </a:lnSpc>
                        <a:spcBef>
                          <a:spcPts val="775"/>
                        </a:spcBef>
                      </a:pPr>
                      <a:r>
                        <a:rPr sz="1450" spc="-10" dirty="0">
                          <a:latin typeface="Times New Roman" panose="02020603050405020304"/>
                          <a:cs typeface="Times New Roman" panose="02020603050405020304"/>
                        </a:rPr>
                        <a:t>1.5g/0.5g</a:t>
                      </a:r>
                      <a:endParaRPr sz="1450">
                        <a:latin typeface="Times New Roman" panose="02020603050405020304"/>
                        <a:cs typeface="Times New Roman" panose="02020603050405020304"/>
                      </a:endParaRPr>
                    </a:p>
                  </a:txBody>
                  <a:tcPr marL="0" marR="0" marT="98425" marB="0">
                    <a:lnL w="12700">
                      <a:solidFill>
                        <a:srgbClr val="FFFFFF"/>
                      </a:solidFill>
                      <a:prstDash val="solid"/>
                    </a:lnL>
                    <a:lnT w="12700">
                      <a:solidFill>
                        <a:srgbClr val="FFFFFF"/>
                      </a:solidFill>
                      <a:prstDash val="solid"/>
                    </a:lnT>
                    <a:lnB w="12700">
                      <a:solidFill>
                        <a:srgbClr val="FFFFFF"/>
                      </a:solidFill>
                      <a:prstDash val="solid"/>
                    </a:lnB>
                    <a:solidFill>
                      <a:srgbClr val="E7E9EE"/>
                    </a:solidFill>
                  </a:tcPr>
                </a:tc>
                <a:tc>
                  <a:txBody>
                    <a:bodyPr/>
                    <a:lstStyle/>
                    <a:p>
                      <a:pPr marL="140970" algn="ctr">
                        <a:lnSpc>
                          <a:spcPct val="100000"/>
                        </a:lnSpc>
                        <a:spcBef>
                          <a:spcPts val="775"/>
                        </a:spcBef>
                      </a:pPr>
                      <a:r>
                        <a:rPr sz="1450" spc="-25" dirty="0">
                          <a:latin typeface="Times New Roman" panose="02020603050405020304"/>
                          <a:cs typeface="Times New Roman" panose="02020603050405020304"/>
                        </a:rPr>
                        <a:t>3h</a:t>
                      </a:r>
                      <a:endParaRPr sz="1450">
                        <a:latin typeface="Times New Roman" panose="02020603050405020304"/>
                        <a:cs typeface="Times New Roman" panose="02020603050405020304"/>
                      </a:endParaRPr>
                    </a:p>
                  </a:txBody>
                  <a:tcPr marL="0" marR="0" marT="98425" marB="0">
                    <a:lnR w="12700">
                      <a:solidFill>
                        <a:srgbClr val="FFFFFF"/>
                      </a:solidFill>
                      <a:prstDash val="solid"/>
                    </a:lnR>
                    <a:lnB w="12700">
                      <a:solidFill>
                        <a:srgbClr val="FFFFFF"/>
                      </a:solidFill>
                      <a:prstDash val="solid"/>
                    </a:lnB>
                    <a:solidFill>
                      <a:srgbClr val="E7E9EE"/>
                    </a:solidFill>
                  </a:tcPr>
                </a:tc>
                <a:tc>
                  <a:txBody>
                    <a:bodyPr/>
                    <a:lstStyle/>
                    <a:p>
                      <a:pPr marL="116205" algn="ctr">
                        <a:lnSpc>
                          <a:spcPct val="100000"/>
                        </a:lnSpc>
                        <a:spcBef>
                          <a:spcPts val="775"/>
                        </a:spcBef>
                      </a:pPr>
                      <a:r>
                        <a:rPr sz="1450" spc="-25" dirty="0">
                          <a:latin typeface="Times New Roman" panose="02020603050405020304"/>
                          <a:cs typeface="Times New Roman" panose="02020603050405020304"/>
                        </a:rPr>
                        <a:t>Q6h</a:t>
                      </a:r>
                      <a:endParaRPr sz="1450">
                        <a:latin typeface="Times New Roman" panose="02020603050405020304"/>
                        <a:cs typeface="Times New Roman" panose="02020603050405020304"/>
                      </a:endParaRPr>
                    </a:p>
                  </a:txBody>
                  <a:tcPr marL="0" marR="0" marT="98425" marB="0">
                    <a:lnL w="12700">
                      <a:solidFill>
                        <a:srgbClr val="FFFFFF"/>
                      </a:solidFill>
                      <a:prstDash val="solid"/>
                    </a:lnL>
                    <a:lnR w="12700">
                      <a:solidFill>
                        <a:srgbClr val="FFFFFF"/>
                      </a:solidFill>
                      <a:prstDash val="solid"/>
                    </a:lnR>
                    <a:lnB w="12700">
                      <a:solidFill>
                        <a:srgbClr val="FFFFFF"/>
                      </a:solidFill>
                      <a:prstDash val="solid"/>
                    </a:lnB>
                    <a:solidFill>
                      <a:srgbClr val="E7E9EE"/>
                    </a:solidFill>
                  </a:tcPr>
                </a:tc>
                <a:extLst>
                  <a:ext uri="{0D108BD9-81ED-4DB2-BD59-A6C34878D82A}">
                    <a16:rowId xmlns:a16="http://schemas.microsoft.com/office/drawing/2014/main" val="10002"/>
                  </a:ext>
                </a:extLst>
              </a:tr>
              <a:tr h="441959">
                <a:tc>
                  <a:txBody>
                    <a:bodyPr/>
                    <a:lstStyle/>
                    <a:p>
                      <a:pPr algn="ctr">
                        <a:lnSpc>
                          <a:spcPct val="100000"/>
                        </a:lnSpc>
                        <a:spcBef>
                          <a:spcPts val="780"/>
                        </a:spcBef>
                      </a:pPr>
                      <a:r>
                        <a:rPr sz="1450" spc="-10" dirty="0">
                          <a:latin typeface="Times New Roman" panose="02020603050405020304"/>
                          <a:cs typeface="Times New Roman" panose="02020603050405020304"/>
                        </a:rPr>
                        <a:t>30-50ml/min</a:t>
                      </a:r>
                      <a:endParaRPr sz="1450">
                        <a:latin typeface="Times New Roman" panose="02020603050405020304"/>
                        <a:cs typeface="Times New Roman" panose="02020603050405020304"/>
                      </a:endParaRPr>
                    </a:p>
                  </a:txBody>
                  <a:tcPr marL="0" marR="0" marT="99060" marB="0">
                    <a:lnL w="12700">
                      <a:solidFill>
                        <a:srgbClr val="FFFFFF"/>
                      </a:solidFill>
                      <a:prstDash val="solid"/>
                    </a:lnL>
                    <a:lnT w="12700">
                      <a:solidFill>
                        <a:srgbClr val="FFFFFF"/>
                      </a:solidFill>
                      <a:prstDash val="solid"/>
                    </a:lnT>
                    <a:lnB w="12700">
                      <a:solidFill>
                        <a:srgbClr val="FFFFFF"/>
                      </a:solidFill>
                      <a:prstDash val="solid"/>
                    </a:lnB>
                    <a:solidFill>
                      <a:srgbClr val="CAD0DD"/>
                    </a:solidFill>
                  </a:tcPr>
                </a:tc>
                <a:tc>
                  <a:txBody>
                    <a:bodyPr/>
                    <a:lstStyle/>
                    <a:p>
                      <a:pPr marL="575310">
                        <a:lnSpc>
                          <a:spcPct val="100000"/>
                        </a:lnSpc>
                        <a:spcBef>
                          <a:spcPts val="780"/>
                        </a:spcBef>
                      </a:pPr>
                      <a:r>
                        <a:rPr sz="1450" spc="-10" dirty="0">
                          <a:latin typeface="Times New Roman" panose="02020603050405020304"/>
                          <a:cs typeface="Times New Roman" panose="02020603050405020304"/>
                        </a:rPr>
                        <a:t>2g/0.67g</a:t>
                      </a:r>
                      <a:endParaRPr sz="1450">
                        <a:latin typeface="Times New Roman" panose="02020603050405020304"/>
                        <a:cs typeface="Times New Roman" panose="02020603050405020304"/>
                      </a:endParaRPr>
                    </a:p>
                  </a:txBody>
                  <a:tcPr marL="0" marR="0" marT="99060" marB="0">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marL="411480">
                        <a:lnSpc>
                          <a:spcPct val="100000"/>
                        </a:lnSpc>
                        <a:spcBef>
                          <a:spcPts val="780"/>
                        </a:spcBef>
                      </a:pPr>
                      <a:r>
                        <a:rPr sz="1450" spc="-10" dirty="0">
                          <a:latin typeface="Times New Roman" panose="02020603050405020304"/>
                          <a:cs typeface="Times New Roman" panose="02020603050405020304"/>
                        </a:rPr>
                        <a:t>0.75g/0.25g</a:t>
                      </a:r>
                      <a:endParaRPr sz="1450">
                        <a:latin typeface="Times New Roman" panose="02020603050405020304"/>
                        <a:cs typeface="Times New Roman" panose="02020603050405020304"/>
                      </a:endParaRPr>
                    </a:p>
                  </a:txBody>
                  <a:tcPr marL="0" marR="0" marT="99060" marB="0">
                    <a:lnL w="12700">
                      <a:solidFill>
                        <a:srgbClr val="FFFFFF"/>
                      </a:solidFill>
                      <a:prstDash val="solid"/>
                    </a:lnL>
                    <a:lnT w="12700">
                      <a:solidFill>
                        <a:srgbClr val="FFFFFF"/>
                      </a:solidFill>
                      <a:prstDash val="solid"/>
                    </a:lnT>
                    <a:lnB w="12700">
                      <a:solidFill>
                        <a:srgbClr val="FFFFFF"/>
                      </a:solidFill>
                      <a:prstDash val="solid"/>
                    </a:lnB>
                    <a:solidFill>
                      <a:srgbClr val="CAD0DD"/>
                    </a:solidFill>
                  </a:tcPr>
                </a:tc>
                <a:tc>
                  <a:txBody>
                    <a:bodyPr/>
                    <a:lstStyle/>
                    <a:p>
                      <a:pPr marL="140970" algn="ctr">
                        <a:lnSpc>
                          <a:spcPct val="100000"/>
                        </a:lnSpc>
                        <a:spcBef>
                          <a:spcPts val="780"/>
                        </a:spcBef>
                      </a:pPr>
                      <a:r>
                        <a:rPr sz="1450" spc="-25" dirty="0">
                          <a:latin typeface="Times New Roman" panose="02020603050405020304"/>
                          <a:cs typeface="Times New Roman" panose="02020603050405020304"/>
                        </a:rPr>
                        <a:t>3h</a:t>
                      </a:r>
                      <a:endParaRPr sz="1450">
                        <a:latin typeface="Times New Roman" panose="02020603050405020304"/>
                        <a:cs typeface="Times New Roman" panose="02020603050405020304"/>
                      </a:endParaRPr>
                    </a:p>
                  </a:txBody>
                  <a:tcPr marL="0" marR="0" marT="99060" marB="0">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marL="116205" algn="ctr">
                        <a:lnSpc>
                          <a:spcPct val="100000"/>
                        </a:lnSpc>
                        <a:spcBef>
                          <a:spcPts val="780"/>
                        </a:spcBef>
                      </a:pPr>
                      <a:r>
                        <a:rPr sz="1450" spc="-25" dirty="0">
                          <a:latin typeface="Times New Roman" panose="02020603050405020304"/>
                          <a:cs typeface="Times New Roman" panose="02020603050405020304"/>
                        </a:rPr>
                        <a:t>Q6h</a:t>
                      </a:r>
                      <a:endParaRPr sz="1450">
                        <a:latin typeface="Times New Roman" panose="02020603050405020304"/>
                        <a:cs typeface="Times New Roman" panose="02020603050405020304"/>
                      </a:endParaRPr>
                    </a:p>
                  </a:txBody>
                  <a:tcPr marL="0" marR="0" marT="990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extLst>
                  <a:ext uri="{0D108BD9-81ED-4DB2-BD59-A6C34878D82A}">
                    <a16:rowId xmlns:a16="http://schemas.microsoft.com/office/drawing/2014/main" val="10003"/>
                  </a:ext>
                </a:extLst>
              </a:tr>
              <a:tr h="440055">
                <a:tc>
                  <a:txBody>
                    <a:bodyPr/>
                    <a:lstStyle/>
                    <a:p>
                      <a:pPr algn="ctr">
                        <a:lnSpc>
                          <a:spcPct val="100000"/>
                        </a:lnSpc>
                        <a:spcBef>
                          <a:spcPts val="770"/>
                        </a:spcBef>
                      </a:pPr>
                      <a:r>
                        <a:rPr sz="1450" spc="-10" dirty="0">
                          <a:latin typeface="Times New Roman" panose="02020603050405020304"/>
                          <a:cs typeface="Times New Roman" panose="02020603050405020304"/>
                        </a:rPr>
                        <a:t>15-30ml/min</a:t>
                      </a:r>
                      <a:endParaRPr sz="1450">
                        <a:latin typeface="Times New Roman" panose="02020603050405020304"/>
                        <a:cs typeface="Times New Roman" panose="02020603050405020304"/>
                      </a:endParaRPr>
                    </a:p>
                  </a:txBody>
                  <a:tcPr marL="0" marR="0" marT="97790" marB="0">
                    <a:lnL w="12700">
                      <a:solidFill>
                        <a:srgbClr val="FFFFFF"/>
                      </a:solidFill>
                      <a:prstDash val="solid"/>
                    </a:lnL>
                    <a:lnT w="12700">
                      <a:solidFill>
                        <a:srgbClr val="FFFFFF"/>
                      </a:solidFill>
                      <a:prstDash val="solid"/>
                    </a:lnT>
                    <a:lnB w="12700">
                      <a:solidFill>
                        <a:srgbClr val="FFFFFF"/>
                      </a:solidFill>
                      <a:prstDash val="solid"/>
                    </a:lnB>
                    <a:solidFill>
                      <a:srgbClr val="E7E9EE"/>
                    </a:solidFill>
                  </a:tcPr>
                </a:tc>
                <a:tc>
                  <a:txBody>
                    <a:bodyPr/>
                    <a:lstStyle/>
                    <a:p>
                      <a:pPr marL="461010">
                        <a:lnSpc>
                          <a:spcPct val="100000"/>
                        </a:lnSpc>
                        <a:spcBef>
                          <a:spcPts val="770"/>
                        </a:spcBef>
                      </a:pPr>
                      <a:r>
                        <a:rPr sz="1450" spc="-10" dirty="0">
                          <a:latin typeface="Times New Roman" panose="02020603050405020304"/>
                          <a:cs typeface="Times New Roman" panose="02020603050405020304"/>
                        </a:rPr>
                        <a:t>1.35g/0.45g</a:t>
                      </a:r>
                      <a:endParaRPr sz="1450">
                        <a:latin typeface="Times New Roman" panose="02020603050405020304"/>
                        <a:cs typeface="Times New Roman" panose="02020603050405020304"/>
                      </a:endParaRPr>
                    </a:p>
                  </a:txBody>
                  <a:tcPr marL="0" marR="0" marT="97790" marB="0">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marR="151130" algn="r">
                        <a:lnSpc>
                          <a:spcPct val="100000"/>
                        </a:lnSpc>
                        <a:spcBef>
                          <a:spcPts val="770"/>
                        </a:spcBef>
                      </a:pPr>
                      <a:r>
                        <a:rPr sz="1450" spc="-10" dirty="0">
                          <a:latin typeface="Times New Roman" panose="02020603050405020304"/>
                          <a:cs typeface="Times New Roman" panose="02020603050405020304"/>
                        </a:rPr>
                        <a:t>0.675g/0.225g</a:t>
                      </a:r>
                      <a:endParaRPr sz="1450">
                        <a:latin typeface="Times New Roman" panose="02020603050405020304"/>
                        <a:cs typeface="Times New Roman" panose="02020603050405020304"/>
                      </a:endParaRPr>
                    </a:p>
                  </a:txBody>
                  <a:tcPr marL="0" marR="0" marT="97790" marB="0">
                    <a:lnL w="12700">
                      <a:solidFill>
                        <a:srgbClr val="FFFFFF"/>
                      </a:solidFill>
                      <a:prstDash val="solid"/>
                    </a:lnL>
                    <a:lnT w="12700">
                      <a:solidFill>
                        <a:srgbClr val="FFFFFF"/>
                      </a:solidFill>
                      <a:prstDash val="solid"/>
                    </a:lnT>
                    <a:lnB w="12700">
                      <a:solidFill>
                        <a:srgbClr val="FFFFFF"/>
                      </a:solidFill>
                      <a:prstDash val="solid"/>
                    </a:lnB>
                    <a:solidFill>
                      <a:srgbClr val="E7E9EE"/>
                    </a:solidFill>
                  </a:tcPr>
                </a:tc>
                <a:tc>
                  <a:txBody>
                    <a:bodyPr/>
                    <a:lstStyle/>
                    <a:p>
                      <a:pPr marL="140970" algn="ctr">
                        <a:lnSpc>
                          <a:spcPct val="100000"/>
                        </a:lnSpc>
                        <a:spcBef>
                          <a:spcPts val="770"/>
                        </a:spcBef>
                      </a:pPr>
                      <a:r>
                        <a:rPr sz="1450" spc="-25" dirty="0">
                          <a:latin typeface="Times New Roman" panose="02020603050405020304"/>
                          <a:cs typeface="Times New Roman" panose="02020603050405020304"/>
                        </a:rPr>
                        <a:t>3h</a:t>
                      </a:r>
                      <a:endParaRPr sz="1450">
                        <a:latin typeface="Times New Roman" panose="02020603050405020304"/>
                        <a:cs typeface="Times New Roman" panose="02020603050405020304"/>
                      </a:endParaRPr>
                    </a:p>
                  </a:txBody>
                  <a:tcPr marL="0" marR="0" marT="97790" marB="0">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marL="116205" algn="ctr">
                        <a:lnSpc>
                          <a:spcPct val="100000"/>
                        </a:lnSpc>
                        <a:spcBef>
                          <a:spcPts val="770"/>
                        </a:spcBef>
                      </a:pPr>
                      <a:r>
                        <a:rPr sz="1450" spc="-25" dirty="0">
                          <a:latin typeface="Times New Roman" panose="02020603050405020304"/>
                          <a:cs typeface="Times New Roman" panose="02020603050405020304"/>
                        </a:rPr>
                        <a:t>Q8h</a:t>
                      </a:r>
                      <a:endParaRPr sz="1450">
                        <a:latin typeface="Times New Roman" panose="02020603050405020304"/>
                        <a:cs typeface="Times New Roman" panose="02020603050405020304"/>
                      </a:endParaRPr>
                    </a:p>
                  </a:txBody>
                  <a:tcPr marL="0" marR="0" marT="977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extLst>
                  <a:ext uri="{0D108BD9-81ED-4DB2-BD59-A6C34878D82A}">
                    <a16:rowId xmlns:a16="http://schemas.microsoft.com/office/drawing/2014/main" val="10004"/>
                  </a:ext>
                </a:extLst>
              </a:tr>
              <a:tr h="511809">
                <a:tc>
                  <a:txBody>
                    <a:bodyPr/>
                    <a:lstStyle/>
                    <a:p>
                      <a:pPr algn="ctr">
                        <a:lnSpc>
                          <a:spcPct val="100000"/>
                        </a:lnSpc>
                        <a:spcBef>
                          <a:spcPts val="190"/>
                        </a:spcBef>
                      </a:pPr>
                      <a:r>
                        <a:rPr sz="1450" spc="-10" dirty="0">
                          <a:latin typeface="Times New Roman" panose="02020603050405020304"/>
                          <a:cs typeface="Times New Roman" panose="02020603050405020304"/>
                        </a:rPr>
                        <a:t>≤15mL/min</a:t>
                      </a:r>
                      <a:endParaRPr sz="1450">
                        <a:latin typeface="Times New Roman" panose="02020603050405020304"/>
                        <a:cs typeface="Times New Roman" panose="02020603050405020304"/>
                      </a:endParaRPr>
                    </a:p>
                    <a:p>
                      <a:pPr algn="ctr">
                        <a:lnSpc>
                          <a:spcPct val="100000"/>
                        </a:lnSpc>
                        <a:spcBef>
                          <a:spcPts val="40"/>
                        </a:spcBef>
                      </a:pPr>
                      <a:r>
                        <a:rPr sz="1450" spc="-25" dirty="0">
                          <a:latin typeface="微软雅黑" panose="020B0503020204020204" charset="-122"/>
                          <a:cs typeface="微软雅黑" panose="020B0503020204020204" charset="-122"/>
                        </a:rPr>
                        <a:t>间歇性血液透析</a:t>
                      </a:r>
                      <a:endParaRPr sz="1450">
                        <a:latin typeface="微软雅黑" panose="020B0503020204020204" charset="-122"/>
                        <a:cs typeface="微软雅黑" panose="020B0503020204020204" charset="-122"/>
                      </a:endParaRPr>
                    </a:p>
                  </a:txBody>
                  <a:tcPr marL="0" marR="0" marT="24130" marB="0">
                    <a:lnL w="12700">
                      <a:solidFill>
                        <a:srgbClr val="FFFFFF"/>
                      </a:solidFill>
                      <a:prstDash val="solid"/>
                    </a:lnL>
                    <a:lnT w="12700">
                      <a:solidFill>
                        <a:srgbClr val="FFFFFF"/>
                      </a:solidFill>
                      <a:prstDash val="solid"/>
                    </a:lnT>
                    <a:lnB w="12700">
                      <a:solidFill>
                        <a:srgbClr val="FFFFFF"/>
                      </a:solidFill>
                      <a:prstDash val="solid"/>
                    </a:lnB>
                    <a:solidFill>
                      <a:srgbClr val="CAD0DD"/>
                    </a:solidFill>
                  </a:tcPr>
                </a:tc>
                <a:tc>
                  <a:txBody>
                    <a:bodyPr/>
                    <a:lstStyle/>
                    <a:p>
                      <a:pPr marL="575310">
                        <a:lnSpc>
                          <a:spcPct val="100000"/>
                        </a:lnSpc>
                        <a:spcBef>
                          <a:spcPts val="1055"/>
                        </a:spcBef>
                      </a:pPr>
                      <a:r>
                        <a:rPr sz="1450" spc="-10" dirty="0">
                          <a:latin typeface="Times New Roman" panose="02020603050405020304"/>
                          <a:cs typeface="Times New Roman" panose="02020603050405020304"/>
                        </a:rPr>
                        <a:t>1g/0.33g</a:t>
                      </a:r>
                      <a:endParaRPr sz="1450">
                        <a:latin typeface="Times New Roman" panose="02020603050405020304"/>
                        <a:cs typeface="Times New Roman" panose="02020603050405020304"/>
                      </a:endParaRPr>
                    </a:p>
                  </a:txBody>
                  <a:tcPr marL="0" marR="0" marT="133985" marB="0">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marR="151130" algn="r">
                        <a:lnSpc>
                          <a:spcPct val="100000"/>
                        </a:lnSpc>
                        <a:spcBef>
                          <a:spcPts val="1055"/>
                        </a:spcBef>
                      </a:pPr>
                      <a:r>
                        <a:rPr sz="1450" spc="-10" dirty="0">
                          <a:latin typeface="Times New Roman" panose="02020603050405020304"/>
                          <a:cs typeface="Times New Roman" panose="02020603050405020304"/>
                        </a:rPr>
                        <a:t>0.675g/0.225g</a:t>
                      </a:r>
                      <a:endParaRPr sz="1450">
                        <a:latin typeface="Times New Roman" panose="02020603050405020304"/>
                        <a:cs typeface="Times New Roman" panose="02020603050405020304"/>
                      </a:endParaRPr>
                    </a:p>
                  </a:txBody>
                  <a:tcPr marL="0" marR="0" marT="133985" marB="0">
                    <a:lnL w="12700">
                      <a:solidFill>
                        <a:srgbClr val="FFFFFF"/>
                      </a:solidFill>
                      <a:prstDash val="solid"/>
                    </a:lnL>
                    <a:lnT w="12700">
                      <a:solidFill>
                        <a:srgbClr val="FFFFFF"/>
                      </a:solidFill>
                      <a:prstDash val="solid"/>
                    </a:lnT>
                    <a:lnB w="12700">
                      <a:solidFill>
                        <a:srgbClr val="FFFFFF"/>
                      </a:solidFill>
                      <a:prstDash val="solid"/>
                    </a:lnB>
                    <a:solidFill>
                      <a:srgbClr val="CAD0DD"/>
                    </a:solidFill>
                  </a:tcPr>
                </a:tc>
                <a:tc>
                  <a:txBody>
                    <a:bodyPr/>
                    <a:lstStyle/>
                    <a:p>
                      <a:pPr marL="140970" algn="ctr">
                        <a:lnSpc>
                          <a:spcPct val="100000"/>
                        </a:lnSpc>
                        <a:spcBef>
                          <a:spcPts val="1055"/>
                        </a:spcBef>
                      </a:pPr>
                      <a:r>
                        <a:rPr sz="1450" spc="-25" dirty="0">
                          <a:latin typeface="Times New Roman" panose="02020603050405020304"/>
                          <a:cs typeface="Times New Roman" panose="02020603050405020304"/>
                        </a:rPr>
                        <a:t>3h</a:t>
                      </a:r>
                      <a:endParaRPr sz="1450">
                        <a:latin typeface="Times New Roman" panose="02020603050405020304"/>
                        <a:cs typeface="Times New Roman" panose="02020603050405020304"/>
                      </a:endParaRPr>
                    </a:p>
                  </a:txBody>
                  <a:tcPr marL="0" marR="0" marT="133985" marB="0">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tc>
                  <a:txBody>
                    <a:bodyPr/>
                    <a:lstStyle/>
                    <a:p>
                      <a:pPr marL="116205" algn="ctr">
                        <a:lnSpc>
                          <a:spcPct val="100000"/>
                        </a:lnSpc>
                        <a:spcBef>
                          <a:spcPts val="1055"/>
                        </a:spcBef>
                      </a:pPr>
                      <a:r>
                        <a:rPr sz="1450" spc="-20" dirty="0">
                          <a:latin typeface="Times New Roman" panose="02020603050405020304"/>
                          <a:cs typeface="Times New Roman" panose="02020603050405020304"/>
                        </a:rPr>
                        <a:t>Q12h</a:t>
                      </a:r>
                      <a:endParaRPr sz="1450">
                        <a:latin typeface="Times New Roman" panose="02020603050405020304"/>
                        <a:cs typeface="Times New Roman" panose="02020603050405020304"/>
                      </a:endParaRPr>
                    </a:p>
                  </a:txBody>
                  <a:tcPr marL="0" marR="0" marT="133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0DD"/>
                    </a:solidFill>
                  </a:tcPr>
                </a:tc>
                <a:extLst>
                  <a:ext uri="{0D108BD9-81ED-4DB2-BD59-A6C34878D82A}">
                    <a16:rowId xmlns:a16="http://schemas.microsoft.com/office/drawing/2014/main" val="10005"/>
                  </a:ext>
                </a:extLst>
              </a:tr>
            </a:tbl>
          </a:graphicData>
        </a:graphic>
      </p:graphicFrame>
      <p:sp>
        <p:nvSpPr>
          <p:cNvPr id="4" name="object 4"/>
          <p:cNvSpPr txBox="1"/>
          <p:nvPr/>
        </p:nvSpPr>
        <p:spPr>
          <a:xfrm>
            <a:off x="411480" y="4591811"/>
            <a:ext cx="2814320" cy="245110"/>
          </a:xfrm>
          <a:prstGeom prst="rect">
            <a:avLst/>
          </a:prstGeom>
        </p:spPr>
        <p:txBody>
          <a:bodyPr vert="horz" wrap="square" lIns="0" tIns="11430" rIns="0" bIns="0" rtlCol="0">
            <a:spAutoFit/>
          </a:bodyPr>
          <a:lstStyle/>
          <a:p>
            <a:pPr marL="240665" indent="-227965">
              <a:lnSpc>
                <a:spcPct val="100000"/>
              </a:lnSpc>
              <a:spcBef>
                <a:spcPts val="90"/>
              </a:spcBef>
              <a:buFont typeface="Wingdings" panose="05000000000000000000"/>
              <a:buChar char=""/>
              <a:tabLst>
                <a:tab pos="240665" algn="l"/>
              </a:tabLst>
            </a:pPr>
            <a:r>
              <a:rPr sz="1450" spc="-25" dirty="0">
                <a:latin typeface="微软雅黑" panose="020B0503020204020204" charset="-122"/>
                <a:cs typeface="微软雅黑" panose="020B0503020204020204" charset="-122"/>
              </a:rPr>
              <a:t>血液透析当天，应在结束后给药</a:t>
            </a:r>
            <a:endParaRPr sz="1450">
              <a:latin typeface="微软雅黑" panose="020B0503020204020204" charset="-122"/>
              <a:cs typeface="微软雅黑" panose="020B0503020204020204" charset="-122"/>
            </a:endParaRPr>
          </a:p>
        </p:txBody>
      </p:sp>
      <p:sp>
        <p:nvSpPr>
          <p:cNvPr id="5" name="object 5"/>
          <p:cNvSpPr txBox="1"/>
          <p:nvPr/>
        </p:nvSpPr>
        <p:spPr>
          <a:xfrm>
            <a:off x="411480" y="4811267"/>
            <a:ext cx="8595360" cy="234315"/>
          </a:xfrm>
          <a:prstGeom prst="rect">
            <a:avLst/>
          </a:prstGeom>
        </p:spPr>
        <p:txBody>
          <a:bodyPr vert="horz" wrap="square" lIns="0" tIns="11430" rIns="0" bIns="0" rtlCol="0">
            <a:spAutoFit/>
          </a:bodyPr>
          <a:lstStyle/>
          <a:p>
            <a:pPr marL="240665" indent="-227965">
              <a:lnSpc>
                <a:spcPct val="100000"/>
              </a:lnSpc>
              <a:spcBef>
                <a:spcPts val="90"/>
              </a:spcBef>
              <a:buFont typeface="Wingdings" panose="05000000000000000000"/>
              <a:buChar char=""/>
              <a:tabLst>
                <a:tab pos="240665" algn="l"/>
              </a:tabLst>
            </a:pPr>
            <a:r>
              <a:rPr sz="1450" spc="-20" dirty="0">
                <a:latin typeface="微软雅黑" panose="020B0503020204020204" charset="-122"/>
                <a:cs typeface="微软雅黑" panose="020B0503020204020204" charset="-122"/>
              </a:rPr>
              <a:t>除非已经开始血液透析或其他形式的肾脏替代疗法，</a:t>
            </a:r>
            <a:r>
              <a:rPr sz="1450" u="sng" spc="-20" dirty="0">
                <a:uFill>
                  <a:solidFill>
                    <a:srgbClr val="FF0000"/>
                  </a:solidFill>
                </a:uFill>
                <a:latin typeface="微软雅黑" panose="020B0503020204020204" charset="-122"/>
                <a:cs typeface="微软雅黑" panose="020B0503020204020204" charset="-122"/>
              </a:rPr>
              <a:t>否则</a:t>
            </a:r>
            <a:r>
              <a:rPr sz="1450" u="sng" spc="-20" dirty="0">
                <a:uFill>
                  <a:solidFill>
                    <a:srgbClr val="FF0000"/>
                  </a:solidFill>
                </a:uFill>
                <a:latin typeface="Times New Roman" panose="02020603050405020304"/>
                <a:cs typeface="Times New Roman" panose="02020603050405020304"/>
              </a:rPr>
              <a:t>CrCL</a:t>
            </a:r>
            <a:r>
              <a:rPr sz="1450" u="sng" spc="-20" dirty="0">
                <a:uFill>
                  <a:solidFill>
                    <a:srgbClr val="FF0000"/>
                  </a:solidFill>
                </a:uFill>
                <a:latin typeface="微软雅黑" panose="020B0503020204020204" charset="-122"/>
                <a:cs typeface="微软雅黑" panose="020B0503020204020204" charset="-122"/>
              </a:rPr>
              <a:t>＜</a:t>
            </a:r>
            <a:r>
              <a:rPr sz="1450" u="sng" spc="-20" dirty="0">
                <a:uFill>
                  <a:solidFill>
                    <a:srgbClr val="FF0000"/>
                  </a:solidFill>
                </a:uFill>
                <a:latin typeface="Times New Roman" panose="02020603050405020304"/>
                <a:cs typeface="Times New Roman" panose="02020603050405020304"/>
              </a:rPr>
              <a:t>15</a:t>
            </a:r>
            <a:r>
              <a:rPr sz="1450" u="sng" spc="-20" dirty="0">
                <a:uFill>
                  <a:solidFill>
                    <a:srgbClr val="FF0000"/>
                  </a:solidFill>
                </a:uFill>
                <a:latin typeface="微软雅黑" panose="020B0503020204020204" charset="-122"/>
                <a:cs typeface="微软雅黑" panose="020B0503020204020204" charset="-122"/>
              </a:rPr>
              <a:t>的患者</a:t>
            </a:r>
            <a:r>
              <a:rPr sz="1450" spc="-20" dirty="0">
                <a:latin typeface="微软雅黑" panose="020B0503020204020204" charset="-122"/>
                <a:cs typeface="微软雅黑" panose="020B0503020204020204" charset="-122"/>
              </a:rPr>
              <a:t>，不</a:t>
            </a:r>
            <a:r>
              <a:rPr lang="zh-CN" altLang="" sz="1450" spc="-20" dirty="0">
                <a:latin typeface="微软雅黑" panose="020B0503020204020204" charset="-122"/>
                <a:ea typeface="宋体" panose="02010600030101010101" pitchFamily="2" charset="-122"/>
                <a:cs typeface="微软雅黑" panose="020B0503020204020204" charset="-122"/>
              </a:rPr>
              <a:t>应</a:t>
            </a:r>
            <a:r>
              <a:rPr sz="1450" spc="-20" dirty="0">
                <a:latin typeface="微软雅黑" panose="020B0503020204020204" charset="-122"/>
                <a:cs typeface="微软雅黑" panose="020B0503020204020204" charset="-122"/>
              </a:rPr>
              <a:t>使用氨曲南</a:t>
            </a:r>
            <a:r>
              <a:rPr sz="1450" spc="-10" dirty="0">
                <a:latin typeface="Times New Roman" panose="02020603050405020304"/>
                <a:cs typeface="Times New Roman" panose="02020603050405020304"/>
              </a:rPr>
              <a:t>-</a:t>
            </a:r>
            <a:r>
              <a:rPr sz="1450" spc="-30" dirty="0">
                <a:latin typeface="微软雅黑" panose="020B0503020204020204" charset="-122"/>
                <a:cs typeface="微软雅黑" panose="020B0503020204020204" charset="-122"/>
              </a:rPr>
              <a:t>阿维巴坦</a:t>
            </a:r>
            <a:endParaRPr sz="1450">
              <a:latin typeface="微软雅黑" panose="020B0503020204020204" charset="-122"/>
              <a:cs typeface="微软雅黑" panose="020B0503020204020204" charset="-122"/>
            </a:endParaRPr>
          </a:p>
        </p:txBody>
      </p:sp>
      <p:grpSp>
        <p:nvGrpSpPr>
          <p:cNvPr id="6" name="object 6"/>
          <p:cNvGrpSpPr/>
          <p:nvPr/>
        </p:nvGrpSpPr>
        <p:grpSpPr>
          <a:xfrm>
            <a:off x="467715" y="909401"/>
            <a:ext cx="4706620" cy="301625"/>
            <a:chOff x="467715" y="909401"/>
            <a:chExt cx="4706620" cy="301625"/>
          </a:xfrm>
        </p:grpSpPr>
        <p:pic>
          <p:nvPicPr>
            <p:cNvPr id="7" name="object 7"/>
            <p:cNvPicPr/>
            <p:nvPr/>
          </p:nvPicPr>
          <p:blipFill>
            <a:blip r:embed="rId2" cstate="print"/>
            <a:stretch>
              <a:fillRect/>
            </a:stretch>
          </p:blipFill>
          <p:spPr>
            <a:xfrm>
              <a:off x="470814" y="912164"/>
              <a:ext cx="4700015" cy="296265"/>
            </a:xfrm>
            <a:prstGeom prst="rect">
              <a:avLst/>
            </a:prstGeom>
          </p:spPr>
        </p:pic>
        <p:sp>
          <p:nvSpPr>
            <p:cNvPr id="8" name="object 8"/>
            <p:cNvSpPr/>
            <p:nvPr/>
          </p:nvSpPr>
          <p:spPr>
            <a:xfrm>
              <a:off x="467715" y="909401"/>
              <a:ext cx="4706620" cy="301625"/>
            </a:xfrm>
            <a:custGeom>
              <a:avLst/>
              <a:gdLst/>
              <a:ahLst/>
              <a:cxnLst/>
              <a:rect l="l" t="t" r="r" b="b"/>
              <a:pathLst>
                <a:path w="4706620" h="301625">
                  <a:moveTo>
                    <a:pt x="4706000" y="301569"/>
                  </a:moveTo>
                  <a:lnTo>
                    <a:pt x="0" y="301569"/>
                  </a:lnTo>
                  <a:lnTo>
                    <a:pt x="0" y="0"/>
                  </a:lnTo>
                  <a:lnTo>
                    <a:pt x="4706000" y="0"/>
                  </a:lnTo>
                  <a:lnTo>
                    <a:pt x="4706000" y="3058"/>
                  </a:lnTo>
                  <a:lnTo>
                    <a:pt x="6096" y="3058"/>
                  </a:lnTo>
                  <a:lnTo>
                    <a:pt x="3048" y="6106"/>
                  </a:lnTo>
                  <a:lnTo>
                    <a:pt x="6096" y="6106"/>
                  </a:lnTo>
                  <a:lnTo>
                    <a:pt x="6096" y="295473"/>
                  </a:lnTo>
                  <a:lnTo>
                    <a:pt x="3048" y="295473"/>
                  </a:lnTo>
                  <a:lnTo>
                    <a:pt x="6096" y="298521"/>
                  </a:lnTo>
                  <a:lnTo>
                    <a:pt x="4706000" y="298521"/>
                  </a:lnTo>
                  <a:lnTo>
                    <a:pt x="4706000" y="301569"/>
                  </a:lnTo>
                  <a:close/>
                </a:path>
                <a:path w="4706620" h="301625">
                  <a:moveTo>
                    <a:pt x="6096" y="6106"/>
                  </a:moveTo>
                  <a:lnTo>
                    <a:pt x="3048" y="6106"/>
                  </a:lnTo>
                  <a:lnTo>
                    <a:pt x="6096" y="3058"/>
                  </a:lnTo>
                  <a:lnTo>
                    <a:pt x="6096" y="6106"/>
                  </a:lnTo>
                  <a:close/>
                </a:path>
                <a:path w="4706620" h="301625">
                  <a:moveTo>
                    <a:pt x="4699904" y="6106"/>
                  </a:moveTo>
                  <a:lnTo>
                    <a:pt x="6096" y="6106"/>
                  </a:lnTo>
                  <a:lnTo>
                    <a:pt x="6096" y="3058"/>
                  </a:lnTo>
                  <a:lnTo>
                    <a:pt x="4699904" y="3058"/>
                  </a:lnTo>
                  <a:lnTo>
                    <a:pt x="4699904" y="6106"/>
                  </a:lnTo>
                  <a:close/>
                </a:path>
                <a:path w="4706620" h="301625">
                  <a:moveTo>
                    <a:pt x="4699904" y="298521"/>
                  </a:moveTo>
                  <a:lnTo>
                    <a:pt x="4699904" y="3058"/>
                  </a:lnTo>
                  <a:lnTo>
                    <a:pt x="4702952" y="6106"/>
                  </a:lnTo>
                  <a:lnTo>
                    <a:pt x="4706000" y="6106"/>
                  </a:lnTo>
                  <a:lnTo>
                    <a:pt x="4706000" y="295473"/>
                  </a:lnTo>
                  <a:lnTo>
                    <a:pt x="4702952" y="295473"/>
                  </a:lnTo>
                  <a:lnTo>
                    <a:pt x="4699904" y="298521"/>
                  </a:lnTo>
                  <a:close/>
                </a:path>
                <a:path w="4706620" h="301625">
                  <a:moveTo>
                    <a:pt x="4706000" y="6106"/>
                  </a:moveTo>
                  <a:lnTo>
                    <a:pt x="4702952" y="6106"/>
                  </a:lnTo>
                  <a:lnTo>
                    <a:pt x="4699904" y="3058"/>
                  </a:lnTo>
                  <a:lnTo>
                    <a:pt x="4706000" y="3058"/>
                  </a:lnTo>
                  <a:lnTo>
                    <a:pt x="4706000" y="6106"/>
                  </a:lnTo>
                  <a:close/>
                </a:path>
                <a:path w="4706620" h="301625">
                  <a:moveTo>
                    <a:pt x="6096" y="298521"/>
                  </a:moveTo>
                  <a:lnTo>
                    <a:pt x="3048" y="295473"/>
                  </a:lnTo>
                  <a:lnTo>
                    <a:pt x="6096" y="295473"/>
                  </a:lnTo>
                  <a:lnTo>
                    <a:pt x="6096" y="298521"/>
                  </a:lnTo>
                  <a:close/>
                </a:path>
                <a:path w="4706620" h="301625">
                  <a:moveTo>
                    <a:pt x="4699904" y="298521"/>
                  </a:moveTo>
                  <a:lnTo>
                    <a:pt x="6096" y="298521"/>
                  </a:lnTo>
                  <a:lnTo>
                    <a:pt x="6096" y="295473"/>
                  </a:lnTo>
                  <a:lnTo>
                    <a:pt x="4699904" y="295473"/>
                  </a:lnTo>
                  <a:lnTo>
                    <a:pt x="4699904" y="298521"/>
                  </a:lnTo>
                  <a:close/>
                </a:path>
                <a:path w="4706620" h="301625">
                  <a:moveTo>
                    <a:pt x="4706000" y="298521"/>
                  </a:moveTo>
                  <a:lnTo>
                    <a:pt x="4699904" y="298521"/>
                  </a:lnTo>
                  <a:lnTo>
                    <a:pt x="4702952" y="295473"/>
                  </a:lnTo>
                  <a:lnTo>
                    <a:pt x="4706000" y="295473"/>
                  </a:lnTo>
                  <a:lnTo>
                    <a:pt x="4706000" y="298521"/>
                  </a:lnTo>
                  <a:close/>
                </a:path>
              </a:pathLst>
            </a:custGeom>
            <a:solidFill>
              <a:srgbClr val="64B339"/>
            </a:solidFill>
          </p:spPr>
          <p:txBody>
            <a:bodyPr wrap="square" lIns="0" tIns="0" rIns="0" bIns="0" rtlCol="0"/>
            <a:lstStyle/>
            <a:p>
              <a:endParaRPr/>
            </a:p>
          </p:txBody>
        </p:sp>
      </p:grpSp>
      <p:sp>
        <p:nvSpPr>
          <p:cNvPr id="9" name="object 9"/>
          <p:cNvSpPr txBox="1"/>
          <p:nvPr/>
        </p:nvSpPr>
        <p:spPr>
          <a:xfrm>
            <a:off x="531215" y="910427"/>
            <a:ext cx="3731260" cy="269875"/>
          </a:xfrm>
          <a:prstGeom prst="rect">
            <a:avLst/>
          </a:prstGeom>
        </p:spPr>
        <p:txBody>
          <a:bodyPr vert="horz" wrap="square" lIns="0" tIns="13335" rIns="0" bIns="0" rtlCol="0">
            <a:spAutoFit/>
          </a:bodyPr>
          <a:lstStyle/>
          <a:p>
            <a:pPr marL="240665" indent="-227965">
              <a:lnSpc>
                <a:spcPct val="100000"/>
              </a:lnSpc>
              <a:spcBef>
                <a:spcPts val="105"/>
              </a:spcBef>
              <a:buFont typeface="Arial MT"/>
              <a:buChar char="•"/>
              <a:tabLst>
                <a:tab pos="240665" algn="l"/>
              </a:tabLst>
            </a:pPr>
            <a:r>
              <a:rPr sz="1600" spc="-10" dirty="0">
                <a:latin typeface="微软雅黑" panose="020B0503020204020204" charset="-122"/>
                <a:cs typeface="微软雅黑" panose="020B0503020204020204" charset="-122"/>
              </a:rPr>
              <a:t>每瓶含有1.5g氨曲南，和0.5g</a:t>
            </a:r>
            <a:r>
              <a:rPr sz="1600" spc="-20" dirty="0">
                <a:latin typeface="微软雅黑" panose="020B0503020204020204" charset="-122"/>
                <a:cs typeface="微软雅黑" panose="020B0503020204020204" charset="-122"/>
              </a:rPr>
              <a:t>阿维巴坦</a:t>
            </a:r>
            <a:endParaRPr sz="1600">
              <a:latin typeface="微软雅黑" panose="020B0503020204020204" charset="-122"/>
              <a:cs typeface="微软雅黑" panose="020B0503020204020204" charset="-122"/>
            </a:endParaRPr>
          </a:p>
        </p:txBody>
      </p:sp>
      <p:sp>
        <p:nvSpPr>
          <p:cNvPr id="10" name="object 10"/>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11" name="object 11"/>
          <p:cNvSpPr txBox="1"/>
          <p:nvPr/>
        </p:nvSpPr>
        <p:spPr>
          <a:xfrm>
            <a:off x="6504940" y="4728464"/>
            <a:ext cx="67945" cy="116839"/>
          </a:xfrm>
          <a:prstGeom prst="rect">
            <a:avLst/>
          </a:prstGeom>
        </p:spPr>
        <p:txBody>
          <a:bodyPr vert="horz" wrap="square" lIns="0" tIns="12700" rIns="0" bIns="0" rtlCol="0">
            <a:spAutoFit/>
          </a:bodyPr>
          <a:lstStyle/>
          <a:p>
            <a:pPr marL="12700">
              <a:lnSpc>
                <a:spcPct val="100000"/>
              </a:lnSpc>
              <a:spcBef>
                <a:spcPts val="100"/>
              </a:spcBef>
            </a:pPr>
            <a:r>
              <a:rPr sz="600" spc="-50" dirty="0">
                <a:solidFill>
                  <a:srgbClr val="FF0000"/>
                </a:solidFill>
                <a:latin typeface="Arial MT"/>
                <a:cs typeface="Arial MT"/>
              </a:rPr>
              <a:t>1</a:t>
            </a:r>
            <a:endParaRPr sz="600">
              <a:latin typeface="Arial MT"/>
              <a:cs typeface="Arial MT"/>
            </a:endParaRPr>
          </a:p>
        </p:txBody>
      </p:sp>
      <p:sp>
        <p:nvSpPr>
          <p:cNvPr id="12" name="object 12"/>
          <p:cNvSpPr/>
          <p:nvPr/>
        </p:nvSpPr>
        <p:spPr>
          <a:xfrm>
            <a:off x="4047490" y="4872228"/>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ln w="12700">
            <a:solidFill>
              <a:srgbClr val="DF5F5F"/>
            </a:solidFill>
            <a:prstDash val="dot"/>
          </a:ln>
        </p:spPr>
        <p:txBody>
          <a:bodyPr wrap="square" lIns="0" tIns="0" rIns="0" bIns="0" rtlCol="0"/>
          <a:lstStyle/>
          <a:p>
            <a:endParaRPr/>
          </a:p>
        </p:txBody>
      </p:sp>
      <p:sp>
        <p:nvSpPr>
          <p:cNvPr id="13" name="object 13"/>
          <p:cNvSpPr txBox="1"/>
          <p:nvPr/>
        </p:nvSpPr>
        <p:spPr>
          <a:xfrm>
            <a:off x="4352290" y="4770628"/>
            <a:ext cx="67945" cy="116839"/>
          </a:xfrm>
          <a:prstGeom prst="rect">
            <a:avLst/>
          </a:prstGeom>
        </p:spPr>
        <p:txBody>
          <a:bodyPr vert="horz" wrap="square" lIns="0" tIns="12700" rIns="0" bIns="0" rtlCol="0">
            <a:spAutoFit/>
          </a:bodyPr>
          <a:lstStyle/>
          <a:p>
            <a:pPr marL="12700">
              <a:lnSpc>
                <a:spcPct val="100000"/>
              </a:lnSpc>
              <a:spcBef>
                <a:spcPts val="100"/>
              </a:spcBef>
            </a:pPr>
            <a:r>
              <a:rPr sz="600" spc="-50" dirty="0">
                <a:solidFill>
                  <a:srgbClr val="FF0000"/>
                </a:solidFill>
                <a:latin typeface="Arial MT"/>
                <a:cs typeface="Arial MT"/>
              </a:rPr>
              <a:t>2</a:t>
            </a:r>
            <a:endParaRPr sz="600">
              <a:latin typeface="Arial MT"/>
              <a:cs typeface="Arial MT"/>
            </a:endParaRPr>
          </a:p>
        </p:txBody>
      </p:sp>
      <p:sp>
        <p:nvSpPr>
          <p:cNvPr id="27" name="object 27"/>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25</a:t>
            </a:fld>
            <a:r>
              <a:rPr spc="-10" dirty="0"/>
              <a:t> </a:t>
            </a:r>
            <a:r>
              <a:rPr spc="-50" dirty="0"/>
              <a:t>-</a:t>
            </a:r>
          </a:p>
        </p:txBody>
      </p:sp>
      <p:sp>
        <p:nvSpPr>
          <p:cNvPr id="28" name="文本框 27"/>
          <p:cNvSpPr txBox="1"/>
          <p:nvPr/>
        </p:nvSpPr>
        <p:spPr>
          <a:xfrm>
            <a:off x="213360" y="6455410"/>
            <a:ext cx="2700020" cy="198755"/>
          </a:xfrm>
          <a:prstGeom prst="rect">
            <a:avLst/>
          </a:prstGeom>
          <a:noFill/>
        </p:spPr>
        <p:txBody>
          <a:bodyPr wrap="square" rtlCol="0">
            <a:spAutoFit/>
          </a:bodyPr>
          <a:lstStyle/>
          <a:p>
            <a:r>
              <a:rPr sz="700" spc="-20" dirty="0">
                <a:solidFill>
                  <a:schemeClr val="tx1"/>
                </a:solidFill>
                <a:latin typeface="微软雅黑" panose="020B0503020204020204" charset="-122"/>
                <a:cs typeface="微软雅黑" panose="020B0503020204020204" charset="-122"/>
                <a:sym typeface="+mn-ea"/>
              </a:rPr>
              <a:t>注射用氨曲南阿维巴坦钠说明书（核准日期：</a:t>
            </a:r>
            <a:r>
              <a:rPr sz="700" spc="-10" dirty="0">
                <a:solidFill>
                  <a:schemeClr val="tx1"/>
                </a:solidFill>
                <a:latin typeface="Times New Roman" panose="02020603050405020304"/>
                <a:cs typeface="Times New Roman" panose="02020603050405020304"/>
                <a:sym typeface="+mn-ea"/>
              </a:rPr>
              <a:t>2025</a:t>
            </a:r>
            <a:r>
              <a:rPr sz="700" spc="-20" dirty="0">
                <a:solidFill>
                  <a:schemeClr val="tx1"/>
                </a:solidFill>
                <a:latin typeface="微软雅黑" panose="020B0503020204020204" charset="-122"/>
                <a:cs typeface="微软雅黑" panose="020B0503020204020204" charset="-122"/>
                <a:sym typeface="+mn-ea"/>
              </a:rPr>
              <a:t>年</a:t>
            </a:r>
            <a:r>
              <a:rPr sz="700" spc="-10" dirty="0">
                <a:solidFill>
                  <a:schemeClr val="tx1"/>
                </a:solidFill>
                <a:latin typeface="Times New Roman" panose="02020603050405020304"/>
                <a:cs typeface="Times New Roman" panose="02020603050405020304"/>
                <a:sym typeface="+mn-ea"/>
              </a:rPr>
              <a:t>6</a:t>
            </a:r>
            <a:r>
              <a:rPr sz="700" spc="-20" dirty="0">
                <a:solidFill>
                  <a:schemeClr val="tx1"/>
                </a:solidFill>
                <a:latin typeface="微软雅黑" panose="020B0503020204020204" charset="-122"/>
                <a:cs typeface="微软雅黑" panose="020B0503020204020204" charset="-122"/>
                <a:sym typeface="+mn-ea"/>
              </a:rPr>
              <a:t>月</a:t>
            </a:r>
            <a:r>
              <a:rPr sz="700" spc="-10" dirty="0">
                <a:solidFill>
                  <a:schemeClr val="tx1"/>
                </a:solidFill>
                <a:latin typeface="Times New Roman" panose="02020603050405020304"/>
                <a:cs typeface="Times New Roman" panose="02020603050405020304"/>
                <a:sym typeface="+mn-ea"/>
              </a:rPr>
              <a:t>24</a:t>
            </a:r>
            <a:r>
              <a:rPr sz="700" spc="-20" dirty="0">
                <a:solidFill>
                  <a:schemeClr val="tx1"/>
                </a:solidFill>
                <a:latin typeface="微软雅黑" panose="020B0503020204020204" charset="-122"/>
                <a:cs typeface="微软雅黑" panose="020B0503020204020204" charset="-122"/>
                <a:sym typeface="+mn-ea"/>
              </a:rPr>
              <a:t>日</a:t>
            </a:r>
            <a:r>
              <a:rPr sz="700" spc="-50" dirty="0">
                <a:solidFill>
                  <a:schemeClr val="tx1"/>
                </a:solidFill>
                <a:latin typeface="微软雅黑" panose="020B0503020204020204" charset="-122"/>
                <a:cs typeface="微软雅黑" panose="020B0503020204020204" charset="-122"/>
                <a:sym typeface="+mn-ea"/>
              </a:rPr>
              <a:t>）</a:t>
            </a:r>
            <a:endParaRPr lang="zh-CN" altLang="en-US" sz="700" b="1" spc="-50" dirty="0">
              <a:solidFill>
                <a:schemeClr val="tx1"/>
              </a:solidFill>
              <a:latin typeface="微软雅黑" panose="020B0503020204020204" charset="-122"/>
              <a:ea typeface="宋体" panose="02010600030101010101" pitchFamily="2" charset="-122"/>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6562" y="304292"/>
            <a:ext cx="594360" cy="366395"/>
          </a:xfrm>
          <a:prstGeom prst="rect">
            <a:avLst/>
          </a:prstGeom>
        </p:spPr>
        <p:txBody>
          <a:bodyPr vert="horz" wrap="square" lIns="0" tIns="17145" rIns="0" bIns="0" rtlCol="0">
            <a:spAutoFit/>
          </a:bodyPr>
          <a:lstStyle/>
          <a:p>
            <a:pPr marL="12700">
              <a:lnSpc>
                <a:spcPct val="100000"/>
              </a:lnSpc>
              <a:spcBef>
                <a:spcPts val="135"/>
              </a:spcBef>
            </a:pPr>
            <a:r>
              <a:rPr sz="2200" b="1" spc="-25" dirty="0">
                <a:latin typeface="微软雅黑" panose="020B0503020204020204" charset="-122"/>
                <a:cs typeface="微软雅黑" panose="020B0503020204020204" charset="-122"/>
              </a:rPr>
              <a:t>配制</a:t>
            </a:r>
            <a:endParaRPr sz="2200">
              <a:latin typeface="微软雅黑" panose="020B0503020204020204" charset="-122"/>
              <a:cs typeface="微软雅黑" panose="020B0503020204020204" charset="-122"/>
            </a:endParaRPr>
          </a:p>
        </p:txBody>
      </p:sp>
      <p:grpSp>
        <p:nvGrpSpPr>
          <p:cNvPr id="3" name="object 3"/>
          <p:cNvGrpSpPr/>
          <p:nvPr/>
        </p:nvGrpSpPr>
        <p:grpSpPr>
          <a:xfrm>
            <a:off x="1852167" y="615695"/>
            <a:ext cx="5029835" cy="4138295"/>
            <a:chOff x="1852167" y="615695"/>
            <a:chExt cx="5029835" cy="4138295"/>
          </a:xfrm>
        </p:grpSpPr>
        <p:pic>
          <p:nvPicPr>
            <p:cNvPr id="4" name="object 4"/>
            <p:cNvPicPr/>
            <p:nvPr/>
          </p:nvPicPr>
          <p:blipFill>
            <a:blip r:embed="rId2" cstate="print"/>
            <a:stretch>
              <a:fillRect/>
            </a:stretch>
          </p:blipFill>
          <p:spPr>
            <a:xfrm>
              <a:off x="1852167" y="615695"/>
              <a:ext cx="5029471" cy="584067"/>
            </a:xfrm>
            <a:prstGeom prst="rect">
              <a:avLst/>
            </a:prstGeom>
          </p:spPr>
        </p:pic>
        <p:pic>
          <p:nvPicPr>
            <p:cNvPr id="5" name="object 5"/>
            <p:cNvPicPr/>
            <p:nvPr/>
          </p:nvPicPr>
          <p:blipFill>
            <a:blip r:embed="rId3" cstate="print"/>
            <a:stretch>
              <a:fillRect/>
            </a:stretch>
          </p:blipFill>
          <p:spPr>
            <a:xfrm>
              <a:off x="1891238" y="1296416"/>
              <a:ext cx="4844694" cy="3457244"/>
            </a:xfrm>
            <a:prstGeom prst="rect">
              <a:avLst/>
            </a:prstGeom>
          </p:spPr>
        </p:pic>
      </p:grpSp>
      <p:sp>
        <p:nvSpPr>
          <p:cNvPr id="6" name="object 6"/>
          <p:cNvSpPr txBox="1"/>
          <p:nvPr/>
        </p:nvSpPr>
        <p:spPr>
          <a:xfrm>
            <a:off x="339343" y="4880355"/>
            <a:ext cx="5713095" cy="183515"/>
          </a:xfrm>
          <a:prstGeom prst="rect">
            <a:avLst/>
          </a:prstGeom>
        </p:spPr>
        <p:txBody>
          <a:bodyPr vert="horz" wrap="square" lIns="0" tIns="17145" rIns="0" bIns="0" rtlCol="0">
            <a:spAutoFit/>
          </a:bodyPr>
          <a:lstStyle/>
          <a:p>
            <a:pPr marL="240665" indent="-227965">
              <a:lnSpc>
                <a:spcPct val="100000"/>
              </a:lnSpc>
              <a:spcBef>
                <a:spcPts val="135"/>
              </a:spcBef>
              <a:buFont typeface="Wingdings" panose="05000000000000000000"/>
              <a:buChar char=""/>
              <a:tabLst>
                <a:tab pos="240665" algn="l"/>
              </a:tabLst>
            </a:pPr>
            <a:r>
              <a:rPr sz="1000" dirty="0">
                <a:latin typeface="微软雅黑" panose="020B0503020204020204" charset="-122"/>
                <a:cs typeface="微软雅黑" panose="020B0503020204020204" charset="-122"/>
              </a:rPr>
              <a:t>本品复溶后应在</a:t>
            </a:r>
            <a:r>
              <a:rPr sz="1000" dirty="0">
                <a:latin typeface="Times New Roman" panose="02020603050405020304"/>
                <a:cs typeface="Times New Roman" panose="02020603050405020304"/>
              </a:rPr>
              <a:t>30</a:t>
            </a:r>
            <a:r>
              <a:rPr sz="1000" dirty="0">
                <a:latin typeface="微软雅黑" panose="020B0503020204020204" charset="-122"/>
                <a:cs typeface="微软雅黑" panose="020B0503020204020204" charset="-122"/>
              </a:rPr>
              <a:t>分钟内用于制备输液袋，以给予适当剂量的氨曲南</a:t>
            </a:r>
            <a:r>
              <a:rPr sz="1000" dirty="0">
                <a:latin typeface="Times New Roman" panose="02020603050405020304"/>
                <a:cs typeface="Times New Roman" panose="02020603050405020304"/>
              </a:rPr>
              <a:t>-</a:t>
            </a:r>
            <a:r>
              <a:rPr sz="1000" spc="-5" dirty="0">
                <a:latin typeface="微软雅黑" panose="020B0503020204020204" charset="-122"/>
                <a:cs typeface="微软雅黑" panose="020B0503020204020204" charset="-122"/>
              </a:rPr>
              <a:t>阿维巴坦进行静脉输注。</a:t>
            </a:r>
            <a:endParaRPr sz="1000">
              <a:latin typeface="微软雅黑" panose="020B0503020204020204" charset="-122"/>
              <a:cs typeface="微软雅黑" panose="020B0503020204020204" charset="-122"/>
            </a:endParaRPr>
          </a:p>
        </p:txBody>
      </p:sp>
      <p:sp>
        <p:nvSpPr>
          <p:cNvPr id="7" name="object 7"/>
          <p:cNvSpPr txBox="1"/>
          <p:nvPr/>
        </p:nvSpPr>
        <p:spPr>
          <a:xfrm>
            <a:off x="339343" y="5038242"/>
            <a:ext cx="9446260" cy="501015"/>
          </a:xfrm>
          <a:prstGeom prst="rect">
            <a:avLst/>
          </a:prstGeom>
        </p:spPr>
        <p:txBody>
          <a:bodyPr vert="horz" wrap="square" lIns="0" tIns="97155" rIns="0" bIns="0" rtlCol="0">
            <a:spAutoFit/>
          </a:bodyPr>
          <a:lstStyle/>
          <a:p>
            <a:pPr marL="240665" indent="-227965">
              <a:lnSpc>
                <a:spcPct val="100000"/>
              </a:lnSpc>
              <a:spcBef>
                <a:spcPts val="765"/>
              </a:spcBef>
              <a:buFont typeface="Wingdings" panose="05000000000000000000"/>
              <a:buChar char=""/>
              <a:tabLst>
                <a:tab pos="240665" algn="l"/>
              </a:tabLst>
            </a:pPr>
            <a:r>
              <a:rPr sz="1000" spc="60" dirty="0">
                <a:latin typeface="微软雅黑" panose="020B0503020204020204" charset="-122"/>
                <a:cs typeface="微软雅黑" panose="020B0503020204020204" charset="-122"/>
              </a:rPr>
              <a:t>在含有 </a:t>
            </a:r>
            <a:r>
              <a:rPr sz="1000" dirty="0">
                <a:solidFill>
                  <a:srgbClr val="FF0000"/>
                </a:solidFill>
                <a:latin typeface="Times New Roman" panose="02020603050405020304"/>
                <a:cs typeface="Times New Roman" panose="02020603050405020304"/>
              </a:rPr>
              <a:t>0.9%</a:t>
            </a:r>
            <a:r>
              <a:rPr sz="1000" dirty="0">
                <a:solidFill>
                  <a:srgbClr val="FF0000"/>
                </a:solidFill>
                <a:latin typeface="微软雅黑" panose="020B0503020204020204" charset="-122"/>
                <a:cs typeface="微软雅黑" panose="020B0503020204020204" charset="-122"/>
              </a:rPr>
              <a:t>氯化钠注射液或乳酸钠林格</a:t>
            </a:r>
            <a:r>
              <a:rPr sz="1000" dirty="0">
                <a:latin typeface="微软雅黑" panose="020B0503020204020204" charset="-122"/>
                <a:cs typeface="微软雅黑" panose="020B0503020204020204" charset="-122"/>
              </a:rPr>
              <a:t>注射液的输液袋中，使用中化学及物理稳定性已证明，</a:t>
            </a:r>
            <a:r>
              <a:rPr sz="1000" b="1" spc="125" dirty="0">
                <a:solidFill>
                  <a:srgbClr val="FF0000"/>
                </a:solidFill>
                <a:latin typeface="微软雅黑" panose="020B0503020204020204" charset="-122"/>
                <a:cs typeface="微软雅黑" panose="020B0503020204020204" charset="-122"/>
              </a:rPr>
              <a:t>在 </a:t>
            </a:r>
            <a:r>
              <a:rPr sz="1000" b="1" dirty="0">
                <a:solidFill>
                  <a:srgbClr val="FF0000"/>
                </a:solidFill>
                <a:latin typeface="Times New Roman" panose="02020603050405020304"/>
                <a:cs typeface="Times New Roman" panose="02020603050405020304"/>
              </a:rPr>
              <a:t>2℃~8℃</a:t>
            </a:r>
            <a:r>
              <a:rPr sz="1000" b="1" spc="50" dirty="0">
                <a:solidFill>
                  <a:srgbClr val="FF0000"/>
                </a:solidFill>
                <a:latin typeface="微软雅黑" panose="020B0503020204020204" charset="-122"/>
                <a:cs typeface="微软雅黑" panose="020B0503020204020204" charset="-122"/>
              </a:rPr>
              <a:t>最多放置 </a:t>
            </a:r>
            <a:r>
              <a:rPr sz="1000" b="1" dirty="0">
                <a:solidFill>
                  <a:srgbClr val="FF0000"/>
                </a:solidFill>
                <a:latin typeface="Times New Roman" panose="02020603050405020304"/>
                <a:cs typeface="Times New Roman" panose="02020603050405020304"/>
              </a:rPr>
              <a:t>24</a:t>
            </a:r>
            <a:r>
              <a:rPr sz="1000" b="1" spc="295" dirty="0">
                <a:solidFill>
                  <a:srgbClr val="FF0000"/>
                </a:solidFill>
                <a:latin typeface="Times New Roman" panose="02020603050405020304"/>
                <a:cs typeface="Times New Roman" panose="02020603050405020304"/>
              </a:rPr>
              <a:t> </a:t>
            </a:r>
            <a:r>
              <a:rPr sz="1000" b="1" spc="35" dirty="0">
                <a:solidFill>
                  <a:srgbClr val="FF0000"/>
                </a:solidFill>
                <a:latin typeface="微软雅黑" panose="020B0503020204020204" charset="-122"/>
                <a:cs typeface="微软雅黑" panose="020B0503020204020204" charset="-122"/>
              </a:rPr>
              <a:t>小时，后续在 </a:t>
            </a:r>
            <a:r>
              <a:rPr sz="1000" b="1" dirty="0">
                <a:solidFill>
                  <a:srgbClr val="FF0000"/>
                </a:solidFill>
                <a:latin typeface="Times New Roman" panose="02020603050405020304"/>
                <a:cs typeface="Times New Roman" panose="02020603050405020304"/>
              </a:rPr>
              <a:t>30℃</a:t>
            </a:r>
            <a:r>
              <a:rPr sz="1000" b="1" spc="40" dirty="0">
                <a:solidFill>
                  <a:srgbClr val="FF0000"/>
                </a:solidFill>
                <a:latin typeface="微软雅黑" panose="020B0503020204020204" charset="-122"/>
                <a:cs typeface="微软雅黑" panose="020B0503020204020204" charset="-122"/>
              </a:rPr>
              <a:t>下最多放置 </a:t>
            </a:r>
            <a:r>
              <a:rPr sz="1000" b="1" dirty="0">
                <a:solidFill>
                  <a:srgbClr val="FF0000"/>
                </a:solidFill>
                <a:latin typeface="Times New Roman" panose="02020603050405020304"/>
                <a:cs typeface="Times New Roman" panose="02020603050405020304"/>
              </a:rPr>
              <a:t>12</a:t>
            </a:r>
            <a:r>
              <a:rPr sz="1000" b="1" spc="295" dirty="0">
                <a:solidFill>
                  <a:srgbClr val="FF0000"/>
                </a:solidFill>
                <a:latin typeface="Times New Roman" panose="02020603050405020304"/>
                <a:cs typeface="Times New Roman" panose="02020603050405020304"/>
              </a:rPr>
              <a:t> </a:t>
            </a:r>
            <a:r>
              <a:rPr sz="1000" b="1" spc="-20" dirty="0">
                <a:solidFill>
                  <a:srgbClr val="FF0000"/>
                </a:solidFill>
                <a:latin typeface="微软雅黑" panose="020B0503020204020204" charset="-122"/>
                <a:cs typeface="微软雅黑" panose="020B0503020204020204" charset="-122"/>
              </a:rPr>
              <a:t>小时。</a:t>
            </a:r>
            <a:endParaRPr sz="1000">
              <a:latin typeface="微软雅黑" panose="020B0503020204020204" charset="-122"/>
              <a:cs typeface="微软雅黑" panose="020B0503020204020204" charset="-122"/>
            </a:endParaRPr>
          </a:p>
          <a:p>
            <a:pPr marL="240665" indent="-227965">
              <a:lnSpc>
                <a:spcPct val="100000"/>
              </a:lnSpc>
              <a:spcBef>
                <a:spcPts val="670"/>
              </a:spcBef>
              <a:buFont typeface="Wingdings" panose="05000000000000000000"/>
              <a:buChar char=""/>
              <a:tabLst>
                <a:tab pos="240665" algn="l"/>
              </a:tabLst>
            </a:pPr>
            <a:r>
              <a:rPr sz="1000" spc="75" dirty="0">
                <a:latin typeface="微软雅黑" panose="020B0503020204020204" charset="-122"/>
                <a:cs typeface="微软雅黑" panose="020B0503020204020204" charset="-122"/>
              </a:rPr>
              <a:t>在含有 </a:t>
            </a:r>
            <a:r>
              <a:rPr sz="1000" dirty="0">
                <a:solidFill>
                  <a:srgbClr val="FF0000"/>
                </a:solidFill>
                <a:latin typeface="Times New Roman" panose="02020603050405020304"/>
                <a:cs typeface="Times New Roman" panose="02020603050405020304"/>
              </a:rPr>
              <a:t>5%</a:t>
            </a:r>
            <a:r>
              <a:rPr sz="1000" dirty="0">
                <a:solidFill>
                  <a:srgbClr val="FF0000"/>
                </a:solidFill>
                <a:latin typeface="微软雅黑" panose="020B0503020204020204" charset="-122"/>
                <a:cs typeface="微软雅黑" panose="020B0503020204020204" charset="-122"/>
              </a:rPr>
              <a:t>葡萄糖</a:t>
            </a:r>
            <a:r>
              <a:rPr sz="1000" dirty="0">
                <a:latin typeface="微软雅黑" panose="020B0503020204020204" charset="-122"/>
                <a:cs typeface="微软雅黑" panose="020B0503020204020204" charset="-122"/>
              </a:rPr>
              <a:t>注射液的输液袋中，使用中化学及物理稳定性已证明，</a:t>
            </a:r>
            <a:r>
              <a:rPr sz="1000" b="1" spc="150" dirty="0">
                <a:solidFill>
                  <a:srgbClr val="FF0000"/>
                </a:solidFill>
                <a:latin typeface="微软雅黑" panose="020B0503020204020204" charset="-122"/>
                <a:cs typeface="微软雅黑" panose="020B0503020204020204" charset="-122"/>
              </a:rPr>
              <a:t>在 </a:t>
            </a:r>
            <a:r>
              <a:rPr sz="1000" b="1" dirty="0">
                <a:solidFill>
                  <a:srgbClr val="FF0000"/>
                </a:solidFill>
                <a:latin typeface="Times New Roman" panose="02020603050405020304"/>
                <a:cs typeface="Times New Roman" panose="02020603050405020304"/>
              </a:rPr>
              <a:t>2℃~8℃</a:t>
            </a:r>
            <a:r>
              <a:rPr sz="1000" b="1" spc="60" dirty="0">
                <a:solidFill>
                  <a:srgbClr val="FF0000"/>
                </a:solidFill>
                <a:latin typeface="微软雅黑" panose="020B0503020204020204" charset="-122"/>
                <a:cs typeface="微软雅黑" panose="020B0503020204020204" charset="-122"/>
              </a:rPr>
              <a:t>最多放置 </a:t>
            </a:r>
            <a:r>
              <a:rPr sz="1000" b="1" dirty="0">
                <a:solidFill>
                  <a:srgbClr val="FF0000"/>
                </a:solidFill>
                <a:latin typeface="Times New Roman" panose="02020603050405020304"/>
                <a:cs typeface="Times New Roman" panose="02020603050405020304"/>
              </a:rPr>
              <a:t>24</a:t>
            </a:r>
            <a:r>
              <a:rPr sz="1000" b="1" spc="40" dirty="0">
                <a:solidFill>
                  <a:srgbClr val="FF0000"/>
                </a:solidFill>
                <a:latin typeface="微软雅黑" panose="020B0503020204020204" charset="-122"/>
                <a:cs typeface="微软雅黑" panose="020B0503020204020204" charset="-122"/>
              </a:rPr>
              <a:t>小时，后续在 </a:t>
            </a:r>
            <a:r>
              <a:rPr sz="1000" b="1" dirty="0">
                <a:solidFill>
                  <a:srgbClr val="FF0000"/>
                </a:solidFill>
                <a:latin typeface="Times New Roman" panose="02020603050405020304"/>
                <a:cs typeface="Times New Roman" panose="02020603050405020304"/>
              </a:rPr>
              <a:t>30℃</a:t>
            </a:r>
            <a:r>
              <a:rPr sz="1000" b="1" dirty="0">
                <a:solidFill>
                  <a:srgbClr val="FF0000"/>
                </a:solidFill>
                <a:latin typeface="微软雅黑" panose="020B0503020204020204" charset="-122"/>
                <a:cs typeface="微软雅黑" panose="020B0503020204020204" charset="-122"/>
              </a:rPr>
              <a:t>下最多放置</a:t>
            </a:r>
            <a:r>
              <a:rPr sz="1000" b="1" dirty="0">
                <a:solidFill>
                  <a:srgbClr val="FF0000"/>
                </a:solidFill>
                <a:latin typeface="Times New Roman" panose="02020603050405020304"/>
                <a:cs typeface="Times New Roman" panose="02020603050405020304"/>
              </a:rPr>
              <a:t>6</a:t>
            </a:r>
            <a:r>
              <a:rPr sz="1000" b="1" spc="345" dirty="0">
                <a:solidFill>
                  <a:srgbClr val="FF0000"/>
                </a:solidFill>
                <a:latin typeface="Times New Roman" panose="02020603050405020304"/>
                <a:cs typeface="Times New Roman" panose="02020603050405020304"/>
              </a:rPr>
              <a:t> </a:t>
            </a:r>
            <a:r>
              <a:rPr sz="1000" b="1" spc="-20" dirty="0">
                <a:solidFill>
                  <a:srgbClr val="FF0000"/>
                </a:solidFill>
                <a:latin typeface="微软雅黑" panose="020B0503020204020204" charset="-122"/>
                <a:cs typeface="微软雅黑" panose="020B0503020204020204" charset="-122"/>
              </a:rPr>
              <a:t>小时。</a:t>
            </a:r>
            <a:endParaRPr sz="1000">
              <a:latin typeface="微软雅黑" panose="020B0503020204020204" charset="-122"/>
              <a:cs typeface="微软雅黑" panose="020B0503020204020204" charset="-122"/>
            </a:endParaRPr>
          </a:p>
        </p:txBody>
      </p:sp>
      <p:sp>
        <p:nvSpPr>
          <p:cNvPr id="9" name="object 9"/>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15" name="object 15"/>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26</a:t>
            </a:fld>
            <a:r>
              <a:rPr spc="-10" dirty="0"/>
              <a:t> </a:t>
            </a:r>
            <a:r>
              <a:rPr spc="-50" dirty="0"/>
              <a:t>-</a:t>
            </a:r>
          </a:p>
        </p:txBody>
      </p:sp>
      <p:sp>
        <p:nvSpPr>
          <p:cNvPr id="22" name="文本框 21"/>
          <p:cNvSpPr txBox="1"/>
          <p:nvPr/>
        </p:nvSpPr>
        <p:spPr>
          <a:xfrm>
            <a:off x="213360" y="6455410"/>
            <a:ext cx="2700020" cy="198755"/>
          </a:xfrm>
          <a:prstGeom prst="rect">
            <a:avLst/>
          </a:prstGeom>
          <a:noFill/>
        </p:spPr>
        <p:txBody>
          <a:bodyPr wrap="square" rtlCol="0">
            <a:spAutoFit/>
          </a:bodyPr>
          <a:lstStyle/>
          <a:p>
            <a:r>
              <a:rPr sz="700" spc="-20" dirty="0">
                <a:solidFill>
                  <a:schemeClr val="tx1"/>
                </a:solidFill>
                <a:latin typeface="微软雅黑" panose="020B0503020204020204" charset="-122"/>
                <a:cs typeface="微软雅黑" panose="020B0503020204020204" charset="-122"/>
                <a:sym typeface="+mn-ea"/>
              </a:rPr>
              <a:t>注射用氨曲南阿维巴坦钠说明书（核准日期：</a:t>
            </a:r>
            <a:r>
              <a:rPr sz="700" spc="-10" dirty="0">
                <a:solidFill>
                  <a:schemeClr val="tx1"/>
                </a:solidFill>
                <a:latin typeface="Times New Roman" panose="02020603050405020304"/>
                <a:cs typeface="Times New Roman" panose="02020603050405020304"/>
                <a:sym typeface="+mn-ea"/>
              </a:rPr>
              <a:t>2025</a:t>
            </a:r>
            <a:r>
              <a:rPr sz="700" spc="-20" dirty="0">
                <a:solidFill>
                  <a:schemeClr val="tx1"/>
                </a:solidFill>
                <a:latin typeface="微软雅黑" panose="020B0503020204020204" charset="-122"/>
                <a:cs typeface="微软雅黑" panose="020B0503020204020204" charset="-122"/>
                <a:sym typeface="+mn-ea"/>
              </a:rPr>
              <a:t>年</a:t>
            </a:r>
            <a:r>
              <a:rPr sz="700" spc="-10" dirty="0">
                <a:solidFill>
                  <a:schemeClr val="tx1"/>
                </a:solidFill>
                <a:latin typeface="Times New Roman" panose="02020603050405020304"/>
                <a:cs typeface="Times New Roman" panose="02020603050405020304"/>
                <a:sym typeface="+mn-ea"/>
              </a:rPr>
              <a:t>6</a:t>
            </a:r>
            <a:r>
              <a:rPr sz="700" spc="-20" dirty="0">
                <a:solidFill>
                  <a:schemeClr val="tx1"/>
                </a:solidFill>
                <a:latin typeface="微软雅黑" panose="020B0503020204020204" charset="-122"/>
                <a:cs typeface="微软雅黑" panose="020B0503020204020204" charset="-122"/>
                <a:sym typeface="+mn-ea"/>
              </a:rPr>
              <a:t>月</a:t>
            </a:r>
            <a:r>
              <a:rPr sz="700" spc="-10" dirty="0">
                <a:solidFill>
                  <a:schemeClr val="tx1"/>
                </a:solidFill>
                <a:latin typeface="Times New Roman" panose="02020603050405020304"/>
                <a:cs typeface="Times New Roman" panose="02020603050405020304"/>
                <a:sym typeface="+mn-ea"/>
              </a:rPr>
              <a:t>24</a:t>
            </a:r>
            <a:r>
              <a:rPr sz="700" spc="-20" dirty="0">
                <a:solidFill>
                  <a:schemeClr val="tx1"/>
                </a:solidFill>
                <a:latin typeface="微软雅黑" panose="020B0503020204020204" charset="-122"/>
                <a:cs typeface="微软雅黑" panose="020B0503020204020204" charset="-122"/>
                <a:sym typeface="+mn-ea"/>
              </a:rPr>
              <a:t>日</a:t>
            </a:r>
            <a:r>
              <a:rPr sz="700" spc="-50" dirty="0">
                <a:solidFill>
                  <a:schemeClr val="tx1"/>
                </a:solidFill>
                <a:latin typeface="微软雅黑" panose="020B0503020204020204" charset="-122"/>
                <a:cs typeface="微软雅黑" panose="020B0503020204020204" charset="-122"/>
                <a:sym typeface="+mn-ea"/>
              </a:rPr>
              <a:t>）</a:t>
            </a:r>
            <a:endParaRPr lang="zh-CN" altLang="en-US" sz="700" b="1" spc="-50" dirty="0">
              <a:solidFill>
                <a:schemeClr val="tx1"/>
              </a:solidFill>
              <a:latin typeface="微软雅黑" panose="020B0503020204020204" charset="-122"/>
              <a:ea typeface="宋体" panose="02010600030101010101" pitchFamily="2" charset="-122"/>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6562" y="304292"/>
            <a:ext cx="594360" cy="366395"/>
          </a:xfrm>
          <a:prstGeom prst="rect">
            <a:avLst/>
          </a:prstGeom>
        </p:spPr>
        <p:txBody>
          <a:bodyPr vert="horz" wrap="square" lIns="0" tIns="17145" rIns="0" bIns="0" rtlCol="0">
            <a:spAutoFit/>
          </a:bodyPr>
          <a:lstStyle/>
          <a:p>
            <a:pPr marL="12700">
              <a:lnSpc>
                <a:spcPct val="100000"/>
              </a:lnSpc>
              <a:spcBef>
                <a:spcPts val="135"/>
              </a:spcBef>
            </a:pPr>
            <a:r>
              <a:rPr sz="2200" b="1" spc="-25" dirty="0">
                <a:latin typeface="微软雅黑" panose="020B0503020204020204" charset="-122"/>
                <a:cs typeface="微软雅黑" panose="020B0503020204020204" charset="-122"/>
              </a:rPr>
              <a:t>小结</a:t>
            </a:r>
            <a:endParaRPr sz="2200">
              <a:latin typeface="微软雅黑" panose="020B0503020204020204" charset="-122"/>
              <a:cs typeface="微软雅黑" panose="020B0503020204020204" charset="-122"/>
            </a:endParaRPr>
          </a:p>
        </p:txBody>
      </p:sp>
      <p:sp>
        <p:nvSpPr>
          <p:cNvPr id="4" name="object 4"/>
          <p:cNvSpPr/>
          <p:nvPr/>
        </p:nvSpPr>
        <p:spPr>
          <a:xfrm>
            <a:off x="127000" y="126999"/>
            <a:ext cx="9753600" cy="5486400"/>
          </a:xfrm>
          <a:custGeom>
            <a:avLst/>
            <a:gdLst/>
            <a:ahLst/>
            <a:cxnLst/>
            <a:rect l="l" t="t" r="r" b="b"/>
            <a:pathLst>
              <a:path w="9753600" h="5486400">
                <a:moveTo>
                  <a:pt x="0" y="5486400"/>
                </a:moveTo>
                <a:lnTo>
                  <a:pt x="9753600" y="5486400"/>
                </a:lnTo>
                <a:lnTo>
                  <a:pt x="9753600" y="0"/>
                </a:lnTo>
                <a:lnTo>
                  <a:pt x="0" y="0"/>
                </a:lnTo>
                <a:lnTo>
                  <a:pt x="0" y="5486400"/>
                </a:lnTo>
                <a:close/>
              </a:path>
            </a:pathLst>
          </a:custGeom>
          <a:ln w="10160">
            <a:solidFill>
              <a:srgbClr val="CCCCCC"/>
            </a:solidFill>
          </a:ln>
        </p:spPr>
        <p:txBody>
          <a:bodyPr wrap="square" lIns="0" tIns="0" rIns="0" bIns="0" rtlCol="0"/>
          <a:lstStyle/>
          <a:p>
            <a:endParaRPr/>
          </a:p>
        </p:txBody>
      </p:sp>
      <p:sp>
        <p:nvSpPr>
          <p:cNvPr id="5" name="object 5"/>
          <p:cNvSpPr txBox="1"/>
          <p:nvPr/>
        </p:nvSpPr>
        <p:spPr>
          <a:xfrm>
            <a:off x="686562" y="1132240"/>
            <a:ext cx="8178800" cy="1673225"/>
          </a:xfrm>
          <a:prstGeom prst="rect">
            <a:avLst/>
          </a:prstGeom>
        </p:spPr>
        <p:txBody>
          <a:bodyPr vert="horz" wrap="square" lIns="0" tIns="120650" rIns="0" bIns="0" rtlCol="0">
            <a:spAutoFit/>
          </a:bodyPr>
          <a:lstStyle/>
          <a:p>
            <a:pPr marL="240665" indent="-227965">
              <a:lnSpc>
                <a:spcPct val="100000"/>
              </a:lnSpc>
              <a:spcBef>
                <a:spcPts val="950"/>
              </a:spcBef>
              <a:buFont typeface="Wingdings" panose="05000000000000000000"/>
              <a:buChar char=""/>
              <a:tabLst>
                <a:tab pos="240665" algn="l"/>
              </a:tabLst>
            </a:pPr>
            <a:r>
              <a:rPr sz="1450" spc="-20" dirty="0">
                <a:latin typeface="Times New Roman" panose="02020603050405020304"/>
                <a:cs typeface="Times New Roman" panose="02020603050405020304"/>
              </a:rPr>
              <a:t>G-</a:t>
            </a:r>
            <a:r>
              <a:rPr sz="1450" spc="-25" dirty="0">
                <a:latin typeface="微软雅黑" panose="020B0503020204020204" charset="-122"/>
                <a:cs typeface="微软雅黑" panose="020B0503020204020204" charset="-122"/>
              </a:rPr>
              <a:t>耐药形势严峻，耐药机制复杂，应对策略不同；</a:t>
            </a:r>
            <a:endParaRPr sz="1450">
              <a:latin typeface="微软雅黑" panose="020B0503020204020204" charset="-122"/>
              <a:cs typeface="微软雅黑" panose="020B0503020204020204" charset="-122"/>
            </a:endParaRPr>
          </a:p>
          <a:p>
            <a:pPr marL="240665" indent="-227965">
              <a:lnSpc>
                <a:spcPct val="100000"/>
              </a:lnSpc>
              <a:spcBef>
                <a:spcPts val="855"/>
              </a:spcBef>
              <a:buFont typeface="Wingdings" panose="05000000000000000000"/>
              <a:buChar char=""/>
              <a:tabLst>
                <a:tab pos="240665" algn="l"/>
              </a:tabLst>
            </a:pPr>
            <a:r>
              <a:rPr sz="1450" spc="-20" dirty="0">
                <a:latin typeface="微软雅黑" panose="020B0503020204020204" charset="-122"/>
                <a:cs typeface="微软雅黑" panose="020B0503020204020204" charset="-122"/>
              </a:rPr>
              <a:t>目前针对</a:t>
            </a:r>
            <a:r>
              <a:rPr sz="1450" dirty="0">
                <a:latin typeface="Times New Roman" panose="02020603050405020304"/>
                <a:cs typeface="Times New Roman" panose="02020603050405020304"/>
              </a:rPr>
              <a:t>MDR</a:t>
            </a:r>
            <a:r>
              <a:rPr sz="1450" spc="165" dirty="0">
                <a:latin typeface="Times New Roman" panose="02020603050405020304"/>
                <a:cs typeface="Times New Roman" panose="02020603050405020304"/>
              </a:rPr>
              <a:t> </a:t>
            </a:r>
            <a:r>
              <a:rPr sz="1450" spc="-20" dirty="0">
                <a:latin typeface="Times New Roman" panose="02020603050405020304"/>
                <a:cs typeface="Times New Roman" panose="02020603050405020304"/>
              </a:rPr>
              <a:t>GNB</a:t>
            </a:r>
            <a:r>
              <a:rPr sz="1450" spc="-20" dirty="0">
                <a:latin typeface="微软雅黑" panose="020B0503020204020204" charset="-122"/>
                <a:cs typeface="微软雅黑" panose="020B0503020204020204" charset="-122"/>
              </a:rPr>
              <a:t>有多种新型</a:t>
            </a:r>
            <a:r>
              <a:rPr sz="1450" spc="-25" dirty="0">
                <a:latin typeface="微软雅黑" panose="020B0503020204020204" charset="-122"/>
                <a:cs typeface="微软雅黑" panose="020B0503020204020204" charset="-122"/>
              </a:rPr>
              <a:t>β</a:t>
            </a:r>
            <a:r>
              <a:rPr sz="1450" spc="-25" dirty="0">
                <a:latin typeface="Times New Roman" panose="02020603050405020304"/>
                <a:cs typeface="Times New Roman" panose="02020603050405020304"/>
              </a:rPr>
              <a:t>⁃</a:t>
            </a:r>
            <a:r>
              <a:rPr sz="1450" spc="-25" dirty="0">
                <a:latin typeface="微软雅黑" panose="020B0503020204020204" charset="-122"/>
                <a:cs typeface="微软雅黑" panose="020B0503020204020204" charset="-122"/>
              </a:rPr>
              <a:t>内酰胺类抗菌药物，作用机制不同，抗菌谱有差异；</a:t>
            </a:r>
            <a:endParaRPr sz="1450">
              <a:latin typeface="微软雅黑" panose="020B0503020204020204" charset="-122"/>
              <a:cs typeface="微软雅黑" panose="020B0503020204020204" charset="-122"/>
            </a:endParaRPr>
          </a:p>
          <a:p>
            <a:pPr marL="240665" indent="-227965">
              <a:lnSpc>
                <a:spcPct val="100000"/>
              </a:lnSpc>
              <a:spcBef>
                <a:spcPts val="850"/>
              </a:spcBef>
              <a:buFont typeface="Wingdings" panose="05000000000000000000"/>
              <a:buChar char=""/>
              <a:tabLst>
                <a:tab pos="240665" algn="l"/>
              </a:tabLst>
            </a:pPr>
            <a:r>
              <a:rPr sz="1450" spc="-20" dirty="0">
                <a:latin typeface="微软雅黑" panose="020B0503020204020204" charset="-122"/>
                <a:cs typeface="微软雅黑" panose="020B0503020204020204" charset="-122"/>
              </a:rPr>
              <a:t>氨曲南</a:t>
            </a:r>
            <a:r>
              <a:rPr sz="1450" spc="-10" dirty="0">
                <a:latin typeface="Times New Roman" panose="02020603050405020304"/>
                <a:cs typeface="Times New Roman" panose="02020603050405020304"/>
              </a:rPr>
              <a:t>-</a:t>
            </a:r>
            <a:r>
              <a:rPr sz="1450" spc="-20" dirty="0">
                <a:latin typeface="微软雅黑" panose="020B0503020204020204" charset="-122"/>
                <a:cs typeface="微软雅黑" panose="020B0503020204020204" charset="-122"/>
              </a:rPr>
              <a:t>阿维巴坦是目前针对产金属</a:t>
            </a:r>
            <a:r>
              <a:rPr sz="1450" spc="-25" dirty="0">
                <a:latin typeface="微软雅黑" panose="020B0503020204020204" charset="-122"/>
                <a:cs typeface="微软雅黑" panose="020B0503020204020204" charset="-122"/>
              </a:rPr>
              <a:t>β</a:t>
            </a:r>
            <a:r>
              <a:rPr sz="1450" spc="-25" dirty="0">
                <a:latin typeface="Times New Roman" panose="02020603050405020304"/>
                <a:cs typeface="Times New Roman" panose="02020603050405020304"/>
              </a:rPr>
              <a:t>⁃</a:t>
            </a:r>
            <a:r>
              <a:rPr sz="1450" spc="-20" dirty="0">
                <a:latin typeface="微软雅黑" panose="020B0503020204020204" charset="-122"/>
                <a:cs typeface="微软雅黑" panose="020B0503020204020204" charset="-122"/>
              </a:rPr>
              <a:t>内酰胺酶</a:t>
            </a:r>
            <a:r>
              <a:rPr sz="1450" spc="-20" dirty="0">
                <a:latin typeface="Times New Roman" panose="02020603050405020304"/>
                <a:cs typeface="Times New Roman" panose="02020603050405020304"/>
              </a:rPr>
              <a:t>CRE</a:t>
            </a:r>
            <a:r>
              <a:rPr sz="1450" spc="-20" dirty="0">
                <a:latin typeface="微软雅黑" panose="020B0503020204020204" charset="-122"/>
                <a:cs typeface="微软雅黑" panose="020B0503020204020204" charset="-122"/>
              </a:rPr>
              <a:t>的主要治疗药物，对</a:t>
            </a:r>
            <a:r>
              <a:rPr sz="1450" spc="-25" dirty="0">
                <a:latin typeface="Times New Roman" panose="02020603050405020304"/>
                <a:cs typeface="Times New Roman" panose="02020603050405020304"/>
              </a:rPr>
              <a:t>KPC</a:t>
            </a:r>
            <a:r>
              <a:rPr sz="1450" spc="-25" dirty="0">
                <a:latin typeface="微软雅黑" panose="020B0503020204020204" charset="-122"/>
                <a:cs typeface="微软雅黑" panose="020B0503020204020204" charset="-122"/>
              </a:rPr>
              <a:t>突变株活性优于头孢</a:t>
            </a:r>
            <a:endParaRPr sz="1450">
              <a:latin typeface="微软雅黑" panose="020B0503020204020204" charset="-122"/>
              <a:cs typeface="微软雅黑" panose="020B0503020204020204" charset="-122"/>
            </a:endParaRPr>
          </a:p>
          <a:p>
            <a:pPr marL="1950720">
              <a:lnSpc>
                <a:spcPts val="680"/>
              </a:lnSpc>
              <a:spcBef>
                <a:spcPts val="210"/>
              </a:spcBef>
            </a:pPr>
            <a:endParaRPr sz="600">
              <a:latin typeface="Arial MT"/>
              <a:cs typeface="Arial MT"/>
            </a:endParaRPr>
          </a:p>
          <a:p>
            <a:pPr marL="241300">
              <a:lnSpc>
                <a:spcPts val="1700"/>
              </a:lnSpc>
            </a:pPr>
            <a:r>
              <a:rPr sz="1450" spc="-20" dirty="0">
                <a:latin typeface="微软雅黑" panose="020B0503020204020204" charset="-122"/>
                <a:cs typeface="微软雅黑" panose="020B0503020204020204" charset="-122"/>
              </a:rPr>
              <a:t>他啶阿维巴坦</a:t>
            </a:r>
            <a:r>
              <a:rPr lang="zh-CN" altLang="" sz="1450" spc="-20" dirty="0">
                <a:latin typeface="微软雅黑" panose="020B0503020204020204" charset="-122"/>
                <a:ea typeface="宋体" panose="02010600030101010101" pitchFamily="2" charset="-122"/>
                <a:cs typeface="微软雅黑" panose="020B0503020204020204" charset="-122"/>
              </a:rPr>
              <a:t>，</a:t>
            </a:r>
            <a:r>
              <a:rPr sz="1450" spc="-20" dirty="0">
                <a:latin typeface="微软雅黑" panose="020B0503020204020204" charset="-122"/>
                <a:cs typeface="微软雅黑" panose="020B0503020204020204" charset="-122"/>
              </a:rPr>
              <a:t>批准用于</a:t>
            </a:r>
            <a:r>
              <a:rPr sz="1450" spc="-10" dirty="0">
                <a:latin typeface="Times New Roman" panose="02020603050405020304"/>
                <a:cs typeface="Times New Roman" panose="02020603050405020304"/>
              </a:rPr>
              <a:t>cIAI</a:t>
            </a:r>
            <a:r>
              <a:rPr sz="1450" spc="-20" dirty="0">
                <a:latin typeface="微软雅黑" panose="020B0503020204020204" charset="-122"/>
                <a:cs typeface="微软雅黑" panose="020B0503020204020204" charset="-122"/>
              </a:rPr>
              <a:t>及</a:t>
            </a:r>
            <a:r>
              <a:rPr sz="1450" spc="-10" dirty="0">
                <a:latin typeface="Times New Roman" panose="02020603050405020304"/>
                <a:cs typeface="Times New Roman" panose="02020603050405020304"/>
              </a:rPr>
              <a:t>HAP/VAP</a:t>
            </a:r>
            <a:r>
              <a:rPr sz="1450" spc="-10" dirty="0">
                <a:latin typeface="微软雅黑" panose="020B0503020204020204" charset="-122"/>
                <a:cs typeface="微软雅黑" panose="020B0503020204020204" charset="-122"/>
              </a:rPr>
              <a:t>；</a:t>
            </a:r>
            <a:endParaRPr sz="1450">
              <a:latin typeface="微软雅黑" panose="020B0503020204020204" charset="-122"/>
              <a:cs typeface="微软雅黑" panose="020B0503020204020204" charset="-122"/>
            </a:endParaRPr>
          </a:p>
          <a:p>
            <a:pPr marL="240665" indent="-227965">
              <a:lnSpc>
                <a:spcPct val="100000"/>
              </a:lnSpc>
              <a:spcBef>
                <a:spcPts val="855"/>
              </a:spcBef>
              <a:buFont typeface="Wingdings" panose="05000000000000000000"/>
              <a:buChar char=""/>
              <a:tabLst>
                <a:tab pos="240665" algn="l"/>
              </a:tabLst>
            </a:pPr>
            <a:r>
              <a:rPr sz="1450" spc="-20" dirty="0">
                <a:latin typeface="微软雅黑" panose="020B0503020204020204" charset="-122"/>
                <a:cs typeface="微软雅黑" panose="020B0503020204020204" charset="-122"/>
              </a:rPr>
              <a:t>为保证疗效及安全性，氨曲南</a:t>
            </a:r>
            <a:r>
              <a:rPr sz="1450" spc="-10" dirty="0">
                <a:latin typeface="Times New Roman" panose="02020603050405020304"/>
                <a:cs typeface="Times New Roman" panose="02020603050405020304"/>
              </a:rPr>
              <a:t>-</a:t>
            </a:r>
            <a:r>
              <a:rPr sz="1450" spc="-25" dirty="0">
                <a:latin typeface="微软雅黑" panose="020B0503020204020204" charset="-122"/>
                <a:cs typeface="微软雅黑" panose="020B0503020204020204" charset="-122"/>
              </a:rPr>
              <a:t>阿维巴坦建议使用负荷剂量，肾功能不全患者根据肌酐清除率减量。</a:t>
            </a:r>
            <a:endParaRPr sz="1450">
              <a:latin typeface="微软雅黑" panose="020B0503020204020204" charset="-122"/>
              <a:cs typeface="微软雅黑" panose="020B0503020204020204" charset="-122"/>
            </a:endParaRPr>
          </a:p>
        </p:txBody>
      </p:sp>
      <p:sp>
        <p:nvSpPr>
          <p:cNvPr id="16" name="object 16"/>
          <p:cNvSpPr txBox="1">
            <a:spLocks noGrp="1"/>
          </p:cNvSpPr>
          <p:nvPr>
            <p:ph type="sldNum" sz="quarter" idx="7"/>
          </p:nvPr>
        </p:nvSpPr>
        <p:spPr>
          <a:prstGeom prst="rect">
            <a:avLst/>
          </a:prstGeom>
        </p:spPr>
        <p:txBody>
          <a:bodyPr vert="horz" wrap="square" lIns="0" tIns="5080" rIns="0" bIns="0" rtlCol="0">
            <a:spAutoFit/>
          </a:bodyPr>
          <a:lstStyle/>
          <a:p>
            <a:pPr marL="12700">
              <a:lnSpc>
                <a:spcPct val="100000"/>
              </a:lnSpc>
              <a:spcBef>
                <a:spcPts val="40"/>
              </a:spcBef>
            </a:pPr>
            <a:r>
              <a:rPr dirty="0"/>
              <a:t>-</a:t>
            </a:r>
            <a:r>
              <a:rPr spc="-10" dirty="0"/>
              <a:t> </a:t>
            </a:r>
            <a:fld id="{81D60167-4931-47E6-BA6A-407CBD079E47}" type="slidenum">
              <a:rPr spc="-10" dirty="0"/>
              <a:t>27</a:t>
            </a:fld>
            <a:r>
              <a:rPr spc="-10" dirty="0"/>
              <a:t> </a:t>
            </a:r>
            <a:r>
              <a:rPr spc="-50" dirty="0"/>
              <a:t>-</a:t>
            </a:r>
          </a:p>
        </p:txBody>
      </p:sp>
      <p:sp>
        <p:nvSpPr>
          <p:cNvPr id="17" name="文本框 16"/>
          <p:cNvSpPr txBox="1"/>
          <p:nvPr/>
        </p:nvSpPr>
        <p:spPr>
          <a:xfrm>
            <a:off x="127000" y="6524625"/>
            <a:ext cx="7401560" cy="275590"/>
          </a:xfrm>
          <a:prstGeom prst="rect">
            <a:avLst/>
          </a:prstGeom>
          <a:noFill/>
        </p:spPr>
        <p:txBody>
          <a:bodyPr wrap="square" rtlCol="0">
            <a:spAutoFit/>
          </a:bodyPr>
          <a:lstStyle/>
          <a:p>
            <a:r>
              <a:rPr sz="600" b="1" spc="-15" dirty="0">
                <a:latin typeface="宋体" panose="02010600030101010101" pitchFamily="2" charset="-122"/>
                <a:cs typeface="宋体" panose="02010600030101010101" pitchFamily="2" charset="-122"/>
                <a:sym typeface="+mn-ea"/>
              </a:rPr>
              <a:t>免责声明：此资料应</a:t>
            </a:r>
            <a:r>
              <a:rPr sz="600" b="1" dirty="0">
                <a:latin typeface="宋体" panose="02010600030101010101" pitchFamily="2" charset="-122"/>
                <a:cs typeface="宋体" panose="02010600030101010101" pitchFamily="2" charset="-122"/>
                <a:sym typeface="+mn-ea"/>
              </a:rPr>
              <a:t>仅在其原始链接位置观看。对于经其他途径查看到的内容，辉瑞不承担责任。</a:t>
            </a:r>
          </a:p>
          <a:p>
            <a:endParaRPr lang="zh-CN" altLang="en-US" sz="600" b="1" dirty="0">
              <a:latin typeface="宋体" panose="02010600030101010101" pitchFamily="2" charset="-122"/>
              <a:cs typeface="宋体" panose="02010600030101010101" pitchFamily="2" charset="-122"/>
              <a:sym typeface="+mn-ea"/>
            </a:endParaRPr>
          </a:p>
        </p:txBody>
      </p:sp>
      <p:pic>
        <p:nvPicPr>
          <p:cNvPr id="18" name="图片 17" descr="截屏2025-10-29 14.07.13"/>
          <p:cNvPicPr>
            <a:picLocks noChangeAspect="1"/>
          </p:cNvPicPr>
          <p:nvPr/>
        </p:nvPicPr>
        <p:blipFill>
          <a:blip r:embed="rId2"/>
          <a:srcRect r="8835" b="18097"/>
          <a:stretch>
            <a:fillRect/>
          </a:stretch>
        </p:blipFill>
        <p:spPr>
          <a:xfrm>
            <a:off x="7969885" y="3945890"/>
            <a:ext cx="1300480" cy="1096645"/>
          </a:xfrm>
          <a:prstGeom prst="rect">
            <a:avLst/>
          </a:prstGeom>
        </p:spPr>
      </p:pic>
      <p:sp>
        <p:nvSpPr>
          <p:cNvPr id="19" name="文本框 18"/>
          <p:cNvSpPr txBox="1"/>
          <p:nvPr/>
        </p:nvSpPr>
        <p:spPr>
          <a:xfrm>
            <a:off x="7851140" y="5161915"/>
            <a:ext cx="1746885" cy="425450"/>
          </a:xfrm>
          <a:prstGeom prst="rect">
            <a:avLst/>
          </a:prstGeom>
          <a:noFill/>
        </p:spPr>
        <p:txBody>
          <a:bodyPr wrap="square" rtlCol="0">
            <a:normAutofit fontScale="90000"/>
          </a:bodyPr>
          <a:lstStyle/>
          <a:p>
            <a:pPr algn="l">
              <a:lnSpc>
                <a:spcPct val="140000"/>
              </a:lnSpc>
            </a:pPr>
            <a:r>
              <a:rPr lang="zh-CN" altLang="en-US" sz="1200" kern="100" dirty="0">
                <a:effectLst/>
                <a:latin typeface="+mn-ea"/>
                <a:cs typeface="江城圆体 400W" panose="020B0500000000000000" pitchFamily="34" charset="-122"/>
              </a:rPr>
              <a:t>氨曲南</a:t>
            </a:r>
            <a:r>
              <a:rPr lang="en-US" altLang="zh-CN" sz="1200" kern="100" dirty="0">
                <a:effectLst/>
                <a:latin typeface="+mn-ea"/>
                <a:cs typeface="江城圆体 400W" panose="020B0500000000000000" pitchFamily="34" charset="-122"/>
              </a:rPr>
              <a:t>-</a:t>
            </a:r>
            <a:r>
              <a:rPr lang="zh-CN" altLang="en-US" sz="1200" kern="100" dirty="0">
                <a:effectLst/>
                <a:latin typeface="+mn-ea"/>
                <a:cs typeface="江城圆体 400W" panose="020B0500000000000000" pitchFamily="34" charset="-122"/>
              </a:rPr>
              <a:t>阿维巴坦说明书</a:t>
            </a:r>
          </a:p>
        </p:txBody>
      </p:sp>
      <p:sp>
        <p:nvSpPr>
          <p:cNvPr id="20" name="文本框 19"/>
          <p:cNvSpPr txBox="1"/>
          <p:nvPr/>
        </p:nvSpPr>
        <p:spPr>
          <a:xfrm>
            <a:off x="8112760" y="6189345"/>
            <a:ext cx="1449705" cy="306705"/>
          </a:xfrm>
          <a:prstGeom prst="rect">
            <a:avLst/>
          </a:prstGeom>
          <a:noFill/>
        </p:spPr>
        <p:txBody>
          <a:bodyPr wrap="none" rtlCol="0">
            <a:spAutoFit/>
          </a:bodyPr>
          <a:lstStyle/>
          <a:p>
            <a:pPr algn="l"/>
            <a:r>
              <a:rPr sz="700" dirty="0">
                <a:latin typeface="宋体" panose="02010600030101010101" pitchFamily="2" charset="-122"/>
                <a:cs typeface="宋体" panose="02010600030101010101" pitchFamily="2" charset="-122"/>
                <a:sym typeface="+mn-ea"/>
              </a:rPr>
              <a:t>仅供医学药学专业人士阅读</a:t>
            </a:r>
            <a:r>
              <a:rPr sz="700" spc="-10" dirty="0">
                <a:solidFill>
                  <a:srgbClr val="333333"/>
                </a:solidFill>
                <a:latin typeface="Arial MT"/>
                <a:cs typeface="Arial MT"/>
                <a:sym typeface="+mn-ea"/>
              </a:rPr>
              <a:t>/</a:t>
            </a:r>
            <a:r>
              <a:rPr sz="700" spc="-5" dirty="0">
                <a:latin typeface="宋体" panose="02010600030101010101" pitchFamily="2" charset="-122"/>
                <a:cs typeface="宋体" panose="02010600030101010101" pitchFamily="2" charset="-122"/>
                <a:sym typeface="+mn-ea"/>
              </a:rPr>
              <a:t>参考</a:t>
            </a:r>
            <a:endParaRPr lang="zh-CN" altLang="en-US" sz="700" b="1" dirty="0">
              <a:latin typeface="宋体" panose="02010600030101010101" pitchFamily="2" charset="-122"/>
              <a:cs typeface="宋体" panose="02010600030101010101" pitchFamily="2" charset="-122"/>
              <a:sym typeface="+mn-ea"/>
            </a:endParaRPr>
          </a:p>
          <a:p>
            <a:endParaRPr lang="zh-CN" altLang="en-US" sz="700" b="1" dirty="0">
              <a:latin typeface="宋体" panose="02010600030101010101" pitchFamily="2" charset="-122"/>
              <a:cs typeface="宋体" panose="02010600030101010101" pitchFamily="2" charset="-122"/>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1909</Words>
  <Application>Microsoft Office PowerPoint</Application>
  <PresentationFormat>宽屏</PresentationFormat>
  <Paragraphs>428</Paragraphs>
  <Slides>27</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Arial MT</vt:lpstr>
      <vt:lpstr>宋体</vt:lpstr>
      <vt:lpstr>微软雅黑</vt:lpstr>
      <vt:lpstr>Arial</vt:lpstr>
      <vt:lpstr>Calibri</vt:lpstr>
      <vt:lpstr>Segoe Print</vt:lpstr>
      <vt:lpstr>Times New Roman</vt:lpstr>
      <vt:lpstr>Wingdings</vt:lpstr>
      <vt:lpstr>Office Theme</vt:lpstr>
      <vt:lpstr>治疗MDR-GNB 新型β-内酰胺类药物</vt:lpstr>
      <vt:lpstr>PowerPoint 演示文稿</vt:lpstr>
      <vt:lpstr>01</vt:lpstr>
      <vt:lpstr>CRGNB主要抗菌药物的研发进程</vt:lpstr>
      <vt:lpstr>头孢洛扎-他唑巴坦 (2014)</vt:lpstr>
      <vt:lpstr>头孢洛扎-他唑巴坦对G+和G-菌敏感性</vt:lpstr>
      <vt:lpstr>美罗培南韦博巴坦 （2017）</vt:lpstr>
      <vt:lpstr>亚胺培南西司他丁雷利巴坦（2019）</vt:lpstr>
      <vt:lpstr>头孢地尔</vt:lpstr>
      <vt:lpstr>头孢地尔作用机制</vt:lpstr>
      <vt:lpstr>KPC酶突变的挑战</vt:lpstr>
      <vt:lpstr>氨曲南阿维巴坦</vt:lpstr>
      <vt:lpstr>氨曲南阿维巴坦对肠杆菌及铜绿假单胞菌体外活性</vt:lpstr>
      <vt:lpstr>PowerPoint 演示文稿</vt:lpstr>
      <vt:lpstr>氨曲南-阿维巴坦对于20株产KPC突变体CRKP保持敏感</vt:lpstr>
      <vt:lpstr>氨曲南/阿维巴坦的抗菌谱</vt:lpstr>
      <vt:lpstr>PK特征—III期临床数据（CrCL＞50mL/min)</vt:lpstr>
      <vt:lpstr>III期临床研究—REVISIT</vt:lpstr>
      <vt:lpstr>III期临床研究—REVISIT</vt:lpstr>
      <vt:lpstr>III期临床研究—REVISIT</vt:lpstr>
      <vt:lpstr>III期临床研究—REVISIT</vt:lpstr>
      <vt:lpstr>III期临床研究—REVISIT</vt:lpstr>
      <vt:lpstr>PowerPoint 演示文稿</vt:lpstr>
      <vt:lpstr>适应症及用法用量</vt:lpstr>
      <vt:lpstr>用法用量</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治疗MDR-GNB 新型β-内酰胺类药物</dc:title>
  <dc:creator/>
  <cp:lastModifiedBy>雪咲 桜乃</cp:lastModifiedBy>
  <cp:revision>3</cp:revision>
  <dcterms:created xsi:type="dcterms:W3CDTF">2025-10-30T08:04:49Z</dcterms:created>
  <dcterms:modified xsi:type="dcterms:W3CDTF">2025-10-30T08:16:41Z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2025-10-30T00:00:00Z</vt:filetime>
  </property>
  <property fmtid="{D5CDD505-2E9C-101B-9397-08002B2CF9AE}" pid="3" name="LastSaved">
    <vt:filetime>2025-10-30T00:00:00Z</vt:filetime>
  </property>
  <property fmtid="{D5CDD505-2E9C-101B-9397-08002B2CF9AE}" pid="4" name="Producer">
    <vt:lpwstr>iText 2.1.7 by 1T3XT</vt:lpwstr>
  </property>
  <property fmtid="{D5CDD505-2E9C-101B-9397-08002B2CF9AE}" pid="5" name="KSOProductBuildVer">
    <vt:lpwstr>2052-11.1.0.9021</vt:lpwstr>
  </property>
</Properties>
</file>